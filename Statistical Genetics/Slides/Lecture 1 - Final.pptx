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74"/>
  </p:notesMasterIdLst>
  <p:handoutMasterIdLst>
    <p:handoutMasterId r:id="rId75"/>
  </p:handoutMasterIdLst>
  <p:sldIdLst>
    <p:sldId id="1114" r:id="rId2"/>
    <p:sldId id="1115" r:id="rId3"/>
    <p:sldId id="1223" r:id="rId4"/>
    <p:sldId id="1173" r:id="rId5"/>
    <p:sldId id="1275" r:id="rId6"/>
    <p:sldId id="1184" r:id="rId7"/>
    <p:sldId id="1185" r:id="rId8"/>
    <p:sldId id="1298" r:id="rId9"/>
    <p:sldId id="1174" r:id="rId10"/>
    <p:sldId id="1220" r:id="rId11"/>
    <p:sldId id="1176" r:id="rId12"/>
    <p:sldId id="1178" r:id="rId13"/>
    <p:sldId id="1180" r:id="rId14"/>
    <p:sldId id="1197" r:id="rId15"/>
    <p:sldId id="1198" r:id="rId16"/>
    <p:sldId id="1175" r:id="rId17"/>
    <p:sldId id="1199" r:id="rId18"/>
    <p:sldId id="1201" r:id="rId19"/>
    <p:sldId id="1204" r:id="rId20"/>
    <p:sldId id="1205" r:id="rId21"/>
    <p:sldId id="1206" r:id="rId22"/>
    <p:sldId id="1226" r:id="rId23"/>
    <p:sldId id="1207" r:id="rId24"/>
    <p:sldId id="1208" r:id="rId25"/>
    <p:sldId id="1209" r:id="rId26"/>
    <p:sldId id="1210" r:id="rId27"/>
    <p:sldId id="1211" r:id="rId28"/>
    <p:sldId id="1196" r:id="rId29"/>
    <p:sldId id="1231" r:id="rId30"/>
    <p:sldId id="1224" r:id="rId31"/>
    <p:sldId id="1221" r:id="rId32"/>
    <p:sldId id="1222" r:id="rId33"/>
    <p:sldId id="1233" r:id="rId34"/>
    <p:sldId id="1234" r:id="rId35"/>
    <p:sldId id="1236" r:id="rId36"/>
    <p:sldId id="1237" r:id="rId37"/>
    <p:sldId id="1273" r:id="rId38"/>
    <p:sldId id="1238" r:id="rId39"/>
    <p:sldId id="1239" r:id="rId40"/>
    <p:sldId id="1240" r:id="rId41"/>
    <p:sldId id="1241" r:id="rId42"/>
    <p:sldId id="1242" r:id="rId43"/>
    <p:sldId id="1243" r:id="rId44"/>
    <p:sldId id="1245" r:id="rId45"/>
    <p:sldId id="1246" r:id="rId46"/>
    <p:sldId id="1247" r:id="rId47"/>
    <p:sldId id="1248" r:id="rId48"/>
    <p:sldId id="1252" r:id="rId49"/>
    <p:sldId id="1253" r:id="rId50"/>
    <p:sldId id="1254" r:id="rId51"/>
    <p:sldId id="1255" r:id="rId52"/>
    <p:sldId id="1256" r:id="rId53"/>
    <p:sldId id="1257" r:id="rId54"/>
    <p:sldId id="1258" r:id="rId55"/>
    <p:sldId id="1259" r:id="rId56"/>
    <p:sldId id="1260" r:id="rId57"/>
    <p:sldId id="1261" r:id="rId58"/>
    <p:sldId id="1262" r:id="rId59"/>
    <p:sldId id="1263" r:id="rId60"/>
    <p:sldId id="1264" r:id="rId61"/>
    <p:sldId id="1265" r:id="rId62"/>
    <p:sldId id="1266" r:id="rId63"/>
    <p:sldId id="1267" r:id="rId64"/>
    <p:sldId id="1268" r:id="rId65"/>
    <p:sldId id="1269" r:id="rId66"/>
    <p:sldId id="1270" r:id="rId67"/>
    <p:sldId id="1271" r:id="rId68"/>
    <p:sldId id="1272" r:id="rId69"/>
    <p:sldId id="1294" r:id="rId70"/>
    <p:sldId id="1295" r:id="rId71"/>
    <p:sldId id="1296" r:id="rId72"/>
    <p:sldId id="1297" r:id="rId73"/>
  </p:sldIdLst>
  <p:sldSz cx="9144000" cy="6858000" type="screen4x3"/>
  <p:notesSz cx="6985000" cy="9283700"/>
  <p:defaultTextStyle>
    <a:defPPr>
      <a:defRPr lang="en-US"/>
    </a:defPPr>
    <a:lvl1pPr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1000" b="1" kern="1200">
        <a:solidFill>
          <a:schemeClr val="bg2"/>
        </a:solidFill>
        <a:latin typeface="Arial" panose="020B0604020202020204" pitchFamily="34" charset="0"/>
        <a:ea typeface="+mn-ea"/>
        <a:cs typeface="Arial" panose="020B0604020202020204" pitchFamily="34" charset="0"/>
      </a:defRPr>
    </a:lvl5pPr>
    <a:lvl6pPr marL="22860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6pPr>
    <a:lvl7pPr marL="27432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7pPr>
    <a:lvl8pPr marL="32004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8pPr>
    <a:lvl9pPr marL="3657600" algn="l" defTabSz="914400" rtl="0" eaLnBrk="1" latinLnBrk="0" hangingPunct="1">
      <a:defRPr sz="1000" b="1" kern="1200">
        <a:solidFill>
          <a:schemeClr val="bg2"/>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99">
          <p15:clr>
            <a:srgbClr val="A4A3A4"/>
          </p15:clr>
        </p15:guide>
        <p15:guide id="2" pos="2865">
          <p15:clr>
            <a:srgbClr val="A4A3A4"/>
          </p15:clr>
        </p15:guide>
      </p15:sldGuideLst>
    </p:ext>
    <p:ext uri="{2D200454-40CA-4A62-9FC3-DE9A4176ACB9}">
      <p15:notesGuideLst xmlns:p15="http://schemas.microsoft.com/office/powerpoint/2012/main">
        <p15:guide id="1" orient="horz" pos="2178">
          <p15:clr>
            <a:srgbClr val="A4A3A4"/>
          </p15:clr>
        </p15:guide>
        <p15:guide id="2" pos="214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3399"/>
    <a:srgbClr val="BCFCFE"/>
    <a:srgbClr val="0000CC"/>
    <a:srgbClr val="000099"/>
    <a:srgbClr val="FF99FF"/>
    <a:srgbClr val="FF00FF"/>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33" autoAdjust="0"/>
    <p:restoredTop sz="99042" autoAdjust="0"/>
  </p:normalViewPr>
  <p:slideViewPr>
    <p:cSldViewPr snapToGrid="0">
      <p:cViewPr varScale="1">
        <p:scale>
          <a:sx n="73" d="100"/>
          <a:sy n="73" d="100"/>
        </p:scale>
        <p:origin x="1236" y="84"/>
      </p:cViewPr>
      <p:guideLst>
        <p:guide orient="horz" pos="2199"/>
        <p:guide pos="2865"/>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66" d="100"/>
          <a:sy n="66" d="100"/>
        </p:scale>
        <p:origin x="-2280" y="-84"/>
      </p:cViewPr>
      <p:guideLst>
        <p:guide orient="horz" pos="2178"/>
        <p:guide pos="2149"/>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_rels/viewProps.xml.rels><?xml version="1.0" encoding="UTF-8" standalone="yes"?>
<Relationships xmlns="http://schemas.openxmlformats.org/package/2006/relationships"><Relationship Id="rId8" Type="http://schemas.openxmlformats.org/officeDocument/2006/relationships/slide" Target="slides/slide44.xml"/><Relationship Id="rId3" Type="http://schemas.openxmlformats.org/officeDocument/2006/relationships/slide" Target="slides/slide3.xml"/><Relationship Id="rId7" Type="http://schemas.openxmlformats.org/officeDocument/2006/relationships/slide" Target="slides/slide38.xml"/><Relationship Id="rId2" Type="http://schemas.openxmlformats.org/officeDocument/2006/relationships/slide" Target="slides/slide2.xml"/><Relationship Id="rId1" Type="http://schemas.openxmlformats.org/officeDocument/2006/relationships/slide" Target="slides/slide1.xml"/><Relationship Id="rId6" Type="http://schemas.openxmlformats.org/officeDocument/2006/relationships/slide" Target="slides/slide36.xml"/><Relationship Id="rId5" Type="http://schemas.openxmlformats.org/officeDocument/2006/relationships/slide" Target="slides/slide30.xml"/><Relationship Id="rId10" Type="http://schemas.openxmlformats.org/officeDocument/2006/relationships/slide" Target="slides/slide64.xml"/><Relationship Id="rId4" Type="http://schemas.openxmlformats.org/officeDocument/2006/relationships/slide" Target="slides/slide17.xml"/><Relationship Id="rId9"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7506" name="Rectangle 2"/>
          <p:cNvSpPr>
            <a:spLocks noGrp="1" noChangeArrowheads="1"/>
          </p:cNvSpPr>
          <p:nvPr>
            <p:ph type="hdr" sz="quarter"/>
          </p:nvPr>
        </p:nvSpPr>
        <p:spPr bwMode="auto">
          <a:xfrm>
            <a:off x="0" y="0"/>
            <a:ext cx="3027363" cy="461963"/>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7" name="Rectangle 3"/>
          <p:cNvSpPr>
            <a:spLocks noGrp="1" noChangeArrowheads="1"/>
          </p:cNvSpPr>
          <p:nvPr>
            <p:ph type="dt" sz="quarter" idx="1"/>
          </p:nvPr>
        </p:nvSpPr>
        <p:spPr bwMode="auto">
          <a:xfrm>
            <a:off x="3957638" y="0"/>
            <a:ext cx="3027362" cy="461963"/>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algn="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8" name="Rectangle 4"/>
          <p:cNvSpPr>
            <a:spLocks noGrp="1" noChangeArrowheads="1"/>
          </p:cNvSpPr>
          <p:nvPr>
            <p:ph type="ftr" sz="quarter" idx="2"/>
          </p:nvPr>
        </p:nvSpPr>
        <p:spPr bwMode="auto">
          <a:xfrm>
            <a:off x="0" y="8851900"/>
            <a:ext cx="3027363" cy="461963"/>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defTabSz="912813" eaLnBrk="0" hangingPunct="0">
              <a:spcBef>
                <a:spcPct val="50000"/>
              </a:spcBef>
              <a:buFontTx/>
              <a:buChar char="•"/>
              <a:defRPr sz="1100" b="0">
                <a:solidFill>
                  <a:schemeClr val="tx1"/>
                </a:solidFill>
                <a:latin typeface="Arial" charset="0"/>
                <a:cs typeface="Arial" charset="0"/>
              </a:defRPr>
            </a:lvl1pPr>
          </a:lstStyle>
          <a:p>
            <a:pPr>
              <a:defRPr/>
            </a:pPr>
            <a:endParaRPr lang="en-US"/>
          </a:p>
        </p:txBody>
      </p:sp>
      <p:sp>
        <p:nvSpPr>
          <p:cNvPr id="277509" name="Rectangle 5"/>
          <p:cNvSpPr>
            <a:spLocks noGrp="1" noChangeArrowheads="1"/>
          </p:cNvSpPr>
          <p:nvPr>
            <p:ph type="sldNum" sz="quarter" idx="3"/>
          </p:nvPr>
        </p:nvSpPr>
        <p:spPr bwMode="auto">
          <a:xfrm>
            <a:off x="3957638" y="8851900"/>
            <a:ext cx="3027362" cy="461963"/>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algn="r" defTabSz="912813" eaLnBrk="0" hangingPunct="0">
              <a:spcBef>
                <a:spcPct val="50000"/>
              </a:spcBef>
              <a:buFontTx/>
              <a:buChar char="•"/>
              <a:defRPr sz="1100" b="0">
                <a:solidFill>
                  <a:schemeClr val="tx1"/>
                </a:solidFill>
              </a:defRPr>
            </a:lvl1pPr>
          </a:lstStyle>
          <a:p>
            <a:pPr>
              <a:defRPr/>
            </a:pPr>
            <a:fld id="{9E35780E-E841-4FD2-AA93-F0177551EB7E}"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3027363" cy="46355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7171" name="Rectangle 3"/>
          <p:cNvSpPr>
            <a:spLocks noGrp="1" noChangeArrowheads="1"/>
          </p:cNvSpPr>
          <p:nvPr>
            <p:ph type="dt" idx="1"/>
          </p:nvPr>
        </p:nvSpPr>
        <p:spPr bwMode="auto">
          <a:xfrm>
            <a:off x="3957638" y="0"/>
            <a:ext cx="3027362" cy="46355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lvl1pPr algn="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9220" name="Rectangle 4"/>
          <p:cNvSpPr>
            <a:spLocks noGrp="1" noRot="1" noChangeAspect="1" noChangeArrowheads="1" noTextEdit="1"/>
          </p:cNvSpPr>
          <p:nvPr>
            <p:ph type="sldImg" idx="2"/>
          </p:nvPr>
        </p:nvSpPr>
        <p:spPr bwMode="auto">
          <a:xfrm>
            <a:off x="1173163" y="695325"/>
            <a:ext cx="4641850" cy="34813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5"/>
          <p:cNvSpPr>
            <a:spLocks noGrp="1" noChangeArrowheads="1"/>
          </p:cNvSpPr>
          <p:nvPr>
            <p:ph type="body" sz="quarter" idx="3"/>
          </p:nvPr>
        </p:nvSpPr>
        <p:spPr bwMode="auto">
          <a:xfrm>
            <a:off x="933450" y="4410075"/>
            <a:ext cx="5118100" cy="4178300"/>
          </a:xfrm>
          <a:prstGeom prst="rect">
            <a:avLst/>
          </a:prstGeom>
          <a:noFill/>
          <a:ln w="9525">
            <a:noFill/>
            <a:miter lim="800000"/>
            <a:headEnd/>
            <a:tailEnd/>
          </a:ln>
        </p:spPr>
        <p:txBody>
          <a:bodyPr vert="horz" wrap="square" lIns="91311" tIns="45657" rIns="91311" bIns="4565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74" name="Rectangle 6"/>
          <p:cNvSpPr>
            <a:spLocks noGrp="1" noChangeArrowheads="1"/>
          </p:cNvSpPr>
          <p:nvPr>
            <p:ph type="ftr" sz="quarter" idx="4"/>
          </p:nvPr>
        </p:nvSpPr>
        <p:spPr bwMode="auto">
          <a:xfrm>
            <a:off x="0" y="8820150"/>
            <a:ext cx="3027363" cy="463550"/>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defTabSz="912813" eaLnBrk="0" hangingPunct="0">
              <a:defRPr sz="1100" b="0">
                <a:solidFill>
                  <a:schemeClr val="tx1"/>
                </a:solidFill>
                <a:latin typeface="Times New Roman" pitchFamily="18" charset="0"/>
                <a:cs typeface="Arial" charset="0"/>
              </a:defRPr>
            </a:lvl1pPr>
          </a:lstStyle>
          <a:p>
            <a:pPr>
              <a:defRPr/>
            </a:pPr>
            <a:endParaRPr lang="en-US"/>
          </a:p>
        </p:txBody>
      </p:sp>
      <p:sp>
        <p:nvSpPr>
          <p:cNvPr id="7175" name="Rectangle 7"/>
          <p:cNvSpPr>
            <a:spLocks noGrp="1" noChangeArrowheads="1"/>
          </p:cNvSpPr>
          <p:nvPr>
            <p:ph type="sldNum" sz="quarter" idx="5"/>
          </p:nvPr>
        </p:nvSpPr>
        <p:spPr bwMode="auto">
          <a:xfrm>
            <a:off x="3957638" y="8820150"/>
            <a:ext cx="3027362" cy="463550"/>
          </a:xfrm>
          <a:prstGeom prst="rect">
            <a:avLst/>
          </a:prstGeom>
          <a:noFill/>
          <a:ln w="9525">
            <a:noFill/>
            <a:miter lim="800000"/>
            <a:headEnd/>
            <a:tailEnd/>
          </a:ln>
        </p:spPr>
        <p:txBody>
          <a:bodyPr vert="horz" wrap="square" lIns="91311" tIns="45657" rIns="91311" bIns="45657" numCol="1" anchor="b" anchorCtr="0" compatLnSpc="1">
            <a:prstTxWarp prst="textNoShape">
              <a:avLst/>
            </a:prstTxWarp>
          </a:bodyPr>
          <a:lstStyle>
            <a:lvl1pPr algn="r" defTabSz="912813" eaLnBrk="0" hangingPunct="0">
              <a:defRPr sz="1100" b="0">
                <a:solidFill>
                  <a:schemeClr val="tx1"/>
                </a:solidFill>
                <a:latin typeface="Times New Roman" panose="02020603050405020304" pitchFamily="18" charset="0"/>
              </a:defRPr>
            </a:lvl1pPr>
          </a:lstStyle>
          <a:p>
            <a:pPr>
              <a:defRPr/>
            </a:pPr>
            <a:fld id="{289E0FCE-7403-4D6C-BE8B-CB857C024AC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spect="1" noChangeArrowheads="1" noTextEdit="1"/>
          </p:cNvSpPr>
          <p:nvPr>
            <p:ph type="sldImg"/>
          </p:nvPr>
        </p:nvSpPr>
        <p:spPr>
          <a:xfrm>
            <a:off x="1171575" y="695325"/>
            <a:ext cx="4641850" cy="3481388"/>
          </a:xfrm>
          <a:ln/>
        </p:spPr>
      </p:sp>
      <p:sp>
        <p:nvSpPr>
          <p:cNvPr id="13315"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spect="1" noChangeArrowheads="1" noTextEdit="1"/>
          </p:cNvSpPr>
          <p:nvPr>
            <p:ph type="sldImg"/>
          </p:nvPr>
        </p:nvSpPr>
        <p:spPr>
          <a:xfrm>
            <a:off x="1171575" y="695325"/>
            <a:ext cx="4641850" cy="3481388"/>
          </a:xfrm>
          <a:ln/>
        </p:spPr>
      </p:sp>
      <p:sp>
        <p:nvSpPr>
          <p:cNvPr id="15363"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1171575" y="695325"/>
            <a:ext cx="4641850" cy="3481388"/>
          </a:xfrm>
          <a:ln/>
        </p:spPr>
      </p:sp>
      <p:sp>
        <p:nvSpPr>
          <p:cNvPr id="20483" name="Rectangle 3"/>
          <p:cNvSpPr>
            <a:spLocks noGrp="1" noChangeArrowheads="1"/>
          </p:cNvSpPr>
          <p:nvPr>
            <p:ph type="body" idx="1"/>
          </p:nvPr>
        </p:nvSpPr>
        <p:spPr>
          <a:xfrm>
            <a:off x="323850" y="4421188"/>
            <a:ext cx="6053138"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400"/>
              <a:t>Now, in our modern wisdom, we use "allele" or "gene" instead of what Mendel</a:t>
            </a:r>
          </a:p>
          <a:p>
            <a:r>
              <a:rPr lang="en-US" altLang="en-US" sz="1400"/>
              <a:t>    called "factors".   There is a gene in the DNA of pea plants that controls plant</a:t>
            </a:r>
          </a:p>
          <a:p>
            <a:r>
              <a:rPr lang="en-US" altLang="en-US" sz="1400"/>
              <a:t>    height (makes them either tall or short).  One form of the gene (allele) codes for</a:t>
            </a:r>
          </a:p>
          <a:p>
            <a:r>
              <a:rPr lang="en-US" altLang="en-US" sz="1400"/>
              <a:t>    tall, and the other allele for plant height codes for short.  For abbreviations, we use the capital "T" for the dominant tall allele, and the lowercase "t" for the recessive short allele.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1171575" y="695325"/>
            <a:ext cx="4641850" cy="3481388"/>
          </a:xfrm>
          <a:ln/>
        </p:spPr>
      </p:sp>
      <p:sp>
        <p:nvSpPr>
          <p:cNvPr id="22531" name="Rectangle 3"/>
          <p:cNvSpPr>
            <a:spLocks noGrp="1" noChangeArrowheads="1"/>
          </p:cNvSpPr>
          <p:nvPr>
            <p:ph type="body" idx="1"/>
          </p:nvPr>
        </p:nvSpPr>
        <p:spPr>
          <a:xfrm>
            <a:off x="323850" y="4421188"/>
            <a:ext cx="6053138"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400"/>
              <a:t>Now, in our modern wisdom, we use "allele" or "gene" instead of what Mendel</a:t>
            </a:r>
          </a:p>
          <a:p>
            <a:r>
              <a:rPr lang="en-US" altLang="en-US" sz="1400"/>
              <a:t>    called "factors".   There is a gene in the DNA of pea plants that controls plant</a:t>
            </a:r>
          </a:p>
          <a:p>
            <a:r>
              <a:rPr lang="en-US" altLang="en-US" sz="1400"/>
              <a:t>    height (makes them either tall or short).  One form of the gene (allele) codes for</a:t>
            </a:r>
          </a:p>
          <a:p>
            <a:r>
              <a:rPr lang="en-US" altLang="en-US" sz="1400"/>
              <a:t>    tall, and the other allele for plant height codes for short.  For abbreviations, we use the capital "T" for the dominant tall allele, and the lowercase "t" for the recessive short allele.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2003405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xfrm>
            <a:off x="1171575" y="695325"/>
            <a:ext cx="4641850" cy="3481388"/>
          </a:xfrm>
          <a:ln/>
        </p:spPr>
      </p:sp>
      <p:sp>
        <p:nvSpPr>
          <p:cNvPr id="25603" name="Rectangle 3"/>
          <p:cNvSpPr>
            <a:spLocks noGrp="1" noChangeArrowheads="1"/>
          </p:cNvSpPr>
          <p:nvPr>
            <p:ph type="body" idx="1"/>
          </p:nvPr>
        </p:nvSpPr>
        <p:spPr>
          <a:xfrm>
            <a:off x="0" y="3957638"/>
            <a:ext cx="6985000" cy="52530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r>
              <a:rPr lang="en-US" altLang="en-US"/>
              <a:t>    GENOTYPE = the genes present in the DNA of an organism.  We will use a pair of</a:t>
            </a:r>
          </a:p>
          <a:p>
            <a:r>
              <a:rPr lang="en-US" altLang="en-US"/>
              <a:t>    letters (ex: AA or Aa) to represent genotypes for one particular trait. </a:t>
            </a:r>
          </a:p>
          <a:p>
            <a:r>
              <a:rPr lang="en-US" altLang="en-US"/>
              <a:t>    There are always two letters in the genotype because (as a result of sexual</a:t>
            </a:r>
          </a:p>
          <a:p>
            <a:r>
              <a:rPr lang="en-US" altLang="en-US"/>
              <a:t>    reproduction) one code for the trait comes from mama organism &amp; the other</a:t>
            </a:r>
          </a:p>
          <a:p>
            <a:r>
              <a:rPr lang="en-US" altLang="en-US"/>
              <a:t>    comes from papa organism, so every offspring gets two codes (two letters). </a:t>
            </a:r>
          </a:p>
          <a:p>
            <a:r>
              <a:rPr lang="en-US" altLang="en-US"/>
              <a:t>Now, turns out there are three possible GENOTYPES - two big letters (like</a:t>
            </a:r>
          </a:p>
          <a:p>
            <a:r>
              <a:rPr lang="en-US" altLang="en-US"/>
              <a:t>        “AA"), one of each (“Aa"), or two lowercase letters (“aa"). Since WE LOVE</a:t>
            </a:r>
          </a:p>
          <a:p>
            <a:r>
              <a:rPr lang="en-US" altLang="en-US"/>
              <a:t>        VOCABULARY, each possible combo has a term for it     When we have two capital or two lowercase letters in the GENOTYPE (ex: AA or aa) it's called HOMOZYGOUS ("homo" means "the same"). When the GENOTYPE is made up of one capital letter &amp; one lowercase letter</a:t>
            </a:r>
          </a:p>
          <a:p>
            <a:r>
              <a:rPr lang="en-US" altLang="en-US"/>
              <a:t>        (ex: Tt) it's called HETEROZYGOUS ("hetero" means "other").  Just to confuse</a:t>
            </a:r>
          </a:p>
          <a:p>
            <a:r>
              <a:rPr lang="en-US" altLang="en-US"/>
              <a:t>        you, a heterozygous genotype can also be referred to as HYBRID. OK? </a:t>
            </a:r>
          </a:p>
          <a:p>
            <a:r>
              <a:rPr lang="en-US" altLang="en-US"/>
              <a:t> PHENOTYPE = how the trait physically shows-up in the organism.  Wanna know</a:t>
            </a:r>
          </a:p>
          <a:p>
            <a:r>
              <a:rPr lang="en-US" altLang="en-US"/>
              <a:t>    the simplest way to determine an organism's phenotype ?  Look at it.  Examples of</a:t>
            </a:r>
          </a:p>
          <a:p>
            <a:r>
              <a:rPr lang="en-US" altLang="en-US"/>
              <a:t>    phenotypes: blue eyes, brown fur, striped fruit, yellow flowers. </a:t>
            </a:r>
          </a:p>
          <a:p>
            <a:r>
              <a:rPr lang="en-US" altLang="en-US"/>
              <a:t>      </a:t>
            </a:r>
          </a:p>
          <a:p>
            <a:r>
              <a:rPr lang="en-US" altLang="en-US"/>
              <a:t>    ALLELES = alternative forms of the same gene.  Alleles for a trait are located at corresponding positions on homologous chromosomes. </a:t>
            </a:r>
          </a:p>
          <a:p>
            <a:r>
              <a:rPr lang="en-US" altLang="en-US"/>
              <a: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xfrm>
            <a:off x="1171575" y="695325"/>
            <a:ext cx="4641850" cy="3481388"/>
          </a:xfrm>
          <a:ln/>
        </p:spPr>
      </p:sp>
      <p:sp>
        <p:nvSpPr>
          <p:cNvPr id="29699" name="Rectangle 3"/>
          <p:cNvSpPr>
            <a:spLocks noGrp="1" noChangeArrowheads="1"/>
          </p:cNvSpPr>
          <p:nvPr>
            <p:ph type="body" idx="1"/>
          </p:nvPr>
        </p:nvSpPr>
        <p:spPr>
          <a:xfrm>
            <a:off x="323850" y="4421188"/>
            <a:ext cx="605472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400"/>
              <a:t>Now, in our modern wisdom, we use "allele" or "gene" instead of what Mendel</a:t>
            </a:r>
          </a:p>
          <a:p>
            <a:r>
              <a:rPr lang="en-US" altLang="en-US" sz="1400"/>
              <a:t>    called "factors".   There is a gene in the DNA of pea plants that controls plant</a:t>
            </a:r>
          </a:p>
          <a:p>
            <a:r>
              <a:rPr lang="en-US" altLang="en-US" sz="1400"/>
              <a:t>    height (makes them either tall or short).  One form of the gene (allele) codes for</a:t>
            </a:r>
          </a:p>
          <a:p>
            <a:r>
              <a:rPr lang="en-US" altLang="en-US" sz="1400"/>
              <a:t>    tall, and the other allele for plant height codes for short.  For abbreviations, we use the capital "T" for the dominant tall allele, and the lowercase "t" for the recessive short allele.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xfrm>
            <a:off x="1171575" y="695325"/>
            <a:ext cx="4641850" cy="3481388"/>
          </a:xfrm>
          <a:ln/>
        </p:spPr>
      </p:sp>
      <p:sp>
        <p:nvSpPr>
          <p:cNvPr id="33795" name="Rectangle 3"/>
          <p:cNvSpPr>
            <a:spLocks noGrp="1" noChangeArrowheads="1"/>
          </p:cNvSpPr>
          <p:nvPr>
            <p:ph type="body" idx="1"/>
          </p:nvPr>
        </p:nvSpPr>
        <p:spPr>
          <a:xfrm>
            <a:off x="323850" y="4421188"/>
            <a:ext cx="6053138"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400"/>
              <a:t>Now, in our modern wisdom, we use "allele" or "gene" instead of what Mendel</a:t>
            </a:r>
          </a:p>
          <a:p>
            <a:r>
              <a:rPr lang="en-US" altLang="en-US" sz="1400"/>
              <a:t>    called "factors".   There is a gene in the DNA of pea plants that controls plant</a:t>
            </a:r>
          </a:p>
          <a:p>
            <a:r>
              <a:rPr lang="en-US" altLang="en-US" sz="1400"/>
              <a:t>    height (makes them either tall or short).  One form of the gene (allele) codes for</a:t>
            </a:r>
          </a:p>
          <a:p>
            <a:r>
              <a:rPr lang="en-US" altLang="en-US" sz="1400"/>
              <a:t>    tall, and the other allele for plant height codes for short.  For abbreviations, we use the capital "T" for the dominant tall allele, and the lowercase "t" for the recessive short allele.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xfrm>
            <a:off x="1171575" y="695325"/>
            <a:ext cx="4641850" cy="3481388"/>
          </a:xfrm>
          <a:ln/>
        </p:spPr>
      </p:sp>
      <p:sp>
        <p:nvSpPr>
          <p:cNvPr id="41987"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xfrm>
            <a:off x="1171575" y="695325"/>
            <a:ext cx="4641850" cy="3481388"/>
          </a:xfrm>
          <a:ln/>
        </p:spPr>
      </p:sp>
      <p:sp>
        <p:nvSpPr>
          <p:cNvPr id="44035"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1171575" y="696913"/>
            <a:ext cx="4641850" cy="3481387"/>
          </a:xfrm>
          <a:ln/>
        </p:spPr>
      </p:sp>
      <p:sp>
        <p:nvSpPr>
          <p:cNvPr id="46083" name="Rectangle 3"/>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xfrm>
            <a:off x="1171575" y="696913"/>
            <a:ext cx="4641850" cy="3481387"/>
          </a:xfrm>
          <a:ln/>
        </p:spPr>
      </p:sp>
      <p:sp>
        <p:nvSpPr>
          <p:cNvPr id="48131" name="Rectangle 3"/>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ChangeArrowheads="1" noTextEdit="1"/>
          </p:cNvSpPr>
          <p:nvPr>
            <p:ph type="sldImg"/>
          </p:nvPr>
        </p:nvSpPr>
        <p:spPr>
          <a:xfrm>
            <a:off x="1171575" y="696913"/>
            <a:ext cx="4641850" cy="3481387"/>
          </a:xfrm>
          <a:ln/>
        </p:spPr>
      </p:sp>
      <p:sp>
        <p:nvSpPr>
          <p:cNvPr id="50179" name="Rectangle 3"/>
          <p:cNvSpPr>
            <a:spLocks noGrp="1" noChangeArrowheads="1"/>
          </p:cNvSpPr>
          <p:nvPr>
            <p:ph type="body" idx="1"/>
          </p:nvPr>
        </p:nvSpPr>
        <p:spPr>
          <a:xfrm>
            <a:off x="931863" y="4410075"/>
            <a:ext cx="5121275" cy="41767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ChangeArrowheads="1" noTextEdit="1"/>
          </p:cNvSpPr>
          <p:nvPr>
            <p:ph type="sldImg"/>
          </p:nvPr>
        </p:nvSpPr>
        <p:spPr>
          <a:xfrm>
            <a:off x="1171575" y="695325"/>
            <a:ext cx="4641850" cy="3481388"/>
          </a:xfrm>
          <a:ln/>
        </p:spPr>
      </p:sp>
      <p:sp>
        <p:nvSpPr>
          <p:cNvPr id="54275"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ChangeArrowheads="1" noTextEdit="1"/>
          </p:cNvSpPr>
          <p:nvPr>
            <p:ph type="sldImg"/>
          </p:nvPr>
        </p:nvSpPr>
        <p:spPr>
          <a:xfrm>
            <a:off x="1171575" y="695325"/>
            <a:ext cx="4641850" cy="3481388"/>
          </a:xfrm>
          <a:ln/>
        </p:spPr>
      </p:sp>
      <p:sp>
        <p:nvSpPr>
          <p:cNvPr id="56323" name="Rectangle 3"/>
          <p:cNvSpPr>
            <a:spLocks noGrp="1" noChangeArrowheads="1"/>
          </p:cNvSpPr>
          <p:nvPr>
            <p:ph type="body" idx="1"/>
          </p:nvPr>
        </p:nvSpPr>
        <p:spPr>
          <a:xfrm>
            <a:off x="323850" y="4421188"/>
            <a:ext cx="605472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400"/>
              <a:t>Now, in our modern wisdom, we use "allele" or "gene" instead of what Mendel</a:t>
            </a:r>
          </a:p>
          <a:p>
            <a:r>
              <a:rPr lang="en-US" altLang="en-US" sz="1400"/>
              <a:t>    called "factors".   There is a gene in the DNA of pea plants that controls plant</a:t>
            </a:r>
          </a:p>
          <a:p>
            <a:r>
              <a:rPr lang="en-US" altLang="en-US" sz="1400"/>
              <a:t>    height (makes them either tall or short).  One form of the gene (allele) codes for</a:t>
            </a:r>
          </a:p>
          <a:p>
            <a:r>
              <a:rPr lang="en-US" altLang="en-US" sz="1400"/>
              <a:t>    tall, and the other allele for plant height codes for short.  For abbreviations, we use the capital "T" for the dominant tall allele, and the lowercase "t" for the recessive short allele. </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txBox="1">
            <a:spLocks noGrp="1" noChangeArrowheads="1"/>
          </p:cNvSpPr>
          <p:nvPr/>
        </p:nvSpPr>
        <p:spPr bwMode="auto">
          <a:xfrm>
            <a:off x="3957638" y="8820150"/>
            <a:ext cx="3027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nchor="b"/>
          <a:lstStyle>
            <a:lvl1pPr defTabSz="919163">
              <a:spcBef>
                <a:spcPct val="30000"/>
              </a:spcBef>
              <a:defRPr sz="1200">
                <a:solidFill>
                  <a:schemeClr val="tx1"/>
                </a:solidFill>
                <a:latin typeface="Times New Roman" panose="02020603050405020304" pitchFamily="18" charset="0"/>
              </a:defRPr>
            </a:lvl1pPr>
            <a:lvl2pPr marL="714375" indent="-274638" defTabSz="919163">
              <a:spcBef>
                <a:spcPct val="30000"/>
              </a:spcBef>
              <a:defRPr sz="1200">
                <a:solidFill>
                  <a:schemeClr val="tx1"/>
                </a:solidFill>
                <a:latin typeface="Times New Roman" panose="02020603050405020304" pitchFamily="18" charset="0"/>
              </a:defRPr>
            </a:lvl2pPr>
            <a:lvl3pPr marL="1100138" indent="-220663" defTabSz="919163">
              <a:spcBef>
                <a:spcPct val="30000"/>
              </a:spcBef>
              <a:defRPr sz="1200">
                <a:solidFill>
                  <a:schemeClr val="tx1"/>
                </a:solidFill>
                <a:latin typeface="Times New Roman" panose="02020603050405020304" pitchFamily="18" charset="0"/>
              </a:defRPr>
            </a:lvl3pPr>
            <a:lvl4pPr marL="1539875" indent="-219075" defTabSz="919163">
              <a:spcBef>
                <a:spcPct val="30000"/>
              </a:spcBef>
              <a:defRPr sz="1200">
                <a:solidFill>
                  <a:schemeClr val="tx1"/>
                </a:solidFill>
                <a:latin typeface="Times New Roman" panose="02020603050405020304" pitchFamily="18" charset="0"/>
              </a:defRPr>
            </a:lvl4pPr>
            <a:lvl5pPr marL="1979613" indent="-219075" defTabSz="919163">
              <a:spcBef>
                <a:spcPct val="30000"/>
              </a:spcBef>
              <a:defRPr sz="1200">
                <a:solidFill>
                  <a:schemeClr val="tx1"/>
                </a:solidFill>
                <a:latin typeface="Times New Roman" panose="02020603050405020304" pitchFamily="18" charset="0"/>
              </a:defRPr>
            </a:lvl5pPr>
            <a:lvl6pPr marL="2436813" indent="-219075" defTabSz="919163" eaLnBrk="0" fontAlgn="base" hangingPunct="0">
              <a:spcBef>
                <a:spcPct val="30000"/>
              </a:spcBef>
              <a:spcAft>
                <a:spcPct val="0"/>
              </a:spcAft>
              <a:defRPr sz="1200">
                <a:solidFill>
                  <a:schemeClr val="tx1"/>
                </a:solidFill>
                <a:latin typeface="Times New Roman" panose="02020603050405020304" pitchFamily="18" charset="0"/>
              </a:defRPr>
            </a:lvl6pPr>
            <a:lvl7pPr marL="2894013" indent="-219075" defTabSz="919163" eaLnBrk="0" fontAlgn="base" hangingPunct="0">
              <a:spcBef>
                <a:spcPct val="30000"/>
              </a:spcBef>
              <a:spcAft>
                <a:spcPct val="0"/>
              </a:spcAft>
              <a:defRPr sz="1200">
                <a:solidFill>
                  <a:schemeClr val="tx1"/>
                </a:solidFill>
                <a:latin typeface="Times New Roman" panose="02020603050405020304" pitchFamily="18" charset="0"/>
              </a:defRPr>
            </a:lvl7pPr>
            <a:lvl8pPr marL="3351213" indent="-219075" defTabSz="919163" eaLnBrk="0" fontAlgn="base" hangingPunct="0">
              <a:spcBef>
                <a:spcPct val="30000"/>
              </a:spcBef>
              <a:spcAft>
                <a:spcPct val="0"/>
              </a:spcAft>
              <a:defRPr sz="1200">
                <a:solidFill>
                  <a:schemeClr val="tx1"/>
                </a:solidFill>
                <a:latin typeface="Times New Roman" panose="02020603050405020304" pitchFamily="18" charset="0"/>
              </a:defRPr>
            </a:lvl8pPr>
            <a:lvl9pPr marL="3808413" indent="-219075" defTabSz="919163"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71C4297B-D362-4CE3-8F40-CF34BB370441}" type="slidenum">
              <a:rPr lang="en-US" altLang="en-US" b="0"/>
              <a:pPr algn="r">
                <a:spcBef>
                  <a:spcPct val="0"/>
                </a:spcBef>
              </a:pPr>
              <a:t>35</a:t>
            </a:fld>
            <a:endParaRPr lang="en-US" altLang="en-US" b="0"/>
          </a:p>
        </p:txBody>
      </p:sp>
      <p:sp>
        <p:nvSpPr>
          <p:cNvPr id="61443" name="Rectangle 2"/>
          <p:cNvSpPr>
            <a:spLocks noGrp="1" noRot="1" noChangeAspect="1" noChangeArrowheads="1" noTextEdit="1"/>
          </p:cNvSpPr>
          <p:nvPr>
            <p:ph type="sldImg"/>
          </p:nvPr>
        </p:nvSpPr>
        <p:spPr>
          <a:xfrm>
            <a:off x="1171575" y="695325"/>
            <a:ext cx="4641850" cy="3481388"/>
          </a:xfrm>
          <a:ln/>
        </p:spPr>
      </p:sp>
      <p:sp>
        <p:nvSpPr>
          <p:cNvPr id="61444"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1171575" y="693738"/>
            <a:ext cx="4643438" cy="3482975"/>
          </a:xfrm>
          <a:ln/>
        </p:spPr>
      </p:sp>
      <p:sp>
        <p:nvSpPr>
          <p:cNvPr id="63491" name="Rectangle 3"/>
          <p:cNvSpPr>
            <a:spLocks noGrp="1" noChangeArrowheads="1"/>
          </p:cNvSpPr>
          <p:nvPr>
            <p:ph type="body" idx="1"/>
          </p:nvPr>
        </p:nvSpPr>
        <p:spPr>
          <a:xfrm>
            <a:off x="930275" y="4410075"/>
            <a:ext cx="5124450" cy="4179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73" tIns="45636" rIns="91273" bIns="45636"/>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txBox="1">
            <a:spLocks noGrp="1" noChangeArrowheads="1"/>
          </p:cNvSpPr>
          <p:nvPr/>
        </p:nvSpPr>
        <p:spPr bwMode="auto">
          <a:xfrm>
            <a:off x="3957638" y="8820150"/>
            <a:ext cx="3027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nchor="b"/>
          <a:lstStyle>
            <a:lvl1pPr defTabSz="919163">
              <a:spcBef>
                <a:spcPct val="30000"/>
              </a:spcBef>
              <a:defRPr sz="1200">
                <a:solidFill>
                  <a:schemeClr val="tx1"/>
                </a:solidFill>
                <a:latin typeface="Times New Roman" panose="02020603050405020304" pitchFamily="18" charset="0"/>
              </a:defRPr>
            </a:lvl1pPr>
            <a:lvl2pPr marL="714375" indent="-274638" defTabSz="919163">
              <a:spcBef>
                <a:spcPct val="30000"/>
              </a:spcBef>
              <a:defRPr sz="1200">
                <a:solidFill>
                  <a:schemeClr val="tx1"/>
                </a:solidFill>
                <a:latin typeface="Times New Roman" panose="02020603050405020304" pitchFamily="18" charset="0"/>
              </a:defRPr>
            </a:lvl2pPr>
            <a:lvl3pPr marL="1100138" indent="-220663" defTabSz="919163">
              <a:spcBef>
                <a:spcPct val="30000"/>
              </a:spcBef>
              <a:defRPr sz="1200">
                <a:solidFill>
                  <a:schemeClr val="tx1"/>
                </a:solidFill>
                <a:latin typeface="Times New Roman" panose="02020603050405020304" pitchFamily="18" charset="0"/>
              </a:defRPr>
            </a:lvl3pPr>
            <a:lvl4pPr marL="1539875" indent="-219075" defTabSz="919163">
              <a:spcBef>
                <a:spcPct val="30000"/>
              </a:spcBef>
              <a:defRPr sz="1200">
                <a:solidFill>
                  <a:schemeClr val="tx1"/>
                </a:solidFill>
                <a:latin typeface="Times New Roman" panose="02020603050405020304" pitchFamily="18" charset="0"/>
              </a:defRPr>
            </a:lvl4pPr>
            <a:lvl5pPr marL="1979613" indent="-219075" defTabSz="919163">
              <a:spcBef>
                <a:spcPct val="30000"/>
              </a:spcBef>
              <a:defRPr sz="1200">
                <a:solidFill>
                  <a:schemeClr val="tx1"/>
                </a:solidFill>
                <a:latin typeface="Times New Roman" panose="02020603050405020304" pitchFamily="18" charset="0"/>
              </a:defRPr>
            </a:lvl5pPr>
            <a:lvl6pPr marL="2436813" indent="-219075" defTabSz="919163" eaLnBrk="0" fontAlgn="base" hangingPunct="0">
              <a:spcBef>
                <a:spcPct val="30000"/>
              </a:spcBef>
              <a:spcAft>
                <a:spcPct val="0"/>
              </a:spcAft>
              <a:defRPr sz="1200">
                <a:solidFill>
                  <a:schemeClr val="tx1"/>
                </a:solidFill>
                <a:latin typeface="Times New Roman" panose="02020603050405020304" pitchFamily="18" charset="0"/>
              </a:defRPr>
            </a:lvl6pPr>
            <a:lvl7pPr marL="2894013" indent="-219075" defTabSz="919163" eaLnBrk="0" fontAlgn="base" hangingPunct="0">
              <a:spcBef>
                <a:spcPct val="30000"/>
              </a:spcBef>
              <a:spcAft>
                <a:spcPct val="0"/>
              </a:spcAft>
              <a:defRPr sz="1200">
                <a:solidFill>
                  <a:schemeClr val="tx1"/>
                </a:solidFill>
                <a:latin typeface="Times New Roman" panose="02020603050405020304" pitchFamily="18" charset="0"/>
              </a:defRPr>
            </a:lvl7pPr>
            <a:lvl8pPr marL="3351213" indent="-219075" defTabSz="919163" eaLnBrk="0" fontAlgn="base" hangingPunct="0">
              <a:spcBef>
                <a:spcPct val="30000"/>
              </a:spcBef>
              <a:spcAft>
                <a:spcPct val="0"/>
              </a:spcAft>
              <a:defRPr sz="1200">
                <a:solidFill>
                  <a:schemeClr val="tx1"/>
                </a:solidFill>
                <a:latin typeface="Times New Roman" panose="02020603050405020304" pitchFamily="18" charset="0"/>
              </a:defRPr>
            </a:lvl8pPr>
            <a:lvl9pPr marL="3808413" indent="-219075" defTabSz="919163"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CC8D7E9A-1BFB-48F5-83FA-CE03A894E888}" type="slidenum">
              <a:rPr lang="en-US" altLang="en-US" b="0"/>
              <a:pPr algn="r">
                <a:spcBef>
                  <a:spcPct val="0"/>
                </a:spcBef>
              </a:pPr>
              <a:t>37</a:t>
            </a:fld>
            <a:endParaRPr lang="en-US" altLang="en-US" b="0"/>
          </a:p>
        </p:txBody>
      </p:sp>
      <p:sp>
        <p:nvSpPr>
          <p:cNvPr id="65539" name="Rectangle 2"/>
          <p:cNvSpPr>
            <a:spLocks noGrp="1" noRot="1" noChangeAspect="1" noChangeArrowheads="1" noTextEdit="1"/>
          </p:cNvSpPr>
          <p:nvPr>
            <p:ph type="sldImg"/>
          </p:nvPr>
        </p:nvSpPr>
        <p:spPr>
          <a:xfrm>
            <a:off x="1171575" y="695325"/>
            <a:ext cx="4641850" cy="3481388"/>
          </a:xfrm>
          <a:ln/>
        </p:spPr>
      </p:sp>
      <p:sp>
        <p:nvSpPr>
          <p:cNvPr id="65540"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a:xfrm>
            <a:off x="1171575" y="695325"/>
            <a:ext cx="4641850" cy="3481388"/>
          </a:xfrm>
          <a:ln/>
        </p:spPr>
      </p:sp>
      <p:sp>
        <p:nvSpPr>
          <p:cNvPr id="67587" name="Rectangle 3"/>
          <p:cNvSpPr>
            <a:spLocks noGrp="1" noChangeArrowheads="1"/>
          </p:cNvSpPr>
          <p:nvPr>
            <p:ph type="body" idx="1"/>
          </p:nvPr>
        </p:nvSpPr>
        <p:spPr>
          <a:xfrm>
            <a:off x="930275" y="4410075"/>
            <a:ext cx="512445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r>
              <a:rPr lang="en-US" altLang="en-US" b="1"/>
              <a:t>The Law of Dominance </a:t>
            </a:r>
          </a:p>
          <a:p>
            <a:r>
              <a:rPr lang="en-US" altLang="en-US"/>
              <a:t>        In a cross of parents that are pure for contrasting traits, only one form of the trait  will appear in the next generation.  Offspring that are hybrid for a trait will have only the dominant trait in the phenotype. </a:t>
            </a:r>
          </a:p>
          <a:p>
            <a:pPr>
              <a:lnSpc>
                <a:spcPct val="90000"/>
              </a:lnSpc>
              <a:spcBef>
                <a:spcPct val="55000"/>
              </a:spcBef>
              <a:spcAft>
                <a:spcPct val="45000"/>
              </a:spcAft>
              <a:buFontTx/>
              <a:buChar char="•"/>
            </a:pPr>
            <a:r>
              <a:rPr lang="en-US" altLang="en-US" b="1">
                <a:latin typeface="Arial" panose="020B0604020202020204" pitchFamily="34" charset="0"/>
                <a:cs typeface="Times New Roman" panose="02020603050405020304" pitchFamily="18" charset="0"/>
              </a:rPr>
              <a:t>Law of Independent Segregation</a:t>
            </a:r>
          </a:p>
          <a:p>
            <a:pPr lvl="1">
              <a:lnSpc>
                <a:spcPct val="90000"/>
              </a:lnSpc>
              <a:spcBef>
                <a:spcPct val="55000"/>
              </a:spcBef>
              <a:spcAft>
                <a:spcPct val="45000"/>
              </a:spcAft>
              <a:buFontTx/>
              <a:buChar char="•"/>
            </a:pPr>
            <a:r>
              <a:rPr lang="en-US" altLang="en-US" b="1">
                <a:latin typeface="Arial" panose="020B0604020202020204" pitchFamily="34" charset="0"/>
                <a:cs typeface="Times New Roman" panose="02020603050405020304" pitchFamily="18" charset="0"/>
              </a:rPr>
              <a:t>Inheritance is particulate</a:t>
            </a:r>
            <a:endParaRPr lang="en-US" altLang="en-US" b="1">
              <a:latin typeface="Arial" panose="020B0604020202020204" pitchFamily="34" charset="0"/>
              <a:cs typeface="Courier New" panose="02070309020205020404" pitchFamily="49" charset="0"/>
            </a:endParaRPr>
          </a:p>
          <a:p>
            <a:pPr>
              <a:lnSpc>
                <a:spcPct val="90000"/>
              </a:lnSpc>
              <a:spcBef>
                <a:spcPct val="55000"/>
              </a:spcBef>
              <a:spcAft>
                <a:spcPct val="45000"/>
              </a:spcAft>
              <a:buFontTx/>
              <a:buChar char="•"/>
            </a:pPr>
            <a:r>
              <a:rPr lang="en-US" altLang="en-US" b="1">
                <a:latin typeface="Arial" panose="020B0604020202020204" pitchFamily="34" charset="0"/>
                <a:cs typeface="Times New Roman" panose="02020603050405020304" pitchFamily="18" charset="0"/>
              </a:rPr>
              <a:t>Law of Independent Assortment</a:t>
            </a:r>
          </a:p>
          <a:p>
            <a:pPr lvl="1">
              <a:lnSpc>
                <a:spcPct val="90000"/>
              </a:lnSpc>
              <a:spcBef>
                <a:spcPct val="55000"/>
              </a:spcBef>
              <a:spcAft>
                <a:spcPct val="45000"/>
              </a:spcAft>
              <a:buFontTx/>
              <a:buChar char="•"/>
            </a:pPr>
            <a:r>
              <a:rPr lang="en-US" altLang="en-US" b="1">
                <a:latin typeface="Arial" panose="020B0604020202020204" pitchFamily="34" charset="0"/>
                <a:cs typeface="Times New Roman" panose="02020603050405020304" pitchFamily="18" charset="0"/>
              </a:rPr>
              <a:t>Genes sort independently</a:t>
            </a:r>
            <a:endParaRPr lang="en-US" altLang="en-US" b="1">
              <a:latin typeface="Arial" panose="020B0604020202020204" pitchFamily="34" charset="0"/>
              <a:cs typeface="Courier New" panose="02070309020205020404" pitchFamily="49" charset="0"/>
            </a:endParaRPr>
          </a:p>
          <a:p>
            <a:r>
              <a:rPr lang="en-US" altLang="en-US">
                <a:latin typeface="Arial" panose="020B0604020202020204" pitchFamily="34" charset="0"/>
              </a:rPr>
              <a:t>Now, notice in that very brief description of his work that the words</a:t>
            </a:r>
          </a:p>
          <a:p>
            <a:r>
              <a:rPr lang="en-US" altLang="en-US">
                <a:latin typeface="Arial" panose="020B0604020202020204" pitchFamily="34" charset="0"/>
              </a:rPr>
              <a:t>    "chromosomes" or "genes" are nowhere to be found.  That is because the role ofthese things in relation to inheritance &amp; heredity had not been discovered yet.</a:t>
            </a:r>
          </a:p>
          <a:p>
            <a:r>
              <a:rPr lang="en-US" altLang="en-US">
                <a:latin typeface="Arial" panose="020B0604020202020204" pitchFamily="34" charset="0"/>
              </a:rPr>
              <a:t>    What makes Mendel's contributions so impressive is that he described the basic patterns of inheritance before the mechanism for inheritance (namely genes) was even discovered. </a:t>
            </a:r>
          </a:p>
          <a:p>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a:xfrm>
            <a:off x="1171575" y="695325"/>
            <a:ext cx="4641850" cy="3481388"/>
          </a:xfrm>
          <a:ln/>
        </p:spPr>
      </p:sp>
      <p:sp>
        <p:nvSpPr>
          <p:cNvPr id="69635" name="Rectangle 3"/>
          <p:cNvSpPr>
            <a:spLocks noGrp="1" noChangeArrowheads="1"/>
          </p:cNvSpPr>
          <p:nvPr>
            <p:ph type="body" idx="1"/>
          </p:nvPr>
        </p:nvSpPr>
        <p:spPr>
          <a:xfrm>
            <a:off x="455613" y="4410075"/>
            <a:ext cx="6529387"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r>
              <a:rPr lang="en-US" altLang="en-US"/>
              <a:t>The Law of Segregation Goes like so: During the formation of gametes (eggs or sperm), the two alleles</a:t>
            </a:r>
          </a:p>
          <a:p>
            <a:r>
              <a:rPr lang="en-US" altLang="en-US"/>
              <a:t>    responsible for a trait separate from each other.  Alleles for a trait are then</a:t>
            </a:r>
          </a:p>
          <a:p>
            <a:r>
              <a:rPr lang="en-US" altLang="en-US"/>
              <a:t>    "recombined" at fertilization, producing the genotype for the traits of the</a:t>
            </a:r>
          </a:p>
          <a:p>
            <a:r>
              <a:rPr lang="en-US" altLang="en-US"/>
              <a:t>    offspring. </a:t>
            </a:r>
          </a:p>
          <a:p>
            <a:endParaRPr lang="en-US" altLang="en-US"/>
          </a:p>
          <a:p>
            <a:endParaRPr lang="en-US" altLang="en-US"/>
          </a:p>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xfrm>
            <a:off x="1171575" y="695325"/>
            <a:ext cx="4641850" cy="3481388"/>
          </a:xfrm>
          <a:ln/>
        </p:spPr>
      </p:sp>
      <p:sp>
        <p:nvSpPr>
          <p:cNvPr id="71683" name="Rectangle 3"/>
          <p:cNvSpPr>
            <a:spLocks noGrp="1" noChangeArrowheads="1"/>
          </p:cNvSpPr>
          <p:nvPr>
            <p:ph type="body" idx="1"/>
          </p:nvPr>
        </p:nvSpPr>
        <p:spPr>
          <a:xfrm>
            <a:off x="930275" y="4410075"/>
            <a:ext cx="512445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r>
              <a:rPr lang="en-US" altLang="en-US"/>
              <a:t>So, he takes two of the "F1" generation (which are tall) &amp; crosses them.  </a:t>
            </a:r>
          </a:p>
          <a:p>
            <a:endParaRPr lang="en-US" altLang="en-US"/>
          </a:p>
          <a:p>
            <a:r>
              <a:rPr lang="en-US" altLang="en-US"/>
              <a:t>Phenotype = Tall</a:t>
            </a:r>
          </a:p>
          <a:p>
            <a:r>
              <a:rPr lang="en-US" altLang="en-US"/>
              <a:t>Genotype = Hetergygous (Aa)</a:t>
            </a:r>
          </a:p>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a:xfrm>
            <a:off x="1171575" y="695325"/>
            <a:ext cx="4641850" cy="3481388"/>
          </a:xfrm>
          <a:ln/>
        </p:spPr>
      </p:sp>
      <p:sp>
        <p:nvSpPr>
          <p:cNvPr id="73731" name="Rectangle 3"/>
          <p:cNvSpPr>
            <a:spLocks noGrp="1" noChangeArrowheads="1"/>
          </p:cNvSpPr>
          <p:nvPr>
            <p:ph type="body" idx="1"/>
          </p:nvPr>
        </p:nvSpPr>
        <p:spPr>
          <a:xfrm>
            <a:off x="930275" y="4410075"/>
            <a:ext cx="512445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r>
              <a:rPr lang="en-US" altLang="en-US"/>
              <a:t> Recall that he "discovered" this law by crossing a pure tall pea plant &amp; a pure short pea plant.  In symbols,</a:t>
            </a:r>
          </a:p>
          <a:p>
            <a:r>
              <a:rPr lang="en-US" altLang="en-US"/>
              <a:t>that cross looks like this: </a:t>
            </a:r>
          </a:p>
          <a:p>
            <a:endParaRPr lang="en-US" altLang="en-US"/>
          </a:p>
          <a:p>
            <a:r>
              <a:rPr lang="en-US" altLang="en-US"/>
              <a:t>                          Parents (P):  TT x tt </a:t>
            </a:r>
          </a:p>
          <a:p>
            <a:endParaRPr lang="en-US" altLang="en-US"/>
          </a:p>
          <a:p>
            <a:r>
              <a:rPr lang="en-US" altLang="en-US"/>
              <a:t>                  where T = the dominant allele for tall stems </a:t>
            </a:r>
          </a:p>
          <a:p>
            <a:r>
              <a:rPr lang="en-US" altLang="en-US"/>
              <a:t>                      &amp;  t = recessive allele for short stems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Rot="1" noChangeAspect="1" noChangeArrowheads="1" noTextEdit="1"/>
          </p:cNvSpPr>
          <p:nvPr>
            <p:ph type="sldImg"/>
          </p:nvPr>
        </p:nvSpPr>
        <p:spPr>
          <a:xfrm>
            <a:off x="1171575" y="695325"/>
            <a:ext cx="4641850" cy="3481388"/>
          </a:xfrm>
          <a:ln/>
        </p:spPr>
      </p:sp>
      <p:sp>
        <p:nvSpPr>
          <p:cNvPr id="75779" name="Rectangle 3"/>
          <p:cNvSpPr>
            <a:spLocks noGrp="1" noChangeArrowheads="1"/>
          </p:cNvSpPr>
          <p:nvPr>
            <p:ph type="body" idx="1"/>
          </p:nvPr>
        </p:nvSpPr>
        <p:spPr>
          <a:xfrm>
            <a:off x="930275" y="4410075"/>
            <a:ext cx="5675313" cy="4873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r>
              <a:rPr lang="en-US" altLang="en-US"/>
              <a:t>I would think that he is figuring that he's gonna get all tall again (since tall is dominant).  But no!  Low &amp; behold he gets some short plants from this cross! His new batch of pea plants (the "F2" generation) is about 3/4 tall &amp; 1/4 short. </a:t>
            </a:r>
          </a:p>
          <a:p>
            <a:endParaRPr lang="en-US" altLang="en-US"/>
          </a:p>
          <a:p>
            <a:r>
              <a:rPr lang="en-US" altLang="en-US"/>
              <a:t>Greg ol' boy, the parent plants for this cross each have one tall factor</a:t>
            </a:r>
          </a:p>
          <a:p>
            <a:r>
              <a:rPr lang="en-US" altLang="en-US"/>
              <a:t>        that dominates the short factor &amp; causes them to grow tall. To get short</a:t>
            </a:r>
          </a:p>
          <a:p>
            <a:r>
              <a:rPr lang="en-US" altLang="en-US"/>
              <a:t>        plants from these parents, the tall &amp; short factors must separate,</a:t>
            </a:r>
          </a:p>
          <a:p>
            <a:r>
              <a:rPr lang="en-US" altLang="en-US"/>
              <a:t>        otherwise a plant with just short factors couldn't be produced. The</a:t>
            </a:r>
          </a:p>
          <a:p>
            <a:r>
              <a:rPr lang="en-US" altLang="en-US"/>
              <a:t>        factors must SEGREGATE themselves somewhere between the</a:t>
            </a:r>
          </a:p>
          <a:p>
            <a:r>
              <a:rPr lang="en-US" altLang="en-US"/>
              <a:t>        production of sex cells &amp; fertilization.“</a:t>
            </a:r>
          </a:p>
          <a:p>
            <a:r>
              <a:rPr lang="en-US" altLang="en-US"/>
              <a:t>Using the  Punnet Square, we model this "Law of Segregation" every time. When you "split" the genotype letters &amp; put one above each column &amp; one in front of</a:t>
            </a:r>
          </a:p>
          <a:p>
            <a:r>
              <a:rPr lang="en-US" altLang="en-US"/>
              <a:t>                                   each row, you have SEGREGATED the alleles</a:t>
            </a:r>
          </a:p>
          <a:p>
            <a:r>
              <a:rPr lang="en-US" altLang="en-US"/>
              <a:t>                                   for a specific trait. In real life this happens</a:t>
            </a:r>
          </a:p>
          <a:p>
            <a:r>
              <a:rPr lang="en-US" altLang="en-US"/>
              <a:t>                                   during a process of cell division called</a:t>
            </a:r>
          </a:p>
          <a:p>
            <a:r>
              <a:rPr lang="en-US" altLang="en-US"/>
              <a:t>                                   "MEIOSIS".  Meiosis leads to the production</a:t>
            </a:r>
          </a:p>
          <a:p>
            <a:r>
              <a:rPr lang="en-US" altLang="en-US"/>
              <a:t>                                   of gametes (sex cells), which are either eggs</a:t>
            </a:r>
          </a:p>
          <a:p>
            <a:r>
              <a:rPr lang="en-US" altLang="en-US"/>
              <a:t>                                   or sperm. Sometimes the term</a:t>
            </a:r>
          </a:p>
          <a:p>
            <a:r>
              <a:rPr lang="en-US" altLang="en-US"/>
              <a:t>                                   "GAMETOGENESIS" is used instead of</a:t>
            </a:r>
          </a:p>
          <a:p>
            <a:r>
              <a:rPr lang="en-US" altLang="en-US"/>
              <a:t>                                   meiosis.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spect="1" noChangeArrowheads="1" noTextEdit="1"/>
          </p:cNvSpPr>
          <p:nvPr>
            <p:ph type="sldImg"/>
          </p:nvPr>
        </p:nvSpPr>
        <p:spPr>
          <a:xfrm>
            <a:off x="1171575" y="695325"/>
            <a:ext cx="4641850" cy="3481388"/>
          </a:xfrm>
          <a:ln/>
        </p:spPr>
      </p:sp>
      <p:sp>
        <p:nvSpPr>
          <p:cNvPr id="77827" name="Rectangle 3"/>
          <p:cNvSpPr>
            <a:spLocks noGrp="1" noChangeArrowheads="1"/>
          </p:cNvSpPr>
          <p:nvPr>
            <p:ph type="body" idx="1"/>
          </p:nvPr>
        </p:nvSpPr>
        <p:spPr>
          <a:xfrm>
            <a:off x="930275" y="4410075"/>
            <a:ext cx="512445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spect="1" noChangeArrowheads="1" noTextEdit="1"/>
          </p:cNvSpPr>
          <p:nvPr>
            <p:ph type="sldImg"/>
          </p:nvPr>
        </p:nvSpPr>
        <p:spPr>
          <a:xfrm>
            <a:off x="1171575" y="695325"/>
            <a:ext cx="4641850" cy="3481388"/>
          </a:xfrm>
          <a:ln/>
        </p:spPr>
      </p:sp>
      <p:sp>
        <p:nvSpPr>
          <p:cNvPr id="79875" name="Rectangle 3"/>
          <p:cNvSpPr>
            <a:spLocks noGrp="1" noChangeArrowheads="1"/>
          </p:cNvSpPr>
          <p:nvPr>
            <p:ph type="body" idx="1"/>
          </p:nvPr>
        </p:nvSpPr>
        <p:spPr>
          <a:xfrm>
            <a:off x="930275" y="4410075"/>
            <a:ext cx="512445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r>
              <a:rPr lang="en-US" altLang="en-US" b="1"/>
              <a:t>The Law of Dominance </a:t>
            </a:r>
          </a:p>
          <a:p>
            <a:r>
              <a:rPr lang="en-US" altLang="en-US"/>
              <a:t>        In a cross of parents that are pure for contrasting traits, only one form of the trait  will appear in the next generation.  Offspring that are hybrid for a trait will have only the dominant trait in the phenotype. </a:t>
            </a:r>
          </a:p>
          <a:p>
            <a:pPr>
              <a:lnSpc>
                <a:spcPct val="90000"/>
              </a:lnSpc>
              <a:spcBef>
                <a:spcPct val="55000"/>
              </a:spcBef>
              <a:spcAft>
                <a:spcPct val="45000"/>
              </a:spcAft>
              <a:buFontTx/>
              <a:buChar char="•"/>
            </a:pPr>
            <a:r>
              <a:rPr lang="en-US" altLang="en-US" b="1">
                <a:latin typeface="Arial" panose="020B0604020202020204" pitchFamily="34" charset="0"/>
                <a:cs typeface="Times New Roman" panose="02020603050405020304" pitchFamily="18" charset="0"/>
              </a:rPr>
              <a:t>Law of Independent Segregation</a:t>
            </a:r>
          </a:p>
          <a:p>
            <a:pPr lvl="1">
              <a:lnSpc>
                <a:spcPct val="90000"/>
              </a:lnSpc>
              <a:spcBef>
                <a:spcPct val="55000"/>
              </a:spcBef>
              <a:spcAft>
                <a:spcPct val="45000"/>
              </a:spcAft>
              <a:buFontTx/>
              <a:buChar char="•"/>
            </a:pPr>
            <a:r>
              <a:rPr lang="en-US" altLang="en-US" b="1">
                <a:latin typeface="Arial" panose="020B0604020202020204" pitchFamily="34" charset="0"/>
                <a:cs typeface="Times New Roman" panose="02020603050405020304" pitchFamily="18" charset="0"/>
              </a:rPr>
              <a:t>Inheritance is particulate</a:t>
            </a:r>
            <a:endParaRPr lang="en-US" altLang="en-US" b="1">
              <a:latin typeface="Arial" panose="020B0604020202020204" pitchFamily="34" charset="0"/>
              <a:cs typeface="Courier New" panose="02070309020205020404" pitchFamily="49" charset="0"/>
            </a:endParaRPr>
          </a:p>
          <a:p>
            <a:pPr>
              <a:lnSpc>
                <a:spcPct val="90000"/>
              </a:lnSpc>
              <a:spcBef>
                <a:spcPct val="55000"/>
              </a:spcBef>
              <a:spcAft>
                <a:spcPct val="45000"/>
              </a:spcAft>
              <a:buFontTx/>
              <a:buChar char="•"/>
            </a:pPr>
            <a:r>
              <a:rPr lang="en-US" altLang="en-US" b="1">
                <a:latin typeface="Arial" panose="020B0604020202020204" pitchFamily="34" charset="0"/>
                <a:cs typeface="Times New Roman" panose="02020603050405020304" pitchFamily="18" charset="0"/>
              </a:rPr>
              <a:t>Law of Independent Assortment</a:t>
            </a:r>
          </a:p>
          <a:p>
            <a:pPr lvl="1">
              <a:lnSpc>
                <a:spcPct val="90000"/>
              </a:lnSpc>
              <a:spcBef>
                <a:spcPct val="55000"/>
              </a:spcBef>
              <a:spcAft>
                <a:spcPct val="45000"/>
              </a:spcAft>
              <a:buFontTx/>
              <a:buChar char="•"/>
            </a:pPr>
            <a:r>
              <a:rPr lang="en-US" altLang="en-US" b="1">
                <a:latin typeface="Arial" panose="020B0604020202020204" pitchFamily="34" charset="0"/>
                <a:cs typeface="Times New Roman" panose="02020603050405020304" pitchFamily="18" charset="0"/>
              </a:rPr>
              <a:t>Genes sort independently</a:t>
            </a:r>
            <a:endParaRPr lang="en-US" altLang="en-US" b="1">
              <a:latin typeface="Arial" panose="020B0604020202020204" pitchFamily="34" charset="0"/>
              <a:cs typeface="Courier New" panose="02070309020205020404" pitchFamily="49" charset="0"/>
            </a:endParaRPr>
          </a:p>
          <a:p>
            <a:r>
              <a:rPr lang="en-US" altLang="en-US">
                <a:latin typeface="Arial" panose="020B0604020202020204" pitchFamily="34" charset="0"/>
              </a:rPr>
              <a:t>Now, notice in that very brief description of his work that the words</a:t>
            </a:r>
          </a:p>
          <a:p>
            <a:r>
              <a:rPr lang="en-US" altLang="en-US">
                <a:latin typeface="Arial" panose="020B0604020202020204" pitchFamily="34" charset="0"/>
              </a:rPr>
              <a:t>    "chromosomes" or "genes" are nowhere to be found.  That is because the role ofthese things in relation to inheritance &amp; heredity had not been discovered yet.</a:t>
            </a:r>
          </a:p>
          <a:p>
            <a:r>
              <a:rPr lang="en-US" altLang="en-US">
                <a:latin typeface="Arial" panose="020B0604020202020204" pitchFamily="34" charset="0"/>
              </a:rPr>
              <a:t>    What makes Mendel's contributions so impressive is that he described the basic patterns of inheritance before the mechanism for inheritance (namely genes) was even discovered. </a:t>
            </a:r>
          </a:p>
          <a:p>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spect="1" noChangeArrowheads="1" noTextEdit="1"/>
          </p:cNvSpPr>
          <p:nvPr>
            <p:ph type="sldImg"/>
          </p:nvPr>
        </p:nvSpPr>
        <p:spPr>
          <a:xfrm>
            <a:off x="1171575" y="695325"/>
            <a:ext cx="4641850" cy="3481388"/>
          </a:xfrm>
          <a:ln/>
        </p:spPr>
      </p:sp>
      <p:sp>
        <p:nvSpPr>
          <p:cNvPr id="81923" name="Rectangle 3"/>
          <p:cNvSpPr>
            <a:spLocks noGrp="1" noChangeArrowheads="1"/>
          </p:cNvSpPr>
          <p:nvPr>
            <p:ph type="body" idx="1"/>
          </p:nvPr>
        </p:nvSpPr>
        <p:spPr>
          <a:xfrm>
            <a:off x="930275" y="4410075"/>
            <a:ext cx="5675313"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r>
              <a:rPr lang="en-US" altLang="en-US"/>
              <a:t>The Law of Independent Assortment </a:t>
            </a:r>
          </a:p>
          <a:p>
            <a:r>
              <a:rPr lang="en-US" altLang="en-US"/>
              <a:t>    Alleles for different traits are distributed to sex cells (&amp; offspring) independently of</a:t>
            </a:r>
          </a:p>
          <a:p>
            <a:r>
              <a:rPr lang="en-US" altLang="en-US"/>
              <a:t>    one another. </a:t>
            </a:r>
          </a:p>
          <a:p>
            <a:endParaRPr lang="en-US" altLang="en-US"/>
          </a:p>
          <a:p>
            <a:r>
              <a:rPr lang="en-US" altLang="en-US"/>
              <a:t>OK. So far we've been dealing with one trait at a time.  For example,  height (tall or</a:t>
            </a:r>
          </a:p>
          <a:p>
            <a:r>
              <a:rPr lang="en-US" altLang="en-US"/>
              <a:t>    short), seed shape (round or wrinkled), pod color (green or yellow), etc.  Mendel</a:t>
            </a:r>
          </a:p>
          <a:p>
            <a:r>
              <a:rPr lang="en-US" altLang="en-US"/>
              <a:t>    noticed during all his work that the height of the plant and the shape of the seeds</a:t>
            </a:r>
          </a:p>
          <a:p>
            <a:r>
              <a:rPr lang="en-US" altLang="en-US"/>
              <a:t>    and the color of the pods had no impact on one another.  In other words, being tall</a:t>
            </a:r>
          </a:p>
          <a:p>
            <a:r>
              <a:rPr lang="en-US" altLang="en-US"/>
              <a:t>    didn't automatically mean the plants had to have green pods, nor did green pods</a:t>
            </a:r>
          </a:p>
          <a:p>
            <a:r>
              <a:rPr lang="en-US" altLang="en-US"/>
              <a:t>    have to be filled only with wrinkled seeds, the different traits seem to be inherited</a:t>
            </a:r>
          </a:p>
          <a:p>
            <a:r>
              <a:rPr lang="en-US" altLang="en-US"/>
              <a:t>    INDEPENDENTLY. </a:t>
            </a:r>
          </a:p>
          <a:p>
            <a:endParaRPr lang="en-US" altLang="en-US"/>
          </a:p>
          <a:p>
            <a:r>
              <a:rPr lang="en-US" altLang="en-US"/>
              <a:t>    Please note my emphasis on the word "different".  Nine times out of ten, in a</a:t>
            </a:r>
          </a:p>
          <a:p>
            <a:r>
              <a:rPr lang="en-US" altLang="en-US"/>
              <a:t>    question involving two different traits, your answer will be "independent</a:t>
            </a:r>
          </a:p>
          <a:p>
            <a:r>
              <a:rPr lang="en-US" altLang="en-US"/>
              <a:t>    assortment".  </a:t>
            </a:r>
          </a:p>
          <a:p>
            <a:endParaRPr lang="en-US" altLang="en-US"/>
          </a:p>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a:xfrm>
            <a:off x="1171575" y="695325"/>
            <a:ext cx="4641850" cy="3481388"/>
          </a:xfrm>
          <a:ln/>
        </p:spPr>
      </p:sp>
      <p:sp>
        <p:nvSpPr>
          <p:cNvPr id="83971" name="Rectangle 3"/>
          <p:cNvSpPr>
            <a:spLocks noGrp="1" noChangeArrowheads="1"/>
          </p:cNvSpPr>
          <p:nvPr>
            <p:ph type="body" idx="1"/>
          </p:nvPr>
        </p:nvSpPr>
        <p:spPr>
          <a:xfrm>
            <a:off x="930275" y="4410075"/>
            <a:ext cx="512445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pPr>
              <a:spcBef>
                <a:spcPct val="0"/>
              </a:spcBef>
            </a:pPr>
            <a:r>
              <a:rPr lang="en-US" altLang="en-US" sz="2400" b="1">
                <a:solidFill>
                  <a:schemeClr val="tx2"/>
                </a:solidFill>
                <a:latin typeface="Arial" panose="020B0604020202020204" pitchFamily="34" charset="0"/>
              </a:rPr>
              <a:t>Notice that we are dealing with two different traits: (1) seed size (tall (AA, Aa) or short (aa)) &amp; (2) pod color (green (GG, Gg) or yellow (gg)), inherited on different chromosomes </a:t>
            </a:r>
          </a:p>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Rot="1" noChangeAspect="1" noChangeArrowheads="1" noTextEdit="1"/>
          </p:cNvSpPr>
          <p:nvPr>
            <p:ph type="sldImg"/>
          </p:nvPr>
        </p:nvSpPr>
        <p:spPr>
          <a:xfrm>
            <a:off x="1171575" y="695325"/>
            <a:ext cx="4641850" cy="3481388"/>
          </a:xfrm>
          <a:ln/>
        </p:spPr>
      </p:sp>
      <p:sp>
        <p:nvSpPr>
          <p:cNvPr id="86019" name="Rectangle 3"/>
          <p:cNvSpPr>
            <a:spLocks noGrp="1" noChangeArrowheads="1"/>
          </p:cNvSpPr>
          <p:nvPr>
            <p:ph type="body" idx="1"/>
          </p:nvPr>
        </p:nvSpPr>
        <p:spPr>
          <a:xfrm>
            <a:off x="930275" y="4410075"/>
            <a:ext cx="512445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pPr>
              <a:spcBef>
                <a:spcPct val="0"/>
              </a:spcBef>
            </a:pPr>
            <a:r>
              <a:rPr lang="en-US" altLang="en-US" sz="2400" b="1">
                <a:solidFill>
                  <a:schemeClr val="tx2"/>
                </a:solidFill>
                <a:latin typeface="Arial" panose="020B0604020202020204" pitchFamily="34" charset="0"/>
              </a:rPr>
              <a:t>Notice that we are dealing with two different traits: (1) seed size (tall (AA, Aa) or short (aa)) &amp; (2) pod color (green (GG, Gg) or yellow (gg)), inherited on different chromosomes </a:t>
            </a:r>
          </a:p>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xfrm>
            <a:off x="1171575" y="695325"/>
            <a:ext cx="4641850" cy="3481388"/>
          </a:xfrm>
          <a:ln/>
        </p:spPr>
      </p:sp>
      <p:sp>
        <p:nvSpPr>
          <p:cNvPr id="88067" name="Rectangle 3"/>
          <p:cNvSpPr>
            <a:spLocks noGrp="1" noChangeArrowheads="1"/>
          </p:cNvSpPr>
          <p:nvPr>
            <p:ph type="body" idx="1"/>
          </p:nvPr>
        </p:nvSpPr>
        <p:spPr>
          <a:xfrm>
            <a:off x="930275" y="4410075"/>
            <a:ext cx="5827713"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r>
              <a:rPr lang="en-US" altLang="en-US"/>
              <a:t>The results from a dihybrid cross are always the same: </a:t>
            </a:r>
          </a:p>
          <a:p>
            <a:r>
              <a:rPr lang="en-US" altLang="en-US"/>
              <a:t>9/16 boxes (offspring) show dominant phenotype for both traits (tall &amp; green), </a:t>
            </a:r>
          </a:p>
          <a:p>
            <a:r>
              <a:rPr lang="en-US" altLang="en-US"/>
              <a:t>3/16 show dominant phenotype for first trait &amp; recessive for second (tall &amp; yellow), </a:t>
            </a:r>
          </a:p>
          <a:p>
            <a:r>
              <a:rPr lang="en-US" altLang="en-US"/>
              <a:t>3/16 show recessive phenotype for first trait &amp; dominant form for second (short &amp;</a:t>
            </a:r>
          </a:p>
          <a:p>
            <a:r>
              <a:rPr lang="en-US" altLang="en-US"/>
              <a:t>green), &amp; </a:t>
            </a:r>
          </a:p>
          <a:p>
            <a:r>
              <a:rPr lang="en-US" altLang="en-US"/>
              <a:t>1/16 show recessive form of both traits (short &amp; yellow). </a:t>
            </a:r>
          </a:p>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1171575" y="695325"/>
            <a:ext cx="4641850" cy="3481388"/>
          </a:xfrm>
          <a:ln/>
        </p:spPr>
      </p:sp>
      <p:sp>
        <p:nvSpPr>
          <p:cNvPr id="90115" name="Rectangle 3"/>
          <p:cNvSpPr>
            <a:spLocks noGrp="1" noChangeArrowheads="1"/>
          </p:cNvSpPr>
          <p:nvPr>
            <p:ph type="body" idx="1"/>
          </p:nvPr>
        </p:nvSpPr>
        <p:spPr>
          <a:xfrm>
            <a:off x="930275" y="4410075"/>
            <a:ext cx="5675313"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6" tIns="46373" rIns="92746" bIns="46373"/>
          <a:lstStyle/>
          <a:p>
            <a:r>
              <a:rPr lang="en-US" altLang="en-US"/>
              <a:t>The results from a dihybrid cross are always the same: </a:t>
            </a:r>
          </a:p>
          <a:p>
            <a:r>
              <a:rPr lang="en-US" altLang="en-US"/>
              <a:t>9/16 boxes (offspring) show dominant phenotype for both traits (tall &amp; green), </a:t>
            </a:r>
          </a:p>
          <a:p>
            <a:r>
              <a:rPr lang="en-US" altLang="en-US"/>
              <a:t>3/16 show dominant phenotype for first trait &amp; recessive for second (tall &amp; yellow), </a:t>
            </a:r>
          </a:p>
          <a:p>
            <a:r>
              <a:rPr lang="en-US" altLang="en-US"/>
              <a:t>3/16 show recessive phenotype for first trait &amp; dominant form for second (short &amp;</a:t>
            </a:r>
          </a:p>
          <a:p>
            <a:r>
              <a:rPr lang="en-US" altLang="en-US"/>
              <a:t>green), &amp; </a:t>
            </a:r>
          </a:p>
          <a:p>
            <a:r>
              <a:rPr lang="en-US" altLang="en-US"/>
              <a:t>1/16 show recessive form of both traits (short &amp; yellow). </a:t>
            </a:r>
          </a:p>
          <a:p>
            <a:endParaRPr lang="en-US" altLang="en-US"/>
          </a:p>
          <a:p>
            <a:r>
              <a:rPr lang="en-US" altLang="en-US"/>
              <a:t> The different traits do not influence the inheritance of each</a:t>
            </a:r>
          </a:p>
          <a:p>
            <a:r>
              <a:rPr lang="en-US" altLang="en-US"/>
              <a:t>other.  They are inherited INDEPENDENTLY. </a:t>
            </a:r>
          </a:p>
          <a:p>
            <a:endParaRPr lang="en-US" altLang="en-US"/>
          </a:p>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txBox="1">
            <a:spLocks noGrp="1" noChangeArrowheads="1"/>
          </p:cNvSpPr>
          <p:nvPr/>
        </p:nvSpPr>
        <p:spPr bwMode="auto">
          <a:xfrm>
            <a:off x="3957638" y="8820150"/>
            <a:ext cx="3027362"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nchor="b"/>
          <a:lstStyle>
            <a:lvl1pPr defTabSz="919163">
              <a:spcBef>
                <a:spcPct val="30000"/>
              </a:spcBef>
              <a:defRPr sz="1200">
                <a:solidFill>
                  <a:schemeClr val="tx1"/>
                </a:solidFill>
                <a:latin typeface="Times New Roman" panose="02020603050405020304" pitchFamily="18" charset="0"/>
              </a:defRPr>
            </a:lvl1pPr>
            <a:lvl2pPr marL="714375" indent="-274638" defTabSz="919163">
              <a:spcBef>
                <a:spcPct val="30000"/>
              </a:spcBef>
              <a:defRPr sz="1200">
                <a:solidFill>
                  <a:schemeClr val="tx1"/>
                </a:solidFill>
                <a:latin typeface="Times New Roman" panose="02020603050405020304" pitchFamily="18" charset="0"/>
              </a:defRPr>
            </a:lvl2pPr>
            <a:lvl3pPr marL="1100138" indent="-220663" defTabSz="919163">
              <a:spcBef>
                <a:spcPct val="30000"/>
              </a:spcBef>
              <a:defRPr sz="1200">
                <a:solidFill>
                  <a:schemeClr val="tx1"/>
                </a:solidFill>
                <a:latin typeface="Times New Roman" panose="02020603050405020304" pitchFamily="18" charset="0"/>
              </a:defRPr>
            </a:lvl3pPr>
            <a:lvl4pPr marL="1539875" indent="-219075" defTabSz="919163">
              <a:spcBef>
                <a:spcPct val="30000"/>
              </a:spcBef>
              <a:defRPr sz="1200">
                <a:solidFill>
                  <a:schemeClr val="tx1"/>
                </a:solidFill>
                <a:latin typeface="Times New Roman" panose="02020603050405020304" pitchFamily="18" charset="0"/>
              </a:defRPr>
            </a:lvl4pPr>
            <a:lvl5pPr marL="1979613" indent="-219075" defTabSz="919163">
              <a:spcBef>
                <a:spcPct val="30000"/>
              </a:spcBef>
              <a:defRPr sz="1200">
                <a:solidFill>
                  <a:schemeClr val="tx1"/>
                </a:solidFill>
                <a:latin typeface="Times New Roman" panose="02020603050405020304" pitchFamily="18" charset="0"/>
              </a:defRPr>
            </a:lvl5pPr>
            <a:lvl6pPr marL="2436813" indent="-219075" defTabSz="919163" eaLnBrk="0" fontAlgn="base" hangingPunct="0">
              <a:spcBef>
                <a:spcPct val="30000"/>
              </a:spcBef>
              <a:spcAft>
                <a:spcPct val="0"/>
              </a:spcAft>
              <a:defRPr sz="1200">
                <a:solidFill>
                  <a:schemeClr val="tx1"/>
                </a:solidFill>
                <a:latin typeface="Times New Roman" panose="02020603050405020304" pitchFamily="18" charset="0"/>
              </a:defRPr>
            </a:lvl6pPr>
            <a:lvl7pPr marL="2894013" indent="-219075" defTabSz="919163" eaLnBrk="0" fontAlgn="base" hangingPunct="0">
              <a:spcBef>
                <a:spcPct val="30000"/>
              </a:spcBef>
              <a:spcAft>
                <a:spcPct val="0"/>
              </a:spcAft>
              <a:defRPr sz="1200">
                <a:solidFill>
                  <a:schemeClr val="tx1"/>
                </a:solidFill>
                <a:latin typeface="Times New Roman" panose="02020603050405020304" pitchFamily="18" charset="0"/>
              </a:defRPr>
            </a:lvl7pPr>
            <a:lvl8pPr marL="3351213" indent="-219075" defTabSz="919163" eaLnBrk="0" fontAlgn="base" hangingPunct="0">
              <a:spcBef>
                <a:spcPct val="30000"/>
              </a:spcBef>
              <a:spcAft>
                <a:spcPct val="0"/>
              </a:spcAft>
              <a:defRPr sz="1200">
                <a:solidFill>
                  <a:schemeClr val="tx1"/>
                </a:solidFill>
                <a:latin typeface="Times New Roman" panose="02020603050405020304" pitchFamily="18" charset="0"/>
              </a:defRPr>
            </a:lvl8pPr>
            <a:lvl9pPr marL="3808413" indent="-219075" defTabSz="919163" eaLnBrk="0" fontAlgn="base" hangingPunct="0">
              <a:spcBef>
                <a:spcPct val="30000"/>
              </a:spcBef>
              <a:spcAft>
                <a:spcPct val="0"/>
              </a:spcAft>
              <a:defRPr sz="1200">
                <a:solidFill>
                  <a:schemeClr val="tx1"/>
                </a:solidFill>
                <a:latin typeface="Times New Roman" panose="02020603050405020304" pitchFamily="18" charset="0"/>
              </a:defRPr>
            </a:lvl9pPr>
          </a:lstStyle>
          <a:p>
            <a:pPr algn="r">
              <a:spcBef>
                <a:spcPct val="0"/>
              </a:spcBef>
            </a:pPr>
            <a:fld id="{80201193-C58E-4087-B5B4-4E92BC5A73CF}" type="slidenum">
              <a:rPr lang="en-US" altLang="en-US" b="0"/>
              <a:pPr algn="r">
                <a:spcBef>
                  <a:spcPct val="0"/>
                </a:spcBef>
              </a:pPr>
              <a:t>50</a:t>
            </a:fld>
            <a:endParaRPr lang="en-US" altLang="en-US" b="0"/>
          </a:p>
        </p:txBody>
      </p:sp>
      <p:sp>
        <p:nvSpPr>
          <p:cNvPr id="92163" name="Rectangle 2"/>
          <p:cNvSpPr>
            <a:spLocks noGrp="1" noRot="1" noChangeAspect="1" noChangeArrowheads="1" noTextEdit="1"/>
          </p:cNvSpPr>
          <p:nvPr>
            <p:ph type="sldImg"/>
          </p:nvPr>
        </p:nvSpPr>
        <p:spPr>
          <a:xfrm>
            <a:off x="1171575" y="695325"/>
            <a:ext cx="4641850" cy="3481388"/>
          </a:xfrm>
          <a:ln/>
        </p:spPr>
      </p:sp>
      <p:sp>
        <p:nvSpPr>
          <p:cNvPr id="92164"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a:xfrm>
            <a:off x="1185863" y="690563"/>
            <a:ext cx="4616450" cy="3462337"/>
          </a:xfrm>
          <a:ln/>
        </p:spPr>
      </p:sp>
      <p:sp>
        <p:nvSpPr>
          <p:cNvPr id="97283" name="Rectangle 3"/>
          <p:cNvSpPr>
            <a:spLocks noGrp="1" noChangeArrowheads="1"/>
          </p:cNvSpPr>
          <p:nvPr>
            <p:ph type="body" idx="1"/>
          </p:nvPr>
        </p:nvSpPr>
        <p:spPr>
          <a:xfrm>
            <a:off x="930275" y="4383088"/>
            <a:ext cx="5124450" cy="4229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r>
              <a:rPr lang="en-US" altLang="en-US"/>
              <a:t>FH  --  Elevated LDL cholesterol increased risk of CAD  - primary cause LDLR on chrm 19</a:t>
            </a:r>
          </a:p>
          <a:p>
            <a:r>
              <a:rPr lang="en-US" altLang="en-US"/>
              <a:t>Huntingtons – neuronal cell death and dementia (age of onset mean 30-40 years) - The disease is associated with increases in the length of a CAG triplet repeat present in a gene called 'huntingtin' located on chromosome 4p16.3</a:t>
            </a:r>
          </a:p>
          <a:p>
            <a:pPr lvl="1"/>
            <a:r>
              <a:rPr lang="en-US" altLang="en-US"/>
              <a:t>Ehlers-Danlos = a proneness to spontaneous rupture of bowel or large arteries although many variants-- a defect in the gene for type III collagen (2q31)</a:t>
            </a:r>
          </a:p>
          <a:p>
            <a:pPr lvl="1"/>
            <a:r>
              <a:rPr lang="en-US" altLang="en-US" b="1">
                <a:latin typeface="Arial" panose="020B0604020202020204" pitchFamily="34" charset="0"/>
              </a:rPr>
              <a:t>Achondroplasia-- most frequent form of short-limb dwarfism --caused by mutation in the fibroblast growth factor receptor-3 gene  4p16.3  (many due to new mutations)</a:t>
            </a:r>
          </a:p>
          <a:p>
            <a:pPr lvl="1"/>
            <a:r>
              <a:rPr lang="en-US" altLang="en-US" b="1">
                <a:latin typeface="Arial" panose="020B0604020202020204" pitchFamily="34" charset="0"/>
              </a:rPr>
              <a:t>http://www.siue.edu/~smccomm/220/Human.ppt</a:t>
            </a:r>
          </a:p>
          <a:p>
            <a:pPr lvl="1"/>
            <a:endParaRPr lang="en-US" altLang="en-US"/>
          </a:p>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a:xfrm>
            <a:off x="1185863" y="690563"/>
            <a:ext cx="4616450" cy="3462337"/>
          </a:xfrm>
          <a:ln/>
        </p:spPr>
      </p:sp>
      <p:sp>
        <p:nvSpPr>
          <p:cNvPr id="103427" name="Rectangle 3"/>
          <p:cNvSpPr>
            <a:spLocks noGrp="1" noChangeArrowheads="1"/>
          </p:cNvSpPr>
          <p:nvPr>
            <p:ph type="body" idx="1"/>
          </p:nvPr>
        </p:nvSpPr>
        <p:spPr>
          <a:xfrm>
            <a:off x="930275" y="4383088"/>
            <a:ext cx="5124450" cy="4229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r>
              <a:rPr lang="en-US" altLang="en-US"/>
              <a:t>CF -- caused by mutations in the cystic fibrosis conductance regulator gene  7q31.2  many mutations</a:t>
            </a:r>
          </a:p>
          <a:p>
            <a:r>
              <a:rPr lang="en-US" altLang="en-US"/>
              <a:t>SCA – mutant beta globin gene</a:t>
            </a:r>
          </a:p>
          <a:p>
            <a:r>
              <a:rPr lang="en-US" altLang="en-US"/>
              <a:t>Gaucher disease is caused by mutation in the gene encoding acid-beta glucosidase</a:t>
            </a:r>
          </a:p>
          <a:p>
            <a:r>
              <a:rPr lang="en-US" altLang="en-US"/>
              <a:t>PKU  -  deficiency of phenylalanine hydroxylase</a:t>
            </a:r>
          </a:p>
          <a:p>
            <a:pPr lvl="1"/>
            <a:r>
              <a:rPr lang="en-US" altLang="en-US"/>
              <a:t>The occurrence of mental retardation in the offspring of homozygous mothers is an example of a genetic disease based on the genotype of the mother. </a:t>
            </a:r>
            <a:r>
              <a:rPr lang="en-US" altLang="en-US">
                <a:hlinkClick r:id="" action="ppaction://noaction"/>
              </a:rPr>
              <a:t>Kerr et al. (1968)</a:t>
            </a:r>
            <a:r>
              <a:rPr lang="en-US" altLang="en-US"/>
              <a:t> demonstrated 'fetal PKU' by administering large amounts of phenylalanine to mother monkeys. The offspring had reduced learning ability. They pointed out that the damage is aggravated by the normal placental process which functions to maintain higher levels of amino acids in the fetus than in the mother</a:t>
            </a:r>
          </a:p>
          <a:p>
            <a:endParaRPr lang="en-US" altLang="en-US"/>
          </a:p>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a:xfrm>
            <a:off x="1171575" y="695325"/>
            <a:ext cx="4641850" cy="3481388"/>
          </a:xfrm>
          <a:ln/>
        </p:spPr>
      </p:sp>
      <p:sp>
        <p:nvSpPr>
          <p:cNvPr id="105475" name="Rectangle 3"/>
          <p:cNvSpPr>
            <a:spLocks noGrp="1" noChangeArrowheads="1"/>
          </p:cNvSpPr>
          <p:nvPr>
            <p:ph type="body" idx="1"/>
          </p:nvPr>
        </p:nvSpPr>
        <p:spPr>
          <a:xfrm>
            <a:off x="930275" y="4410075"/>
            <a:ext cx="512445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a:xfrm>
            <a:off x="1171575" y="695325"/>
            <a:ext cx="4641850" cy="3481388"/>
          </a:xfrm>
          <a:ln/>
        </p:spPr>
      </p:sp>
      <p:sp>
        <p:nvSpPr>
          <p:cNvPr id="109571" name="Rectangle 3"/>
          <p:cNvSpPr>
            <a:spLocks noGrp="1" noChangeArrowheads="1"/>
          </p:cNvSpPr>
          <p:nvPr>
            <p:ph type="body" idx="1"/>
          </p:nvPr>
        </p:nvSpPr>
        <p:spPr>
          <a:xfrm>
            <a:off x="930275" y="4410075"/>
            <a:ext cx="512445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a:xfrm>
            <a:off x="1171575" y="695325"/>
            <a:ext cx="4641850" cy="3481388"/>
          </a:xfrm>
          <a:ln/>
        </p:spPr>
      </p:sp>
      <p:sp>
        <p:nvSpPr>
          <p:cNvPr id="111619" name="Rectangle 3"/>
          <p:cNvSpPr>
            <a:spLocks noGrp="1" noChangeArrowheads="1"/>
          </p:cNvSpPr>
          <p:nvPr>
            <p:ph type="body" idx="1"/>
          </p:nvPr>
        </p:nvSpPr>
        <p:spPr>
          <a:xfrm>
            <a:off x="930275" y="4410075"/>
            <a:ext cx="512445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1171575" y="695325"/>
            <a:ext cx="4641850" cy="3481388"/>
          </a:xfrm>
          <a:ln/>
        </p:spPr>
      </p:sp>
      <p:sp>
        <p:nvSpPr>
          <p:cNvPr id="113667" name="Rectangle 3"/>
          <p:cNvSpPr>
            <a:spLocks noGrp="1" noChangeArrowheads="1"/>
          </p:cNvSpPr>
          <p:nvPr>
            <p:ph type="body" idx="1"/>
          </p:nvPr>
        </p:nvSpPr>
        <p:spPr>
          <a:xfrm>
            <a:off x="930275" y="4410075"/>
            <a:ext cx="5124450"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29" tIns="46015" rIns="92029" bIns="46015"/>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7990082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6236247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0758520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spect="1" noChangeArrowheads="1" noTextEdit="1"/>
          </p:cNvSpPr>
          <p:nvPr>
            <p:ph type="sldImg"/>
          </p:nvPr>
        </p:nvSpPr>
        <p:spPr>
          <a:xfrm>
            <a:off x="1171575" y="695325"/>
            <a:ext cx="4641850" cy="3481388"/>
          </a:xfrm>
          <a:ln/>
        </p:spPr>
      </p:sp>
      <p:sp>
        <p:nvSpPr>
          <p:cNvPr id="17411" name="Rectangle 3"/>
          <p:cNvSpPr>
            <a:spLocks noGrp="1" noChangeArrowheads="1"/>
          </p:cNvSpPr>
          <p:nvPr>
            <p:ph type="body" idx="1"/>
          </p:nvPr>
        </p:nvSpPr>
        <p:spPr>
          <a:xfrm>
            <a:off x="931863" y="4410075"/>
            <a:ext cx="5121275" cy="4178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The genetic material that carries the instructions that allow cells to make proteins</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Composed of a sugar phosphate backbone from which four nitrogenous bases- adenine (A), guanine (G), cytosine (C), and thymine (T) protrude</a:t>
            </a:r>
          </a:p>
          <a:p>
            <a:pPr>
              <a:spcBef>
                <a:spcPct val="25000"/>
              </a:spcBef>
              <a:spcAft>
                <a:spcPct val="25000"/>
              </a:spcAft>
              <a:buFontTx/>
              <a:buChar char="•"/>
            </a:pPr>
            <a:r>
              <a:rPr lang="en-US" altLang="en-US" sz="2000" b="1">
                <a:latin typeface="Arial" panose="020B0604020202020204" pitchFamily="34" charset="0"/>
                <a:cs typeface="Times New Roman" panose="02020603050405020304" pitchFamily="18" charset="0"/>
              </a:rPr>
              <a:t> Arranged in a double helix- two strands are held together by specific pairings between bases A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T pair and G </a:t>
            </a:r>
            <a:r>
              <a:rPr lang="en-US" altLang="en-US" sz="2000" b="1">
                <a:cs typeface="Times New Roman" panose="02020603050405020304" pitchFamily="18" charset="0"/>
              </a:rPr>
              <a:t>–</a:t>
            </a:r>
            <a:r>
              <a:rPr lang="en-US" altLang="en-US" sz="2000" b="1">
                <a:latin typeface="Arial" panose="020B0604020202020204" pitchFamily="34" charset="0"/>
                <a:cs typeface="Times New Roman" panose="02020603050405020304" pitchFamily="18" charset="0"/>
              </a:rPr>
              <a:t> C pair</a:t>
            </a:r>
          </a:p>
          <a:p>
            <a:endParaRPr lang="en-US" altLang="en-US" sz="2000"/>
          </a:p>
        </p:txBody>
      </p:sp>
    </p:spTree>
    <p:extLst>
      <p:ext uri="{BB962C8B-B14F-4D97-AF65-F5344CB8AC3E}">
        <p14:creationId xmlns:p14="http://schemas.microsoft.com/office/powerpoint/2010/main" val="1421470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a:xfrm>
            <a:off x="6724650" y="6199188"/>
            <a:ext cx="2419350" cy="457200"/>
          </a:xfrm>
        </p:spPr>
        <p:txBody>
          <a:bodyPr/>
          <a:lstStyle>
            <a:lvl1pPr>
              <a:defRPr sz="1200">
                <a:solidFill>
                  <a:schemeClr val="bg2"/>
                </a:solidFill>
              </a:defRPr>
            </a:lvl1pPr>
          </a:lstStyle>
          <a:p>
            <a:pPr>
              <a:defRPr/>
            </a:pPr>
            <a:endParaRPr lang="en-US"/>
          </a:p>
          <a:p>
            <a:pPr>
              <a:defRPr/>
            </a:pPr>
            <a:r>
              <a:rPr lang="en-US"/>
              <a:t>EPI 743, 01/29/2008</a:t>
            </a:r>
          </a:p>
          <a:p>
            <a:pPr>
              <a:defRPr/>
            </a:pPr>
            <a:endParaRPr lang="en-US"/>
          </a:p>
        </p:txBody>
      </p:sp>
    </p:spTree>
    <p:extLst>
      <p:ext uri="{BB962C8B-B14F-4D97-AF65-F5344CB8AC3E}">
        <p14:creationId xmlns:p14="http://schemas.microsoft.com/office/powerpoint/2010/main" val="1952310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1819818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6"/>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205306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2848025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323698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343371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p:cNvSpPr>
            <a:spLocks noGrp="1"/>
          </p:cNvSpPr>
          <p:nvPr>
            <p:ph type="ftr" sz="quarter" idx="10"/>
          </p:nvPr>
        </p:nvSpPr>
        <p:spPr/>
        <p:txBody>
          <a:bodyPr/>
          <a:lstStyle>
            <a:lvl1pPr>
              <a:defRPr sz="1200"/>
            </a:lvl1pPr>
          </a:lstStyle>
          <a:p>
            <a:pPr>
              <a:defRPr/>
            </a:pPr>
            <a:endParaRPr lang="en-US"/>
          </a:p>
          <a:p>
            <a:pPr>
              <a:defRPr/>
            </a:pPr>
            <a:r>
              <a:rPr lang="en-US"/>
              <a:t>EPI 743, 01/10/2008</a:t>
            </a:r>
          </a:p>
          <a:p>
            <a:pPr>
              <a:defRPr/>
            </a:pPr>
            <a:endParaRPr lang="en-US"/>
          </a:p>
        </p:txBody>
      </p:sp>
    </p:spTree>
    <p:extLst>
      <p:ext uri="{BB962C8B-B14F-4D97-AF65-F5344CB8AC3E}">
        <p14:creationId xmlns:p14="http://schemas.microsoft.com/office/powerpoint/2010/main" val="3543389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p:cNvSpPr>
            <a:spLocks noGrp="1" noChangeArrowheads="1"/>
          </p:cNvSpPr>
          <p:nvPr>
            <p:ph type="ftr" sz="quarter" idx="3"/>
          </p:nvPr>
        </p:nvSpPr>
        <p:spPr bwMode="auto">
          <a:xfrm>
            <a:off x="7042150" y="6343650"/>
            <a:ext cx="241935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0" hangingPunct="0">
              <a:defRPr sz="1200">
                <a:solidFill>
                  <a:schemeClr val="tx1"/>
                </a:solidFill>
                <a:latin typeface="Arial" charset="0"/>
                <a:cs typeface="Arial" charset="0"/>
              </a:defRPr>
            </a:lvl1pPr>
          </a:lstStyle>
          <a:p>
            <a:pPr>
              <a:defRPr/>
            </a:pPr>
            <a:endParaRPr lang="en-US"/>
          </a:p>
          <a:p>
            <a:pPr>
              <a:defRPr/>
            </a:pPr>
            <a:r>
              <a:rPr lang="en-US" sz="1300"/>
              <a:t>EPI 743, 01/29/2008</a:t>
            </a:r>
          </a:p>
          <a:p>
            <a:pPr>
              <a:defRPr/>
            </a:pPr>
            <a:endParaRPr lang="en-US" sz="1300"/>
          </a:p>
        </p:txBody>
      </p:sp>
    </p:spTree>
  </p:cSld>
  <p:clrMap bg1="dk2" tx1="lt1" bg2="dk1" tx2="lt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Lst>
  <p:hf sldNum="0" hdr="0" dt="0"/>
  <p:txStyles>
    <p:titleStyle>
      <a:lvl1pPr algn="ctr" rtl="0" eaLnBrk="0" fontAlgn="base" hangingPunct="0">
        <a:spcBef>
          <a:spcPct val="0"/>
        </a:spcBef>
        <a:spcAft>
          <a:spcPct val="0"/>
        </a:spcAft>
        <a:defRPr sz="4400">
          <a:solidFill>
            <a:schemeClr val="bg2"/>
          </a:solidFill>
          <a:latin typeface="+mj-lt"/>
          <a:ea typeface="+mj-ea"/>
          <a:cs typeface="+mj-cs"/>
        </a:defRPr>
      </a:lvl1pPr>
      <a:lvl2pPr algn="ctr" rtl="0" eaLnBrk="0" fontAlgn="base" hangingPunct="0">
        <a:spcBef>
          <a:spcPct val="0"/>
        </a:spcBef>
        <a:spcAft>
          <a:spcPct val="0"/>
        </a:spcAft>
        <a:defRPr sz="4400">
          <a:solidFill>
            <a:schemeClr val="bg2"/>
          </a:solidFill>
          <a:latin typeface="Times New Roman" pitchFamily="18" charset="0"/>
        </a:defRPr>
      </a:lvl2pPr>
      <a:lvl3pPr algn="ctr" rtl="0" eaLnBrk="0" fontAlgn="base" hangingPunct="0">
        <a:spcBef>
          <a:spcPct val="0"/>
        </a:spcBef>
        <a:spcAft>
          <a:spcPct val="0"/>
        </a:spcAft>
        <a:defRPr sz="4400">
          <a:solidFill>
            <a:schemeClr val="bg2"/>
          </a:solidFill>
          <a:latin typeface="Times New Roman" pitchFamily="18" charset="0"/>
        </a:defRPr>
      </a:lvl3pPr>
      <a:lvl4pPr algn="ctr" rtl="0" eaLnBrk="0" fontAlgn="base" hangingPunct="0">
        <a:spcBef>
          <a:spcPct val="0"/>
        </a:spcBef>
        <a:spcAft>
          <a:spcPct val="0"/>
        </a:spcAft>
        <a:defRPr sz="4400">
          <a:solidFill>
            <a:schemeClr val="bg2"/>
          </a:solidFill>
          <a:latin typeface="Times New Roman" pitchFamily="18" charset="0"/>
        </a:defRPr>
      </a:lvl4pPr>
      <a:lvl5pPr algn="ctr" rtl="0" eaLnBrk="0" fontAlgn="base" hangingPunct="0">
        <a:spcBef>
          <a:spcPct val="0"/>
        </a:spcBef>
        <a:spcAft>
          <a:spcPct val="0"/>
        </a:spcAft>
        <a:defRPr sz="4400">
          <a:solidFill>
            <a:schemeClr val="bg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chemeClr val="accent2"/>
        </a:buClr>
        <a:buChar char="•"/>
        <a:defRPr sz="3200">
          <a:solidFill>
            <a:srgbClr val="006600"/>
          </a:solidFill>
          <a:latin typeface="+mn-lt"/>
          <a:ea typeface="+mn-ea"/>
          <a:cs typeface="+mn-cs"/>
        </a:defRPr>
      </a:lvl1pPr>
      <a:lvl2pPr marL="742950" indent="-285750" algn="l" rtl="0" eaLnBrk="0" fontAlgn="base" hangingPunct="0">
        <a:spcBef>
          <a:spcPct val="20000"/>
        </a:spcBef>
        <a:spcAft>
          <a:spcPct val="0"/>
        </a:spcAft>
        <a:buClr>
          <a:schemeClr val="accent2"/>
        </a:buClr>
        <a:buChar char="•"/>
        <a:defRPr sz="2800">
          <a:solidFill>
            <a:srgbClr val="006600"/>
          </a:solidFill>
          <a:latin typeface="+mn-lt"/>
        </a:defRPr>
      </a:lvl2pPr>
      <a:lvl3pPr marL="1143000" indent="-228600" algn="l" rtl="0" eaLnBrk="0" fontAlgn="base" hangingPunct="0">
        <a:spcBef>
          <a:spcPct val="20000"/>
        </a:spcBef>
        <a:spcAft>
          <a:spcPct val="0"/>
        </a:spcAft>
        <a:buClr>
          <a:schemeClr val="accent2"/>
        </a:buClr>
        <a:buChar char="•"/>
        <a:defRPr sz="2400">
          <a:solidFill>
            <a:srgbClr val="006600"/>
          </a:solidFill>
          <a:latin typeface="+mn-lt"/>
        </a:defRPr>
      </a:lvl3pPr>
      <a:lvl4pPr marL="1600200" indent="-228600" algn="l" rtl="0" eaLnBrk="0" fontAlgn="base" hangingPunct="0">
        <a:spcBef>
          <a:spcPct val="20000"/>
        </a:spcBef>
        <a:spcAft>
          <a:spcPct val="0"/>
        </a:spcAft>
        <a:buClr>
          <a:schemeClr val="accent2"/>
        </a:buClr>
        <a:buChar char="•"/>
        <a:defRPr sz="2000">
          <a:solidFill>
            <a:srgbClr val="006600"/>
          </a:solidFill>
          <a:latin typeface="+mn-lt"/>
        </a:defRPr>
      </a:lvl4pPr>
      <a:lvl5pPr marL="2057400" indent="-228600" algn="l" rtl="0" eaLnBrk="0" fontAlgn="base" hangingPunct="0">
        <a:spcBef>
          <a:spcPct val="20000"/>
        </a:spcBef>
        <a:spcAft>
          <a:spcPct val="0"/>
        </a:spcAft>
        <a:buClr>
          <a:schemeClr val="accent2"/>
        </a:buClr>
        <a:buChar char="•"/>
        <a:defRPr sz="2000">
          <a:solidFill>
            <a:srgbClr val="006600"/>
          </a:solidFill>
          <a:latin typeface="+mn-lt"/>
        </a:defRPr>
      </a:lvl5pPr>
      <a:lvl6pPr marL="2514600" indent="-228600" algn="l" rtl="0" eaLnBrk="0" fontAlgn="base" hangingPunct="0">
        <a:spcBef>
          <a:spcPct val="20000"/>
        </a:spcBef>
        <a:spcAft>
          <a:spcPct val="0"/>
        </a:spcAft>
        <a:buClr>
          <a:schemeClr val="accent2"/>
        </a:buClr>
        <a:buChar char="•"/>
        <a:defRPr sz="2000">
          <a:solidFill>
            <a:schemeClr val="tx1"/>
          </a:solidFill>
          <a:latin typeface="+mn-lt"/>
        </a:defRPr>
      </a:lvl6pPr>
      <a:lvl7pPr marL="2971800" indent="-228600" algn="l" rtl="0" eaLnBrk="0" fontAlgn="base" hangingPunct="0">
        <a:spcBef>
          <a:spcPct val="20000"/>
        </a:spcBef>
        <a:spcAft>
          <a:spcPct val="0"/>
        </a:spcAft>
        <a:buClr>
          <a:schemeClr val="accent2"/>
        </a:buClr>
        <a:buChar char="•"/>
        <a:defRPr sz="2000">
          <a:solidFill>
            <a:schemeClr val="tx1"/>
          </a:solidFill>
          <a:latin typeface="+mn-lt"/>
        </a:defRPr>
      </a:lvl7pPr>
      <a:lvl8pPr marL="3429000" indent="-228600" algn="l" rtl="0" eaLnBrk="0" fontAlgn="base" hangingPunct="0">
        <a:spcBef>
          <a:spcPct val="20000"/>
        </a:spcBef>
        <a:spcAft>
          <a:spcPct val="0"/>
        </a:spcAft>
        <a:buClr>
          <a:schemeClr val="accent2"/>
        </a:buClr>
        <a:buChar char="•"/>
        <a:defRPr sz="2000">
          <a:solidFill>
            <a:schemeClr val="tx1"/>
          </a:solidFill>
          <a:latin typeface="+mn-lt"/>
        </a:defRPr>
      </a:lvl8pPr>
      <a:lvl9pPr marL="3886200" indent="-228600" algn="l" rtl="0" eaLnBrk="0" fontAlgn="base" hangingPunct="0">
        <a:spcBef>
          <a:spcPct val="20000"/>
        </a:spcBef>
        <a:spcAft>
          <a:spcPct val="0"/>
        </a:spcAft>
        <a:buClr>
          <a:schemeClr val="accent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wiley-vch.de/home/geneticepidemiology"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www.ncbi.nlm.nih.gov/entrez/dispomim.cgi?cmd=entry&amp;id=603516"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idx="4294967295"/>
          </p:nvPr>
        </p:nvSpPr>
        <p:spPr>
          <a:xfrm>
            <a:off x="822325" y="114300"/>
            <a:ext cx="7788275" cy="1143000"/>
          </a:xfrm>
        </p:spPr>
        <p:txBody>
          <a:bodyPr/>
          <a:lstStyle/>
          <a:p>
            <a:r>
              <a:rPr lang="en-US" altLang="en-US" sz="5400" b="1">
                <a:latin typeface="Comic Sans MS" panose="030F0702030302020204" pitchFamily="66" charset="0"/>
              </a:rPr>
              <a:t>Statistical Genetics</a:t>
            </a:r>
          </a:p>
        </p:txBody>
      </p:sp>
      <p:sp>
        <p:nvSpPr>
          <p:cNvPr id="11267" name="Rectangle 3"/>
          <p:cNvSpPr>
            <a:spLocks noChangeArrowheads="1"/>
          </p:cNvSpPr>
          <p:nvPr/>
        </p:nvSpPr>
        <p:spPr bwMode="auto">
          <a:xfrm>
            <a:off x="2554288" y="1976438"/>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11268" name="Rectangle 4"/>
          <p:cNvSpPr>
            <a:spLocks noChangeArrowheads="1"/>
          </p:cNvSpPr>
          <p:nvPr/>
        </p:nvSpPr>
        <p:spPr bwMode="auto">
          <a:xfrm>
            <a:off x="690563" y="2074863"/>
            <a:ext cx="8021637" cy="2019300"/>
          </a:xfrm>
          <a:prstGeom prst="rect">
            <a:avLst/>
          </a:prstGeom>
          <a:noFill/>
          <a:ln w="25400">
            <a:solidFill>
              <a:schemeClr val="accent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11269" name="Text Box 5"/>
          <p:cNvSpPr txBox="1">
            <a:spLocks noChangeArrowheads="1"/>
          </p:cNvSpPr>
          <p:nvPr/>
        </p:nvSpPr>
        <p:spPr bwMode="auto">
          <a:xfrm>
            <a:off x="1147763" y="2463800"/>
            <a:ext cx="7056437" cy="264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80000"/>
              </a:lnSpc>
              <a:spcAft>
                <a:spcPct val="20000"/>
              </a:spcAft>
              <a:buClrTx/>
              <a:buFontTx/>
              <a:buNone/>
            </a:pPr>
            <a:r>
              <a:rPr lang="en-US" altLang="en-US" sz="3600">
                <a:solidFill>
                  <a:schemeClr val="bg2"/>
                </a:solidFill>
                <a:latin typeface="Arial" panose="020B0604020202020204" pitchFamily="34" charset="0"/>
              </a:rPr>
              <a:t>Lecture 1</a:t>
            </a:r>
          </a:p>
          <a:p>
            <a:pPr algn="ctr">
              <a:lnSpc>
                <a:spcPct val="90000"/>
              </a:lnSpc>
              <a:spcBef>
                <a:spcPct val="0"/>
              </a:spcBef>
              <a:buClrTx/>
              <a:buFontTx/>
              <a:buNone/>
            </a:pPr>
            <a:r>
              <a:rPr lang="en-US" altLang="en-US" sz="3600">
                <a:solidFill>
                  <a:schemeClr val="bg2"/>
                </a:solidFill>
                <a:latin typeface="Arial" panose="020B0604020202020204" pitchFamily="34" charset="0"/>
              </a:rPr>
              <a:t>Basic Genetics Review / Mendelian Genetics</a:t>
            </a:r>
          </a:p>
          <a:p>
            <a:pPr algn="ctr">
              <a:lnSpc>
                <a:spcPct val="90000"/>
              </a:lnSpc>
              <a:spcBef>
                <a:spcPct val="0"/>
              </a:spcBef>
              <a:buClrTx/>
              <a:buFontTx/>
              <a:buNone/>
            </a:pPr>
            <a:endParaRPr lang="en-US" altLang="en-US" sz="3600">
              <a:solidFill>
                <a:schemeClr val="bg2"/>
              </a:solidFill>
              <a:latin typeface="Arial" panose="020B0604020202020204" pitchFamily="34" charset="0"/>
            </a:endParaRPr>
          </a:p>
          <a:p>
            <a:pPr algn="ctr">
              <a:lnSpc>
                <a:spcPct val="90000"/>
              </a:lnSpc>
              <a:spcBef>
                <a:spcPct val="0"/>
              </a:spcBef>
              <a:buClrTx/>
              <a:buFontTx/>
              <a:buNone/>
            </a:pPr>
            <a:endParaRPr lang="en-US" altLang="en-US" sz="3600">
              <a:solidFill>
                <a:schemeClr val="bg2"/>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type="body" idx="4294967295"/>
          </p:nvPr>
        </p:nvSpPr>
        <p:spPr>
          <a:xfrm>
            <a:off x="685800" y="1600200"/>
            <a:ext cx="7983538" cy="4114800"/>
          </a:xfrm>
        </p:spPr>
        <p:txBody>
          <a:bodyPr/>
          <a:lstStyle/>
          <a:p>
            <a:pPr>
              <a:spcBef>
                <a:spcPct val="40000"/>
              </a:spcBef>
              <a:spcAft>
                <a:spcPct val="40000"/>
              </a:spcAft>
              <a:defRPr/>
            </a:pPr>
            <a:r>
              <a:rPr lang="en-US" altLang="en-US" sz="2400" b="1" dirty="0" err="1" smtClean="0">
                <a:latin typeface="Arial" panose="020B0604020202020204" pitchFamily="34" charset="0"/>
              </a:rPr>
              <a:t>Pahlke</a:t>
            </a:r>
            <a:r>
              <a:rPr lang="en-US" altLang="en-US" sz="2400" b="1" dirty="0">
                <a:latin typeface="Arial" panose="020B0604020202020204" pitchFamily="34" charset="0"/>
              </a:rPr>
              <a:t>, F. (2010). Training in Genetic Epidemiology (</a:t>
            </a:r>
            <a:r>
              <a:rPr lang="en-US" altLang="en-US" sz="2400" b="1" dirty="0">
                <a:latin typeface="Arial" panose="020B0604020202020204" pitchFamily="34" charset="0"/>
                <a:hlinkClick r:id="rId3"/>
              </a:rPr>
              <a:t>www.wiley-vch.de/home/geneticepidemiology</a:t>
            </a:r>
            <a:r>
              <a:rPr lang="en-US" altLang="en-US" sz="2400" b="1" dirty="0">
                <a:latin typeface="Arial" panose="020B0604020202020204" pitchFamily="34" charset="0"/>
              </a:rPr>
              <a:t>): Chapter 2</a:t>
            </a:r>
            <a:r>
              <a:rPr lang="en-US" altLang="en-US" sz="2400" dirty="0"/>
              <a:t> </a:t>
            </a:r>
          </a:p>
          <a:p>
            <a:pPr>
              <a:spcBef>
                <a:spcPct val="40000"/>
              </a:spcBef>
              <a:spcAft>
                <a:spcPct val="40000"/>
              </a:spcAft>
              <a:defRPr/>
            </a:pPr>
            <a:r>
              <a:rPr lang="en-US" altLang="en-US" sz="2400" b="1" dirty="0" err="1">
                <a:latin typeface="Arial" panose="020B0604020202020204" pitchFamily="34" charset="0"/>
              </a:rPr>
              <a:t>Zieger</a:t>
            </a:r>
            <a:r>
              <a:rPr lang="en-US" altLang="en-US" sz="2400" b="1" dirty="0">
                <a:latin typeface="Arial" panose="020B0604020202020204" pitchFamily="34" charset="0"/>
              </a:rPr>
              <a:t>, A. &amp; </a:t>
            </a:r>
            <a:r>
              <a:rPr lang="en-US" altLang="en-US" sz="2400" b="1" dirty="0" err="1">
                <a:latin typeface="Arial" panose="020B0604020202020204" pitchFamily="34" charset="0"/>
              </a:rPr>
              <a:t>Konig</a:t>
            </a:r>
            <a:r>
              <a:rPr lang="en-US" altLang="en-US" sz="2400" b="1" dirty="0">
                <a:latin typeface="Arial" panose="020B0604020202020204" pitchFamily="34" charset="0"/>
              </a:rPr>
              <a:t>, I.R. (2010). A Statistical Approach to Genetic Epidemiology: Chapter 1 &amp; 2</a:t>
            </a:r>
          </a:p>
          <a:p>
            <a:pPr>
              <a:spcBef>
                <a:spcPct val="40000"/>
              </a:spcBef>
              <a:spcAft>
                <a:spcPct val="40000"/>
              </a:spcAft>
              <a:defRPr/>
            </a:pPr>
            <a:endParaRPr lang="en-US" altLang="en-US" sz="2400" dirty="0"/>
          </a:p>
        </p:txBody>
      </p:sp>
      <p:sp>
        <p:nvSpPr>
          <p:cNvPr id="12291" name="Rectangle 3"/>
          <p:cNvSpPr>
            <a:spLocks noGrp="1" noChangeArrowheads="1"/>
          </p:cNvSpPr>
          <p:nvPr>
            <p:ph type="title" idx="4294967295"/>
          </p:nvPr>
        </p:nvSpPr>
        <p:spPr>
          <a:xfrm>
            <a:off x="685800" y="0"/>
            <a:ext cx="7772400" cy="1143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600" b="1">
                <a:latin typeface="Comic Sans MS" panose="030F0702030302020204" pitchFamily="66" charset="0"/>
              </a:rPr>
              <a:t>Lecture 1 Readings</a:t>
            </a:r>
          </a:p>
        </p:txBody>
      </p:sp>
      <p:sp>
        <p:nvSpPr>
          <p:cNvPr id="12292" name="Line 4"/>
          <p:cNvSpPr>
            <a:spLocks noChangeShapeType="1"/>
          </p:cNvSpPr>
          <p:nvPr/>
        </p:nvSpPr>
        <p:spPr bwMode="auto">
          <a:xfrm>
            <a:off x="271463" y="1219200"/>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body" idx="4294967295"/>
          </p:nvPr>
        </p:nvSpPr>
        <p:spPr>
          <a:xfrm>
            <a:off x="1100138" y="1920875"/>
            <a:ext cx="6748462" cy="2108200"/>
          </a:xfrm>
        </p:spPr>
        <p:txBody>
          <a:bodyPr/>
          <a:lstStyle/>
          <a:p>
            <a:pPr>
              <a:spcBef>
                <a:spcPct val="40000"/>
              </a:spcBef>
              <a:spcAft>
                <a:spcPct val="40000"/>
              </a:spcAft>
              <a:buFontTx/>
              <a:buNone/>
            </a:pPr>
            <a:r>
              <a:rPr lang="en-US" altLang="en-US" sz="4800" b="1">
                <a:solidFill>
                  <a:schemeClr val="bg2"/>
                </a:solidFill>
                <a:latin typeface="Comic Sans MS" panose="030F0702030302020204" pitchFamily="66" charset="0"/>
                <a:cs typeface="Arial" panose="020B0604020202020204" pitchFamily="34" charset="0"/>
              </a:rPr>
              <a:t>Basic Genetics Review</a:t>
            </a:r>
          </a:p>
          <a:p>
            <a:pPr>
              <a:spcBef>
                <a:spcPct val="40000"/>
              </a:spcBef>
              <a:spcAft>
                <a:spcPct val="40000"/>
              </a:spcAft>
              <a:buFontTx/>
              <a:buNone/>
            </a:pPr>
            <a:r>
              <a:rPr lang="en-US" altLang="en-US" sz="1800" b="1">
                <a:solidFill>
                  <a:schemeClr val="bg2"/>
                </a:solidFill>
                <a:latin typeface="Comic Sans MS" panose="030F0702030302020204" pitchFamily="66" charset="0"/>
                <a:cs typeface="Arial" panose="020B0604020202020204" pitchFamily="34" charset="0"/>
              </a:rPr>
              <a:t>(slides courtesy of K. North, PhD. UNC-Chapel Hill, USA)</a:t>
            </a:r>
          </a:p>
          <a:p>
            <a:pPr>
              <a:spcBef>
                <a:spcPct val="40000"/>
              </a:spcBef>
              <a:spcAft>
                <a:spcPct val="40000"/>
              </a:spcAft>
              <a:buFontTx/>
              <a:buNone/>
            </a:pPr>
            <a:endParaRPr lang="en-US" altLang="en-US" sz="1800" b="1">
              <a:solidFill>
                <a:schemeClr val="bg2"/>
              </a:solidFill>
              <a:latin typeface="Comic Sans MS" panose="030F0702030302020204" pitchFamily="66" charset="0"/>
              <a:cs typeface="Arial" panose="020B0604020202020204" pitchFamily="34" charset="0"/>
            </a:endParaRPr>
          </a:p>
        </p:txBody>
      </p:sp>
      <p:sp>
        <p:nvSpPr>
          <p:cNvPr id="14339" name="Line 4"/>
          <p:cNvSpPr>
            <a:spLocks noChangeShapeType="1"/>
          </p:cNvSpPr>
          <p:nvPr/>
        </p:nvSpPr>
        <p:spPr bwMode="auto">
          <a:xfrm>
            <a:off x="271463" y="1547813"/>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0" name="Line 6"/>
          <p:cNvSpPr>
            <a:spLocks noChangeShapeType="1"/>
          </p:cNvSpPr>
          <p:nvPr/>
        </p:nvSpPr>
        <p:spPr bwMode="auto">
          <a:xfrm>
            <a:off x="295275" y="431482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447800" y="76200"/>
            <a:ext cx="6648450" cy="58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3600" dirty="0">
                <a:solidFill>
                  <a:schemeClr val="bg2"/>
                </a:solidFill>
                <a:latin typeface="Comic Sans MS" panose="030F0702030302020204" pitchFamily="66" charset="0"/>
                <a:cs typeface="Times New Roman" panose="02020603050405020304" pitchFamily="18" charset="0"/>
              </a:rPr>
              <a:t>DNA – Deoxyribonucleic Acid</a:t>
            </a:r>
          </a:p>
        </p:txBody>
      </p:sp>
      <p:sp>
        <p:nvSpPr>
          <p:cNvPr id="16387" name="Rectangle 3"/>
          <p:cNvSpPr>
            <a:spLocks noChangeArrowheads="1"/>
          </p:cNvSpPr>
          <p:nvPr/>
        </p:nvSpPr>
        <p:spPr bwMode="auto">
          <a:xfrm>
            <a:off x="322263" y="3986213"/>
            <a:ext cx="8574087" cy="2446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25000"/>
              </a:spcBef>
              <a:spcAft>
                <a:spcPct val="25000"/>
              </a:spcAft>
              <a:buClrTx/>
            </a:pPr>
            <a:r>
              <a:rPr lang="en-US" altLang="en-US" sz="1800">
                <a:solidFill>
                  <a:schemeClr val="bg2"/>
                </a:solidFill>
                <a:latin typeface="Arial" panose="020B0604020202020204" pitchFamily="34" charset="0"/>
                <a:cs typeface="Times New Roman" panose="02020603050405020304" pitchFamily="18" charset="0"/>
              </a:rPr>
              <a:t>Housed in the nucleus of the cell, carries the instructions that allow cells to make proteins </a:t>
            </a:r>
          </a:p>
          <a:p>
            <a:pPr>
              <a:spcBef>
                <a:spcPct val="25000"/>
              </a:spcBef>
              <a:spcAft>
                <a:spcPct val="25000"/>
              </a:spcAft>
              <a:buClrTx/>
            </a:pPr>
            <a:r>
              <a:rPr lang="en-US" altLang="en-US" sz="1800">
                <a:solidFill>
                  <a:schemeClr val="bg2"/>
                </a:solidFill>
                <a:latin typeface="Arial" panose="020B0604020202020204" pitchFamily="34" charset="0"/>
                <a:cs typeface="Times New Roman" panose="02020603050405020304" pitchFamily="18" charset="0"/>
              </a:rPr>
              <a:t>Carries an individual’s genetic information</a:t>
            </a:r>
          </a:p>
          <a:p>
            <a:pPr>
              <a:spcBef>
                <a:spcPct val="25000"/>
              </a:spcBef>
              <a:spcAft>
                <a:spcPct val="25000"/>
              </a:spcAft>
              <a:buClrTx/>
            </a:pPr>
            <a:r>
              <a:rPr lang="en-US" altLang="en-US" sz="1800">
                <a:solidFill>
                  <a:schemeClr val="bg2"/>
                </a:solidFill>
                <a:latin typeface="Arial" panose="020B0604020202020204" pitchFamily="34" charset="0"/>
                <a:cs typeface="Times New Roman" panose="02020603050405020304" pitchFamily="18" charset="0"/>
              </a:rPr>
              <a:t>Composed of a sugar phosphate backbone from which four nitrogenous bases- adenine (A), guanine (G), cytosine (C), and thymine (T), protrude</a:t>
            </a:r>
          </a:p>
          <a:p>
            <a:pPr>
              <a:spcBef>
                <a:spcPct val="25000"/>
              </a:spcBef>
              <a:spcAft>
                <a:spcPct val="25000"/>
              </a:spcAft>
              <a:buClrTx/>
            </a:pPr>
            <a:r>
              <a:rPr lang="en-US" altLang="en-US" sz="1800">
                <a:solidFill>
                  <a:schemeClr val="bg2"/>
                </a:solidFill>
                <a:latin typeface="Arial" panose="020B0604020202020204" pitchFamily="34" charset="0"/>
                <a:cs typeface="Times New Roman" panose="02020603050405020304" pitchFamily="18" charset="0"/>
              </a:rPr>
              <a:t> Arranged in a double helix: two strands are held together by specific pairings between bases A – T pair and G – C pair</a:t>
            </a:r>
          </a:p>
        </p:txBody>
      </p:sp>
      <p:sp>
        <p:nvSpPr>
          <p:cNvPr id="16388" name="Line 4"/>
          <p:cNvSpPr>
            <a:spLocks noChangeShapeType="1"/>
          </p:cNvSpPr>
          <p:nvPr/>
        </p:nvSpPr>
        <p:spPr bwMode="auto">
          <a:xfrm flipV="1">
            <a:off x="322262" y="676274"/>
            <a:ext cx="8415337" cy="61913"/>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6389" name="Picture 5" descr="chap1"/>
          <p:cNvPicPr>
            <a:picLocks noChangeAspect="1" noChangeArrowheads="1"/>
          </p:cNvPicPr>
          <p:nvPr/>
        </p:nvPicPr>
        <p:blipFill>
          <a:blip r:embed="rId3">
            <a:extLst>
              <a:ext uri="{28A0092B-C50C-407E-A947-70E740481C1C}">
                <a14:useLocalDpi xmlns:a14="http://schemas.microsoft.com/office/drawing/2010/main" val="0"/>
              </a:ext>
            </a:extLst>
          </a:blip>
          <a:srcRect l="2539" t="18195" r="2539" b="17361"/>
          <a:stretch>
            <a:fillRect/>
          </a:stretch>
        </p:blipFill>
        <p:spPr bwMode="auto">
          <a:xfrm>
            <a:off x="1671638" y="738188"/>
            <a:ext cx="5822950" cy="334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685800" y="457200"/>
            <a:ext cx="7772400" cy="652463"/>
          </a:xfrm>
        </p:spPr>
        <p:txBody>
          <a:bodyPr/>
          <a:lstStyle/>
          <a:p>
            <a:pPr lvl="0">
              <a:lnSpc>
                <a:spcPct val="90000"/>
              </a:lnSpc>
              <a:spcBef>
                <a:spcPct val="55000"/>
              </a:spcBef>
              <a:spcAft>
                <a:spcPct val="45000"/>
              </a:spcAft>
            </a:pPr>
            <a:r>
              <a:rPr lang="en-US" altLang="en-US" sz="3600" b="1" kern="1200" dirty="0">
                <a:solidFill>
                  <a:srgbClr val="000000"/>
                </a:solidFill>
                <a:latin typeface="Comic Sans MS" panose="030F0702030302020204" pitchFamily="66" charset="0"/>
                <a:ea typeface="+mn-ea"/>
                <a:cs typeface="Times New Roman" panose="02020603050405020304" pitchFamily="18" charset="0"/>
              </a:rPr>
              <a:t>DNA – Deoxyribonucleic Acid</a:t>
            </a:r>
            <a:br>
              <a:rPr lang="en-US" altLang="en-US" sz="3600" b="1" kern="1200" dirty="0">
                <a:solidFill>
                  <a:srgbClr val="000000"/>
                </a:solidFill>
                <a:latin typeface="Comic Sans MS" panose="030F0702030302020204" pitchFamily="66" charset="0"/>
                <a:ea typeface="+mn-ea"/>
                <a:cs typeface="Times New Roman" panose="02020603050405020304" pitchFamily="18" charset="0"/>
              </a:rPr>
            </a:br>
            <a:endParaRPr lang="en-US" altLang="en-US" dirty="0"/>
          </a:p>
        </p:txBody>
      </p:sp>
      <p:pic>
        <p:nvPicPr>
          <p:cNvPr id="1843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09096" y="1384300"/>
            <a:ext cx="6138863" cy="4814888"/>
          </a:xfrm>
        </p:spPr>
      </p:pic>
      <p:sp>
        <p:nvSpPr>
          <p:cNvPr id="1843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endParaRPr lang="en-US" altLang="en-US" sz="1200" dirty="0"/>
          </a:p>
          <a:p>
            <a:endParaRPr lang="en-US" altLang="en-US" sz="1200" dirty="0"/>
          </a:p>
        </p:txBody>
      </p:sp>
      <p:sp>
        <p:nvSpPr>
          <p:cNvPr id="5" name="Line 4"/>
          <p:cNvSpPr>
            <a:spLocks noChangeShapeType="1"/>
          </p:cNvSpPr>
          <p:nvPr/>
        </p:nvSpPr>
        <p:spPr bwMode="auto">
          <a:xfrm flipV="1">
            <a:off x="322262" y="676274"/>
            <a:ext cx="8415337" cy="61913"/>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152775" y="184150"/>
            <a:ext cx="3079750" cy="58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3600">
                <a:solidFill>
                  <a:schemeClr val="bg2"/>
                </a:solidFill>
                <a:latin typeface="Comic Sans MS" panose="030F0702030302020204" pitchFamily="66" charset="0"/>
                <a:cs typeface="Times New Roman" panose="02020603050405020304" pitchFamily="18" charset="0"/>
              </a:rPr>
              <a:t>Chromosomes</a:t>
            </a:r>
          </a:p>
        </p:txBody>
      </p:sp>
      <p:sp>
        <p:nvSpPr>
          <p:cNvPr id="19459" name="Rectangle 3"/>
          <p:cNvSpPr>
            <a:spLocks noChangeArrowheads="1"/>
          </p:cNvSpPr>
          <p:nvPr/>
        </p:nvSpPr>
        <p:spPr bwMode="auto">
          <a:xfrm>
            <a:off x="4302125" y="1385888"/>
            <a:ext cx="4319588" cy="499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971550" indent="-457200">
              <a:spcBef>
                <a:spcPct val="20000"/>
              </a:spcBef>
              <a:buClr>
                <a:schemeClr val="accent2"/>
              </a:buClr>
              <a:buChar char="•"/>
              <a:defRPr sz="2800">
                <a:solidFill>
                  <a:srgbClr val="006600"/>
                </a:solidFill>
                <a:latin typeface="Times New Roman" panose="02020603050405020304" pitchFamily="18" charset="0"/>
              </a:defRPr>
            </a:lvl2pPr>
            <a:lvl3pPr marL="1543050" indent="-457200">
              <a:spcBef>
                <a:spcPct val="20000"/>
              </a:spcBef>
              <a:buClr>
                <a:schemeClr val="accent2"/>
              </a:buClr>
              <a:buChar char="•"/>
              <a:defRPr sz="2400">
                <a:solidFill>
                  <a:srgbClr val="006600"/>
                </a:solidFill>
                <a:latin typeface="Times New Roman" panose="02020603050405020304" pitchFamily="18" charset="0"/>
              </a:defRPr>
            </a:lvl3pPr>
            <a:lvl4pPr marL="2114550" indent="-457200">
              <a:spcBef>
                <a:spcPct val="20000"/>
              </a:spcBef>
              <a:buClr>
                <a:schemeClr val="accent2"/>
              </a:buClr>
              <a:buChar char="•"/>
              <a:defRPr sz="2000">
                <a:solidFill>
                  <a:srgbClr val="006600"/>
                </a:solidFill>
                <a:latin typeface="Times New Roman" panose="02020603050405020304" pitchFamily="18" charset="0"/>
              </a:defRPr>
            </a:lvl4pPr>
            <a:lvl5pPr marL="2686050" indent="-457200">
              <a:spcBef>
                <a:spcPct val="20000"/>
              </a:spcBef>
              <a:buClr>
                <a:schemeClr val="accent2"/>
              </a:buClr>
              <a:buChar char="•"/>
              <a:defRPr sz="2000">
                <a:solidFill>
                  <a:srgbClr val="006600"/>
                </a:solidFill>
                <a:latin typeface="Times New Roman" panose="02020603050405020304" pitchFamily="18" charset="0"/>
              </a:defRPr>
            </a:lvl5pPr>
            <a:lvl6pPr marL="3143250" indent="-4572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3600450" indent="-4572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4057650" indent="-4572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4514850" indent="-4572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ts val="3000"/>
              </a:lnSpc>
              <a:spcBef>
                <a:spcPts val="1000"/>
              </a:spcBef>
              <a:spcAft>
                <a:spcPts val="500"/>
              </a:spcAft>
            </a:pPr>
            <a:r>
              <a:rPr lang="en-US" altLang="en-US" sz="1600" dirty="0">
                <a:solidFill>
                  <a:schemeClr val="bg2"/>
                </a:solidFill>
                <a:latin typeface="Arial" panose="020B0604020202020204" pitchFamily="34" charset="0"/>
                <a:cs typeface="Times New Roman" panose="02020603050405020304" pitchFamily="18" charset="0"/>
              </a:rPr>
              <a:t>Structures within the nucleus of a cell that carry the DNA and proteins</a:t>
            </a:r>
          </a:p>
          <a:p>
            <a:pPr>
              <a:lnSpc>
                <a:spcPts val="3000"/>
              </a:lnSpc>
              <a:spcBef>
                <a:spcPts val="1000"/>
              </a:spcBef>
              <a:spcAft>
                <a:spcPts val="500"/>
              </a:spcAft>
            </a:pPr>
            <a:r>
              <a:rPr lang="en-US" altLang="en-US" sz="1600" dirty="0">
                <a:solidFill>
                  <a:schemeClr val="bg2"/>
                </a:solidFill>
                <a:latin typeface="Arial" panose="020B0604020202020204" pitchFamily="34" charset="0"/>
                <a:cs typeface="Times New Roman" panose="02020603050405020304" pitchFamily="18" charset="0"/>
              </a:rPr>
              <a:t>Each chromosome (</a:t>
            </a:r>
            <a:r>
              <a:rPr lang="en-US" altLang="en-US" sz="1600" dirty="0" err="1">
                <a:solidFill>
                  <a:schemeClr val="bg2"/>
                </a:solidFill>
                <a:latin typeface="Arial" panose="020B0604020202020204" pitchFamily="34" charset="0"/>
                <a:cs typeface="Times New Roman" panose="02020603050405020304" pitchFamily="18" charset="0"/>
              </a:rPr>
              <a:t>chr</a:t>
            </a:r>
            <a:r>
              <a:rPr lang="en-US" altLang="en-US" sz="1600" dirty="0">
                <a:solidFill>
                  <a:schemeClr val="bg2"/>
                </a:solidFill>
                <a:latin typeface="Arial" panose="020B0604020202020204" pitchFamily="34" charset="0"/>
                <a:cs typeface="Times New Roman" panose="02020603050405020304" pitchFamily="18" charset="0"/>
              </a:rPr>
              <a:t>) contains a single, long DNA molecule</a:t>
            </a:r>
          </a:p>
          <a:p>
            <a:pPr>
              <a:lnSpc>
                <a:spcPts val="3000"/>
              </a:lnSpc>
              <a:spcBef>
                <a:spcPts val="1000"/>
              </a:spcBef>
              <a:spcAft>
                <a:spcPts val="500"/>
              </a:spcAft>
            </a:pPr>
            <a:r>
              <a:rPr lang="en-US" altLang="en-US" sz="1600" dirty="0">
                <a:solidFill>
                  <a:schemeClr val="bg2"/>
                </a:solidFill>
                <a:latin typeface="Arial" panose="020B0604020202020204" pitchFamily="34" charset="0"/>
                <a:cs typeface="Times New Roman" panose="02020603050405020304" pitchFamily="18" charset="0"/>
              </a:rPr>
              <a:t>Short arm: p arm (for the French word petit); long arm: q arm</a:t>
            </a:r>
          </a:p>
          <a:p>
            <a:pPr>
              <a:lnSpc>
                <a:spcPts val="3000"/>
              </a:lnSpc>
              <a:spcBef>
                <a:spcPts val="1000"/>
              </a:spcBef>
              <a:spcAft>
                <a:spcPts val="500"/>
              </a:spcAft>
            </a:pPr>
            <a:r>
              <a:rPr lang="en-US" altLang="en-US" sz="1600" dirty="0">
                <a:solidFill>
                  <a:schemeClr val="bg2"/>
                </a:solidFill>
                <a:latin typeface="Arial" panose="020B0604020202020204" pitchFamily="34" charset="0"/>
                <a:cs typeface="Times New Roman" panose="02020603050405020304" pitchFamily="18" charset="0"/>
              </a:rPr>
              <a:t>Centromere: separates the two arms</a:t>
            </a:r>
          </a:p>
          <a:p>
            <a:pPr>
              <a:lnSpc>
                <a:spcPts val="3000"/>
              </a:lnSpc>
              <a:spcBef>
                <a:spcPts val="1000"/>
              </a:spcBef>
              <a:spcAft>
                <a:spcPts val="500"/>
              </a:spcAft>
            </a:pPr>
            <a:r>
              <a:rPr lang="en-US" altLang="en-US" sz="1600" dirty="0">
                <a:solidFill>
                  <a:schemeClr val="bg2"/>
                </a:solidFill>
                <a:latin typeface="Arial" panose="020B0604020202020204" pitchFamily="34" charset="0"/>
                <a:cs typeface="Times New Roman" panose="02020603050405020304" pitchFamily="18" charset="0"/>
              </a:rPr>
              <a:t>Telomere:  ends of a chromosome</a:t>
            </a:r>
          </a:p>
          <a:p>
            <a:pPr>
              <a:lnSpc>
                <a:spcPts val="3000"/>
              </a:lnSpc>
              <a:spcBef>
                <a:spcPts val="1000"/>
              </a:spcBef>
              <a:spcAft>
                <a:spcPts val="500"/>
              </a:spcAft>
            </a:pPr>
            <a:r>
              <a:rPr lang="en-US" altLang="en-US" sz="1600" dirty="0" err="1">
                <a:solidFill>
                  <a:schemeClr val="bg2"/>
                </a:solidFill>
                <a:latin typeface="Arial" panose="020B0604020202020204" pitchFamily="34" charset="0"/>
                <a:cs typeface="Times New Roman" panose="02020603050405020304" pitchFamily="18" charset="0"/>
              </a:rPr>
              <a:t>chr</a:t>
            </a:r>
            <a:r>
              <a:rPr lang="en-US" altLang="en-US" sz="1600" dirty="0">
                <a:solidFill>
                  <a:schemeClr val="bg2"/>
                </a:solidFill>
                <a:latin typeface="Arial" panose="020B0604020202020204" pitchFamily="34" charset="0"/>
                <a:cs typeface="Times New Roman" panose="02020603050405020304" pitchFamily="18" charset="0"/>
              </a:rPr>
              <a:t> occur in pairs (23 for humans and 39 for dogs)</a:t>
            </a:r>
          </a:p>
          <a:p>
            <a:pPr>
              <a:lnSpc>
                <a:spcPts val="3000"/>
              </a:lnSpc>
              <a:spcBef>
                <a:spcPts val="1000"/>
              </a:spcBef>
              <a:spcAft>
                <a:spcPts val="500"/>
              </a:spcAft>
            </a:pPr>
            <a:endParaRPr lang="en-US" altLang="en-US" sz="2800" dirty="0">
              <a:solidFill>
                <a:schemeClr val="bg2"/>
              </a:solidFill>
              <a:latin typeface="Arial" panose="020B0604020202020204" pitchFamily="34" charset="0"/>
              <a:cs typeface="Times New Roman" panose="02020603050405020304" pitchFamily="18" charset="0"/>
            </a:endParaRPr>
          </a:p>
        </p:txBody>
      </p:sp>
      <p:sp>
        <p:nvSpPr>
          <p:cNvPr id="19460" name="Line 4"/>
          <p:cNvSpPr>
            <a:spLocks noChangeShapeType="1"/>
          </p:cNvSpPr>
          <p:nvPr/>
        </p:nvSpPr>
        <p:spPr bwMode="auto">
          <a:xfrm>
            <a:off x="203200" y="838200"/>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9461" name="Picture 5" descr="chap2"/>
          <p:cNvPicPr>
            <a:picLocks noChangeAspect="1" noChangeArrowheads="1"/>
          </p:cNvPicPr>
          <p:nvPr/>
        </p:nvPicPr>
        <p:blipFill>
          <a:blip r:embed="rId3">
            <a:extLst>
              <a:ext uri="{28A0092B-C50C-407E-A947-70E740481C1C}">
                <a14:useLocalDpi xmlns:a14="http://schemas.microsoft.com/office/drawing/2010/main" val="0"/>
              </a:ext>
            </a:extLst>
          </a:blip>
          <a:srcRect l="10095" t="2130" r="85635" b="3796"/>
          <a:stretch>
            <a:fillRect/>
          </a:stretch>
        </p:blipFill>
        <p:spPr bwMode="auto">
          <a:xfrm>
            <a:off x="488950" y="1347788"/>
            <a:ext cx="679450" cy="486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Line 6"/>
          <p:cNvSpPr>
            <a:spLocks noChangeShapeType="1"/>
          </p:cNvSpPr>
          <p:nvPr/>
        </p:nvSpPr>
        <p:spPr bwMode="auto">
          <a:xfrm flipH="1">
            <a:off x="1296988" y="1871663"/>
            <a:ext cx="1189037" cy="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19463" name="Line 7"/>
          <p:cNvSpPr>
            <a:spLocks noChangeShapeType="1"/>
          </p:cNvSpPr>
          <p:nvPr/>
        </p:nvSpPr>
        <p:spPr bwMode="auto">
          <a:xfrm flipH="1">
            <a:off x="1306513" y="3681413"/>
            <a:ext cx="1189037" cy="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19464" name="Line 8"/>
          <p:cNvSpPr>
            <a:spLocks noChangeShapeType="1"/>
          </p:cNvSpPr>
          <p:nvPr/>
        </p:nvSpPr>
        <p:spPr bwMode="auto">
          <a:xfrm flipH="1">
            <a:off x="1301750" y="5019675"/>
            <a:ext cx="1189038" cy="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19465" name="Line 9"/>
          <p:cNvSpPr>
            <a:spLocks noChangeShapeType="1"/>
          </p:cNvSpPr>
          <p:nvPr/>
        </p:nvSpPr>
        <p:spPr bwMode="auto">
          <a:xfrm flipH="1">
            <a:off x="1296988" y="5972175"/>
            <a:ext cx="1189037" cy="0"/>
          </a:xfrm>
          <a:prstGeom prst="line">
            <a:avLst/>
          </a:prstGeom>
          <a:noFill/>
          <a:ln w="254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19466" name="Text Box 10"/>
          <p:cNvSpPr txBox="1">
            <a:spLocks noChangeArrowheads="1"/>
          </p:cNvSpPr>
          <p:nvPr/>
        </p:nvSpPr>
        <p:spPr bwMode="auto">
          <a:xfrm>
            <a:off x="2574925" y="1525588"/>
            <a:ext cx="1684338"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p arm</a:t>
            </a:r>
          </a:p>
        </p:txBody>
      </p:sp>
      <p:sp>
        <p:nvSpPr>
          <p:cNvPr id="19467" name="Text Box 11"/>
          <p:cNvSpPr txBox="1">
            <a:spLocks noChangeArrowheads="1"/>
          </p:cNvSpPr>
          <p:nvPr/>
        </p:nvSpPr>
        <p:spPr bwMode="auto">
          <a:xfrm>
            <a:off x="2570163" y="3363913"/>
            <a:ext cx="1684337"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Centromere</a:t>
            </a:r>
          </a:p>
        </p:txBody>
      </p:sp>
      <p:sp>
        <p:nvSpPr>
          <p:cNvPr id="19468" name="Text Box 12"/>
          <p:cNvSpPr txBox="1">
            <a:spLocks noChangeArrowheads="1"/>
          </p:cNvSpPr>
          <p:nvPr/>
        </p:nvSpPr>
        <p:spPr bwMode="auto">
          <a:xfrm>
            <a:off x="2584450" y="4692650"/>
            <a:ext cx="1684338"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q arm</a:t>
            </a:r>
          </a:p>
        </p:txBody>
      </p:sp>
      <p:sp>
        <p:nvSpPr>
          <p:cNvPr id="19469" name="Text Box 13"/>
          <p:cNvSpPr txBox="1">
            <a:spLocks noChangeArrowheads="1"/>
          </p:cNvSpPr>
          <p:nvPr/>
        </p:nvSpPr>
        <p:spPr bwMode="auto">
          <a:xfrm>
            <a:off x="2598738" y="5621338"/>
            <a:ext cx="1684337"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Telomere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167063" y="184150"/>
            <a:ext cx="3335337" cy="585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3600">
                <a:solidFill>
                  <a:schemeClr val="bg2"/>
                </a:solidFill>
                <a:latin typeface="Comic Sans MS" panose="030F0702030302020204" pitchFamily="66" charset="0"/>
                <a:cs typeface="Times New Roman" panose="02020603050405020304" pitchFamily="18" charset="0"/>
              </a:rPr>
              <a:t>Chromosome 3</a:t>
            </a:r>
          </a:p>
        </p:txBody>
      </p:sp>
      <p:sp>
        <p:nvSpPr>
          <p:cNvPr id="21507" name="Line 3"/>
          <p:cNvSpPr>
            <a:spLocks noChangeShapeType="1"/>
          </p:cNvSpPr>
          <p:nvPr/>
        </p:nvSpPr>
        <p:spPr bwMode="auto">
          <a:xfrm>
            <a:off x="203200" y="838200"/>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8" name="Rectangle 4"/>
          <p:cNvSpPr>
            <a:spLocks noChangeArrowheads="1"/>
          </p:cNvSpPr>
          <p:nvPr/>
        </p:nvSpPr>
        <p:spPr bwMode="auto">
          <a:xfrm>
            <a:off x="3309938" y="62865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pic>
        <p:nvPicPr>
          <p:cNvPr id="21509" name="Picture 5" descr="chrom3"/>
          <p:cNvPicPr>
            <a:picLocks noChangeAspect="1" noChangeArrowheads="1"/>
          </p:cNvPicPr>
          <p:nvPr/>
        </p:nvPicPr>
        <p:blipFill>
          <a:blip r:embed="rId3">
            <a:extLst>
              <a:ext uri="{28A0092B-C50C-407E-A947-70E740481C1C}">
                <a14:useLocalDpi xmlns:a14="http://schemas.microsoft.com/office/drawing/2010/main" val="0"/>
              </a:ext>
            </a:extLst>
          </a:blip>
          <a:srcRect l="73665" t="7333" r="2670"/>
          <a:stretch>
            <a:fillRect/>
          </a:stretch>
        </p:blipFill>
        <p:spPr bwMode="auto">
          <a:xfrm>
            <a:off x="2136775" y="1138238"/>
            <a:ext cx="1806575" cy="527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Line 6"/>
          <p:cNvSpPr>
            <a:spLocks noChangeShapeType="1"/>
          </p:cNvSpPr>
          <p:nvPr/>
        </p:nvSpPr>
        <p:spPr bwMode="auto">
          <a:xfrm flipH="1">
            <a:off x="4143375" y="1625600"/>
            <a:ext cx="1277938"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21511" name="Line 7"/>
          <p:cNvSpPr>
            <a:spLocks noChangeShapeType="1"/>
          </p:cNvSpPr>
          <p:nvPr/>
        </p:nvSpPr>
        <p:spPr bwMode="auto">
          <a:xfrm flipH="1">
            <a:off x="4138613" y="3978275"/>
            <a:ext cx="1277937"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21512" name="Text Box 8"/>
          <p:cNvSpPr txBox="1">
            <a:spLocks noChangeArrowheads="1"/>
          </p:cNvSpPr>
          <p:nvPr/>
        </p:nvSpPr>
        <p:spPr bwMode="auto">
          <a:xfrm>
            <a:off x="5176838" y="1779588"/>
            <a:ext cx="4360862" cy="1406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30000"/>
              </a:spcBef>
              <a:spcAft>
                <a:spcPts val="100"/>
              </a:spcAft>
              <a:buClrTx/>
              <a:buFontTx/>
              <a:buNone/>
            </a:pPr>
            <a:r>
              <a:rPr lang="en-US" altLang="en-US" sz="2400" dirty="0">
                <a:solidFill>
                  <a:schemeClr val="bg2"/>
                </a:solidFill>
                <a:latin typeface="Arial" panose="020B0604020202020204" pitchFamily="34" charset="0"/>
              </a:rPr>
              <a:t>On the p arm, numbering begins at the centromere and increase towards the telomere.</a:t>
            </a:r>
          </a:p>
        </p:txBody>
      </p:sp>
      <p:sp>
        <p:nvSpPr>
          <p:cNvPr id="21513" name="Text Box 9"/>
          <p:cNvSpPr txBox="1">
            <a:spLocks noChangeArrowheads="1"/>
          </p:cNvSpPr>
          <p:nvPr/>
        </p:nvSpPr>
        <p:spPr bwMode="auto">
          <a:xfrm>
            <a:off x="5183188" y="4010025"/>
            <a:ext cx="4360862" cy="1406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30000"/>
              </a:spcBef>
              <a:spcAft>
                <a:spcPts val="100"/>
              </a:spcAft>
              <a:buClrTx/>
              <a:buFontTx/>
              <a:buNone/>
            </a:pPr>
            <a:r>
              <a:rPr lang="en-US" altLang="en-US" sz="2400">
                <a:solidFill>
                  <a:schemeClr val="bg2"/>
                </a:solidFill>
                <a:latin typeface="Arial" panose="020B0604020202020204" pitchFamily="34" charset="0"/>
              </a:rPr>
              <a:t>On the q arm, numbering begins at the centromere and increase towards the telomere.</a:t>
            </a:r>
          </a:p>
        </p:txBody>
      </p:sp>
      <p:sp>
        <p:nvSpPr>
          <p:cNvPr id="21514" name="Text Box 10"/>
          <p:cNvSpPr txBox="1">
            <a:spLocks noChangeArrowheads="1"/>
          </p:cNvSpPr>
          <p:nvPr/>
        </p:nvSpPr>
        <p:spPr bwMode="auto">
          <a:xfrm>
            <a:off x="-73025" y="2921000"/>
            <a:ext cx="1684338"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Centromere</a:t>
            </a:r>
          </a:p>
        </p:txBody>
      </p:sp>
      <p:sp>
        <p:nvSpPr>
          <p:cNvPr id="21515" name="Text Box 11"/>
          <p:cNvSpPr txBox="1">
            <a:spLocks noChangeArrowheads="1"/>
          </p:cNvSpPr>
          <p:nvPr/>
        </p:nvSpPr>
        <p:spPr bwMode="auto">
          <a:xfrm>
            <a:off x="412750" y="4692650"/>
            <a:ext cx="1684338"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q arm</a:t>
            </a:r>
          </a:p>
        </p:txBody>
      </p:sp>
      <p:sp>
        <p:nvSpPr>
          <p:cNvPr id="21516" name="Text Box 12"/>
          <p:cNvSpPr txBox="1">
            <a:spLocks noChangeArrowheads="1"/>
          </p:cNvSpPr>
          <p:nvPr/>
        </p:nvSpPr>
        <p:spPr bwMode="auto">
          <a:xfrm>
            <a:off x="-44450" y="5892800"/>
            <a:ext cx="1684338"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Telomere</a:t>
            </a:r>
          </a:p>
        </p:txBody>
      </p:sp>
      <p:sp>
        <p:nvSpPr>
          <p:cNvPr id="21517" name="Text Box 13"/>
          <p:cNvSpPr txBox="1">
            <a:spLocks noChangeArrowheads="1"/>
          </p:cNvSpPr>
          <p:nvPr/>
        </p:nvSpPr>
        <p:spPr bwMode="auto">
          <a:xfrm>
            <a:off x="-46038" y="914400"/>
            <a:ext cx="1684338"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Telomere</a:t>
            </a:r>
          </a:p>
        </p:txBody>
      </p:sp>
      <p:sp>
        <p:nvSpPr>
          <p:cNvPr id="21518" name="Line 14"/>
          <p:cNvSpPr>
            <a:spLocks noChangeShapeType="1"/>
          </p:cNvSpPr>
          <p:nvPr/>
        </p:nvSpPr>
        <p:spPr bwMode="auto">
          <a:xfrm flipV="1">
            <a:off x="1217613" y="3451225"/>
            <a:ext cx="782637" cy="14288"/>
          </a:xfrm>
          <a:prstGeom prst="line">
            <a:avLst/>
          </a:prstGeom>
          <a:noFill/>
          <a:ln w="254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21519" name="Line 15"/>
          <p:cNvSpPr>
            <a:spLocks noChangeShapeType="1"/>
          </p:cNvSpPr>
          <p:nvPr/>
        </p:nvSpPr>
        <p:spPr bwMode="auto">
          <a:xfrm flipV="1">
            <a:off x="1255713" y="1254125"/>
            <a:ext cx="782637" cy="14288"/>
          </a:xfrm>
          <a:prstGeom prst="line">
            <a:avLst/>
          </a:prstGeom>
          <a:noFill/>
          <a:ln w="254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21520" name="Line 16"/>
          <p:cNvSpPr>
            <a:spLocks noChangeShapeType="1"/>
          </p:cNvSpPr>
          <p:nvPr/>
        </p:nvSpPr>
        <p:spPr bwMode="auto">
          <a:xfrm flipV="1">
            <a:off x="1265238" y="6213475"/>
            <a:ext cx="782637" cy="14288"/>
          </a:xfrm>
          <a:prstGeom prst="line">
            <a:avLst/>
          </a:prstGeom>
          <a:noFill/>
          <a:ln w="254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21521" name="Line 17"/>
          <p:cNvSpPr>
            <a:spLocks noChangeShapeType="1"/>
          </p:cNvSpPr>
          <p:nvPr/>
        </p:nvSpPr>
        <p:spPr bwMode="auto">
          <a:xfrm flipV="1">
            <a:off x="1257300" y="2097088"/>
            <a:ext cx="782638" cy="14287"/>
          </a:xfrm>
          <a:prstGeom prst="line">
            <a:avLst/>
          </a:prstGeom>
          <a:noFill/>
          <a:ln w="254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21522" name="Line 18"/>
          <p:cNvSpPr>
            <a:spLocks noChangeShapeType="1"/>
          </p:cNvSpPr>
          <p:nvPr/>
        </p:nvSpPr>
        <p:spPr bwMode="auto">
          <a:xfrm flipV="1">
            <a:off x="1298575" y="5018088"/>
            <a:ext cx="782638" cy="14287"/>
          </a:xfrm>
          <a:prstGeom prst="line">
            <a:avLst/>
          </a:prstGeom>
          <a:noFill/>
          <a:ln w="2540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21523" name="Text Box 19"/>
          <p:cNvSpPr txBox="1">
            <a:spLocks noChangeArrowheads="1"/>
          </p:cNvSpPr>
          <p:nvPr/>
        </p:nvSpPr>
        <p:spPr bwMode="auto">
          <a:xfrm>
            <a:off x="379413" y="1744663"/>
            <a:ext cx="1684337"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p arm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447800" y="76200"/>
            <a:ext cx="4600303"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smtClean="0">
                <a:latin typeface="Comic Sans MS" panose="030F0702030302020204" pitchFamily="66" charset="0"/>
                <a:cs typeface="Times New Roman" panose="02020603050405020304" pitchFamily="18" charset="0"/>
              </a:rPr>
              <a:t>            P</a:t>
            </a:r>
            <a:r>
              <a:rPr lang="en-US" altLang="en-US" sz="3600" dirty="0" smtClean="0">
                <a:latin typeface="Comic Sans MS" panose="030F0702030302020204" pitchFamily="66" charset="0"/>
                <a:cs typeface="Times New Roman" panose="02020603050405020304" pitchFamily="18" charset="0"/>
              </a:rPr>
              <a:t>loidy</a:t>
            </a:r>
            <a:endParaRPr lang="en-US" altLang="en-US" sz="3600" dirty="0">
              <a:latin typeface="Comic Sans MS" panose="030F0702030302020204" pitchFamily="66" charset="0"/>
              <a:cs typeface="Times New Roman" panose="02020603050405020304" pitchFamily="18" charset="0"/>
            </a:endParaRP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4" name="Table 4">
            <a:extLst>
              <a:ext uri="{FF2B5EF4-FFF2-40B4-BE49-F238E27FC236}">
                <a16:creationId xmlns:a16="http://schemas.microsoft.com/office/drawing/2014/main" id="{43434DDD-A472-40BA-8825-7DF28074C083}"/>
              </a:ext>
            </a:extLst>
          </p:cNvPr>
          <p:cNvGraphicFramePr>
            <a:graphicFrameLocks noGrp="1"/>
          </p:cNvGraphicFramePr>
          <p:nvPr>
            <p:ph idx="1"/>
            <p:extLst/>
          </p:nvPr>
        </p:nvGraphicFramePr>
        <p:xfrm>
          <a:off x="838200" y="1825625"/>
          <a:ext cx="7899400" cy="4079240"/>
        </p:xfrm>
        <a:graphic>
          <a:graphicData uri="http://schemas.openxmlformats.org/drawingml/2006/table">
            <a:tbl>
              <a:tblPr firstRow="1" bandRow="1">
                <a:tableStyleId>{5C22544A-7EE6-4342-B048-85BDC9FD1C3A}</a:tableStyleId>
              </a:tblPr>
              <a:tblGrid>
                <a:gridCol w="4224130">
                  <a:extLst>
                    <a:ext uri="{9D8B030D-6E8A-4147-A177-3AD203B41FA5}">
                      <a16:colId xmlns:a16="http://schemas.microsoft.com/office/drawing/2014/main" val="2442438534"/>
                    </a:ext>
                  </a:extLst>
                </a:gridCol>
                <a:gridCol w="3675270">
                  <a:extLst>
                    <a:ext uri="{9D8B030D-6E8A-4147-A177-3AD203B41FA5}">
                      <a16:colId xmlns:a16="http://schemas.microsoft.com/office/drawing/2014/main" val="2383245732"/>
                    </a:ext>
                  </a:extLst>
                </a:gridCol>
              </a:tblGrid>
              <a:tr h="370840">
                <a:tc>
                  <a:txBody>
                    <a:bodyPr/>
                    <a:lstStyle/>
                    <a:p>
                      <a:pPr algn="ctr"/>
                      <a:r>
                        <a:rPr lang="en-ZA" dirty="0"/>
                        <a:t>Name</a:t>
                      </a:r>
                    </a:p>
                  </a:txBody>
                  <a:tcPr/>
                </a:tc>
                <a:tc>
                  <a:txBody>
                    <a:bodyPr/>
                    <a:lstStyle/>
                    <a:p>
                      <a:pPr algn="ctr"/>
                      <a:r>
                        <a:rPr lang="en-ZA" dirty="0"/>
                        <a:t>Diploid Number</a:t>
                      </a:r>
                    </a:p>
                  </a:txBody>
                  <a:tcPr/>
                </a:tc>
                <a:extLst>
                  <a:ext uri="{0D108BD9-81ED-4DB2-BD59-A6C34878D82A}">
                    <a16:rowId xmlns:a16="http://schemas.microsoft.com/office/drawing/2014/main" val="4251990042"/>
                  </a:ext>
                </a:extLst>
              </a:tr>
              <a:tr h="370840">
                <a:tc>
                  <a:txBody>
                    <a:bodyPr/>
                    <a:lstStyle/>
                    <a:p>
                      <a:r>
                        <a:rPr lang="en-ZA" dirty="0"/>
                        <a:t>Human</a:t>
                      </a:r>
                    </a:p>
                  </a:txBody>
                  <a:tcPr/>
                </a:tc>
                <a:tc>
                  <a:txBody>
                    <a:bodyPr/>
                    <a:lstStyle/>
                    <a:p>
                      <a:pPr algn="ctr"/>
                      <a:r>
                        <a:rPr lang="en-ZA" dirty="0"/>
                        <a:t>46</a:t>
                      </a:r>
                    </a:p>
                  </a:txBody>
                  <a:tcPr/>
                </a:tc>
                <a:extLst>
                  <a:ext uri="{0D108BD9-81ED-4DB2-BD59-A6C34878D82A}">
                    <a16:rowId xmlns:a16="http://schemas.microsoft.com/office/drawing/2014/main" val="3908478936"/>
                  </a:ext>
                </a:extLst>
              </a:tr>
              <a:tr h="370840">
                <a:tc>
                  <a:txBody>
                    <a:bodyPr/>
                    <a:lstStyle/>
                    <a:p>
                      <a:r>
                        <a:rPr lang="en-ZA" dirty="0"/>
                        <a:t>Monkey</a:t>
                      </a:r>
                    </a:p>
                  </a:txBody>
                  <a:tcPr/>
                </a:tc>
                <a:tc>
                  <a:txBody>
                    <a:bodyPr/>
                    <a:lstStyle/>
                    <a:p>
                      <a:pPr algn="ctr"/>
                      <a:r>
                        <a:rPr lang="en-ZA" dirty="0"/>
                        <a:t>42</a:t>
                      </a:r>
                    </a:p>
                  </a:txBody>
                  <a:tcPr/>
                </a:tc>
                <a:extLst>
                  <a:ext uri="{0D108BD9-81ED-4DB2-BD59-A6C34878D82A}">
                    <a16:rowId xmlns:a16="http://schemas.microsoft.com/office/drawing/2014/main" val="1753635658"/>
                  </a:ext>
                </a:extLst>
              </a:tr>
              <a:tr h="370840">
                <a:tc>
                  <a:txBody>
                    <a:bodyPr/>
                    <a:lstStyle/>
                    <a:p>
                      <a:r>
                        <a:rPr lang="en-ZA" dirty="0"/>
                        <a:t>Dog</a:t>
                      </a:r>
                    </a:p>
                  </a:txBody>
                  <a:tcPr/>
                </a:tc>
                <a:tc>
                  <a:txBody>
                    <a:bodyPr/>
                    <a:lstStyle/>
                    <a:p>
                      <a:pPr algn="ctr"/>
                      <a:r>
                        <a:rPr lang="en-ZA" dirty="0"/>
                        <a:t>78</a:t>
                      </a:r>
                    </a:p>
                  </a:txBody>
                  <a:tcPr/>
                </a:tc>
                <a:extLst>
                  <a:ext uri="{0D108BD9-81ED-4DB2-BD59-A6C34878D82A}">
                    <a16:rowId xmlns:a16="http://schemas.microsoft.com/office/drawing/2014/main" val="1665372725"/>
                  </a:ext>
                </a:extLst>
              </a:tr>
              <a:tr h="370840">
                <a:tc>
                  <a:txBody>
                    <a:bodyPr/>
                    <a:lstStyle/>
                    <a:p>
                      <a:r>
                        <a:rPr lang="en-ZA" dirty="0"/>
                        <a:t>Cat</a:t>
                      </a:r>
                    </a:p>
                  </a:txBody>
                  <a:tcPr/>
                </a:tc>
                <a:tc>
                  <a:txBody>
                    <a:bodyPr/>
                    <a:lstStyle/>
                    <a:p>
                      <a:pPr algn="ctr"/>
                      <a:r>
                        <a:rPr lang="en-ZA" dirty="0"/>
                        <a:t>38</a:t>
                      </a:r>
                    </a:p>
                  </a:txBody>
                  <a:tcPr/>
                </a:tc>
                <a:extLst>
                  <a:ext uri="{0D108BD9-81ED-4DB2-BD59-A6C34878D82A}">
                    <a16:rowId xmlns:a16="http://schemas.microsoft.com/office/drawing/2014/main" val="2347154277"/>
                  </a:ext>
                </a:extLst>
              </a:tr>
              <a:tr h="370840">
                <a:tc>
                  <a:txBody>
                    <a:bodyPr/>
                    <a:lstStyle/>
                    <a:p>
                      <a:r>
                        <a:rPr lang="en-ZA" dirty="0"/>
                        <a:t>Mouse</a:t>
                      </a:r>
                    </a:p>
                  </a:txBody>
                  <a:tcPr/>
                </a:tc>
                <a:tc>
                  <a:txBody>
                    <a:bodyPr/>
                    <a:lstStyle/>
                    <a:p>
                      <a:pPr algn="ctr"/>
                      <a:r>
                        <a:rPr lang="en-ZA" dirty="0"/>
                        <a:t>40</a:t>
                      </a:r>
                    </a:p>
                  </a:txBody>
                  <a:tcPr/>
                </a:tc>
                <a:extLst>
                  <a:ext uri="{0D108BD9-81ED-4DB2-BD59-A6C34878D82A}">
                    <a16:rowId xmlns:a16="http://schemas.microsoft.com/office/drawing/2014/main" val="436434734"/>
                  </a:ext>
                </a:extLst>
              </a:tr>
              <a:tr h="370840">
                <a:tc>
                  <a:txBody>
                    <a:bodyPr/>
                    <a:lstStyle/>
                    <a:p>
                      <a:r>
                        <a:rPr lang="en-ZA" dirty="0"/>
                        <a:t>Frog</a:t>
                      </a:r>
                    </a:p>
                  </a:txBody>
                  <a:tcPr/>
                </a:tc>
                <a:tc>
                  <a:txBody>
                    <a:bodyPr/>
                    <a:lstStyle/>
                    <a:p>
                      <a:pPr algn="ctr"/>
                      <a:r>
                        <a:rPr lang="en-ZA" dirty="0"/>
                        <a:t>26</a:t>
                      </a:r>
                    </a:p>
                  </a:txBody>
                  <a:tcPr/>
                </a:tc>
                <a:extLst>
                  <a:ext uri="{0D108BD9-81ED-4DB2-BD59-A6C34878D82A}">
                    <a16:rowId xmlns:a16="http://schemas.microsoft.com/office/drawing/2014/main" val="2613658089"/>
                  </a:ext>
                </a:extLst>
              </a:tr>
              <a:tr h="370840">
                <a:tc>
                  <a:txBody>
                    <a:bodyPr/>
                    <a:lstStyle/>
                    <a:p>
                      <a:r>
                        <a:rPr lang="en-ZA" dirty="0"/>
                        <a:t>Fruit Fly</a:t>
                      </a:r>
                    </a:p>
                  </a:txBody>
                  <a:tcPr/>
                </a:tc>
                <a:tc>
                  <a:txBody>
                    <a:bodyPr/>
                    <a:lstStyle/>
                    <a:p>
                      <a:pPr algn="ctr"/>
                      <a:r>
                        <a:rPr lang="en-ZA" dirty="0"/>
                        <a:t>8</a:t>
                      </a:r>
                    </a:p>
                  </a:txBody>
                  <a:tcPr/>
                </a:tc>
                <a:extLst>
                  <a:ext uri="{0D108BD9-81ED-4DB2-BD59-A6C34878D82A}">
                    <a16:rowId xmlns:a16="http://schemas.microsoft.com/office/drawing/2014/main" val="4293611210"/>
                  </a:ext>
                </a:extLst>
              </a:tr>
              <a:tr h="370840">
                <a:tc>
                  <a:txBody>
                    <a:bodyPr/>
                    <a:lstStyle/>
                    <a:p>
                      <a:r>
                        <a:rPr lang="en-ZA" dirty="0"/>
                        <a:t>Corn</a:t>
                      </a:r>
                    </a:p>
                  </a:txBody>
                  <a:tcPr/>
                </a:tc>
                <a:tc>
                  <a:txBody>
                    <a:bodyPr/>
                    <a:lstStyle/>
                    <a:p>
                      <a:pPr algn="ctr"/>
                      <a:r>
                        <a:rPr lang="en-ZA" dirty="0"/>
                        <a:t>20</a:t>
                      </a:r>
                    </a:p>
                  </a:txBody>
                  <a:tcPr/>
                </a:tc>
                <a:extLst>
                  <a:ext uri="{0D108BD9-81ED-4DB2-BD59-A6C34878D82A}">
                    <a16:rowId xmlns:a16="http://schemas.microsoft.com/office/drawing/2014/main" val="4236141152"/>
                  </a:ext>
                </a:extLst>
              </a:tr>
              <a:tr h="370840">
                <a:tc>
                  <a:txBody>
                    <a:bodyPr/>
                    <a:lstStyle/>
                    <a:p>
                      <a:r>
                        <a:rPr lang="en-ZA" dirty="0"/>
                        <a:t>Potato</a:t>
                      </a:r>
                    </a:p>
                  </a:txBody>
                  <a:tcPr/>
                </a:tc>
                <a:tc>
                  <a:txBody>
                    <a:bodyPr/>
                    <a:lstStyle/>
                    <a:p>
                      <a:pPr algn="ctr"/>
                      <a:r>
                        <a:rPr lang="en-ZA" dirty="0"/>
                        <a:t>48</a:t>
                      </a:r>
                    </a:p>
                  </a:txBody>
                  <a:tcPr/>
                </a:tc>
                <a:extLst>
                  <a:ext uri="{0D108BD9-81ED-4DB2-BD59-A6C34878D82A}">
                    <a16:rowId xmlns:a16="http://schemas.microsoft.com/office/drawing/2014/main" val="300460698"/>
                  </a:ext>
                </a:extLst>
              </a:tr>
              <a:tr h="370840">
                <a:tc>
                  <a:txBody>
                    <a:bodyPr/>
                    <a:lstStyle/>
                    <a:p>
                      <a:r>
                        <a:rPr lang="en-ZA" dirty="0"/>
                        <a:t>Green Algae</a:t>
                      </a:r>
                    </a:p>
                  </a:txBody>
                  <a:tcPr/>
                </a:tc>
                <a:tc>
                  <a:txBody>
                    <a:bodyPr/>
                    <a:lstStyle/>
                    <a:p>
                      <a:pPr algn="ctr"/>
                      <a:r>
                        <a:rPr lang="en-ZA" dirty="0"/>
                        <a:t>20</a:t>
                      </a:r>
                    </a:p>
                  </a:txBody>
                  <a:tcPr/>
                </a:tc>
                <a:extLst>
                  <a:ext uri="{0D108BD9-81ED-4DB2-BD59-A6C34878D82A}">
                    <a16:rowId xmlns:a16="http://schemas.microsoft.com/office/drawing/2014/main" val="2469918445"/>
                  </a:ext>
                </a:extLst>
              </a:tr>
            </a:tbl>
          </a:graphicData>
        </a:graphic>
      </p:graphicFrame>
      <p:sp>
        <p:nvSpPr>
          <p:cNvPr id="5" name="Title 1">
            <a:extLst>
              <a:ext uri="{FF2B5EF4-FFF2-40B4-BE49-F238E27FC236}">
                <a16:creationId xmlns:a16="http://schemas.microsoft.com/office/drawing/2014/main" id="{A35A551E-3584-40F7-AABE-D9BCB637B993}"/>
              </a:ext>
            </a:extLst>
          </p:cNvPr>
          <p:cNvSpPr>
            <a:spLocks noGrp="1"/>
          </p:cNvSpPr>
          <p:nvPr>
            <p:ph type="title"/>
          </p:nvPr>
        </p:nvSpPr>
        <p:spPr>
          <a:xfrm>
            <a:off x="203200" y="1082850"/>
            <a:ext cx="8534400" cy="405226"/>
          </a:xfrm>
        </p:spPr>
        <p:txBody>
          <a:bodyPr/>
          <a:lstStyle/>
          <a:p>
            <a:pPr algn="l"/>
            <a:r>
              <a:rPr lang="en-ZA" sz="2000" b="1" dirty="0"/>
              <a:t>        </a:t>
            </a:r>
            <a:r>
              <a:rPr lang="en-ZA" sz="2400" b="1" dirty="0">
                <a:latin typeface="Arial" panose="020B0604020202020204" pitchFamily="34" charset="0"/>
                <a:cs typeface="Arial" panose="020B0604020202020204" pitchFamily="34" charset="0"/>
              </a:rPr>
              <a:t>Table 1: </a:t>
            </a:r>
            <a:r>
              <a:rPr lang="en-ZA" sz="2400" dirty="0" smtClean="0">
                <a:latin typeface="Arial" panose="020B0604020202020204" pitchFamily="34" charset="0"/>
                <a:cs typeface="Arial" panose="020B0604020202020204" pitchFamily="34" charset="0"/>
              </a:rPr>
              <a:t>Total Number </a:t>
            </a:r>
            <a:r>
              <a:rPr lang="en-ZA" sz="2400" dirty="0">
                <a:latin typeface="Arial" panose="020B0604020202020204" pitchFamily="34" charset="0"/>
                <a:cs typeface="Arial" panose="020B0604020202020204" pitchFamily="34" charset="0"/>
              </a:rPr>
              <a:t>of </a:t>
            </a:r>
            <a:r>
              <a:rPr lang="en-ZA" sz="2400" dirty="0" smtClean="0">
                <a:latin typeface="Arial" panose="020B0604020202020204" pitchFamily="34" charset="0"/>
                <a:cs typeface="Arial" panose="020B0604020202020204" pitchFamily="34" charset="0"/>
              </a:rPr>
              <a:t>Chromosomes in the Cells</a:t>
            </a:r>
            <a:endParaRPr lang="en-ZA"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3978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chap1"/>
          <p:cNvPicPr>
            <a:picLocks noChangeAspect="1" noChangeArrowheads="1"/>
          </p:cNvPicPr>
          <p:nvPr/>
        </p:nvPicPr>
        <p:blipFill>
          <a:blip r:embed="rId2">
            <a:extLst>
              <a:ext uri="{28A0092B-C50C-407E-A947-70E740481C1C}">
                <a14:useLocalDpi xmlns:a14="http://schemas.microsoft.com/office/drawing/2010/main" val="0"/>
              </a:ext>
            </a:extLst>
          </a:blip>
          <a:srcRect l="2182" t="8057" r="2182" b="8055"/>
          <a:stretch>
            <a:fillRect/>
          </a:stretch>
        </p:blipFill>
        <p:spPr bwMode="auto">
          <a:xfrm>
            <a:off x="49213" y="1512888"/>
            <a:ext cx="4818062" cy="412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3"/>
          <p:cNvSpPr>
            <a:spLocks noChangeArrowheads="1"/>
          </p:cNvSpPr>
          <p:nvPr/>
        </p:nvSpPr>
        <p:spPr bwMode="auto">
          <a:xfrm>
            <a:off x="979846" y="165100"/>
            <a:ext cx="7757753"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90000"/>
              </a:lnSpc>
              <a:spcBef>
                <a:spcPct val="55000"/>
              </a:spcBef>
              <a:spcAft>
                <a:spcPct val="45000"/>
              </a:spcAft>
              <a:buClrTx/>
              <a:buFontTx/>
              <a:buNone/>
            </a:pPr>
            <a:r>
              <a:rPr lang="en-US" altLang="en-US" sz="3600" dirty="0">
                <a:solidFill>
                  <a:schemeClr val="bg2"/>
                </a:solidFill>
                <a:latin typeface="Comic Sans MS" panose="030F0702030302020204" pitchFamily="66" charset="0"/>
                <a:cs typeface="Times New Roman" panose="02020603050405020304" pitchFamily="18" charset="0"/>
              </a:rPr>
              <a:t> </a:t>
            </a:r>
            <a:r>
              <a:rPr lang="en-US" altLang="en-US" sz="3600" dirty="0" smtClean="0">
                <a:solidFill>
                  <a:schemeClr val="bg2"/>
                </a:solidFill>
                <a:latin typeface="Comic Sans MS" panose="030F0702030302020204" pitchFamily="66" charset="0"/>
                <a:cs typeface="Times New Roman" panose="02020603050405020304" pitchFamily="18" charset="0"/>
              </a:rPr>
              <a:t>Genes     </a:t>
            </a:r>
            <a:endParaRPr lang="en-US" altLang="en-US" sz="3600" dirty="0">
              <a:solidFill>
                <a:schemeClr val="bg2"/>
              </a:solidFill>
              <a:latin typeface="Comic Sans MS" panose="030F0702030302020204" pitchFamily="66" charset="0"/>
              <a:cs typeface="Times New Roman" panose="02020603050405020304" pitchFamily="18" charset="0"/>
            </a:endParaRPr>
          </a:p>
        </p:txBody>
      </p:sp>
      <p:sp>
        <p:nvSpPr>
          <p:cNvPr id="23556" name="Line 4"/>
          <p:cNvSpPr>
            <a:spLocks noChangeShapeType="1"/>
          </p:cNvSpPr>
          <p:nvPr/>
        </p:nvSpPr>
        <p:spPr bwMode="auto">
          <a:xfrm>
            <a:off x="203200" y="862013"/>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7" name="Rectangle 5"/>
          <p:cNvSpPr>
            <a:spLocks noChangeArrowheads="1"/>
          </p:cNvSpPr>
          <p:nvPr/>
        </p:nvSpPr>
        <p:spPr bwMode="auto">
          <a:xfrm>
            <a:off x="5035550" y="1552575"/>
            <a:ext cx="4108450" cy="37548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25000"/>
              </a:spcBef>
              <a:spcAft>
                <a:spcPct val="25000"/>
              </a:spcAft>
              <a:buClrTx/>
            </a:pPr>
            <a:r>
              <a:rPr lang="en-US" altLang="en-US" sz="2000" dirty="0">
                <a:solidFill>
                  <a:schemeClr val="bg2"/>
                </a:solidFill>
                <a:latin typeface="Arial" panose="020B0604020202020204" pitchFamily="34" charset="0"/>
                <a:cs typeface="Times New Roman" panose="02020603050405020304" pitchFamily="18" charset="0"/>
              </a:rPr>
              <a:t>Are the unit of heredity</a:t>
            </a:r>
          </a:p>
          <a:p>
            <a:pPr>
              <a:lnSpc>
                <a:spcPct val="90000"/>
              </a:lnSpc>
              <a:spcBef>
                <a:spcPct val="25000"/>
              </a:spcBef>
              <a:spcAft>
                <a:spcPct val="25000"/>
              </a:spcAft>
              <a:buClrTx/>
            </a:pPr>
            <a:r>
              <a:rPr lang="en-US" altLang="en-US" sz="2000" dirty="0">
                <a:solidFill>
                  <a:schemeClr val="bg2"/>
                </a:solidFill>
                <a:latin typeface="Arial" panose="020B0604020202020204" pitchFamily="34" charset="0"/>
                <a:cs typeface="Times New Roman" panose="02020603050405020304" pitchFamily="18" charset="0"/>
              </a:rPr>
              <a:t> Are the instructions that make up a body’s blueprint</a:t>
            </a:r>
          </a:p>
          <a:p>
            <a:pPr>
              <a:lnSpc>
                <a:spcPct val="90000"/>
              </a:lnSpc>
              <a:spcBef>
                <a:spcPct val="25000"/>
              </a:spcBef>
              <a:spcAft>
                <a:spcPct val="25000"/>
              </a:spcAft>
              <a:buClrTx/>
            </a:pPr>
            <a:r>
              <a:rPr lang="en-US" altLang="en-US" sz="2000" dirty="0">
                <a:solidFill>
                  <a:schemeClr val="bg2"/>
                </a:solidFill>
                <a:latin typeface="Arial" panose="020B0604020202020204" pitchFamily="34" charset="0"/>
                <a:cs typeface="Times New Roman" panose="02020603050405020304" pitchFamily="18" charset="0"/>
              </a:rPr>
              <a:t>Code for the proteins and mRNA that determine virtually all of a person’s characteristics  </a:t>
            </a:r>
          </a:p>
          <a:p>
            <a:pPr>
              <a:lnSpc>
                <a:spcPct val="90000"/>
              </a:lnSpc>
              <a:spcBef>
                <a:spcPct val="25000"/>
              </a:spcBef>
              <a:spcAft>
                <a:spcPct val="25000"/>
              </a:spcAft>
              <a:buClrTx/>
            </a:pPr>
            <a:r>
              <a:rPr lang="en-US" altLang="en-US" sz="2000" dirty="0">
                <a:solidFill>
                  <a:schemeClr val="bg2"/>
                </a:solidFill>
                <a:latin typeface="Arial" panose="020B0604020202020204" pitchFamily="34" charset="0"/>
                <a:cs typeface="Times New Roman" panose="02020603050405020304" pitchFamily="18" charset="0"/>
              </a:rPr>
              <a:t>Humans have between 20,000 and  30,000 genes</a:t>
            </a:r>
          </a:p>
          <a:p>
            <a:pPr>
              <a:lnSpc>
                <a:spcPct val="90000"/>
              </a:lnSpc>
              <a:spcBef>
                <a:spcPct val="25000"/>
              </a:spcBef>
              <a:spcAft>
                <a:spcPct val="25000"/>
              </a:spcAft>
              <a:buClrTx/>
            </a:pPr>
            <a:r>
              <a:rPr lang="en-US" altLang="en-US" sz="2000" dirty="0">
                <a:solidFill>
                  <a:schemeClr val="bg2"/>
                </a:solidFill>
                <a:latin typeface="Arial" panose="020B0604020202020204" pitchFamily="34" charset="0"/>
                <a:cs typeface="Times New Roman" panose="02020603050405020304" pitchFamily="18" charset="0"/>
              </a:rPr>
              <a:t>Genes occur at different sites or “loci” along a </a:t>
            </a:r>
            <a:r>
              <a:rPr lang="en-US" altLang="en-US" sz="2000" dirty="0" err="1" smtClean="0">
                <a:solidFill>
                  <a:schemeClr val="bg2"/>
                </a:solidFill>
                <a:latin typeface="Arial" panose="020B0604020202020204" pitchFamily="34" charset="0"/>
                <a:cs typeface="Times New Roman" panose="02020603050405020304" pitchFamily="18" charset="0"/>
              </a:rPr>
              <a:t>chr</a:t>
            </a:r>
            <a:r>
              <a:rPr lang="en-US" altLang="en-US" sz="2000" dirty="0" smtClean="0">
                <a:solidFill>
                  <a:schemeClr val="bg2"/>
                </a:solidFill>
                <a:latin typeface="Arial" panose="020B0604020202020204" pitchFamily="34" charset="0"/>
                <a:cs typeface="Times New Roman" panose="02020603050405020304" pitchFamily="18" charset="0"/>
              </a:rPr>
              <a:t> and occupy about 3% of the entire DNA</a:t>
            </a:r>
            <a:endParaRPr lang="en-US" altLang="en-US" sz="2000" dirty="0">
              <a:solidFill>
                <a:schemeClr val="bg2"/>
              </a:solidFill>
              <a:latin typeface="Arial" panose="020B0604020202020204" pitchFamily="34"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152400" y="176213"/>
            <a:ext cx="8921750" cy="58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3600">
                <a:solidFill>
                  <a:schemeClr val="bg2"/>
                </a:solidFill>
                <a:latin typeface="Comic Sans MS" panose="030F0702030302020204" pitchFamily="66" charset="0"/>
                <a:cs typeface="Times New Roman" panose="02020603050405020304" pitchFamily="18" charset="0"/>
              </a:rPr>
              <a:t>Alleles are alternative forms of a gene</a:t>
            </a:r>
          </a:p>
        </p:txBody>
      </p:sp>
      <p:sp>
        <p:nvSpPr>
          <p:cNvPr id="24579" name="Line 3"/>
          <p:cNvSpPr>
            <a:spLocks noChangeShapeType="1"/>
          </p:cNvSpPr>
          <p:nvPr/>
        </p:nvSpPr>
        <p:spPr bwMode="auto">
          <a:xfrm>
            <a:off x="242888" y="990600"/>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4580" name="Picture 4" descr="chap2"/>
          <p:cNvPicPr>
            <a:picLocks noChangeAspect="1" noChangeArrowheads="1"/>
          </p:cNvPicPr>
          <p:nvPr/>
        </p:nvPicPr>
        <p:blipFill>
          <a:blip r:embed="rId3">
            <a:extLst>
              <a:ext uri="{28A0092B-C50C-407E-A947-70E740481C1C}">
                <a14:useLocalDpi xmlns:a14="http://schemas.microsoft.com/office/drawing/2010/main" val="0"/>
              </a:ext>
            </a:extLst>
          </a:blip>
          <a:srcRect l="3253" t="16112" r="78374" b="2499"/>
          <a:stretch>
            <a:fillRect/>
          </a:stretch>
        </p:blipFill>
        <p:spPr bwMode="auto">
          <a:xfrm>
            <a:off x="247650" y="1631950"/>
            <a:ext cx="974725" cy="42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 Box 6"/>
          <p:cNvSpPr txBox="1">
            <a:spLocks noChangeArrowheads="1"/>
          </p:cNvSpPr>
          <p:nvPr/>
        </p:nvSpPr>
        <p:spPr bwMode="auto">
          <a:xfrm>
            <a:off x="1447800" y="2740025"/>
            <a:ext cx="1822450" cy="655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25000"/>
              </a:spcBef>
              <a:buClrTx/>
              <a:buFontTx/>
              <a:buNone/>
            </a:pPr>
            <a:r>
              <a:rPr lang="en-US" altLang="en-US" sz="1800">
                <a:solidFill>
                  <a:schemeClr val="bg2"/>
                </a:solidFill>
                <a:latin typeface="Arial" panose="020B0604020202020204" pitchFamily="34" charset="0"/>
              </a:rPr>
              <a:t>allele G:</a:t>
            </a:r>
          </a:p>
          <a:p>
            <a:pPr>
              <a:lnSpc>
                <a:spcPct val="90000"/>
              </a:lnSpc>
              <a:spcBef>
                <a:spcPct val="25000"/>
              </a:spcBef>
              <a:buClrTx/>
              <a:buFontTx/>
              <a:buNone/>
            </a:pPr>
            <a:r>
              <a:rPr lang="en-US" altLang="en-US" sz="1800">
                <a:solidFill>
                  <a:schemeClr val="bg2"/>
                </a:solidFill>
                <a:latin typeface="Arial" panose="020B0604020202020204" pitchFamily="34" charset="0"/>
              </a:rPr>
              <a:t>GACTCCTG</a:t>
            </a:r>
            <a:r>
              <a:rPr lang="en-US" altLang="en-US" sz="1800">
                <a:solidFill>
                  <a:schemeClr val="hlink"/>
                </a:solidFill>
                <a:latin typeface="Arial" panose="020B0604020202020204" pitchFamily="34" charset="0"/>
              </a:rPr>
              <a:t>A</a:t>
            </a:r>
            <a:r>
              <a:rPr lang="en-US" altLang="en-US" sz="1800">
                <a:solidFill>
                  <a:schemeClr val="bg2"/>
                </a:solidFill>
                <a:latin typeface="Arial" panose="020B0604020202020204" pitchFamily="34" charset="0"/>
              </a:rPr>
              <a:t>G</a:t>
            </a:r>
          </a:p>
        </p:txBody>
      </p:sp>
      <p:sp>
        <p:nvSpPr>
          <p:cNvPr id="24582" name="Text Box 7"/>
          <p:cNvSpPr txBox="1">
            <a:spLocks noChangeArrowheads="1"/>
          </p:cNvSpPr>
          <p:nvPr/>
        </p:nvSpPr>
        <p:spPr bwMode="auto">
          <a:xfrm>
            <a:off x="1470025" y="3763963"/>
            <a:ext cx="1797050" cy="6556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25000"/>
              </a:spcBef>
              <a:buClrTx/>
              <a:buFontTx/>
              <a:buNone/>
            </a:pPr>
            <a:r>
              <a:rPr lang="en-US" altLang="en-US" sz="1800">
                <a:solidFill>
                  <a:schemeClr val="bg2"/>
                </a:solidFill>
                <a:latin typeface="Arial" panose="020B0604020202020204" pitchFamily="34" charset="0"/>
              </a:rPr>
              <a:t>allele g:</a:t>
            </a:r>
          </a:p>
          <a:p>
            <a:pPr>
              <a:lnSpc>
                <a:spcPct val="90000"/>
              </a:lnSpc>
              <a:spcBef>
                <a:spcPct val="25000"/>
              </a:spcBef>
              <a:buClrTx/>
              <a:buFontTx/>
              <a:buNone/>
            </a:pPr>
            <a:r>
              <a:rPr lang="en-US" altLang="en-US" sz="1800">
                <a:solidFill>
                  <a:schemeClr val="bg2"/>
                </a:solidFill>
                <a:latin typeface="Arial" panose="020B0604020202020204" pitchFamily="34" charset="0"/>
              </a:rPr>
              <a:t>GACTCCTG</a:t>
            </a:r>
            <a:r>
              <a:rPr lang="en-US" altLang="en-US" sz="1800">
                <a:solidFill>
                  <a:schemeClr val="hlink"/>
                </a:solidFill>
                <a:latin typeface="Arial" panose="020B0604020202020204" pitchFamily="34" charset="0"/>
              </a:rPr>
              <a:t>T</a:t>
            </a:r>
            <a:r>
              <a:rPr lang="en-US" altLang="en-US" sz="1800">
                <a:solidFill>
                  <a:schemeClr val="bg2"/>
                </a:solidFill>
                <a:latin typeface="Arial" panose="020B0604020202020204" pitchFamily="34" charset="0"/>
              </a:rPr>
              <a:t>G</a:t>
            </a:r>
          </a:p>
        </p:txBody>
      </p:sp>
      <p:sp>
        <p:nvSpPr>
          <p:cNvPr id="24583" name="Text Box 8"/>
          <p:cNvSpPr txBox="1">
            <a:spLocks noChangeArrowheads="1"/>
          </p:cNvSpPr>
          <p:nvPr/>
        </p:nvSpPr>
        <p:spPr bwMode="auto">
          <a:xfrm>
            <a:off x="288925" y="5953125"/>
            <a:ext cx="197485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1800">
                <a:solidFill>
                  <a:schemeClr val="bg2"/>
                </a:solidFill>
                <a:latin typeface="Arial" panose="020B0604020202020204" pitchFamily="34" charset="0"/>
              </a:rPr>
              <a:t>Chromosome 11</a:t>
            </a:r>
          </a:p>
        </p:txBody>
      </p:sp>
      <p:sp>
        <p:nvSpPr>
          <p:cNvPr id="24584" name="Text Box 9"/>
          <p:cNvSpPr txBox="1">
            <a:spLocks noChangeArrowheads="1"/>
          </p:cNvSpPr>
          <p:nvPr/>
        </p:nvSpPr>
        <p:spPr bwMode="auto">
          <a:xfrm>
            <a:off x="3810000" y="1651000"/>
            <a:ext cx="4502150" cy="4327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25000"/>
              </a:spcBef>
              <a:spcAft>
                <a:spcPts val="600"/>
              </a:spcAft>
              <a:buClrTx/>
            </a:pPr>
            <a:r>
              <a:rPr lang="en-US" altLang="en-US" sz="2000" dirty="0">
                <a:solidFill>
                  <a:schemeClr val="bg2"/>
                </a:solidFill>
                <a:latin typeface="Arial" panose="020B0604020202020204" pitchFamily="34" charset="0"/>
              </a:rPr>
              <a:t>Alleles are represented by different DNA codes</a:t>
            </a:r>
          </a:p>
          <a:p>
            <a:pPr>
              <a:lnSpc>
                <a:spcPct val="90000"/>
              </a:lnSpc>
              <a:spcBef>
                <a:spcPct val="25000"/>
              </a:spcBef>
              <a:spcAft>
                <a:spcPts val="600"/>
              </a:spcAft>
              <a:buClrTx/>
            </a:pPr>
            <a:r>
              <a:rPr lang="en-US" altLang="en-US" sz="2000" dirty="0">
                <a:solidFill>
                  <a:schemeClr val="bg2"/>
                </a:solidFill>
                <a:latin typeface="Arial" panose="020B0604020202020204" pitchFamily="34" charset="0"/>
              </a:rPr>
              <a:t>Humans have two copies (or alleles) of all of their autosomal genes</a:t>
            </a:r>
          </a:p>
          <a:p>
            <a:pPr>
              <a:lnSpc>
                <a:spcPct val="90000"/>
              </a:lnSpc>
              <a:spcBef>
                <a:spcPct val="25000"/>
              </a:spcBef>
              <a:spcAft>
                <a:spcPts val="600"/>
              </a:spcAft>
              <a:buClrTx/>
            </a:pPr>
            <a:r>
              <a:rPr lang="en-US" altLang="en-US" sz="2000" dirty="0">
                <a:solidFill>
                  <a:schemeClr val="bg2"/>
                </a:solidFill>
                <a:latin typeface="Arial" panose="020B0604020202020204" pitchFamily="34" charset="0"/>
              </a:rPr>
              <a:t>Homozygote: </a:t>
            </a:r>
            <a:r>
              <a:rPr lang="en-US" altLang="en-US" sz="2000" dirty="0" smtClean="0">
                <a:solidFill>
                  <a:schemeClr val="bg2"/>
                </a:solidFill>
                <a:latin typeface="Arial" panose="020B0604020202020204" pitchFamily="34" charset="0"/>
              </a:rPr>
              <a:t>carries same </a:t>
            </a:r>
            <a:r>
              <a:rPr lang="en-US" altLang="en-US" sz="2000" dirty="0">
                <a:solidFill>
                  <a:schemeClr val="bg2"/>
                </a:solidFill>
                <a:latin typeface="Arial" panose="020B0604020202020204" pitchFamily="34" charset="0"/>
              </a:rPr>
              <a:t>alleles of a </a:t>
            </a:r>
            <a:r>
              <a:rPr lang="en-US" altLang="en-US" sz="2000" dirty="0" smtClean="0">
                <a:solidFill>
                  <a:schemeClr val="bg2"/>
                </a:solidFill>
                <a:latin typeface="Arial" panose="020B0604020202020204" pitchFamily="34" charset="0"/>
              </a:rPr>
              <a:t>specific gene</a:t>
            </a:r>
            <a:endParaRPr lang="en-US" altLang="en-US" sz="2000" dirty="0">
              <a:solidFill>
                <a:schemeClr val="bg2"/>
              </a:solidFill>
              <a:latin typeface="Arial" panose="020B0604020202020204" pitchFamily="34" charset="0"/>
            </a:endParaRPr>
          </a:p>
          <a:p>
            <a:pPr>
              <a:lnSpc>
                <a:spcPct val="90000"/>
              </a:lnSpc>
              <a:spcBef>
                <a:spcPct val="25000"/>
              </a:spcBef>
              <a:spcAft>
                <a:spcPts val="600"/>
              </a:spcAft>
              <a:buClrTx/>
            </a:pPr>
            <a:r>
              <a:rPr lang="en-US" altLang="en-US" sz="2000" dirty="0">
                <a:solidFill>
                  <a:schemeClr val="bg2"/>
                </a:solidFill>
                <a:latin typeface="Arial" panose="020B0604020202020204" pitchFamily="34" charset="0"/>
              </a:rPr>
              <a:t>Heterozygote: </a:t>
            </a:r>
            <a:r>
              <a:rPr lang="en-US" altLang="en-US" sz="2000" dirty="0" smtClean="0">
                <a:solidFill>
                  <a:schemeClr val="bg2"/>
                </a:solidFill>
                <a:latin typeface="Arial" panose="020B0604020202020204" pitchFamily="34" charset="0"/>
              </a:rPr>
              <a:t>carries two </a:t>
            </a:r>
            <a:r>
              <a:rPr lang="en-US" altLang="en-US" sz="2000" dirty="0">
                <a:solidFill>
                  <a:schemeClr val="bg2"/>
                </a:solidFill>
                <a:latin typeface="Arial" panose="020B0604020202020204" pitchFamily="34" charset="0"/>
              </a:rPr>
              <a:t>different </a:t>
            </a:r>
            <a:r>
              <a:rPr lang="en-US" altLang="en-US" sz="2000" dirty="0" smtClean="0">
                <a:solidFill>
                  <a:schemeClr val="bg2"/>
                </a:solidFill>
                <a:latin typeface="Arial" panose="020B0604020202020204" pitchFamily="34" charset="0"/>
              </a:rPr>
              <a:t>alleles of a specific gene</a:t>
            </a:r>
            <a:endParaRPr lang="en-US" altLang="en-US" sz="2000" dirty="0">
              <a:solidFill>
                <a:schemeClr val="bg2"/>
              </a:solidFill>
              <a:latin typeface="Arial" panose="020B0604020202020204" pitchFamily="34" charset="0"/>
            </a:endParaRPr>
          </a:p>
          <a:p>
            <a:pPr>
              <a:lnSpc>
                <a:spcPct val="90000"/>
              </a:lnSpc>
              <a:spcBef>
                <a:spcPct val="25000"/>
              </a:spcBef>
              <a:spcAft>
                <a:spcPts val="600"/>
              </a:spcAft>
              <a:buClrTx/>
            </a:pPr>
            <a:r>
              <a:rPr lang="en-US" altLang="en-US" sz="2000" dirty="0">
                <a:solidFill>
                  <a:schemeClr val="bg2"/>
                </a:solidFill>
                <a:latin typeface="Arial" panose="020B0604020202020204" pitchFamily="34" charset="0"/>
              </a:rPr>
              <a:t>Genetic variation is caused by changes in the DNA code</a:t>
            </a:r>
          </a:p>
          <a:p>
            <a:pPr>
              <a:lnSpc>
                <a:spcPct val="90000"/>
              </a:lnSpc>
              <a:spcBef>
                <a:spcPct val="25000"/>
              </a:spcBef>
              <a:spcAft>
                <a:spcPts val="600"/>
              </a:spcAft>
              <a:buClrTx/>
              <a:buFontTx/>
              <a:buNone/>
            </a:pPr>
            <a:endParaRPr lang="en-US" altLang="en-US" sz="2800" dirty="0">
              <a:solidFill>
                <a:schemeClr val="bg2"/>
              </a:solidFill>
              <a:latin typeface="Arial" panose="020B0604020202020204" pitchFamily="34" charset="0"/>
            </a:endParaRPr>
          </a:p>
        </p:txBody>
      </p:sp>
      <p:sp>
        <p:nvSpPr>
          <p:cNvPr id="24585" name="Text Box 10"/>
          <p:cNvSpPr txBox="1">
            <a:spLocks noChangeArrowheads="1"/>
          </p:cNvSpPr>
          <p:nvPr/>
        </p:nvSpPr>
        <p:spPr bwMode="auto">
          <a:xfrm>
            <a:off x="3846513" y="5399088"/>
            <a:ext cx="2960687" cy="1077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50000"/>
              </a:spcBef>
              <a:buClrTx/>
              <a:buFontTx/>
              <a:buNone/>
            </a:pPr>
            <a:r>
              <a:rPr lang="en-US" altLang="en-US" sz="1600">
                <a:solidFill>
                  <a:schemeClr val="bg2"/>
                </a:solidFill>
                <a:latin typeface="Arial" panose="020B0604020202020204" pitchFamily="34" charset="0"/>
              </a:rPr>
              <a:t>e.g., different pea pod colors (green vs. yellow) are caused by </a:t>
            </a:r>
            <a:r>
              <a:rPr lang="en-US" altLang="en-US" sz="1600" b="0">
                <a:solidFill>
                  <a:schemeClr val="bg2"/>
                </a:solidFill>
                <a:latin typeface="Arial" panose="020B0604020202020204" pitchFamily="34" charset="0"/>
              </a:rPr>
              <a:t>different</a:t>
            </a:r>
            <a:r>
              <a:rPr lang="en-US" altLang="en-US" sz="1600">
                <a:solidFill>
                  <a:schemeClr val="bg2"/>
                </a:solidFill>
                <a:latin typeface="Arial" panose="020B0604020202020204" pitchFamily="34" charset="0"/>
              </a:rPr>
              <a:t> alleles for the same gene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a:xfrm>
            <a:off x="838200" y="136525"/>
            <a:ext cx="7772400" cy="701675"/>
          </a:xfrm>
          <a:noFill/>
          <a:extLst>
            <a:ext uri="{91240B29-F687-4F45-9708-019B960494DF}">
              <a14:hiddenLine xmlns:a14="http://schemas.microsoft.com/office/drawing/2010/main" w="9525">
                <a:solidFill>
                  <a:schemeClr val="bg2"/>
                </a:solidFill>
                <a:miter lim="800000"/>
                <a:headEnd/>
                <a:tailEnd/>
              </a14:hiddenLine>
            </a:ext>
          </a:extLst>
        </p:spPr>
        <p:txBody>
          <a:bodyPr/>
          <a:lstStyle/>
          <a:p>
            <a:r>
              <a:rPr lang="en-US" altLang="en-US" sz="4000" b="1">
                <a:latin typeface="Comic Sans MS" panose="030F0702030302020204" pitchFamily="66" charset="0"/>
              </a:rPr>
              <a:t>Phenotype and Genotype</a:t>
            </a:r>
          </a:p>
        </p:txBody>
      </p:sp>
      <p:sp>
        <p:nvSpPr>
          <p:cNvPr id="27651" name="Text Box 3"/>
          <p:cNvSpPr txBox="1">
            <a:spLocks noChangeArrowheads="1"/>
          </p:cNvSpPr>
          <p:nvPr/>
        </p:nvSpPr>
        <p:spPr bwMode="auto">
          <a:xfrm>
            <a:off x="5776913" y="1255713"/>
            <a:ext cx="3597275"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u="sng" dirty="0">
                <a:solidFill>
                  <a:schemeClr val="bg2"/>
                </a:solidFill>
                <a:latin typeface="Arial" panose="020B0604020202020204" pitchFamily="34" charset="0"/>
              </a:rPr>
              <a:t>Phenotype</a:t>
            </a:r>
            <a:r>
              <a:rPr lang="en-US" altLang="en-US" sz="2400" b="0" dirty="0">
                <a:solidFill>
                  <a:schemeClr val="bg2"/>
                </a:solidFill>
                <a:latin typeface="Arial" panose="020B0604020202020204" pitchFamily="34" charset="0"/>
              </a:rPr>
              <a:t> </a:t>
            </a:r>
            <a:r>
              <a:rPr lang="en-US" altLang="en-US" sz="2400" dirty="0">
                <a:solidFill>
                  <a:schemeClr val="bg2"/>
                </a:solidFill>
                <a:latin typeface="Arial" panose="020B0604020202020204" pitchFamily="34" charset="0"/>
              </a:rPr>
              <a:t>is the </a:t>
            </a:r>
            <a:r>
              <a:rPr lang="en-US" altLang="en-US" sz="2400" dirty="0" smtClean="0">
                <a:solidFill>
                  <a:schemeClr val="bg2"/>
                </a:solidFill>
                <a:latin typeface="Arial" panose="020B0604020202020204" pitchFamily="34" charset="0"/>
              </a:rPr>
              <a:t>observable or measurable </a:t>
            </a:r>
            <a:r>
              <a:rPr lang="en-US" altLang="en-US" sz="2400" dirty="0">
                <a:solidFill>
                  <a:schemeClr val="bg2"/>
                </a:solidFill>
                <a:latin typeface="Arial" panose="020B0604020202020204" pitchFamily="34" charset="0"/>
              </a:rPr>
              <a:t>trait of the organism (physical, behavioral, or </a:t>
            </a:r>
            <a:r>
              <a:rPr lang="en-US" altLang="en-US" sz="2400" dirty="0" smtClean="0">
                <a:solidFill>
                  <a:schemeClr val="bg2"/>
                </a:solidFill>
                <a:latin typeface="Arial" panose="020B0604020202020204" pitchFamily="34" charset="0"/>
              </a:rPr>
              <a:t>biochemical, etc.)</a:t>
            </a:r>
            <a:endParaRPr lang="en-US" altLang="en-US" sz="2400" dirty="0">
              <a:solidFill>
                <a:schemeClr val="bg2"/>
              </a:solidFill>
              <a:latin typeface="Arial" panose="020B0604020202020204" pitchFamily="34" charset="0"/>
            </a:endParaRPr>
          </a:p>
          <a:p>
            <a:pPr>
              <a:spcBef>
                <a:spcPct val="0"/>
              </a:spcBef>
              <a:buClrTx/>
              <a:buFontTx/>
              <a:buNone/>
            </a:pPr>
            <a:endParaRPr lang="en-US" altLang="en-US" sz="2400" dirty="0">
              <a:solidFill>
                <a:schemeClr val="bg2"/>
              </a:solidFill>
              <a:latin typeface="Arial" panose="020B0604020202020204" pitchFamily="34" charset="0"/>
            </a:endParaRPr>
          </a:p>
          <a:p>
            <a:pPr>
              <a:spcBef>
                <a:spcPct val="0"/>
              </a:spcBef>
              <a:buClrTx/>
              <a:buFontTx/>
              <a:buNone/>
            </a:pPr>
            <a:r>
              <a:rPr lang="en-US" altLang="en-US" sz="2400" u="sng" dirty="0">
                <a:solidFill>
                  <a:schemeClr val="bg2"/>
                </a:solidFill>
                <a:latin typeface="Arial" panose="020B0604020202020204" pitchFamily="34" charset="0"/>
              </a:rPr>
              <a:t>Genotype</a:t>
            </a:r>
            <a:r>
              <a:rPr lang="en-US" altLang="en-US" sz="2400" dirty="0">
                <a:solidFill>
                  <a:schemeClr val="bg2"/>
                </a:solidFill>
                <a:latin typeface="Arial" panose="020B0604020202020204" pitchFamily="34" charset="0"/>
              </a:rPr>
              <a:t> is the genetic </a:t>
            </a:r>
            <a:r>
              <a:rPr lang="en-US" altLang="en-US" sz="2400" dirty="0" smtClean="0">
                <a:solidFill>
                  <a:schemeClr val="bg2"/>
                </a:solidFill>
                <a:latin typeface="Arial" panose="020B0604020202020204" pitchFamily="34" charset="0"/>
              </a:rPr>
              <a:t>identity</a:t>
            </a:r>
            <a:r>
              <a:rPr lang="en-US" altLang="en-US" sz="2400" dirty="0" smtClean="0">
                <a:solidFill>
                  <a:schemeClr val="bg2"/>
                </a:solidFill>
                <a:latin typeface="Arial" panose="020B0604020202020204" pitchFamily="34" charset="0"/>
              </a:rPr>
              <a:t> of the organism across </a:t>
            </a:r>
            <a:r>
              <a:rPr lang="en-US" altLang="en-US" sz="2400" dirty="0">
                <a:solidFill>
                  <a:schemeClr val="bg2"/>
                </a:solidFill>
                <a:latin typeface="Arial" panose="020B0604020202020204" pitchFamily="34" charset="0"/>
              </a:rPr>
              <a:t>the genome.  Here we show the genotypes at one particular </a:t>
            </a:r>
            <a:r>
              <a:rPr lang="en-US" altLang="en-US" sz="2400" dirty="0" err="1">
                <a:solidFill>
                  <a:schemeClr val="bg2"/>
                </a:solidFill>
                <a:latin typeface="Arial" panose="020B0604020202020204" pitchFamily="34" charset="0"/>
              </a:rPr>
              <a:t>diallelic</a:t>
            </a:r>
            <a:r>
              <a:rPr lang="en-US" altLang="en-US" sz="2400" dirty="0">
                <a:solidFill>
                  <a:schemeClr val="bg2"/>
                </a:solidFill>
                <a:latin typeface="Arial" panose="020B0604020202020204" pitchFamily="34" charset="0"/>
              </a:rPr>
              <a:t> locus (k(k+1)/2 for k alleles)</a:t>
            </a:r>
          </a:p>
        </p:txBody>
      </p:sp>
      <p:pic>
        <p:nvPicPr>
          <p:cNvPr id="27652" name="Picture 4" descr="Click To Download"/>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9375" y="1752600"/>
            <a:ext cx="966788"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pic>
      <p:pic>
        <p:nvPicPr>
          <p:cNvPr id="27653" name="Picture 5" descr="Click To Download"/>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8688" y="1752600"/>
            <a:ext cx="9652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pic>
      <p:pic>
        <p:nvPicPr>
          <p:cNvPr id="27654" name="Picture 6" descr="Click To Download"/>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1225" y="3365500"/>
            <a:ext cx="96520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pic>
      <p:pic>
        <p:nvPicPr>
          <p:cNvPr id="27655" name="Picture 7" descr="Click To Download"/>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71913" y="3365500"/>
            <a:ext cx="966787"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pic>
      <p:sp>
        <p:nvSpPr>
          <p:cNvPr id="27656" name="Text Box 8"/>
          <p:cNvSpPr txBox="1">
            <a:spLocks noChangeArrowheads="1"/>
          </p:cNvSpPr>
          <p:nvPr/>
        </p:nvSpPr>
        <p:spPr bwMode="auto">
          <a:xfrm>
            <a:off x="3338513" y="1854200"/>
            <a:ext cx="4748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dirty="0" smtClean="0">
                <a:solidFill>
                  <a:schemeClr val="bg2"/>
                </a:solidFill>
                <a:latin typeface="Arial" panose="020B0604020202020204" pitchFamily="34" charset="0"/>
              </a:rPr>
              <a:t> X</a:t>
            </a:r>
            <a:endParaRPr lang="en-US" altLang="en-US" sz="2400" dirty="0">
              <a:solidFill>
                <a:schemeClr val="bg2"/>
              </a:solidFill>
              <a:latin typeface="Arial" panose="020B0604020202020204" pitchFamily="34" charset="0"/>
            </a:endParaRPr>
          </a:p>
        </p:txBody>
      </p:sp>
      <p:sp>
        <p:nvSpPr>
          <p:cNvPr id="27657" name="Line 9"/>
          <p:cNvSpPr>
            <a:spLocks noChangeShapeType="1"/>
          </p:cNvSpPr>
          <p:nvPr/>
        </p:nvSpPr>
        <p:spPr bwMode="auto">
          <a:xfrm rot="249309" flipH="1">
            <a:off x="2752725" y="2490788"/>
            <a:ext cx="790575" cy="85407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bg2"/>
                </a:solidFill>
                <a:round/>
                <a:headEnd type="none" w="sm" len="sm"/>
                <a:tailEnd type="triangl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8" name="Line 10"/>
          <p:cNvSpPr>
            <a:spLocks noChangeShapeType="1"/>
          </p:cNvSpPr>
          <p:nvPr/>
        </p:nvSpPr>
        <p:spPr bwMode="auto">
          <a:xfrm rot="-582332">
            <a:off x="3635375" y="2447925"/>
            <a:ext cx="728663" cy="89852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12700">
                <a:solidFill>
                  <a:schemeClr val="bg2"/>
                </a:solidFill>
                <a:round/>
                <a:headEnd type="none" w="sm" len="sm"/>
                <a:tailEnd type="triangl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59" name="Text Box 11"/>
          <p:cNvSpPr txBox="1">
            <a:spLocks noChangeArrowheads="1"/>
          </p:cNvSpPr>
          <p:nvPr/>
        </p:nvSpPr>
        <p:spPr bwMode="auto">
          <a:xfrm>
            <a:off x="3338513" y="3581400"/>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a:t>
            </a:r>
          </a:p>
        </p:txBody>
      </p:sp>
      <p:pic>
        <p:nvPicPr>
          <p:cNvPr id="27660" name="Picture 12" descr="Click To Download"/>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5750" y="5207000"/>
            <a:ext cx="968375"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pic>
      <p:pic>
        <p:nvPicPr>
          <p:cNvPr id="27661" name="Picture 13" descr="Click To Download"/>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3188" y="5207000"/>
            <a:ext cx="966787"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pic>
      <p:pic>
        <p:nvPicPr>
          <p:cNvPr id="27662" name="Picture 14" descr="Click To Download"/>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0625" y="5207000"/>
            <a:ext cx="966788"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pic>
      <p:pic>
        <p:nvPicPr>
          <p:cNvPr id="27663" name="Picture 15" descr="Click To Download"/>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8063" y="5207000"/>
            <a:ext cx="966787"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Lst>
        </p:spPr>
      </p:pic>
      <p:sp>
        <p:nvSpPr>
          <p:cNvPr id="27664" name="Line 16"/>
          <p:cNvSpPr>
            <a:spLocks noChangeShapeType="1"/>
          </p:cNvSpPr>
          <p:nvPr/>
        </p:nvSpPr>
        <p:spPr bwMode="auto">
          <a:xfrm flipH="1">
            <a:off x="2317750" y="4089400"/>
            <a:ext cx="1209675" cy="1016000"/>
          </a:xfrm>
          <a:prstGeom prst="line">
            <a:avLst/>
          </a:prstGeom>
          <a:noFill/>
          <a:ln w="12700">
            <a:solidFill>
              <a:schemeClr val="bg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5" name="Line 17"/>
          <p:cNvSpPr>
            <a:spLocks noChangeShapeType="1"/>
          </p:cNvSpPr>
          <p:nvPr/>
        </p:nvSpPr>
        <p:spPr bwMode="auto">
          <a:xfrm flipH="1">
            <a:off x="3286125" y="4089400"/>
            <a:ext cx="241300" cy="1016000"/>
          </a:xfrm>
          <a:prstGeom prst="line">
            <a:avLst/>
          </a:prstGeom>
          <a:noFill/>
          <a:ln w="12700">
            <a:solidFill>
              <a:schemeClr val="bg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6" name="Line 18"/>
          <p:cNvSpPr>
            <a:spLocks noChangeShapeType="1"/>
          </p:cNvSpPr>
          <p:nvPr/>
        </p:nvSpPr>
        <p:spPr bwMode="auto">
          <a:xfrm>
            <a:off x="3527425" y="4089400"/>
            <a:ext cx="844550" cy="1016000"/>
          </a:xfrm>
          <a:prstGeom prst="line">
            <a:avLst/>
          </a:prstGeom>
          <a:noFill/>
          <a:ln w="12700">
            <a:solidFill>
              <a:schemeClr val="bg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7" name="Line 19"/>
          <p:cNvSpPr>
            <a:spLocks noChangeShapeType="1"/>
          </p:cNvSpPr>
          <p:nvPr/>
        </p:nvSpPr>
        <p:spPr bwMode="auto">
          <a:xfrm>
            <a:off x="3527425" y="4089400"/>
            <a:ext cx="1812925" cy="1016000"/>
          </a:xfrm>
          <a:prstGeom prst="line">
            <a:avLst/>
          </a:prstGeom>
          <a:noFill/>
          <a:ln w="12700">
            <a:solidFill>
              <a:schemeClr val="bg2"/>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668" name="Text Box 20"/>
          <p:cNvSpPr txBox="1">
            <a:spLocks noChangeArrowheads="1"/>
          </p:cNvSpPr>
          <p:nvPr/>
        </p:nvSpPr>
        <p:spPr bwMode="auto">
          <a:xfrm>
            <a:off x="2308225" y="2514600"/>
            <a:ext cx="156645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dirty="0" smtClean="0">
                <a:solidFill>
                  <a:srgbClr val="00CC00"/>
                </a:solidFill>
                <a:latin typeface="Arial" panose="020B0604020202020204" pitchFamily="34" charset="0"/>
              </a:rPr>
              <a:t>GG or Gg</a:t>
            </a:r>
            <a:endParaRPr lang="en-US" altLang="en-US" sz="2400" dirty="0">
              <a:solidFill>
                <a:srgbClr val="00CC00"/>
              </a:solidFill>
              <a:latin typeface="Arial" panose="020B0604020202020204" pitchFamily="34" charset="0"/>
            </a:endParaRPr>
          </a:p>
        </p:txBody>
      </p:sp>
      <p:sp>
        <p:nvSpPr>
          <p:cNvPr id="27669" name="Text Box 21"/>
          <p:cNvSpPr txBox="1">
            <a:spLocks noChangeArrowheads="1"/>
          </p:cNvSpPr>
          <p:nvPr/>
        </p:nvSpPr>
        <p:spPr bwMode="auto">
          <a:xfrm>
            <a:off x="2276475" y="4076700"/>
            <a:ext cx="606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rgbClr val="00CC00"/>
                </a:solidFill>
                <a:latin typeface="Arial" panose="020B0604020202020204" pitchFamily="34" charset="0"/>
              </a:rPr>
              <a:t>Gg</a:t>
            </a:r>
          </a:p>
        </p:txBody>
      </p:sp>
      <p:sp>
        <p:nvSpPr>
          <p:cNvPr id="27670" name="Text Box 22"/>
          <p:cNvSpPr txBox="1">
            <a:spLocks noChangeArrowheads="1"/>
          </p:cNvSpPr>
          <p:nvPr/>
        </p:nvSpPr>
        <p:spPr bwMode="auto">
          <a:xfrm>
            <a:off x="4156075" y="4076700"/>
            <a:ext cx="606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rgbClr val="00CC00"/>
                </a:solidFill>
                <a:latin typeface="Arial" panose="020B0604020202020204" pitchFamily="34" charset="0"/>
              </a:rPr>
              <a:t>Gg</a:t>
            </a:r>
          </a:p>
        </p:txBody>
      </p:sp>
      <p:sp>
        <p:nvSpPr>
          <p:cNvPr id="27671" name="Text Box 23"/>
          <p:cNvSpPr txBox="1">
            <a:spLocks noChangeArrowheads="1"/>
          </p:cNvSpPr>
          <p:nvPr/>
        </p:nvSpPr>
        <p:spPr bwMode="auto">
          <a:xfrm>
            <a:off x="3917950" y="5943600"/>
            <a:ext cx="606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rgbClr val="00CC00"/>
                </a:solidFill>
                <a:latin typeface="Arial" panose="020B0604020202020204" pitchFamily="34" charset="0"/>
              </a:rPr>
              <a:t>Gg</a:t>
            </a:r>
          </a:p>
        </p:txBody>
      </p:sp>
      <p:sp>
        <p:nvSpPr>
          <p:cNvPr id="27672" name="Text Box 24"/>
          <p:cNvSpPr txBox="1">
            <a:spLocks noChangeArrowheads="1"/>
          </p:cNvSpPr>
          <p:nvPr/>
        </p:nvSpPr>
        <p:spPr bwMode="auto">
          <a:xfrm>
            <a:off x="2854325" y="5943600"/>
            <a:ext cx="606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rgbClr val="00CC00"/>
                </a:solidFill>
                <a:latin typeface="Arial" panose="020B0604020202020204" pitchFamily="34" charset="0"/>
              </a:rPr>
              <a:t>Gg</a:t>
            </a:r>
          </a:p>
        </p:txBody>
      </p:sp>
      <p:sp>
        <p:nvSpPr>
          <p:cNvPr id="27673" name="Text Box 25"/>
          <p:cNvSpPr txBox="1">
            <a:spLocks noChangeArrowheads="1"/>
          </p:cNvSpPr>
          <p:nvPr/>
        </p:nvSpPr>
        <p:spPr bwMode="auto">
          <a:xfrm>
            <a:off x="1708150" y="5943600"/>
            <a:ext cx="65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rgbClr val="00CC00"/>
                </a:solidFill>
                <a:latin typeface="Arial" panose="020B0604020202020204" pitchFamily="34" charset="0"/>
              </a:rPr>
              <a:t>GG</a:t>
            </a:r>
          </a:p>
        </p:txBody>
      </p:sp>
      <p:sp>
        <p:nvSpPr>
          <p:cNvPr id="27674" name="Text Box 26"/>
          <p:cNvSpPr txBox="1">
            <a:spLocks noChangeArrowheads="1"/>
          </p:cNvSpPr>
          <p:nvPr/>
        </p:nvSpPr>
        <p:spPr bwMode="auto">
          <a:xfrm>
            <a:off x="4076700" y="2514600"/>
            <a:ext cx="55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rgbClr val="FFFF00"/>
                </a:solidFill>
                <a:latin typeface="Arial" panose="020B0604020202020204" pitchFamily="34" charset="0"/>
              </a:rPr>
              <a:t>gg</a:t>
            </a:r>
          </a:p>
        </p:txBody>
      </p:sp>
      <p:sp>
        <p:nvSpPr>
          <p:cNvPr id="27675" name="Text Box 27"/>
          <p:cNvSpPr txBox="1">
            <a:spLocks noChangeArrowheads="1"/>
          </p:cNvSpPr>
          <p:nvPr/>
        </p:nvSpPr>
        <p:spPr bwMode="auto">
          <a:xfrm>
            <a:off x="4962525" y="5943600"/>
            <a:ext cx="555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rgbClr val="FFFF00"/>
                </a:solidFill>
                <a:latin typeface="Arial" panose="020B0604020202020204" pitchFamily="34" charset="0"/>
              </a:rPr>
              <a:t>gg</a:t>
            </a:r>
          </a:p>
        </p:txBody>
      </p:sp>
      <p:sp>
        <p:nvSpPr>
          <p:cNvPr id="27676" name="Text Box 28"/>
          <p:cNvSpPr txBox="1">
            <a:spLocks noChangeArrowheads="1"/>
          </p:cNvSpPr>
          <p:nvPr/>
        </p:nvSpPr>
        <p:spPr bwMode="auto">
          <a:xfrm>
            <a:off x="244475" y="1905000"/>
            <a:ext cx="1484313" cy="97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spcAft>
                <a:spcPct val="90000"/>
              </a:spcAft>
              <a:buClrTx/>
              <a:buFontTx/>
              <a:buNone/>
            </a:pPr>
            <a:r>
              <a:rPr lang="en-US" altLang="en-US" sz="2000">
                <a:solidFill>
                  <a:schemeClr val="bg2"/>
                </a:solidFill>
                <a:latin typeface="Arial" panose="020B0604020202020204" pitchFamily="34" charset="0"/>
              </a:rPr>
              <a:t>Phenotype</a:t>
            </a:r>
          </a:p>
          <a:p>
            <a:pPr>
              <a:spcBef>
                <a:spcPct val="0"/>
              </a:spcBef>
              <a:buClrTx/>
              <a:buFontTx/>
              <a:buNone/>
            </a:pPr>
            <a:r>
              <a:rPr lang="en-US" altLang="en-US" sz="2000">
                <a:solidFill>
                  <a:schemeClr val="bg2"/>
                </a:solidFill>
                <a:latin typeface="Arial" panose="020B0604020202020204" pitchFamily="34" charset="0"/>
              </a:rPr>
              <a:t>Genotype</a:t>
            </a:r>
          </a:p>
        </p:txBody>
      </p:sp>
      <p:grpSp>
        <p:nvGrpSpPr>
          <p:cNvPr id="27677" name="Group 29"/>
          <p:cNvGrpSpPr>
            <a:grpSpLocks/>
          </p:cNvGrpSpPr>
          <p:nvPr/>
        </p:nvGrpSpPr>
        <p:grpSpPr bwMode="auto">
          <a:xfrm>
            <a:off x="1685925" y="2009775"/>
            <a:ext cx="447675" cy="823913"/>
            <a:chOff x="1091" y="1266"/>
            <a:chExt cx="365" cy="519"/>
          </a:xfrm>
        </p:grpSpPr>
        <p:sp>
          <p:nvSpPr>
            <p:cNvPr id="27679" name="AutoShape 30"/>
            <p:cNvSpPr>
              <a:spLocks noChangeArrowheads="1"/>
            </p:cNvSpPr>
            <p:nvPr/>
          </p:nvSpPr>
          <p:spPr bwMode="auto">
            <a:xfrm>
              <a:off x="1091" y="1266"/>
              <a:ext cx="364" cy="144"/>
            </a:xfrm>
            <a:prstGeom prst="rightArrow">
              <a:avLst>
                <a:gd name="adj1" fmla="val 50000"/>
                <a:gd name="adj2" fmla="val 63194"/>
              </a:avLst>
            </a:prstGeom>
            <a:solidFill>
              <a:srgbClr val="00FFFF"/>
            </a:solidFill>
            <a:ln w="12700">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27680" name="AutoShape 31"/>
            <p:cNvSpPr>
              <a:spLocks noChangeArrowheads="1"/>
            </p:cNvSpPr>
            <p:nvPr/>
          </p:nvSpPr>
          <p:spPr bwMode="auto">
            <a:xfrm>
              <a:off x="1092" y="1641"/>
              <a:ext cx="364" cy="144"/>
            </a:xfrm>
            <a:prstGeom prst="rightArrow">
              <a:avLst>
                <a:gd name="adj1" fmla="val 50000"/>
                <a:gd name="adj2" fmla="val 63194"/>
              </a:avLst>
            </a:prstGeom>
            <a:solidFill>
              <a:srgbClr val="00FFFF"/>
            </a:solidFill>
            <a:ln w="12700">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grpSp>
      <p:sp>
        <p:nvSpPr>
          <p:cNvPr id="27678" name="Line 32"/>
          <p:cNvSpPr>
            <a:spLocks noChangeShapeType="1"/>
          </p:cNvSpPr>
          <p:nvPr/>
        </p:nvSpPr>
        <p:spPr bwMode="auto">
          <a:xfrm>
            <a:off x="309563" y="1076325"/>
            <a:ext cx="8534400" cy="0"/>
          </a:xfrm>
          <a:prstGeom prst="line">
            <a:avLst/>
          </a:prstGeom>
          <a:noFill/>
          <a:ln w="38100" cmpd="dbl">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1343025" y="250825"/>
            <a:ext cx="6875463"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90000"/>
              </a:lnSpc>
              <a:spcBef>
                <a:spcPct val="55000"/>
              </a:spcBef>
              <a:spcAft>
                <a:spcPct val="45000"/>
              </a:spcAft>
              <a:buClrTx/>
              <a:buFontTx/>
              <a:buNone/>
            </a:pPr>
            <a:r>
              <a:rPr lang="en-US" altLang="en-US" sz="3600">
                <a:solidFill>
                  <a:schemeClr val="bg2"/>
                </a:solidFill>
                <a:latin typeface="Comic Sans MS" panose="030F0702030302020204" pitchFamily="66" charset="0"/>
                <a:cs typeface="Times New Roman" panose="02020603050405020304" pitchFamily="18" charset="0"/>
              </a:rPr>
              <a:t>Genotypes: Heterozygote and Homozygote</a:t>
            </a:r>
          </a:p>
        </p:txBody>
      </p:sp>
      <p:sp>
        <p:nvSpPr>
          <p:cNvPr id="28675" name="Line 3"/>
          <p:cNvSpPr>
            <a:spLocks noChangeShapeType="1"/>
          </p:cNvSpPr>
          <p:nvPr/>
        </p:nvSpPr>
        <p:spPr bwMode="auto">
          <a:xfrm>
            <a:off x="292100" y="15144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76" name="Rectangle 4"/>
          <p:cNvSpPr>
            <a:spLocks noGrp="1" noChangeArrowheads="1"/>
          </p:cNvSpPr>
          <p:nvPr>
            <p:ph type="body" idx="4294967295"/>
          </p:nvPr>
        </p:nvSpPr>
        <p:spPr>
          <a:xfrm>
            <a:off x="723900" y="1652588"/>
            <a:ext cx="7754938" cy="4495800"/>
          </a:xfrm>
        </p:spPr>
        <p:txBody>
          <a:bodyPr/>
          <a:lstStyle/>
          <a:p>
            <a:pPr>
              <a:lnSpc>
                <a:spcPct val="90000"/>
              </a:lnSpc>
              <a:spcBef>
                <a:spcPct val="25000"/>
              </a:spcBef>
              <a:spcAft>
                <a:spcPct val="25000"/>
              </a:spcAft>
            </a:pPr>
            <a:r>
              <a:rPr lang="en-US" altLang="en-US" b="1" i="1" dirty="0">
                <a:solidFill>
                  <a:schemeClr val="bg2"/>
                </a:solidFill>
                <a:latin typeface="Arial" panose="020B0604020202020204" pitchFamily="34" charset="0"/>
              </a:rPr>
              <a:t>Heterozygote:</a:t>
            </a:r>
            <a:r>
              <a:rPr lang="en-US" altLang="en-US" b="1" dirty="0">
                <a:latin typeface="Arial" panose="020B0604020202020204" pitchFamily="34" charset="0"/>
              </a:rPr>
              <a:t>  </a:t>
            </a:r>
            <a:r>
              <a:rPr lang="en-US" altLang="en-US" b="1" dirty="0" smtClean="0">
                <a:latin typeface="Arial" panose="020B0604020202020204" pitchFamily="34" charset="0"/>
              </a:rPr>
              <a:t>individual</a:t>
            </a:r>
            <a:r>
              <a:rPr lang="en-US" altLang="en-US" b="1" dirty="0" smtClean="0">
                <a:latin typeface="Arial" panose="020B0604020202020204" pitchFamily="34" charset="0"/>
              </a:rPr>
              <a:t> </a:t>
            </a:r>
            <a:r>
              <a:rPr lang="en-US" altLang="en-US" b="1" dirty="0">
                <a:latin typeface="Arial" panose="020B0604020202020204" pitchFamily="34" charset="0"/>
              </a:rPr>
              <a:t>with two different alleles at a locus (or gene) </a:t>
            </a:r>
          </a:p>
          <a:p>
            <a:pPr lvl="1">
              <a:lnSpc>
                <a:spcPct val="90000"/>
              </a:lnSpc>
              <a:spcBef>
                <a:spcPct val="25000"/>
              </a:spcBef>
              <a:spcAft>
                <a:spcPct val="25000"/>
              </a:spcAft>
            </a:pPr>
            <a:r>
              <a:rPr lang="en-US" altLang="en-US" sz="2600" b="1" dirty="0">
                <a:latin typeface="Arial" panose="020B0604020202020204" pitchFamily="34" charset="0"/>
              </a:rPr>
              <a:t>Using the pea-pod color as an example, the Gg </a:t>
            </a:r>
            <a:r>
              <a:rPr lang="en-US" altLang="en-US" sz="2600" b="1" dirty="0" smtClean="0">
                <a:latin typeface="Arial" panose="020B0604020202020204" pitchFamily="34" charset="0"/>
              </a:rPr>
              <a:t>genotype is a heterozygote</a:t>
            </a:r>
            <a:endParaRPr lang="en-US" altLang="en-US" sz="2600" b="1" dirty="0">
              <a:latin typeface="Arial" panose="020B0604020202020204" pitchFamily="34" charset="0"/>
            </a:endParaRPr>
          </a:p>
          <a:p>
            <a:pPr>
              <a:lnSpc>
                <a:spcPct val="90000"/>
              </a:lnSpc>
              <a:spcBef>
                <a:spcPct val="25000"/>
              </a:spcBef>
              <a:spcAft>
                <a:spcPct val="25000"/>
              </a:spcAft>
            </a:pPr>
            <a:r>
              <a:rPr lang="en-US" altLang="en-US" b="1" i="1" dirty="0">
                <a:solidFill>
                  <a:schemeClr val="bg2"/>
                </a:solidFill>
                <a:latin typeface="Arial" panose="020B0604020202020204" pitchFamily="34" charset="0"/>
              </a:rPr>
              <a:t>Homozygote:</a:t>
            </a:r>
            <a:r>
              <a:rPr lang="en-US" altLang="en-US" b="1" dirty="0">
                <a:latin typeface="Arial" panose="020B0604020202020204" pitchFamily="34" charset="0"/>
              </a:rPr>
              <a:t> </a:t>
            </a:r>
            <a:r>
              <a:rPr lang="en-US" altLang="en-US" b="1" dirty="0" smtClean="0">
                <a:latin typeface="Arial" panose="020B0604020202020204" pitchFamily="34" charset="0"/>
              </a:rPr>
              <a:t>individual</a:t>
            </a:r>
            <a:r>
              <a:rPr lang="en-US" altLang="en-US" b="1" dirty="0" smtClean="0">
                <a:latin typeface="Arial" panose="020B0604020202020204" pitchFamily="34" charset="0"/>
              </a:rPr>
              <a:t> </a:t>
            </a:r>
            <a:r>
              <a:rPr lang="en-US" altLang="en-US" b="1" dirty="0">
                <a:latin typeface="Arial" panose="020B0604020202020204" pitchFamily="34" charset="0"/>
              </a:rPr>
              <a:t>with two identical alleles at a locus (or gene)</a:t>
            </a:r>
          </a:p>
          <a:p>
            <a:pPr lvl="1">
              <a:lnSpc>
                <a:spcPct val="90000"/>
              </a:lnSpc>
              <a:spcBef>
                <a:spcPct val="25000"/>
              </a:spcBef>
              <a:spcAft>
                <a:spcPct val="25000"/>
              </a:spcAft>
            </a:pPr>
            <a:r>
              <a:rPr lang="en-US" altLang="en-US" sz="2600" b="1" dirty="0">
                <a:latin typeface="Arial" panose="020B0604020202020204" pitchFamily="34" charset="0"/>
              </a:rPr>
              <a:t>Using the pea-pod color as an example, the GG or gg </a:t>
            </a:r>
            <a:r>
              <a:rPr lang="en-US" altLang="en-US" sz="2600" b="1" dirty="0" smtClean="0">
                <a:latin typeface="Arial" panose="020B0604020202020204" pitchFamily="34" charset="0"/>
              </a:rPr>
              <a:t>genotypes are homozygotes</a:t>
            </a:r>
            <a:endParaRPr lang="en-US" altLang="en-US" dirty="0">
              <a:latin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271463" y="1077913"/>
            <a:ext cx="8458200" cy="5654675"/>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003366"/>
                  </a:outerShdw>
                </a:effectLst>
              </a14:hiddenEffects>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lnSpc>
                <a:spcPct val="90000"/>
              </a:lnSpc>
              <a:spcBef>
                <a:spcPct val="30000"/>
              </a:spcBef>
              <a:spcAft>
                <a:spcPct val="30000"/>
              </a:spcAft>
              <a:buClr>
                <a:schemeClr val="tx1"/>
              </a:buClr>
            </a:pPr>
            <a:r>
              <a:rPr lang="en-US" altLang="en-US" sz="2400">
                <a:latin typeface="Arial" panose="020B0604020202020204" pitchFamily="34" charset="0"/>
                <a:cs typeface="Times New Roman" panose="02020603050405020304" pitchFamily="18" charset="0"/>
              </a:rPr>
              <a:t>Phenotypic differences can be caused by allelic variation at: </a:t>
            </a:r>
            <a:endParaRPr lang="en-US" altLang="en-US" sz="1300">
              <a:latin typeface="Arial" panose="020B0604020202020204" pitchFamily="34" charset="0"/>
            </a:endParaRPr>
          </a:p>
          <a:p>
            <a:pPr lvl="1" eaLnBrk="1" hangingPunct="1">
              <a:lnSpc>
                <a:spcPct val="90000"/>
              </a:lnSpc>
              <a:spcBef>
                <a:spcPct val="30000"/>
              </a:spcBef>
              <a:spcAft>
                <a:spcPct val="30000"/>
              </a:spcAft>
              <a:buClr>
                <a:schemeClr val="tx1"/>
              </a:buClr>
            </a:pPr>
            <a:r>
              <a:rPr lang="en-US" altLang="en-US" sz="2000">
                <a:solidFill>
                  <a:schemeClr val="bg2"/>
                </a:solidFill>
                <a:latin typeface="Arial" panose="020B0604020202020204" pitchFamily="34" charset="0"/>
                <a:cs typeface="Times New Roman" panose="02020603050405020304" pitchFamily="18" charset="0"/>
              </a:rPr>
              <a:t>Single locus			=   monogenic   </a:t>
            </a:r>
            <a:endParaRPr lang="en-US" altLang="en-US" sz="1300">
              <a:solidFill>
                <a:schemeClr val="bg2"/>
              </a:solidFill>
              <a:latin typeface="Arial" panose="020B0604020202020204" pitchFamily="34" charset="0"/>
            </a:endParaRPr>
          </a:p>
          <a:p>
            <a:pPr lvl="1" eaLnBrk="1" hangingPunct="1">
              <a:lnSpc>
                <a:spcPct val="90000"/>
              </a:lnSpc>
              <a:spcBef>
                <a:spcPct val="30000"/>
              </a:spcBef>
              <a:spcAft>
                <a:spcPct val="30000"/>
              </a:spcAft>
              <a:buClr>
                <a:schemeClr val="tx1"/>
              </a:buClr>
            </a:pPr>
            <a:r>
              <a:rPr lang="en-US" altLang="en-US" sz="2000">
                <a:solidFill>
                  <a:schemeClr val="bg2"/>
                </a:solidFill>
                <a:latin typeface="Arial" panose="020B0604020202020204" pitchFamily="34" charset="0"/>
                <a:cs typeface="Times New Roman" panose="02020603050405020304" pitchFamily="18" charset="0"/>
              </a:rPr>
              <a:t>Few loci				=   oligogenic   </a:t>
            </a:r>
            <a:endParaRPr lang="en-US" altLang="en-US" sz="1300">
              <a:solidFill>
                <a:schemeClr val="bg2"/>
              </a:solidFill>
              <a:latin typeface="Arial" panose="020B0604020202020204" pitchFamily="34" charset="0"/>
            </a:endParaRPr>
          </a:p>
          <a:p>
            <a:pPr lvl="1" eaLnBrk="1" hangingPunct="1">
              <a:lnSpc>
                <a:spcPct val="90000"/>
              </a:lnSpc>
              <a:spcBef>
                <a:spcPct val="30000"/>
              </a:spcBef>
              <a:spcAft>
                <a:spcPct val="30000"/>
              </a:spcAft>
              <a:buClr>
                <a:schemeClr val="tx1"/>
              </a:buClr>
            </a:pPr>
            <a:r>
              <a:rPr lang="en-US" altLang="en-US" sz="2000">
                <a:solidFill>
                  <a:schemeClr val="bg2"/>
                </a:solidFill>
                <a:latin typeface="Arial" panose="020B0604020202020204" pitchFamily="34" charset="0"/>
                <a:cs typeface="Times New Roman" panose="02020603050405020304" pitchFamily="18" charset="0"/>
              </a:rPr>
              <a:t>Many loci			=   polygenic   </a:t>
            </a:r>
            <a:endParaRPr lang="en-US" altLang="en-US" sz="1300">
              <a:solidFill>
                <a:schemeClr val="bg2"/>
              </a:solidFill>
              <a:latin typeface="Arial" panose="020B0604020202020204" pitchFamily="34" charset="0"/>
            </a:endParaRPr>
          </a:p>
          <a:p>
            <a:pPr lvl="1" eaLnBrk="1" hangingPunct="1">
              <a:lnSpc>
                <a:spcPct val="90000"/>
              </a:lnSpc>
              <a:spcBef>
                <a:spcPct val="30000"/>
              </a:spcBef>
              <a:spcAft>
                <a:spcPct val="30000"/>
              </a:spcAft>
              <a:buClr>
                <a:schemeClr val="tx1"/>
              </a:buClr>
            </a:pPr>
            <a:r>
              <a:rPr lang="en-US" altLang="en-US" sz="2000">
                <a:solidFill>
                  <a:schemeClr val="bg2"/>
                </a:solidFill>
                <a:latin typeface="Arial" panose="020B0604020202020204" pitchFamily="34" charset="0"/>
                <a:cs typeface="Times New Roman" panose="02020603050405020304" pitchFamily="18" charset="0"/>
              </a:rPr>
              <a:t>Any above + environment	=   multifactorial  </a:t>
            </a:r>
            <a:endParaRPr lang="en-US" altLang="en-US" sz="1300">
              <a:solidFill>
                <a:schemeClr val="bg2"/>
              </a:solidFill>
              <a:latin typeface="Arial" panose="020B0604020202020204" pitchFamily="34" charset="0"/>
            </a:endParaRPr>
          </a:p>
          <a:p>
            <a:pPr eaLnBrk="1" hangingPunct="1">
              <a:lnSpc>
                <a:spcPct val="90000"/>
              </a:lnSpc>
              <a:spcBef>
                <a:spcPct val="30000"/>
              </a:spcBef>
              <a:spcAft>
                <a:spcPct val="30000"/>
              </a:spcAft>
              <a:buClr>
                <a:schemeClr val="tx1"/>
              </a:buClr>
            </a:pPr>
            <a:r>
              <a:rPr lang="en-US" altLang="en-US" sz="2400" i="1">
                <a:solidFill>
                  <a:schemeClr val="bg2"/>
                </a:solidFill>
                <a:latin typeface="Arial" panose="020B0604020202020204" pitchFamily="34" charset="0"/>
                <a:cs typeface="Times New Roman" panose="02020603050405020304" pitchFamily="18" charset="0"/>
              </a:rPr>
              <a:t>Multifactorial</a:t>
            </a:r>
            <a:r>
              <a:rPr lang="en-US" altLang="en-US" sz="2400">
                <a:solidFill>
                  <a:schemeClr val="bg2"/>
                </a:solidFill>
                <a:latin typeface="Arial" panose="020B0604020202020204" pitchFamily="34" charset="0"/>
                <a:cs typeface="Times New Roman" panose="02020603050405020304" pitchFamily="18" charset="0"/>
              </a:rPr>
              <a:t> -</a:t>
            </a:r>
            <a:r>
              <a:rPr lang="en-US" altLang="en-US" sz="2400">
                <a:latin typeface="Arial" panose="020B0604020202020204" pitchFamily="34" charset="0"/>
                <a:cs typeface="Times New Roman" panose="02020603050405020304" pitchFamily="18" charset="0"/>
              </a:rPr>
              <a:t> determined by multiple genetic and/or nongenetic factors; literally, “many factors”  </a:t>
            </a:r>
            <a:endParaRPr lang="en-US" altLang="en-US" sz="1300">
              <a:latin typeface="Arial" panose="020B0604020202020204" pitchFamily="34" charset="0"/>
            </a:endParaRPr>
          </a:p>
          <a:p>
            <a:pPr eaLnBrk="1" hangingPunct="1">
              <a:lnSpc>
                <a:spcPct val="90000"/>
              </a:lnSpc>
              <a:spcBef>
                <a:spcPct val="30000"/>
              </a:spcBef>
              <a:spcAft>
                <a:spcPct val="30000"/>
              </a:spcAft>
              <a:buClr>
                <a:schemeClr val="tx1"/>
              </a:buClr>
            </a:pPr>
            <a:r>
              <a:rPr lang="en-US" altLang="en-US" sz="2400">
                <a:latin typeface="Arial" panose="020B0604020202020204" pitchFamily="34" charset="0"/>
                <a:cs typeface="Times New Roman" panose="02020603050405020304" pitchFamily="18" charset="0"/>
              </a:rPr>
              <a:t>The term </a:t>
            </a:r>
            <a:r>
              <a:rPr lang="en-US" altLang="en-US" sz="2400" i="1">
                <a:solidFill>
                  <a:schemeClr val="bg2"/>
                </a:solidFill>
                <a:latin typeface="Arial" panose="020B0604020202020204" pitchFamily="34" charset="0"/>
                <a:cs typeface="Times New Roman" panose="02020603050405020304" pitchFamily="18" charset="0"/>
              </a:rPr>
              <a:t>polygenic </a:t>
            </a:r>
            <a:r>
              <a:rPr lang="en-US" altLang="en-US" sz="2400">
                <a:latin typeface="Arial" panose="020B0604020202020204" pitchFamily="34" charset="0"/>
                <a:cs typeface="Times New Roman" panose="02020603050405020304" pitchFamily="18" charset="0"/>
              </a:rPr>
              <a:t>is generally used to describe multiple factors that are exclusively genetic, though it can also be used in connection with a specific type of model involving multiple genetic factors with particular types of effects, e.g., the simple additive polygenic model (on a particular scale)</a:t>
            </a:r>
            <a:endParaRPr lang="en-US" altLang="en-US">
              <a:latin typeface="Arial" panose="020B0604020202020204" pitchFamily="34" charset="0"/>
            </a:endParaRPr>
          </a:p>
        </p:txBody>
      </p:sp>
      <p:sp>
        <p:nvSpPr>
          <p:cNvPr id="30723" name="Line 3"/>
          <p:cNvSpPr>
            <a:spLocks noChangeShapeType="1"/>
          </p:cNvSpPr>
          <p:nvPr/>
        </p:nvSpPr>
        <p:spPr bwMode="auto">
          <a:xfrm>
            <a:off x="274638" y="103822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4" name="Rectangle 4"/>
          <p:cNvSpPr>
            <a:spLocks noChangeArrowheads="1"/>
          </p:cNvSpPr>
          <p:nvPr/>
        </p:nvSpPr>
        <p:spPr bwMode="auto">
          <a:xfrm>
            <a:off x="598488" y="-55563"/>
            <a:ext cx="8247062" cy="110172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003366"/>
                  </a:outerShdw>
                </a:effectLst>
              </a14:hiddenEffects>
            </a:ext>
          </a:extLst>
        </p:spPr>
        <p:txBody>
          <a:bodyPr lIns="91413" tIns="45705" rIns="91413" bIns="45705"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eaLnBrk="1" hangingPunct="1">
              <a:lnSpc>
                <a:spcPct val="90000"/>
              </a:lnSpc>
              <a:spcBef>
                <a:spcPct val="10000"/>
              </a:spcBef>
              <a:spcAft>
                <a:spcPct val="10000"/>
              </a:spcAft>
              <a:buClrTx/>
              <a:buFontTx/>
              <a:buNone/>
            </a:pPr>
            <a:r>
              <a:rPr lang="en-US" altLang="en-US" sz="3600">
                <a:solidFill>
                  <a:schemeClr val="bg2"/>
                </a:solidFill>
                <a:latin typeface="Comic Sans MS" panose="030F0702030302020204" pitchFamily="66" charset="0"/>
                <a:cs typeface="Times New Roman" panose="02020603050405020304" pitchFamily="18" charset="0"/>
              </a:rPr>
              <a:t>Phenotype and Genotype</a:t>
            </a:r>
            <a:endParaRPr lang="en-US" altLang="en-US" sz="2400" b="0">
              <a:solidFill>
                <a:schemeClr val="bg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609600" y="128588"/>
            <a:ext cx="7772400" cy="609600"/>
          </a:xfrm>
        </p:spPr>
        <p:txBody>
          <a:bodyPr/>
          <a:lstStyle/>
          <a:p>
            <a:r>
              <a:rPr lang="en-US" altLang="en-US" sz="4000" b="1">
                <a:latin typeface="Comic Sans MS" panose="030F0702030302020204" pitchFamily="66" charset="0"/>
              </a:rPr>
              <a:t>Human Genetic Variation</a:t>
            </a:r>
          </a:p>
        </p:txBody>
      </p:sp>
      <p:sp>
        <p:nvSpPr>
          <p:cNvPr id="31747" name="Text Box 3"/>
          <p:cNvSpPr txBox="1">
            <a:spLocks noChangeArrowheads="1"/>
          </p:cNvSpPr>
          <p:nvPr/>
        </p:nvSpPr>
        <p:spPr bwMode="auto">
          <a:xfrm>
            <a:off x="990600" y="1050925"/>
            <a:ext cx="7567613" cy="582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r>
              <a:rPr lang="en-US" altLang="en-US" sz="2800" dirty="0">
                <a:solidFill>
                  <a:schemeClr val="bg2"/>
                </a:solidFill>
                <a:latin typeface="Arial" panose="020B0604020202020204" pitchFamily="34" charset="0"/>
              </a:rPr>
              <a:t>Primarily two types of genetic mutation events create all forms of variations:</a:t>
            </a:r>
          </a:p>
          <a:p>
            <a:pPr eaLnBrk="1" hangingPunct="1">
              <a:spcBef>
                <a:spcPct val="0"/>
              </a:spcBef>
              <a:buClrTx/>
              <a:buFontTx/>
              <a:buNone/>
            </a:pPr>
            <a:endParaRPr lang="en-US" altLang="en-US" sz="2800" dirty="0">
              <a:solidFill>
                <a:schemeClr val="bg2"/>
              </a:solidFill>
              <a:latin typeface="Arial" panose="020B0604020202020204" pitchFamily="34" charset="0"/>
            </a:endParaRPr>
          </a:p>
          <a:p>
            <a:pPr eaLnBrk="1" hangingPunct="1">
              <a:spcBef>
                <a:spcPct val="0"/>
              </a:spcBef>
              <a:buClrTx/>
            </a:pPr>
            <a:r>
              <a:rPr lang="en-US" altLang="en-US" sz="2800" dirty="0">
                <a:solidFill>
                  <a:schemeClr val="bg2"/>
                </a:solidFill>
                <a:latin typeface="Arial" panose="020B0604020202020204" pitchFamily="34" charset="0"/>
              </a:rPr>
              <a:t>  Single base mutation which substitutes one nucleotide for another</a:t>
            </a:r>
          </a:p>
          <a:p>
            <a:pPr eaLnBrk="1" hangingPunct="1">
              <a:spcBef>
                <a:spcPct val="0"/>
              </a:spcBef>
              <a:buClrTx/>
              <a:buFontTx/>
              <a:buNone/>
            </a:pPr>
            <a:r>
              <a:rPr lang="en-US" altLang="en-US" sz="2800" dirty="0">
                <a:solidFill>
                  <a:schemeClr val="bg2"/>
                </a:solidFill>
                <a:latin typeface="Arial" panose="020B0604020202020204" pitchFamily="34" charset="0"/>
              </a:rPr>
              <a:t>  </a:t>
            </a:r>
            <a:r>
              <a:rPr lang="en-US" altLang="en-US" sz="2400" dirty="0">
                <a:solidFill>
                  <a:schemeClr val="bg2"/>
                </a:solidFill>
                <a:latin typeface="Arial" panose="020B0604020202020204" pitchFamily="34" charset="0"/>
              </a:rPr>
              <a:t>-- Single Nucleotide Polymorphisms (SNP)</a:t>
            </a:r>
          </a:p>
          <a:p>
            <a:pPr eaLnBrk="1" hangingPunct="1">
              <a:spcBef>
                <a:spcPct val="0"/>
              </a:spcBef>
              <a:buClrTx/>
              <a:buFontTx/>
              <a:buNone/>
            </a:pPr>
            <a:endParaRPr lang="en-US" altLang="en-US" sz="2400" dirty="0">
              <a:solidFill>
                <a:schemeClr val="bg2"/>
              </a:solidFill>
              <a:latin typeface="Arial" panose="020B0604020202020204" pitchFamily="34" charset="0"/>
            </a:endParaRPr>
          </a:p>
          <a:p>
            <a:pPr eaLnBrk="1" hangingPunct="1">
              <a:spcBef>
                <a:spcPct val="0"/>
              </a:spcBef>
              <a:buClrTx/>
            </a:pPr>
            <a:r>
              <a:rPr lang="en-US" altLang="en-US" sz="2800" dirty="0">
                <a:solidFill>
                  <a:schemeClr val="bg2"/>
                </a:solidFill>
                <a:latin typeface="Arial" panose="020B0604020202020204" pitchFamily="34" charset="0"/>
              </a:rPr>
              <a:t>  Insertion or deletion of one or more nucleotide(s)</a:t>
            </a:r>
          </a:p>
          <a:p>
            <a:pPr eaLnBrk="1" hangingPunct="1">
              <a:spcBef>
                <a:spcPct val="0"/>
              </a:spcBef>
              <a:buClrTx/>
              <a:buFontTx/>
              <a:buNone/>
            </a:pPr>
            <a:r>
              <a:rPr lang="en-US" altLang="en-US" sz="2800" dirty="0">
                <a:solidFill>
                  <a:schemeClr val="bg2"/>
                </a:solidFill>
                <a:latin typeface="Arial" panose="020B0604020202020204" pitchFamily="34" charset="0"/>
              </a:rPr>
              <a:t>   --</a:t>
            </a:r>
            <a:r>
              <a:rPr lang="en-US" altLang="en-US" sz="2400" dirty="0">
                <a:solidFill>
                  <a:schemeClr val="bg2"/>
                </a:solidFill>
                <a:latin typeface="Arial" panose="020B0604020202020204" pitchFamily="34" charset="0"/>
              </a:rPr>
              <a:t>Tandem Repeat Polymorphisms</a:t>
            </a:r>
          </a:p>
          <a:p>
            <a:pPr eaLnBrk="1" hangingPunct="1">
              <a:spcBef>
                <a:spcPct val="0"/>
              </a:spcBef>
              <a:buClrTx/>
              <a:buFontTx/>
              <a:buNone/>
            </a:pPr>
            <a:r>
              <a:rPr lang="en-US" altLang="en-US" sz="2400" dirty="0">
                <a:solidFill>
                  <a:schemeClr val="bg2"/>
                </a:solidFill>
                <a:latin typeface="Arial" panose="020B0604020202020204" pitchFamily="34" charset="0"/>
              </a:rPr>
              <a:t>   </a:t>
            </a:r>
            <a:r>
              <a:rPr lang="en-US" altLang="en-US" sz="2400" dirty="0" smtClean="0">
                <a:solidFill>
                  <a:schemeClr val="bg2"/>
                </a:solidFill>
                <a:latin typeface="Arial" panose="020B0604020202020204" pitchFamily="34" charset="0"/>
              </a:rPr>
              <a:t> -- Insertion/Deletion </a:t>
            </a:r>
            <a:r>
              <a:rPr lang="en-US" altLang="en-US" sz="2400" dirty="0">
                <a:solidFill>
                  <a:schemeClr val="bg2"/>
                </a:solidFill>
                <a:latin typeface="Arial" panose="020B0604020202020204" pitchFamily="34" charset="0"/>
              </a:rPr>
              <a:t>Polymorphisms</a:t>
            </a:r>
          </a:p>
          <a:p>
            <a:pPr eaLnBrk="1" hangingPunct="1">
              <a:spcBef>
                <a:spcPct val="0"/>
              </a:spcBef>
              <a:buClrTx/>
              <a:buFontTx/>
              <a:buNone/>
            </a:pPr>
            <a:endParaRPr lang="en-US" altLang="en-US" sz="2400" dirty="0">
              <a:solidFill>
                <a:schemeClr val="bg2"/>
              </a:solidFill>
              <a:latin typeface="Arial" panose="020B0604020202020204" pitchFamily="34" charset="0"/>
            </a:endParaRPr>
          </a:p>
          <a:p>
            <a:pPr eaLnBrk="1" hangingPunct="1">
              <a:spcBef>
                <a:spcPct val="0"/>
              </a:spcBef>
              <a:buClrTx/>
              <a:buFontTx/>
              <a:buNone/>
            </a:pPr>
            <a:r>
              <a:rPr lang="en-US" altLang="en-US" sz="2800" dirty="0">
                <a:solidFill>
                  <a:schemeClr val="bg2"/>
                </a:solidFill>
              </a:rPr>
              <a:t>	</a:t>
            </a:r>
          </a:p>
          <a:p>
            <a:pPr eaLnBrk="1" hangingPunct="1">
              <a:spcBef>
                <a:spcPct val="0"/>
              </a:spcBef>
              <a:buClrTx/>
              <a:buFontTx/>
              <a:buNone/>
            </a:pPr>
            <a:r>
              <a:rPr lang="en-US" altLang="en-US" sz="2400" b="0" dirty="0">
                <a:solidFill>
                  <a:schemeClr val="bg2"/>
                </a:solidFill>
              </a:rPr>
              <a:t>	 </a:t>
            </a:r>
          </a:p>
        </p:txBody>
      </p:sp>
      <p:sp>
        <p:nvSpPr>
          <p:cNvPr id="31748" name="Line 4"/>
          <p:cNvSpPr>
            <a:spLocks noChangeShapeType="1"/>
          </p:cNvSpPr>
          <p:nvPr/>
        </p:nvSpPr>
        <p:spPr bwMode="auto">
          <a:xfrm>
            <a:off x="203200" y="900113"/>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3170238" y="307975"/>
            <a:ext cx="2582862"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4000">
                <a:solidFill>
                  <a:schemeClr val="bg2"/>
                </a:solidFill>
                <a:latin typeface="Comic Sans MS" panose="030F0702030302020204" pitchFamily="66" charset="0"/>
                <a:cs typeface="Times New Roman" panose="02020603050405020304" pitchFamily="18" charset="0"/>
              </a:rPr>
              <a:t>Mutations</a:t>
            </a:r>
          </a:p>
        </p:txBody>
      </p:sp>
      <p:sp>
        <p:nvSpPr>
          <p:cNvPr id="32771" name="Line 3"/>
          <p:cNvSpPr>
            <a:spLocks noChangeShapeType="1"/>
          </p:cNvSpPr>
          <p:nvPr/>
        </p:nvSpPr>
        <p:spPr bwMode="auto">
          <a:xfrm>
            <a:off x="203200" y="1090613"/>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2" name="Rectangle 4"/>
          <p:cNvSpPr>
            <a:spLocks noChangeArrowheads="1"/>
          </p:cNvSpPr>
          <p:nvPr/>
        </p:nvSpPr>
        <p:spPr bwMode="auto">
          <a:xfrm>
            <a:off x="592138" y="1943100"/>
            <a:ext cx="7859712" cy="290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685800" indent="-228600">
              <a:spcBef>
                <a:spcPct val="20000"/>
              </a:spcBef>
              <a:buClr>
                <a:schemeClr val="accent2"/>
              </a:buClr>
              <a:buChar char="•"/>
              <a:defRPr sz="2800">
                <a:solidFill>
                  <a:srgbClr val="006600"/>
                </a:solidFill>
                <a:latin typeface="Times New Roman" panose="02020603050405020304" pitchFamily="18" charset="0"/>
              </a:defRPr>
            </a:lvl2pPr>
            <a:lvl3pPr marL="1600200" indent="-457200">
              <a:spcBef>
                <a:spcPct val="20000"/>
              </a:spcBef>
              <a:buClr>
                <a:schemeClr val="accent2"/>
              </a:buClr>
              <a:buChar char="•"/>
              <a:defRPr sz="2400">
                <a:solidFill>
                  <a:srgbClr val="006600"/>
                </a:solidFill>
                <a:latin typeface="Times New Roman" panose="02020603050405020304" pitchFamily="18" charset="0"/>
              </a:defRPr>
            </a:lvl3pPr>
            <a:lvl4pPr marL="2171700" indent="-457200">
              <a:spcBef>
                <a:spcPct val="20000"/>
              </a:spcBef>
              <a:buClr>
                <a:schemeClr val="accent2"/>
              </a:buClr>
              <a:buChar char="•"/>
              <a:defRPr sz="2000">
                <a:solidFill>
                  <a:srgbClr val="006600"/>
                </a:solidFill>
                <a:latin typeface="Times New Roman" panose="02020603050405020304" pitchFamily="18" charset="0"/>
              </a:defRPr>
            </a:lvl4pPr>
            <a:lvl5pPr marL="2743200" indent="-457200">
              <a:spcBef>
                <a:spcPct val="20000"/>
              </a:spcBef>
              <a:buClr>
                <a:schemeClr val="accent2"/>
              </a:buClr>
              <a:buChar char="•"/>
              <a:defRPr sz="2000">
                <a:solidFill>
                  <a:srgbClr val="006600"/>
                </a:solidFill>
                <a:latin typeface="Times New Roman" panose="02020603050405020304" pitchFamily="18" charset="0"/>
              </a:defRPr>
            </a:lvl5pPr>
            <a:lvl6pPr marL="3200400" indent="-4572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3657600" indent="-4572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4114800" indent="-4572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4572000" indent="-4572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ts val="3200"/>
              </a:lnSpc>
              <a:spcBef>
                <a:spcPts val="700"/>
              </a:spcBef>
              <a:spcAft>
                <a:spcPts val="500"/>
              </a:spcAft>
              <a:buClr>
                <a:schemeClr val="tx1"/>
              </a:buClr>
            </a:pPr>
            <a:r>
              <a:rPr lang="en-US" altLang="en-US">
                <a:solidFill>
                  <a:schemeClr val="bg2"/>
                </a:solidFill>
                <a:latin typeface="Arial" panose="020B0604020202020204" pitchFamily="34" charset="0"/>
                <a:cs typeface="Times New Roman" panose="02020603050405020304" pitchFamily="18" charset="0"/>
              </a:rPr>
              <a:t>Allelic variations that are associated with disease or trait phenotypes are often called mutations	</a:t>
            </a:r>
          </a:p>
          <a:p>
            <a:pPr>
              <a:lnSpc>
                <a:spcPts val="3200"/>
              </a:lnSpc>
              <a:spcBef>
                <a:spcPts val="700"/>
              </a:spcBef>
              <a:spcAft>
                <a:spcPts val="500"/>
              </a:spcAft>
              <a:buClr>
                <a:schemeClr val="tx1"/>
              </a:buClr>
            </a:pPr>
            <a:r>
              <a:rPr lang="en-US" altLang="en-US">
                <a:solidFill>
                  <a:schemeClr val="bg2"/>
                </a:solidFill>
                <a:latin typeface="Arial" panose="020B0604020202020204" pitchFamily="34" charset="0"/>
                <a:cs typeface="Times New Roman" panose="02020603050405020304" pitchFamily="18" charset="0"/>
              </a:rPr>
              <a:t>Mutations are the ultimate source of all genetic variation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438150" y="223838"/>
            <a:ext cx="8705850" cy="58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90000"/>
              </a:lnSpc>
              <a:spcBef>
                <a:spcPct val="0"/>
              </a:spcBef>
              <a:spcAft>
                <a:spcPct val="50000"/>
              </a:spcAft>
              <a:buClrTx/>
              <a:buFontTx/>
              <a:buNone/>
            </a:pPr>
            <a:r>
              <a:rPr lang="en-US" altLang="en-US" sz="3600">
                <a:solidFill>
                  <a:schemeClr val="bg2"/>
                </a:solidFill>
                <a:latin typeface="Comic Sans MS" panose="030F0702030302020204" pitchFamily="66" charset="0"/>
              </a:rPr>
              <a:t>Polymorphism</a:t>
            </a:r>
          </a:p>
        </p:txBody>
      </p:sp>
      <p:sp>
        <p:nvSpPr>
          <p:cNvPr id="26627" name="Line 3"/>
          <p:cNvSpPr>
            <a:spLocks noChangeShapeType="1"/>
          </p:cNvSpPr>
          <p:nvPr/>
        </p:nvSpPr>
        <p:spPr bwMode="auto">
          <a:xfrm>
            <a:off x="271463" y="1009650"/>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28" name="Rectangle 4"/>
          <p:cNvSpPr>
            <a:spLocks noChangeArrowheads="1"/>
          </p:cNvSpPr>
          <p:nvPr/>
        </p:nvSpPr>
        <p:spPr bwMode="auto">
          <a:xfrm>
            <a:off x="890588" y="1395413"/>
            <a:ext cx="7324725" cy="483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Aft>
                <a:spcPct val="20000"/>
              </a:spcAft>
              <a:buClrTx/>
            </a:pPr>
            <a:endParaRPr lang="en-US" altLang="en-US" sz="2800" b="0" dirty="0">
              <a:solidFill>
                <a:schemeClr val="bg2"/>
              </a:solidFill>
              <a:latin typeface="Arial" panose="020B0604020202020204" pitchFamily="34" charset="0"/>
            </a:endParaRPr>
          </a:p>
          <a:p>
            <a:pPr lvl="1">
              <a:lnSpc>
                <a:spcPct val="90000"/>
              </a:lnSpc>
              <a:spcAft>
                <a:spcPct val="20000"/>
              </a:spcAft>
              <a:buClrTx/>
            </a:pPr>
            <a:r>
              <a:rPr lang="en-US" altLang="en-US" dirty="0">
                <a:solidFill>
                  <a:schemeClr val="bg2"/>
                </a:solidFill>
                <a:latin typeface="Arial" panose="020B0604020202020204" pitchFamily="34" charset="0"/>
              </a:rPr>
              <a:t>Implies genetic variation at a designated locus</a:t>
            </a:r>
          </a:p>
          <a:p>
            <a:pPr lvl="1">
              <a:lnSpc>
                <a:spcPct val="90000"/>
              </a:lnSpc>
              <a:spcAft>
                <a:spcPct val="20000"/>
              </a:spcAft>
              <a:buClrTx/>
            </a:pPr>
            <a:r>
              <a:rPr lang="en-US" altLang="en-US" dirty="0">
                <a:solidFill>
                  <a:schemeClr val="bg2"/>
                </a:solidFill>
                <a:latin typeface="Arial" panose="020B0604020202020204" pitchFamily="34" charset="0"/>
              </a:rPr>
              <a:t>A locus that is polymorphic has at least two alternative alleles</a:t>
            </a:r>
          </a:p>
          <a:p>
            <a:pPr lvl="1">
              <a:lnSpc>
                <a:spcPct val="90000"/>
              </a:lnSpc>
              <a:spcAft>
                <a:spcPct val="20000"/>
              </a:spcAft>
              <a:buClrTx/>
            </a:pPr>
            <a:r>
              <a:rPr lang="en-US" altLang="en-US" dirty="0">
                <a:solidFill>
                  <a:schemeClr val="bg2"/>
                </a:solidFill>
                <a:latin typeface="Arial" panose="020B0604020202020204" pitchFamily="34" charset="0"/>
              </a:rPr>
              <a:t>More specific definition (not universally accepted)- the existence of two or more genetic variants (alleles, sequence variants, chromosomal structure variants) at significant frequencies in the population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475" y="1219200"/>
            <a:ext cx="3835400" cy="290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Line 3"/>
          <p:cNvSpPr>
            <a:spLocks noChangeShapeType="1"/>
          </p:cNvSpPr>
          <p:nvPr/>
        </p:nvSpPr>
        <p:spPr bwMode="auto">
          <a:xfrm>
            <a:off x="338138" y="952500"/>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0" name="Rectangle 4"/>
          <p:cNvSpPr>
            <a:spLocks noGrp="1" noChangeArrowheads="1"/>
          </p:cNvSpPr>
          <p:nvPr>
            <p:ph type="body" idx="4294967295"/>
          </p:nvPr>
        </p:nvSpPr>
        <p:spPr>
          <a:xfrm>
            <a:off x="4391025" y="1143000"/>
            <a:ext cx="4276725" cy="571500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90000"/>
              </a:lnSpc>
              <a:spcBef>
                <a:spcPct val="30000"/>
              </a:spcBef>
              <a:spcAft>
                <a:spcPct val="30000"/>
              </a:spcAft>
            </a:pPr>
            <a:r>
              <a:rPr lang="en-US" altLang="en-US" sz="2800" b="1">
                <a:latin typeface="Arial" panose="020B0604020202020204" pitchFamily="34" charset="0"/>
              </a:rPr>
              <a:t>Single nucleotide polymorphisms ( SNPs) are DNA sequence variations that occur when a single nucleotide (A,T,C,or G) in the genome sequence is altered</a:t>
            </a:r>
          </a:p>
          <a:p>
            <a:pPr>
              <a:lnSpc>
                <a:spcPct val="90000"/>
              </a:lnSpc>
              <a:spcBef>
                <a:spcPct val="30000"/>
              </a:spcBef>
              <a:spcAft>
                <a:spcPct val="30000"/>
              </a:spcAft>
            </a:pPr>
            <a:r>
              <a:rPr lang="en-US" altLang="en-US" sz="2800" b="1">
                <a:latin typeface="Arial" panose="020B0604020202020204" pitchFamily="34" charset="0"/>
              </a:rPr>
              <a:t>For a variation to be considered a SNP, it usually occurs in at least 1% of the population</a:t>
            </a:r>
          </a:p>
        </p:txBody>
      </p:sp>
      <p:sp>
        <p:nvSpPr>
          <p:cNvPr id="34821" name="Rectangle 5"/>
          <p:cNvSpPr>
            <a:spLocks noGrp="1" noChangeArrowheads="1"/>
          </p:cNvSpPr>
          <p:nvPr>
            <p:ph type="title" idx="4294967295"/>
          </p:nvPr>
        </p:nvSpPr>
        <p:spPr>
          <a:xfrm>
            <a:off x="265113" y="19050"/>
            <a:ext cx="8599487" cy="81915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ltLang="en-US" sz="3200" b="1">
                <a:latin typeface="Comic Sans MS" panose="030F0702030302020204" pitchFamily="66" charset="0"/>
              </a:rPr>
              <a:t>Single Nucleotide Polymorphisms (SNPs)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a:xfrm>
            <a:off x="685800" y="533400"/>
            <a:ext cx="7772400" cy="457200"/>
          </a:xfrm>
        </p:spPr>
        <p:txBody>
          <a:bodyPr/>
          <a:lstStyle/>
          <a:p>
            <a:r>
              <a:rPr lang="en-US" altLang="en-US" sz="4000" b="1">
                <a:latin typeface="Comic Sans MS" panose="030F0702030302020204" pitchFamily="66" charset="0"/>
              </a:rPr>
              <a:t>SNPs and Mutations</a:t>
            </a:r>
          </a:p>
        </p:txBody>
      </p:sp>
      <p:sp>
        <p:nvSpPr>
          <p:cNvPr id="35843" name="Text Box 3"/>
          <p:cNvSpPr txBox="1">
            <a:spLocks noChangeArrowheads="1"/>
          </p:cNvSpPr>
          <p:nvPr/>
        </p:nvSpPr>
        <p:spPr bwMode="auto">
          <a:xfrm>
            <a:off x="341313" y="1574800"/>
            <a:ext cx="8486775"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r>
              <a:rPr lang="en-US" altLang="en-US" sz="2800" dirty="0">
                <a:solidFill>
                  <a:schemeClr val="bg2"/>
                </a:solidFill>
                <a:latin typeface="Arial" panose="020B0604020202020204" pitchFamily="34" charset="0"/>
              </a:rPr>
              <a:t>Terminology for variation at a single nucleotide position is defined by </a:t>
            </a:r>
            <a:r>
              <a:rPr lang="en-US" altLang="en-US" sz="2800" dirty="0" smtClean="0">
                <a:solidFill>
                  <a:schemeClr val="bg2"/>
                </a:solidFill>
                <a:latin typeface="Arial" panose="020B0604020202020204" pitchFamily="34" charset="0"/>
              </a:rPr>
              <a:t>allele frequency(proportion</a:t>
            </a:r>
            <a:r>
              <a:rPr lang="en-US" altLang="en-US" sz="2800" dirty="0">
                <a:solidFill>
                  <a:schemeClr val="bg2"/>
                </a:solidFill>
                <a:latin typeface="Arial" panose="020B0604020202020204" pitchFamily="34" charset="0"/>
              </a:rPr>
              <a:t>). </a:t>
            </a:r>
          </a:p>
          <a:p>
            <a:pPr eaLnBrk="1" hangingPunct="1">
              <a:spcBef>
                <a:spcPct val="0"/>
              </a:spcBef>
              <a:buClrTx/>
              <a:buFontTx/>
              <a:buNone/>
            </a:pPr>
            <a:endParaRPr lang="en-US" altLang="en-US" sz="2800" dirty="0">
              <a:solidFill>
                <a:schemeClr val="bg2"/>
              </a:solidFill>
              <a:latin typeface="Arial" panose="020B0604020202020204" pitchFamily="34" charset="0"/>
            </a:endParaRPr>
          </a:p>
          <a:p>
            <a:pPr eaLnBrk="1" hangingPunct="1">
              <a:spcBef>
                <a:spcPct val="0"/>
              </a:spcBef>
              <a:buClrTx/>
            </a:pPr>
            <a:r>
              <a:rPr lang="en-US" altLang="en-US" sz="2800" dirty="0">
                <a:solidFill>
                  <a:schemeClr val="bg2"/>
                </a:solidFill>
                <a:latin typeface="Arial" panose="020B0604020202020204" pitchFamily="34" charset="0"/>
              </a:rPr>
              <a:t>A single base change, occurring in a population at a frequency of &gt;1% is termed a single nucleotide polymorphism (SNP). </a:t>
            </a:r>
          </a:p>
          <a:p>
            <a:pPr eaLnBrk="1" hangingPunct="1">
              <a:spcBef>
                <a:spcPct val="0"/>
              </a:spcBef>
              <a:buClrTx/>
              <a:buFontTx/>
              <a:buNone/>
            </a:pPr>
            <a:endParaRPr lang="en-US" altLang="en-US" sz="2800" dirty="0">
              <a:solidFill>
                <a:schemeClr val="bg2"/>
              </a:solidFill>
              <a:latin typeface="Arial" panose="020B0604020202020204" pitchFamily="34" charset="0"/>
            </a:endParaRPr>
          </a:p>
          <a:p>
            <a:pPr eaLnBrk="1" hangingPunct="1">
              <a:spcBef>
                <a:spcPct val="0"/>
              </a:spcBef>
              <a:buClrTx/>
            </a:pPr>
            <a:r>
              <a:rPr lang="en-US" altLang="en-US" sz="2800" dirty="0">
                <a:solidFill>
                  <a:schemeClr val="bg2"/>
                </a:solidFill>
                <a:latin typeface="Arial" panose="020B0604020202020204" pitchFamily="34" charset="0"/>
              </a:rPr>
              <a:t>When a single base change occurs at &lt;1% it is considered to be a mutation.</a:t>
            </a:r>
          </a:p>
        </p:txBody>
      </p:sp>
      <p:sp>
        <p:nvSpPr>
          <p:cNvPr id="35844" name="Line 4"/>
          <p:cNvSpPr>
            <a:spLocks noChangeShapeType="1"/>
          </p:cNvSpPr>
          <p:nvPr/>
        </p:nvSpPr>
        <p:spPr bwMode="auto">
          <a:xfrm>
            <a:off x="271463" y="1204913"/>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idx="4294967295"/>
          </p:nvPr>
        </p:nvSpPr>
        <p:spPr>
          <a:xfrm>
            <a:off x="685800" y="228600"/>
            <a:ext cx="7772400" cy="533400"/>
          </a:xfrm>
        </p:spPr>
        <p:txBody>
          <a:bodyPr/>
          <a:lstStyle/>
          <a:p>
            <a:r>
              <a:rPr lang="en-US" altLang="en-US" sz="3600" b="1">
                <a:latin typeface="Comic Sans MS" panose="030F0702030302020204" pitchFamily="66" charset="0"/>
              </a:rPr>
              <a:t>Tandem Repeat Polymorphisms</a:t>
            </a:r>
          </a:p>
        </p:txBody>
      </p:sp>
      <p:sp>
        <p:nvSpPr>
          <p:cNvPr id="36867" name="Text Box 3"/>
          <p:cNvSpPr txBox="1">
            <a:spLocks noChangeArrowheads="1"/>
          </p:cNvSpPr>
          <p:nvPr/>
        </p:nvSpPr>
        <p:spPr bwMode="auto">
          <a:xfrm>
            <a:off x="265113" y="990600"/>
            <a:ext cx="8613775" cy="679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114300" indent="-285750">
              <a:spcBef>
                <a:spcPct val="20000"/>
              </a:spcBef>
              <a:buClr>
                <a:schemeClr val="accent2"/>
              </a:buClr>
              <a:buChar char="•"/>
              <a:defRPr sz="2800">
                <a:solidFill>
                  <a:srgbClr val="006600"/>
                </a:solidFill>
                <a:latin typeface="Times New Roman" panose="02020603050405020304" pitchFamily="18" charset="0"/>
              </a:defRPr>
            </a:lvl2pPr>
            <a:lvl3pPr indent="-685800">
              <a:spcBef>
                <a:spcPct val="20000"/>
              </a:spcBef>
              <a:buClr>
                <a:schemeClr val="accent2"/>
              </a:buClr>
              <a:buChar char="•"/>
              <a:defRPr sz="2400">
                <a:solidFill>
                  <a:srgbClr val="006600"/>
                </a:solidFill>
                <a:latin typeface="Times New Roman" panose="02020603050405020304" pitchFamily="18" charset="0"/>
              </a:defRPr>
            </a:lvl3pPr>
            <a:lvl4pPr>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r>
              <a:rPr lang="en-US" altLang="en-US" sz="2000" b="0" dirty="0">
                <a:solidFill>
                  <a:schemeClr val="bg2"/>
                </a:solidFill>
                <a:latin typeface="Arial" panose="020B0604020202020204" pitchFamily="34" charset="0"/>
              </a:rPr>
              <a:t>Tandem repeats or variable number of tandem repeats (VNTR) </a:t>
            </a:r>
          </a:p>
          <a:p>
            <a:pPr eaLnBrk="1" hangingPunct="1">
              <a:spcBef>
                <a:spcPct val="0"/>
              </a:spcBef>
              <a:buClrTx/>
              <a:buFontTx/>
              <a:buNone/>
            </a:pPr>
            <a:r>
              <a:rPr lang="en-US" altLang="en-US" sz="2000" b="0" dirty="0">
                <a:solidFill>
                  <a:schemeClr val="bg2"/>
                </a:solidFill>
                <a:latin typeface="Arial" panose="020B0604020202020204" pitchFamily="34" charset="0"/>
              </a:rPr>
              <a:t>are a very common class of polymorphism, consisting of variable length</a:t>
            </a:r>
          </a:p>
          <a:p>
            <a:pPr eaLnBrk="1" hangingPunct="1">
              <a:spcBef>
                <a:spcPct val="0"/>
              </a:spcBef>
              <a:buClrTx/>
              <a:buFontTx/>
              <a:buNone/>
            </a:pPr>
            <a:r>
              <a:rPr lang="en-US" altLang="en-US" sz="2000" b="0" dirty="0">
                <a:solidFill>
                  <a:schemeClr val="bg2"/>
                </a:solidFill>
                <a:latin typeface="Arial" panose="020B0604020202020204" pitchFamily="34" charset="0"/>
              </a:rPr>
              <a:t> of sequence motifs that are repeated in tandem in a variable copy number.</a:t>
            </a:r>
          </a:p>
          <a:p>
            <a:pPr eaLnBrk="1" hangingPunct="1">
              <a:spcBef>
                <a:spcPct val="0"/>
              </a:spcBef>
              <a:buClrTx/>
              <a:buFontTx/>
              <a:buNone/>
            </a:pPr>
            <a:endParaRPr lang="en-US" altLang="en-US" sz="2000" b="0" dirty="0">
              <a:solidFill>
                <a:schemeClr val="bg2"/>
              </a:solidFill>
              <a:latin typeface="Arial" panose="020B0604020202020204" pitchFamily="34" charset="0"/>
            </a:endParaRPr>
          </a:p>
          <a:p>
            <a:pPr eaLnBrk="1" hangingPunct="1">
              <a:spcBef>
                <a:spcPct val="0"/>
              </a:spcBef>
              <a:buClrTx/>
              <a:buFontTx/>
              <a:buNone/>
            </a:pPr>
            <a:r>
              <a:rPr lang="en-US" altLang="en-US" sz="2000" b="0" dirty="0">
                <a:solidFill>
                  <a:schemeClr val="bg2"/>
                </a:solidFill>
                <a:latin typeface="Arial" panose="020B0604020202020204" pitchFamily="34" charset="0"/>
              </a:rPr>
              <a:t>VNTRs are subdivided into two subgroups based on the size of the tandem</a:t>
            </a:r>
          </a:p>
          <a:p>
            <a:pPr eaLnBrk="1" hangingPunct="1">
              <a:spcBef>
                <a:spcPct val="0"/>
              </a:spcBef>
              <a:buClrTx/>
              <a:buFontTx/>
              <a:buNone/>
            </a:pPr>
            <a:r>
              <a:rPr lang="en-US" altLang="en-US" sz="2000" b="0" dirty="0">
                <a:solidFill>
                  <a:schemeClr val="bg2"/>
                </a:solidFill>
                <a:latin typeface="Arial" panose="020B0604020202020204" pitchFamily="34" charset="0"/>
              </a:rPr>
              <a:t> repeat units.</a:t>
            </a:r>
          </a:p>
          <a:p>
            <a:pPr lvl="3" eaLnBrk="1" hangingPunct="1">
              <a:spcBef>
                <a:spcPct val="0"/>
              </a:spcBef>
              <a:buClrTx/>
            </a:pPr>
            <a:r>
              <a:rPr lang="en-US" altLang="en-US" b="0" dirty="0">
                <a:solidFill>
                  <a:schemeClr val="bg2"/>
                </a:solidFill>
                <a:latin typeface="Arial" panose="020B0604020202020204" pitchFamily="34" charset="0"/>
              </a:rPr>
              <a:t> Microsatellites or Short Tandem Repeat (STR)</a:t>
            </a:r>
          </a:p>
          <a:p>
            <a:pPr lvl="2" eaLnBrk="1" hangingPunct="1">
              <a:spcBef>
                <a:spcPct val="0"/>
              </a:spcBef>
              <a:buClrTx/>
              <a:buFontTx/>
              <a:buNone/>
            </a:pPr>
            <a:r>
              <a:rPr lang="en-US" altLang="en-US" sz="2000" b="0" dirty="0">
                <a:solidFill>
                  <a:schemeClr val="bg2"/>
                </a:solidFill>
                <a:latin typeface="Arial" panose="020B0604020202020204" pitchFamily="34" charset="0"/>
              </a:rPr>
              <a:t>		repeat unit: 1-6 (dinucleotide repeat: CACACACACACA)</a:t>
            </a:r>
          </a:p>
          <a:p>
            <a:pPr lvl="3" eaLnBrk="1" hangingPunct="1">
              <a:spcBef>
                <a:spcPct val="0"/>
              </a:spcBef>
              <a:buClrTx/>
            </a:pPr>
            <a:r>
              <a:rPr lang="en-US" altLang="en-US" b="0" dirty="0">
                <a:solidFill>
                  <a:schemeClr val="bg2"/>
                </a:solidFill>
                <a:latin typeface="Arial" panose="020B0604020202020204" pitchFamily="34" charset="0"/>
              </a:rPr>
              <a:t> </a:t>
            </a:r>
            <a:r>
              <a:rPr lang="en-US" altLang="en-US" b="0" dirty="0" err="1">
                <a:solidFill>
                  <a:schemeClr val="bg2"/>
                </a:solidFill>
                <a:latin typeface="Arial" panose="020B0604020202020204" pitchFamily="34" charset="0"/>
              </a:rPr>
              <a:t>Minisatellites</a:t>
            </a:r>
            <a:endParaRPr lang="en-US" altLang="en-US" b="0" dirty="0">
              <a:solidFill>
                <a:schemeClr val="bg2"/>
              </a:solidFill>
              <a:latin typeface="Arial" panose="020B0604020202020204" pitchFamily="34" charset="0"/>
            </a:endParaRPr>
          </a:p>
          <a:p>
            <a:pPr lvl="2" eaLnBrk="1" hangingPunct="1">
              <a:spcBef>
                <a:spcPct val="0"/>
              </a:spcBef>
              <a:buClrTx/>
              <a:buFontTx/>
              <a:buNone/>
            </a:pPr>
            <a:r>
              <a:rPr lang="en-US" altLang="en-US" sz="2000" b="0" dirty="0">
                <a:solidFill>
                  <a:schemeClr val="bg2"/>
                </a:solidFill>
                <a:latin typeface="Arial" panose="020B0604020202020204" pitchFamily="34" charset="0"/>
              </a:rPr>
              <a:t>		repeat unit: 14-100</a:t>
            </a:r>
          </a:p>
          <a:p>
            <a:pPr lvl="2" eaLnBrk="1" hangingPunct="1">
              <a:spcBef>
                <a:spcPct val="0"/>
              </a:spcBef>
              <a:buClrTx/>
              <a:buFontTx/>
              <a:buNone/>
            </a:pPr>
            <a:r>
              <a:rPr lang="en-US" altLang="en-US" sz="2000" dirty="0">
                <a:solidFill>
                  <a:schemeClr val="bg2"/>
                </a:solidFill>
                <a:latin typeface="Arial" panose="020B0604020202020204" pitchFamily="34" charset="0"/>
              </a:rPr>
              <a:t>Examples</a:t>
            </a:r>
            <a:r>
              <a:rPr lang="en-US" altLang="en-US" sz="2000" b="0" dirty="0">
                <a:solidFill>
                  <a:schemeClr val="bg2"/>
                </a:solidFill>
                <a:latin typeface="Arial" panose="020B0604020202020204" pitchFamily="34" charset="0"/>
              </a:rPr>
              <a:t>:</a:t>
            </a:r>
          </a:p>
          <a:p>
            <a:pPr lvl="2" eaLnBrk="1" hangingPunct="1">
              <a:spcBef>
                <a:spcPct val="0"/>
              </a:spcBef>
              <a:buClrTx/>
              <a:buFontTx/>
              <a:buNone/>
            </a:pPr>
            <a:r>
              <a:rPr lang="en-US" altLang="en-US" sz="2000" b="0" u="sng" dirty="0">
                <a:solidFill>
                  <a:schemeClr val="bg2"/>
                </a:solidFill>
                <a:latin typeface="Arial" panose="020B0604020202020204" pitchFamily="34" charset="0"/>
              </a:rPr>
              <a:t>Spinocerebellar ataxia Type10 (</a:t>
            </a:r>
            <a:r>
              <a:rPr lang="en-US" altLang="en-US" sz="2000" b="0" i="1" u="sng" dirty="0">
                <a:solidFill>
                  <a:schemeClr val="bg2"/>
                </a:solidFill>
                <a:latin typeface="Arial" panose="020B0604020202020204" pitchFamily="34" charset="0"/>
              </a:rPr>
              <a:t>SCA10</a:t>
            </a:r>
            <a:r>
              <a:rPr lang="en-US" altLang="en-US" sz="2000" b="0" u="sng" dirty="0">
                <a:solidFill>
                  <a:schemeClr val="bg2"/>
                </a:solidFill>
                <a:latin typeface="Arial" panose="020B0604020202020204" pitchFamily="34" charset="0"/>
              </a:rPr>
              <a:t>) (</a:t>
            </a:r>
            <a:r>
              <a:rPr lang="en-US" altLang="en-US" sz="2000" b="0" u="sng" dirty="0" smtClean="0">
                <a:solidFill>
                  <a:schemeClr val="bg2"/>
                </a:solidFill>
                <a:latin typeface="Arial" panose="020B0604020202020204" pitchFamily="34" charset="0"/>
              </a:rPr>
              <a:t>OMIM:</a:t>
            </a:r>
            <a:r>
              <a:rPr lang="en-US" altLang="en-US" sz="2000" u="sng" dirty="0" smtClean="0">
                <a:solidFill>
                  <a:schemeClr val="bg2"/>
                </a:solidFill>
                <a:latin typeface="Arial" panose="020B0604020202020204" pitchFamily="34" charset="0"/>
                <a:hlinkClick r:id="rId2"/>
              </a:rPr>
              <a:t>603516</a:t>
            </a:r>
            <a:r>
              <a:rPr lang="en-US" altLang="en-US" sz="2000" b="0" dirty="0">
                <a:solidFill>
                  <a:schemeClr val="bg2"/>
                </a:solidFill>
                <a:latin typeface="Arial" panose="020B0604020202020204" pitchFamily="34" charset="0"/>
              </a:rPr>
              <a:t>) is caused </a:t>
            </a:r>
          </a:p>
          <a:p>
            <a:pPr lvl="2" eaLnBrk="1" hangingPunct="1">
              <a:spcBef>
                <a:spcPct val="0"/>
              </a:spcBef>
              <a:buClrTx/>
              <a:buFontTx/>
              <a:buNone/>
            </a:pPr>
            <a:r>
              <a:rPr lang="en-US" altLang="en-US" sz="2000" b="0" dirty="0">
                <a:solidFill>
                  <a:schemeClr val="bg2"/>
                </a:solidFill>
                <a:latin typeface="Arial" panose="020B0604020202020204" pitchFamily="34" charset="0"/>
              </a:rPr>
              <a:t>by largest tandem repeat seen in human genome. Normal population </a:t>
            </a:r>
          </a:p>
          <a:p>
            <a:pPr lvl="2" eaLnBrk="1" hangingPunct="1">
              <a:spcBef>
                <a:spcPct val="0"/>
              </a:spcBef>
              <a:buClrTx/>
              <a:buFontTx/>
              <a:buNone/>
            </a:pPr>
            <a:r>
              <a:rPr lang="en-US" altLang="en-US" sz="2000" b="0" dirty="0">
                <a:solidFill>
                  <a:schemeClr val="bg2"/>
                </a:solidFill>
                <a:latin typeface="Arial" panose="020B0604020202020204" pitchFamily="34" charset="0"/>
              </a:rPr>
              <a:t>has 10-22 ATTCT repeats in intron 9 of SCA10 gene; where as </a:t>
            </a:r>
            <a:r>
              <a:rPr lang="en-US" altLang="en-US" sz="2000" b="0" i="1" dirty="0">
                <a:solidFill>
                  <a:schemeClr val="bg2"/>
                </a:solidFill>
                <a:latin typeface="Arial" panose="020B0604020202020204" pitchFamily="34" charset="0"/>
              </a:rPr>
              <a:t>SCA10 </a:t>
            </a:r>
          </a:p>
          <a:p>
            <a:pPr lvl="2" eaLnBrk="1" hangingPunct="1">
              <a:spcBef>
                <a:spcPct val="0"/>
              </a:spcBef>
              <a:buClrTx/>
              <a:buFontTx/>
              <a:buNone/>
            </a:pPr>
            <a:r>
              <a:rPr lang="en-US" altLang="en-US" sz="2000" b="0" dirty="0">
                <a:solidFill>
                  <a:schemeClr val="bg2"/>
                </a:solidFill>
                <a:latin typeface="Arial" panose="020B0604020202020204" pitchFamily="34" charset="0"/>
              </a:rPr>
              <a:t>patients have 800-4500 repeat units, which causes the disease allele </a:t>
            </a:r>
          </a:p>
          <a:p>
            <a:pPr lvl="2" eaLnBrk="1" hangingPunct="1">
              <a:spcBef>
                <a:spcPct val="0"/>
              </a:spcBef>
              <a:buClrTx/>
              <a:buFontTx/>
              <a:buNone/>
            </a:pPr>
            <a:r>
              <a:rPr lang="en-US" altLang="en-US" sz="2000" b="0" dirty="0">
                <a:solidFill>
                  <a:schemeClr val="bg2"/>
                </a:solidFill>
                <a:latin typeface="Arial" panose="020B0604020202020204" pitchFamily="34" charset="0"/>
              </a:rPr>
              <a:t>up to 22.5 kb larger than the normal one.</a:t>
            </a:r>
          </a:p>
          <a:p>
            <a:pPr lvl="2" eaLnBrk="1" hangingPunct="1">
              <a:spcBef>
                <a:spcPct val="0"/>
              </a:spcBef>
              <a:buClrTx/>
              <a:buFontTx/>
              <a:buNone/>
            </a:pPr>
            <a:r>
              <a:rPr lang="en-US" altLang="en-US" sz="2000" b="0" u="sng" dirty="0">
                <a:solidFill>
                  <a:schemeClr val="bg2"/>
                </a:solidFill>
                <a:latin typeface="Arial" panose="020B0604020202020204" pitchFamily="34" charset="0"/>
              </a:rPr>
              <a:t>Fragile X syndrome</a:t>
            </a:r>
            <a:r>
              <a:rPr lang="en-US" altLang="en-US" sz="2000" b="0" dirty="0">
                <a:solidFill>
                  <a:schemeClr val="bg2"/>
                </a:solidFill>
                <a:latin typeface="Arial" panose="020B0604020202020204" pitchFamily="34" charset="0"/>
              </a:rPr>
              <a:t>: caused by a CGG repeat in the coding region of the</a:t>
            </a:r>
          </a:p>
          <a:p>
            <a:pPr lvl="2" eaLnBrk="1" hangingPunct="1">
              <a:spcBef>
                <a:spcPct val="0"/>
              </a:spcBef>
              <a:buClrTx/>
              <a:buFontTx/>
              <a:buNone/>
            </a:pPr>
            <a:r>
              <a:rPr lang="en-US" altLang="en-US" sz="2000" b="0" dirty="0">
                <a:solidFill>
                  <a:schemeClr val="bg2"/>
                </a:solidFill>
                <a:latin typeface="Arial" panose="020B0604020202020204" pitchFamily="34" charset="0"/>
              </a:rPr>
              <a:t>FMR1 gene. Normal: &lt;40 repeats.  </a:t>
            </a:r>
            <a:r>
              <a:rPr lang="en-US" altLang="en-US" sz="2000" b="0" dirty="0" err="1">
                <a:solidFill>
                  <a:schemeClr val="bg2"/>
                </a:solidFill>
                <a:latin typeface="Arial" panose="020B0604020202020204" pitchFamily="34" charset="0"/>
              </a:rPr>
              <a:t>Premutation</a:t>
            </a:r>
            <a:r>
              <a:rPr lang="en-US" altLang="en-US" sz="2000" b="0" dirty="0">
                <a:solidFill>
                  <a:schemeClr val="bg2"/>
                </a:solidFill>
                <a:latin typeface="Arial" panose="020B0604020202020204" pitchFamily="34" charset="0"/>
              </a:rPr>
              <a:t>: &lt;200 repeats. </a:t>
            </a:r>
          </a:p>
          <a:p>
            <a:pPr lvl="2" eaLnBrk="1" hangingPunct="1">
              <a:spcBef>
                <a:spcPct val="0"/>
              </a:spcBef>
              <a:buClrTx/>
              <a:buFontTx/>
              <a:buNone/>
            </a:pPr>
            <a:r>
              <a:rPr lang="en-US" altLang="en-US" sz="2000" b="0" dirty="0">
                <a:solidFill>
                  <a:schemeClr val="bg2"/>
                </a:solidFill>
                <a:latin typeface="Arial" panose="020B0604020202020204" pitchFamily="34" charset="0"/>
              </a:rPr>
              <a:t>Affected: &gt;200 repeats.</a:t>
            </a:r>
          </a:p>
          <a:p>
            <a:pPr lvl="2" eaLnBrk="1" hangingPunct="1">
              <a:spcBef>
                <a:spcPct val="0"/>
              </a:spcBef>
              <a:buClrTx/>
              <a:buFontTx/>
              <a:buNone/>
            </a:pPr>
            <a:endParaRPr lang="en-US" altLang="en-US" sz="2000" b="0" dirty="0">
              <a:solidFill>
                <a:schemeClr val="bg2"/>
              </a:solidFill>
              <a:latin typeface="Arial" panose="020B0604020202020204" pitchFamily="34" charset="0"/>
            </a:endParaRPr>
          </a:p>
          <a:p>
            <a:pPr lvl="2" eaLnBrk="1" hangingPunct="1">
              <a:spcBef>
                <a:spcPct val="0"/>
              </a:spcBef>
              <a:buClrTx/>
              <a:buFontTx/>
              <a:buNone/>
            </a:pPr>
            <a:endParaRPr lang="en-US" altLang="en-US" sz="2000" b="0" dirty="0">
              <a:solidFill>
                <a:schemeClr val="bg2"/>
              </a:solidFill>
              <a:latin typeface="Arial" panose="020B0604020202020204" pitchFamily="34" charset="0"/>
            </a:endParaRPr>
          </a:p>
          <a:p>
            <a:pPr eaLnBrk="1" hangingPunct="1">
              <a:spcBef>
                <a:spcPct val="0"/>
              </a:spcBef>
              <a:buClrTx/>
              <a:buFontTx/>
              <a:buNone/>
            </a:pPr>
            <a:r>
              <a:rPr lang="en-US" altLang="en-US" sz="2000" b="0" dirty="0">
                <a:solidFill>
                  <a:schemeClr val="bg2"/>
                </a:solidFill>
                <a:latin typeface="Arial" panose="020B0604020202020204" pitchFamily="34" charset="0"/>
              </a:rPr>
              <a:t>		</a:t>
            </a:r>
          </a:p>
        </p:txBody>
      </p:sp>
      <p:sp>
        <p:nvSpPr>
          <p:cNvPr id="36868" name="Line 4"/>
          <p:cNvSpPr>
            <a:spLocks noChangeShapeType="1"/>
          </p:cNvSpPr>
          <p:nvPr/>
        </p:nvSpPr>
        <p:spPr bwMode="auto">
          <a:xfrm>
            <a:off x="203200" y="971550"/>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290513" y="157163"/>
            <a:ext cx="8229600" cy="674687"/>
          </a:xfrm>
        </p:spPr>
        <p:txBody>
          <a:bodyPr/>
          <a:lstStyle/>
          <a:p>
            <a:r>
              <a:rPr lang="en-US" altLang="en-US" sz="4000" b="1">
                <a:latin typeface="Comic Sans MS" panose="030F0702030302020204" pitchFamily="66" charset="0"/>
              </a:rPr>
              <a:t>Short Tandem Repeats (STRs)</a:t>
            </a:r>
          </a:p>
        </p:txBody>
      </p:sp>
      <p:grpSp>
        <p:nvGrpSpPr>
          <p:cNvPr id="37891" name="Group 3"/>
          <p:cNvGrpSpPr>
            <a:grpSpLocks/>
          </p:cNvGrpSpPr>
          <p:nvPr/>
        </p:nvGrpSpPr>
        <p:grpSpPr bwMode="auto">
          <a:xfrm>
            <a:off x="1828800" y="2667000"/>
            <a:ext cx="5867400" cy="228600"/>
            <a:chOff x="1152" y="1680"/>
            <a:chExt cx="3696" cy="144"/>
          </a:xfrm>
        </p:grpSpPr>
        <p:grpSp>
          <p:nvGrpSpPr>
            <p:cNvPr id="37918" name="Group 4"/>
            <p:cNvGrpSpPr>
              <a:grpSpLocks/>
            </p:cNvGrpSpPr>
            <p:nvPr/>
          </p:nvGrpSpPr>
          <p:grpSpPr bwMode="auto">
            <a:xfrm>
              <a:off x="2160" y="1680"/>
              <a:ext cx="1632" cy="144"/>
              <a:chOff x="1824" y="1680"/>
              <a:chExt cx="2352" cy="144"/>
            </a:xfrm>
          </p:grpSpPr>
          <p:sp>
            <p:nvSpPr>
              <p:cNvPr id="37921" name="Rectangle 5"/>
              <p:cNvSpPr>
                <a:spLocks noChangeArrowheads="1"/>
              </p:cNvSpPr>
              <p:nvPr/>
            </p:nvSpPr>
            <p:spPr bwMode="auto">
              <a:xfrm>
                <a:off x="1824" y="1680"/>
                <a:ext cx="336" cy="14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22" name="Rectangle 6"/>
              <p:cNvSpPr>
                <a:spLocks noChangeArrowheads="1"/>
              </p:cNvSpPr>
              <p:nvPr/>
            </p:nvSpPr>
            <p:spPr bwMode="auto">
              <a:xfrm>
                <a:off x="3840" y="1680"/>
                <a:ext cx="336" cy="14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23" name="Rectangle 7"/>
              <p:cNvSpPr>
                <a:spLocks noChangeArrowheads="1"/>
              </p:cNvSpPr>
              <p:nvPr/>
            </p:nvSpPr>
            <p:spPr bwMode="auto">
              <a:xfrm>
                <a:off x="3504" y="1680"/>
                <a:ext cx="336"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24" name="Rectangle 8"/>
              <p:cNvSpPr>
                <a:spLocks noChangeArrowheads="1"/>
              </p:cNvSpPr>
              <p:nvPr/>
            </p:nvSpPr>
            <p:spPr bwMode="auto">
              <a:xfrm>
                <a:off x="3168" y="1680"/>
                <a:ext cx="336" cy="14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25" name="Rectangle 9"/>
              <p:cNvSpPr>
                <a:spLocks noChangeArrowheads="1"/>
              </p:cNvSpPr>
              <p:nvPr/>
            </p:nvSpPr>
            <p:spPr bwMode="auto">
              <a:xfrm>
                <a:off x="2832" y="1680"/>
                <a:ext cx="336"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26" name="Rectangle 10"/>
              <p:cNvSpPr>
                <a:spLocks noChangeArrowheads="1"/>
              </p:cNvSpPr>
              <p:nvPr/>
            </p:nvSpPr>
            <p:spPr bwMode="auto">
              <a:xfrm>
                <a:off x="2496" y="1680"/>
                <a:ext cx="336" cy="14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27" name="Rectangle 11"/>
              <p:cNvSpPr>
                <a:spLocks noChangeArrowheads="1"/>
              </p:cNvSpPr>
              <p:nvPr/>
            </p:nvSpPr>
            <p:spPr bwMode="auto">
              <a:xfrm>
                <a:off x="2160" y="1680"/>
                <a:ext cx="336"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grpSp>
        <p:sp>
          <p:nvSpPr>
            <p:cNvPr id="37919" name="Line 12"/>
            <p:cNvSpPr>
              <a:spLocks noChangeShapeType="1"/>
            </p:cNvSpPr>
            <p:nvPr/>
          </p:nvSpPr>
          <p:spPr bwMode="auto">
            <a:xfrm>
              <a:off x="1152" y="1728"/>
              <a:ext cx="1008" cy="0"/>
            </a:xfrm>
            <a:prstGeom prst="line">
              <a:avLst/>
            </a:prstGeom>
            <a:noFill/>
            <a:ln w="57150" cmpd="thinThick">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20" name="Line 13"/>
            <p:cNvSpPr>
              <a:spLocks noChangeShapeType="1"/>
            </p:cNvSpPr>
            <p:nvPr/>
          </p:nvSpPr>
          <p:spPr bwMode="auto">
            <a:xfrm>
              <a:off x="3792" y="1728"/>
              <a:ext cx="1056" cy="0"/>
            </a:xfrm>
            <a:prstGeom prst="line">
              <a:avLst/>
            </a:prstGeom>
            <a:noFill/>
            <a:ln w="57150" cmpd="thinThick">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37892" name="Group 14"/>
          <p:cNvGrpSpPr>
            <a:grpSpLocks/>
          </p:cNvGrpSpPr>
          <p:nvPr/>
        </p:nvGrpSpPr>
        <p:grpSpPr bwMode="auto">
          <a:xfrm>
            <a:off x="1752600" y="3505200"/>
            <a:ext cx="6248400" cy="228600"/>
            <a:chOff x="1104" y="2208"/>
            <a:chExt cx="3936" cy="144"/>
          </a:xfrm>
        </p:grpSpPr>
        <p:grpSp>
          <p:nvGrpSpPr>
            <p:cNvPr id="37907" name="Group 15"/>
            <p:cNvGrpSpPr>
              <a:grpSpLocks/>
            </p:cNvGrpSpPr>
            <p:nvPr/>
          </p:nvGrpSpPr>
          <p:grpSpPr bwMode="auto">
            <a:xfrm>
              <a:off x="2112" y="2208"/>
              <a:ext cx="1872" cy="144"/>
              <a:chOff x="1824" y="2304"/>
              <a:chExt cx="2688" cy="144"/>
            </a:xfrm>
          </p:grpSpPr>
          <p:sp>
            <p:nvSpPr>
              <p:cNvPr id="37910" name="Rectangle 16"/>
              <p:cNvSpPr>
                <a:spLocks noChangeArrowheads="1"/>
              </p:cNvSpPr>
              <p:nvPr/>
            </p:nvSpPr>
            <p:spPr bwMode="auto">
              <a:xfrm>
                <a:off x="1824" y="2304"/>
                <a:ext cx="336" cy="14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11" name="Rectangle 17"/>
              <p:cNvSpPr>
                <a:spLocks noChangeArrowheads="1"/>
              </p:cNvSpPr>
              <p:nvPr/>
            </p:nvSpPr>
            <p:spPr bwMode="auto">
              <a:xfrm>
                <a:off x="3840" y="2304"/>
                <a:ext cx="336" cy="14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12" name="Rectangle 18"/>
              <p:cNvSpPr>
                <a:spLocks noChangeArrowheads="1"/>
              </p:cNvSpPr>
              <p:nvPr/>
            </p:nvSpPr>
            <p:spPr bwMode="auto">
              <a:xfrm>
                <a:off x="3504" y="2304"/>
                <a:ext cx="336"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13" name="Rectangle 19"/>
              <p:cNvSpPr>
                <a:spLocks noChangeArrowheads="1"/>
              </p:cNvSpPr>
              <p:nvPr/>
            </p:nvSpPr>
            <p:spPr bwMode="auto">
              <a:xfrm>
                <a:off x="3168" y="2304"/>
                <a:ext cx="336" cy="14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14" name="Rectangle 20"/>
              <p:cNvSpPr>
                <a:spLocks noChangeArrowheads="1"/>
              </p:cNvSpPr>
              <p:nvPr/>
            </p:nvSpPr>
            <p:spPr bwMode="auto">
              <a:xfrm>
                <a:off x="2832" y="2304"/>
                <a:ext cx="336"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15" name="Rectangle 21"/>
              <p:cNvSpPr>
                <a:spLocks noChangeArrowheads="1"/>
              </p:cNvSpPr>
              <p:nvPr/>
            </p:nvSpPr>
            <p:spPr bwMode="auto">
              <a:xfrm>
                <a:off x="2496" y="2304"/>
                <a:ext cx="336" cy="144"/>
              </a:xfrm>
              <a:prstGeom prst="rect">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16" name="Rectangle 22"/>
              <p:cNvSpPr>
                <a:spLocks noChangeArrowheads="1"/>
              </p:cNvSpPr>
              <p:nvPr/>
            </p:nvSpPr>
            <p:spPr bwMode="auto">
              <a:xfrm>
                <a:off x="2160" y="2304"/>
                <a:ext cx="336"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37917" name="Rectangle 23"/>
              <p:cNvSpPr>
                <a:spLocks noChangeArrowheads="1"/>
              </p:cNvSpPr>
              <p:nvPr/>
            </p:nvSpPr>
            <p:spPr bwMode="auto">
              <a:xfrm>
                <a:off x="4176" y="2304"/>
                <a:ext cx="336" cy="144"/>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grpSp>
        <p:sp>
          <p:nvSpPr>
            <p:cNvPr id="37908" name="Line 24"/>
            <p:cNvSpPr>
              <a:spLocks noChangeShapeType="1"/>
            </p:cNvSpPr>
            <p:nvPr/>
          </p:nvSpPr>
          <p:spPr bwMode="auto">
            <a:xfrm>
              <a:off x="1104" y="2304"/>
              <a:ext cx="1008" cy="0"/>
            </a:xfrm>
            <a:prstGeom prst="line">
              <a:avLst/>
            </a:prstGeom>
            <a:noFill/>
            <a:ln w="57150" cmpd="thinThick">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09" name="Line 25"/>
            <p:cNvSpPr>
              <a:spLocks noChangeShapeType="1"/>
            </p:cNvSpPr>
            <p:nvPr/>
          </p:nvSpPr>
          <p:spPr bwMode="auto">
            <a:xfrm>
              <a:off x="3984" y="2304"/>
              <a:ext cx="1056" cy="0"/>
            </a:xfrm>
            <a:prstGeom prst="line">
              <a:avLst/>
            </a:prstGeom>
            <a:noFill/>
            <a:ln w="57150" cmpd="thinThick">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1306" name="Group 26"/>
          <p:cNvGrpSpPr>
            <a:grpSpLocks/>
          </p:cNvGrpSpPr>
          <p:nvPr/>
        </p:nvGrpSpPr>
        <p:grpSpPr bwMode="auto">
          <a:xfrm>
            <a:off x="2133600" y="2514600"/>
            <a:ext cx="1066800" cy="914400"/>
            <a:chOff x="1344" y="1584"/>
            <a:chExt cx="672" cy="576"/>
          </a:xfrm>
        </p:grpSpPr>
        <p:sp>
          <p:nvSpPr>
            <p:cNvPr id="37905" name="Line 27"/>
            <p:cNvSpPr>
              <a:spLocks noChangeShapeType="1"/>
            </p:cNvSpPr>
            <p:nvPr/>
          </p:nvSpPr>
          <p:spPr bwMode="auto">
            <a:xfrm>
              <a:off x="1344" y="2160"/>
              <a:ext cx="67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06" name="Line 28"/>
            <p:cNvSpPr>
              <a:spLocks noChangeShapeType="1"/>
            </p:cNvSpPr>
            <p:nvPr/>
          </p:nvSpPr>
          <p:spPr bwMode="auto">
            <a:xfrm>
              <a:off x="1344" y="1584"/>
              <a:ext cx="672"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1309" name="Group 29"/>
          <p:cNvGrpSpPr>
            <a:grpSpLocks/>
          </p:cNvGrpSpPr>
          <p:nvPr/>
        </p:nvGrpSpPr>
        <p:grpSpPr bwMode="auto">
          <a:xfrm>
            <a:off x="6248400" y="2895600"/>
            <a:ext cx="1143000" cy="914400"/>
            <a:chOff x="3936" y="1824"/>
            <a:chExt cx="720" cy="576"/>
          </a:xfrm>
        </p:grpSpPr>
        <p:sp>
          <p:nvSpPr>
            <p:cNvPr id="37903" name="Line 30"/>
            <p:cNvSpPr>
              <a:spLocks noChangeShapeType="1"/>
            </p:cNvSpPr>
            <p:nvPr/>
          </p:nvSpPr>
          <p:spPr bwMode="auto">
            <a:xfrm flipH="1">
              <a:off x="4080" y="2400"/>
              <a:ext cx="57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04" name="Line 31"/>
            <p:cNvSpPr>
              <a:spLocks noChangeShapeType="1"/>
            </p:cNvSpPr>
            <p:nvPr/>
          </p:nvSpPr>
          <p:spPr bwMode="auto">
            <a:xfrm flipH="1">
              <a:off x="3936" y="1824"/>
              <a:ext cx="576"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7895" name="Text Box 32"/>
          <p:cNvSpPr txBox="1">
            <a:spLocks noChangeArrowheads="1"/>
          </p:cNvSpPr>
          <p:nvPr/>
        </p:nvSpPr>
        <p:spPr bwMode="auto">
          <a:xfrm>
            <a:off x="528638" y="4629150"/>
            <a:ext cx="839311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50000"/>
              </a:spcBef>
              <a:buClrTx/>
              <a:buFontTx/>
              <a:buNone/>
            </a:pPr>
            <a:r>
              <a:rPr lang="en-US" altLang="en-US" sz="2400" i="1">
                <a:solidFill>
                  <a:schemeClr val="bg2"/>
                </a:solidFill>
                <a:latin typeface="Arial" panose="020B0604020202020204" pitchFamily="34" charset="0"/>
              </a:rPr>
              <a:t>The repeat region is variable between samples while the flanking regions where PCR primers bind are constant</a:t>
            </a:r>
            <a:endParaRPr lang="en-US" altLang="en-US" sz="2000" b="0" i="1">
              <a:solidFill>
                <a:schemeClr val="bg2"/>
              </a:solidFill>
              <a:latin typeface="Arial" panose="020B0604020202020204" pitchFamily="34" charset="0"/>
            </a:endParaRPr>
          </a:p>
        </p:txBody>
      </p:sp>
      <p:sp>
        <p:nvSpPr>
          <p:cNvPr id="37896" name="Text Box 33"/>
          <p:cNvSpPr txBox="1">
            <a:spLocks noChangeArrowheads="1"/>
          </p:cNvSpPr>
          <p:nvPr/>
        </p:nvSpPr>
        <p:spPr bwMode="auto">
          <a:xfrm>
            <a:off x="4191000" y="2895600"/>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50000"/>
              </a:spcBef>
              <a:buClrTx/>
              <a:buFontTx/>
              <a:buNone/>
            </a:pPr>
            <a:r>
              <a:rPr lang="en-US" altLang="en-US" sz="2400" b="0">
                <a:solidFill>
                  <a:schemeClr val="bg2"/>
                </a:solidFill>
              </a:rPr>
              <a:t>7 repeats</a:t>
            </a:r>
          </a:p>
        </p:txBody>
      </p:sp>
      <p:sp>
        <p:nvSpPr>
          <p:cNvPr id="37897" name="Text Box 34"/>
          <p:cNvSpPr txBox="1">
            <a:spLocks noChangeArrowheads="1"/>
          </p:cNvSpPr>
          <p:nvPr/>
        </p:nvSpPr>
        <p:spPr bwMode="auto">
          <a:xfrm>
            <a:off x="4267200" y="3810000"/>
            <a:ext cx="1752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50000"/>
              </a:spcBef>
              <a:buClrTx/>
              <a:buFontTx/>
              <a:buNone/>
            </a:pPr>
            <a:r>
              <a:rPr lang="en-US" altLang="en-US" sz="2400" b="0">
                <a:solidFill>
                  <a:schemeClr val="bg2"/>
                </a:solidFill>
              </a:rPr>
              <a:t>8 repeats</a:t>
            </a:r>
          </a:p>
        </p:txBody>
      </p:sp>
      <p:grpSp>
        <p:nvGrpSpPr>
          <p:cNvPr id="481315" name="Group 35"/>
          <p:cNvGrpSpPr>
            <a:grpSpLocks/>
          </p:cNvGrpSpPr>
          <p:nvPr/>
        </p:nvGrpSpPr>
        <p:grpSpPr bwMode="auto">
          <a:xfrm>
            <a:off x="4343400" y="1828800"/>
            <a:ext cx="838200" cy="762000"/>
            <a:chOff x="2256" y="1152"/>
            <a:chExt cx="528" cy="480"/>
          </a:xfrm>
        </p:grpSpPr>
        <p:sp>
          <p:nvSpPr>
            <p:cNvPr id="37900" name="Text Box 36"/>
            <p:cNvSpPr txBox="1">
              <a:spLocks noChangeArrowheads="1"/>
            </p:cNvSpPr>
            <p:nvPr/>
          </p:nvSpPr>
          <p:spPr bwMode="auto">
            <a:xfrm>
              <a:off x="2256" y="1152"/>
              <a:ext cx="528" cy="21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50000"/>
                </a:spcBef>
                <a:buClrTx/>
                <a:buFontTx/>
                <a:buNone/>
              </a:pPr>
              <a:r>
                <a:rPr lang="en-US" altLang="en-US" sz="1600">
                  <a:solidFill>
                    <a:schemeClr val="bg2"/>
                  </a:solidFill>
                </a:rPr>
                <a:t>AATG</a:t>
              </a:r>
              <a:endParaRPr lang="en-US" altLang="en-US" sz="2400" b="0">
                <a:solidFill>
                  <a:schemeClr val="bg2"/>
                </a:solidFill>
              </a:endParaRPr>
            </a:p>
          </p:txBody>
        </p:sp>
        <p:sp>
          <p:nvSpPr>
            <p:cNvPr id="37901" name="Line 37"/>
            <p:cNvSpPr>
              <a:spLocks noChangeShapeType="1"/>
            </p:cNvSpPr>
            <p:nvPr/>
          </p:nvSpPr>
          <p:spPr bwMode="auto">
            <a:xfrm>
              <a:off x="2256" y="1392"/>
              <a:ext cx="14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902" name="Line 38"/>
            <p:cNvSpPr>
              <a:spLocks noChangeShapeType="1"/>
            </p:cNvSpPr>
            <p:nvPr/>
          </p:nvSpPr>
          <p:spPr bwMode="auto">
            <a:xfrm flipH="1">
              <a:off x="2640" y="1392"/>
              <a:ext cx="144"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7899" name="Line 39"/>
          <p:cNvSpPr>
            <a:spLocks noChangeShapeType="1"/>
          </p:cNvSpPr>
          <p:nvPr/>
        </p:nvSpPr>
        <p:spPr bwMode="auto">
          <a:xfrm>
            <a:off x="338138" y="895350"/>
            <a:ext cx="8534400" cy="0"/>
          </a:xfrm>
          <a:prstGeom prst="line">
            <a:avLst/>
          </a:prstGeom>
          <a:noFill/>
          <a:ln w="38100" cmpd="dbl">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transition>
    <p:check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481306"/>
                                        </p:tgtEl>
                                        <p:attrNameLst>
                                          <p:attrName>style.visibility</p:attrName>
                                        </p:attrNameLst>
                                      </p:cBhvr>
                                      <p:to>
                                        <p:strVal val="visible"/>
                                      </p:to>
                                    </p:set>
                                    <p:anim calcmode="lin" valueType="num">
                                      <p:cBhvr additive="base">
                                        <p:cTn id="7" dur="500" fill="hold"/>
                                        <p:tgtEl>
                                          <p:spTgt spid="481306"/>
                                        </p:tgtEl>
                                        <p:attrNameLst>
                                          <p:attrName>ppt_x</p:attrName>
                                        </p:attrNameLst>
                                      </p:cBhvr>
                                      <p:tavLst>
                                        <p:tav tm="0">
                                          <p:val>
                                            <p:strVal val="0-#ppt_w/2"/>
                                          </p:val>
                                        </p:tav>
                                        <p:tav tm="100000">
                                          <p:val>
                                            <p:strVal val="#ppt_x"/>
                                          </p:val>
                                        </p:tav>
                                      </p:tavLst>
                                    </p:anim>
                                    <p:anim calcmode="lin" valueType="num">
                                      <p:cBhvr additive="base">
                                        <p:cTn id="8" dur="500" fill="hold"/>
                                        <p:tgtEl>
                                          <p:spTgt spid="48130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nodeType="afterEffect">
                                  <p:stCondLst>
                                    <p:cond delay="0"/>
                                  </p:stCondLst>
                                  <p:childTnLst>
                                    <p:set>
                                      <p:cBhvr>
                                        <p:cTn id="11" dur="1" fill="hold">
                                          <p:stCondLst>
                                            <p:cond delay="0"/>
                                          </p:stCondLst>
                                        </p:cTn>
                                        <p:tgtEl>
                                          <p:spTgt spid="481309"/>
                                        </p:tgtEl>
                                        <p:attrNameLst>
                                          <p:attrName>style.visibility</p:attrName>
                                        </p:attrNameLst>
                                      </p:cBhvr>
                                      <p:to>
                                        <p:strVal val="visible"/>
                                      </p:to>
                                    </p:set>
                                    <p:anim calcmode="lin" valueType="num">
                                      <p:cBhvr additive="base">
                                        <p:cTn id="12" dur="500" fill="hold"/>
                                        <p:tgtEl>
                                          <p:spTgt spid="481309"/>
                                        </p:tgtEl>
                                        <p:attrNameLst>
                                          <p:attrName>ppt_x</p:attrName>
                                        </p:attrNameLst>
                                      </p:cBhvr>
                                      <p:tavLst>
                                        <p:tav tm="0">
                                          <p:val>
                                            <p:strVal val="1+#ppt_w/2"/>
                                          </p:val>
                                        </p:tav>
                                        <p:tav tm="100000">
                                          <p:val>
                                            <p:strVal val="#ppt_x"/>
                                          </p:val>
                                        </p:tav>
                                      </p:tavLst>
                                    </p:anim>
                                    <p:anim calcmode="lin" valueType="num">
                                      <p:cBhvr additive="base">
                                        <p:cTn id="13" dur="500" fill="hold"/>
                                        <p:tgtEl>
                                          <p:spTgt spid="481309"/>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9" presetClass="entr" presetSubtype="0" fill="hold" nodeType="afterEffect">
                                  <p:stCondLst>
                                    <p:cond delay="0"/>
                                  </p:stCondLst>
                                  <p:childTnLst>
                                    <p:set>
                                      <p:cBhvr>
                                        <p:cTn id="16" dur="1" fill="hold">
                                          <p:stCondLst>
                                            <p:cond delay="0"/>
                                          </p:stCondLst>
                                        </p:cTn>
                                        <p:tgtEl>
                                          <p:spTgt spid="481315"/>
                                        </p:tgtEl>
                                        <p:attrNameLst>
                                          <p:attrName>style.visibility</p:attrName>
                                        </p:attrNameLst>
                                      </p:cBhvr>
                                      <p:to>
                                        <p:strVal val="visible"/>
                                      </p:to>
                                    </p:set>
                                    <p:animEffect transition="in" filter="dissolve">
                                      <p:cBhvr>
                                        <p:cTn id="17" dur="500"/>
                                        <p:tgtEl>
                                          <p:spTgt spid="4813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a:xfrm>
            <a:off x="715963" y="0"/>
            <a:ext cx="7772400" cy="1143000"/>
          </a:xfrm>
        </p:spPr>
        <p:txBody>
          <a:bodyPr/>
          <a:lstStyle/>
          <a:p>
            <a:r>
              <a:rPr lang="en-US" altLang="zh-TW" sz="4000" b="1">
                <a:latin typeface="Comic Sans MS" panose="030F0702030302020204" pitchFamily="66" charset="0"/>
                <a:ea typeface="PMingLiU" panose="02020500000000000000" pitchFamily="18" charset="-120"/>
              </a:rPr>
              <a:t>STR /  Microsatellite</a:t>
            </a:r>
          </a:p>
        </p:txBody>
      </p:sp>
      <p:sp>
        <p:nvSpPr>
          <p:cNvPr id="38915" name="Rectangle 3"/>
          <p:cNvSpPr>
            <a:spLocks noGrp="1" noChangeArrowheads="1"/>
          </p:cNvSpPr>
          <p:nvPr>
            <p:ph type="body" idx="4294967295"/>
          </p:nvPr>
        </p:nvSpPr>
        <p:spPr/>
        <p:txBody>
          <a:bodyPr/>
          <a:lstStyle/>
          <a:p>
            <a:pPr>
              <a:lnSpc>
                <a:spcPct val="90000"/>
              </a:lnSpc>
              <a:spcAft>
                <a:spcPct val="20000"/>
              </a:spcAft>
            </a:pPr>
            <a:r>
              <a:rPr lang="en-US" altLang="zh-TW" sz="2800" b="1">
                <a:latin typeface="Arial" panose="020B0604020202020204" pitchFamily="34" charset="0"/>
                <a:ea typeface="PMingLiU" panose="02020500000000000000" pitchFamily="18" charset="-120"/>
              </a:rPr>
              <a:t>STRs consist of small simple-sequence (e.g. di-, tri-, or tetranucleotide) repeats, which can be detected by PCR with primers </a:t>
            </a:r>
          </a:p>
          <a:p>
            <a:pPr>
              <a:lnSpc>
                <a:spcPct val="90000"/>
              </a:lnSpc>
              <a:spcAft>
                <a:spcPct val="20000"/>
              </a:spcAft>
            </a:pPr>
            <a:r>
              <a:rPr lang="en-US" altLang="zh-TW" sz="2800" b="1">
                <a:latin typeface="Arial" panose="020B0604020202020204" pitchFamily="34" charset="0"/>
                <a:ea typeface="PMingLiU" panose="02020500000000000000" pitchFamily="18" charset="-120"/>
              </a:rPr>
              <a:t>Typically repeat a total of~5 to 30 times</a:t>
            </a:r>
          </a:p>
          <a:p>
            <a:pPr>
              <a:lnSpc>
                <a:spcPct val="90000"/>
              </a:lnSpc>
              <a:spcAft>
                <a:spcPct val="20000"/>
              </a:spcAft>
            </a:pPr>
            <a:r>
              <a:rPr lang="en-US" altLang="zh-TW" sz="2800" b="1">
                <a:latin typeface="Arial" panose="020B0604020202020204" pitchFamily="34" charset="0"/>
                <a:ea typeface="PMingLiU" panose="02020500000000000000" pitchFamily="18" charset="-120"/>
              </a:rPr>
              <a:t>Most commonly is (CA) repeat</a:t>
            </a:r>
          </a:p>
          <a:p>
            <a:pPr>
              <a:lnSpc>
                <a:spcPct val="90000"/>
              </a:lnSpc>
              <a:spcAft>
                <a:spcPct val="20000"/>
              </a:spcAft>
            </a:pPr>
            <a:r>
              <a:rPr lang="en-US" altLang="zh-TW" sz="2800" b="1">
                <a:latin typeface="Arial" panose="020B0604020202020204" pitchFamily="34" charset="0"/>
                <a:ea typeface="PMingLiU" panose="02020500000000000000" pitchFamily="18" charset="-120"/>
              </a:rPr>
              <a:t>Many alleles, more informative than others</a:t>
            </a:r>
          </a:p>
          <a:p>
            <a:pPr>
              <a:lnSpc>
                <a:spcPct val="90000"/>
              </a:lnSpc>
              <a:spcAft>
                <a:spcPct val="20000"/>
              </a:spcAft>
            </a:pPr>
            <a:r>
              <a:rPr lang="en-US" altLang="zh-TW" sz="2800" b="1">
                <a:latin typeface="Arial" panose="020B0604020202020204" pitchFamily="34" charset="0"/>
                <a:ea typeface="PMingLiU" panose="02020500000000000000" pitchFamily="18" charset="-120"/>
              </a:rPr>
              <a:t>Distributed throughout genome</a:t>
            </a:r>
          </a:p>
        </p:txBody>
      </p:sp>
      <p:sp>
        <p:nvSpPr>
          <p:cNvPr id="38916" name="Line 4"/>
          <p:cNvSpPr>
            <a:spLocks noChangeShapeType="1"/>
          </p:cNvSpPr>
          <p:nvPr/>
        </p:nvSpPr>
        <p:spPr bwMode="auto">
          <a:xfrm>
            <a:off x="338138" y="1123950"/>
            <a:ext cx="8534400" cy="0"/>
          </a:xfrm>
          <a:prstGeom prst="line">
            <a:avLst/>
          </a:prstGeom>
          <a:noFill/>
          <a:ln w="38100" cmpd="dbl">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idx="4294967295"/>
          </p:nvPr>
        </p:nvSpPr>
        <p:spPr>
          <a:xfrm>
            <a:off x="715963" y="0"/>
            <a:ext cx="7772400" cy="1143000"/>
          </a:xfrm>
        </p:spPr>
        <p:txBody>
          <a:bodyPr/>
          <a:lstStyle/>
          <a:p>
            <a:r>
              <a:rPr lang="en-US" altLang="zh-TW" sz="4000" b="1">
                <a:latin typeface="Comic Sans MS" panose="030F0702030302020204" pitchFamily="66" charset="0"/>
                <a:ea typeface="PMingLiU" panose="02020500000000000000" pitchFamily="18" charset="-120"/>
              </a:rPr>
              <a:t>STR /  Microsatellite, cont.</a:t>
            </a:r>
          </a:p>
        </p:txBody>
      </p:sp>
      <p:sp>
        <p:nvSpPr>
          <p:cNvPr id="39939" name="Rectangle 3"/>
          <p:cNvSpPr>
            <a:spLocks noGrp="1" noChangeArrowheads="1"/>
          </p:cNvSpPr>
          <p:nvPr>
            <p:ph type="body" idx="4294967295"/>
          </p:nvPr>
        </p:nvSpPr>
        <p:spPr>
          <a:xfrm>
            <a:off x="685800" y="1503363"/>
            <a:ext cx="7772400" cy="4114800"/>
          </a:xfrm>
        </p:spPr>
        <p:txBody>
          <a:bodyPr/>
          <a:lstStyle/>
          <a:p>
            <a:pPr>
              <a:lnSpc>
                <a:spcPct val="90000"/>
              </a:lnSpc>
              <a:spcAft>
                <a:spcPct val="20000"/>
              </a:spcAft>
            </a:pPr>
            <a:r>
              <a:rPr lang="en-US" altLang="zh-TW" sz="2400" b="1">
                <a:latin typeface="Arial" panose="020B0604020202020204" pitchFamily="34" charset="0"/>
                <a:ea typeface="PMingLiU" panose="02020500000000000000" pitchFamily="18" charset="-120"/>
              </a:rPr>
              <a:t>D15S650 (D = DNA, 15 = chromosome 15, S = single copy, 650 = 650</a:t>
            </a:r>
            <a:r>
              <a:rPr lang="en-US" altLang="zh-TW" sz="2400" b="1" baseline="30000">
                <a:latin typeface="Arial" panose="020B0604020202020204" pitchFamily="34" charset="0"/>
                <a:ea typeface="PMingLiU" panose="02020500000000000000" pitchFamily="18" charset="-120"/>
              </a:rPr>
              <a:t>th</a:t>
            </a:r>
            <a:r>
              <a:rPr lang="en-US" altLang="zh-TW" sz="2400" b="1">
                <a:latin typeface="Arial" panose="020B0604020202020204" pitchFamily="34" charset="0"/>
                <a:ea typeface="PMingLiU" panose="02020500000000000000" pitchFamily="18" charset="-120"/>
              </a:rPr>
              <a:t> system described on chr 15)</a:t>
            </a:r>
          </a:p>
          <a:p>
            <a:pPr>
              <a:lnSpc>
                <a:spcPct val="90000"/>
              </a:lnSpc>
              <a:spcAft>
                <a:spcPct val="20000"/>
              </a:spcAft>
            </a:pPr>
            <a:r>
              <a:rPr lang="en-US" altLang="zh-TW" sz="2400" b="1">
                <a:latin typeface="Arial" panose="020B0604020202020204" pitchFamily="34" charset="0"/>
                <a:ea typeface="PMingLiU" panose="02020500000000000000" pitchFamily="18" charset="-120"/>
              </a:rPr>
              <a:t>Alleles indicate the type of repeat, i.e. alleles 136, 139, 142 = trinucleotide repeat</a:t>
            </a:r>
          </a:p>
          <a:p>
            <a:pPr>
              <a:lnSpc>
                <a:spcPct val="90000"/>
              </a:lnSpc>
              <a:spcAft>
                <a:spcPct val="20000"/>
              </a:spcAft>
            </a:pPr>
            <a:r>
              <a:rPr lang="en-US" altLang="zh-TW" sz="2400" b="1">
                <a:latin typeface="Arial" panose="020B0604020202020204" pitchFamily="34" charset="0"/>
                <a:ea typeface="PMingLiU" panose="02020500000000000000" pitchFamily="18" charset="-120"/>
              </a:rPr>
              <a:t>Problem – high mutation rate 10 </a:t>
            </a:r>
            <a:r>
              <a:rPr lang="en-US" altLang="zh-TW" sz="2400" b="1" baseline="30000">
                <a:latin typeface="Arial" panose="020B0604020202020204" pitchFamily="34" charset="0"/>
                <a:ea typeface="PMingLiU" panose="02020500000000000000" pitchFamily="18" charset="-120"/>
              </a:rPr>
              <a:t>-2</a:t>
            </a:r>
            <a:r>
              <a:rPr lang="en-US" altLang="zh-TW" sz="2400" b="1">
                <a:latin typeface="Arial" panose="020B0604020202020204" pitchFamily="34" charset="0"/>
                <a:ea typeface="PMingLiU" panose="02020500000000000000" pitchFamily="18" charset="-120"/>
              </a:rPr>
              <a:t>  to 10 </a:t>
            </a:r>
            <a:r>
              <a:rPr lang="en-US" altLang="zh-TW" sz="2400" b="1" baseline="30000">
                <a:latin typeface="Arial" panose="020B0604020202020204" pitchFamily="34" charset="0"/>
                <a:ea typeface="PMingLiU" panose="02020500000000000000" pitchFamily="18" charset="-120"/>
              </a:rPr>
              <a:t>-6 </a:t>
            </a:r>
            <a:r>
              <a:rPr lang="en-US" altLang="zh-TW" sz="2400" b="1">
                <a:latin typeface="Arial" panose="020B0604020202020204" pitchFamily="34" charset="0"/>
                <a:ea typeface="PMingLiU" panose="02020500000000000000" pitchFamily="18" charset="-120"/>
              </a:rPr>
              <a:t>events per locus per generation</a:t>
            </a:r>
          </a:p>
          <a:p>
            <a:pPr>
              <a:lnSpc>
                <a:spcPct val="90000"/>
              </a:lnSpc>
              <a:spcAft>
                <a:spcPct val="20000"/>
              </a:spcAft>
            </a:pPr>
            <a:r>
              <a:rPr lang="en-US" altLang="zh-TW" sz="2400" b="1">
                <a:latin typeface="Arial" panose="020B0604020202020204" pitchFamily="34" charset="0"/>
                <a:ea typeface="PMingLiU" panose="02020500000000000000" pitchFamily="18" charset="-120"/>
              </a:rPr>
              <a:t>Problem – technical genotyping problems common</a:t>
            </a:r>
          </a:p>
          <a:p>
            <a:pPr>
              <a:lnSpc>
                <a:spcPct val="90000"/>
              </a:lnSpc>
              <a:spcAft>
                <a:spcPct val="20000"/>
              </a:spcAft>
            </a:pPr>
            <a:r>
              <a:rPr lang="en-US" altLang="zh-TW" sz="2400" b="1">
                <a:latin typeface="Arial" panose="020B0604020202020204" pitchFamily="34" charset="0"/>
                <a:ea typeface="PMingLiU" panose="02020500000000000000" pitchFamily="18" charset="-120"/>
              </a:rPr>
              <a:t>Used less often nowadays as genetic markers</a:t>
            </a:r>
          </a:p>
          <a:p>
            <a:pPr>
              <a:lnSpc>
                <a:spcPct val="90000"/>
              </a:lnSpc>
              <a:spcAft>
                <a:spcPct val="20000"/>
              </a:spcAft>
            </a:pPr>
            <a:endParaRPr lang="en-US" altLang="zh-TW" sz="2400" b="1" baseline="30000">
              <a:latin typeface="Arial" panose="020B0604020202020204" pitchFamily="34" charset="0"/>
              <a:ea typeface="PMingLiU" panose="02020500000000000000" pitchFamily="18" charset="-120"/>
            </a:endParaRPr>
          </a:p>
        </p:txBody>
      </p:sp>
      <p:sp>
        <p:nvSpPr>
          <p:cNvPr id="39940" name="Line 4"/>
          <p:cNvSpPr>
            <a:spLocks noChangeShapeType="1"/>
          </p:cNvSpPr>
          <p:nvPr/>
        </p:nvSpPr>
        <p:spPr bwMode="auto">
          <a:xfrm>
            <a:off x="338138" y="1123950"/>
            <a:ext cx="8534400" cy="0"/>
          </a:xfrm>
          <a:prstGeom prst="line">
            <a:avLst/>
          </a:prstGeom>
          <a:noFill/>
          <a:ln w="38100" cmpd="dbl">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2"/>
          <p:cNvSpPr txBox="1">
            <a:spLocks noChangeArrowheads="1"/>
          </p:cNvSpPr>
          <p:nvPr/>
        </p:nvSpPr>
        <p:spPr bwMode="auto">
          <a:xfrm>
            <a:off x="228600" y="331788"/>
            <a:ext cx="8534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eaLnBrk="1" hangingPunct="1">
              <a:spcBef>
                <a:spcPct val="0"/>
              </a:spcBef>
              <a:buClrTx/>
              <a:buFontTx/>
              <a:buNone/>
            </a:pPr>
            <a:r>
              <a:rPr lang="en-US" altLang="en-US">
                <a:solidFill>
                  <a:schemeClr val="bg2"/>
                </a:solidFill>
                <a:latin typeface="Comic Sans MS" panose="030F0702030302020204" pitchFamily="66" charset="0"/>
              </a:rPr>
              <a:t>Two Main Types of Microsatellites . .</a:t>
            </a:r>
            <a:r>
              <a:rPr lang="en-US" altLang="en-US" b="0">
                <a:solidFill>
                  <a:schemeClr val="bg2"/>
                </a:solidFill>
                <a:latin typeface="Tahoma" panose="020B0604030504040204" pitchFamily="34" charset="0"/>
              </a:rPr>
              <a:t> .</a:t>
            </a:r>
            <a:endParaRPr lang="en-GB" altLang="en-US" b="0">
              <a:solidFill>
                <a:schemeClr val="bg2"/>
              </a:solidFill>
              <a:latin typeface="Tahoma" panose="020B0604030504040204" pitchFamily="34" charset="0"/>
            </a:endParaRPr>
          </a:p>
        </p:txBody>
      </p:sp>
      <p:sp>
        <p:nvSpPr>
          <p:cNvPr id="40963" name="Text Box 3"/>
          <p:cNvSpPr txBox="1">
            <a:spLocks noChangeArrowheads="1"/>
          </p:cNvSpPr>
          <p:nvPr/>
        </p:nvSpPr>
        <p:spPr bwMode="auto">
          <a:xfrm>
            <a:off x="2855913" y="1938338"/>
            <a:ext cx="2619375" cy="650875"/>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800">
                <a:solidFill>
                  <a:schemeClr val="accent2"/>
                </a:solidFill>
                <a:latin typeface="Tahoma" panose="020B0604030504040204" pitchFamily="34" charset="0"/>
              </a:rPr>
              <a:t>AACT</a:t>
            </a:r>
            <a:r>
              <a:rPr lang="nl-NL" altLang="en-US" sz="1800">
                <a:solidFill>
                  <a:srgbClr val="FFFF66"/>
                </a:solidFill>
                <a:latin typeface="Tahoma" panose="020B0604030504040204" pitchFamily="34" charset="0"/>
              </a:rPr>
              <a:t>AACT</a:t>
            </a:r>
            <a:r>
              <a:rPr lang="nl-NL" altLang="en-US" sz="1800">
                <a:solidFill>
                  <a:schemeClr val="accent2"/>
                </a:solidFill>
                <a:latin typeface="Tahoma" panose="020B0604030504040204" pitchFamily="34" charset="0"/>
              </a:rPr>
              <a:t>AACT</a:t>
            </a:r>
            <a:r>
              <a:rPr lang="nl-NL" altLang="en-US" sz="1800">
                <a:solidFill>
                  <a:srgbClr val="FFFF66"/>
                </a:solidFill>
                <a:latin typeface="Tahoma" panose="020B0604030504040204" pitchFamily="34" charset="0"/>
              </a:rPr>
              <a:t>AACT</a:t>
            </a:r>
          </a:p>
          <a:p>
            <a:pPr>
              <a:spcBef>
                <a:spcPct val="0"/>
              </a:spcBef>
              <a:buClrTx/>
              <a:buFontTx/>
              <a:buNone/>
            </a:pPr>
            <a:r>
              <a:rPr lang="nl-NL" altLang="en-US" sz="1800">
                <a:solidFill>
                  <a:schemeClr val="accent2"/>
                </a:solidFill>
                <a:latin typeface="Tahoma" panose="020B0604030504040204" pitchFamily="34" charset="0"/>
              </a:rPr>
              <a:t>TTGA</a:t>
            </a:r>
            <a:r>
              <a:rPr lang="nl-NL" altLang="en-US" sz="1800">
                <a:solidFill>
                  <a:srgbClr val="FFFF66"/>
                </a:solidFill>
                <a:latin typeface="Tahoma" panose="020B0604030504040204" pitchFamily="34" charset="0"/>
              </a:rPr>
              <a:t>TTGA</a:t>
            </a:r>
            <a:r>
              <a:rPr lang="nl-NL" altLang="en-US" sz="1800">
                <a:solidFill>
                  <a:schemeClr val="accent2"/>
                </a:solidFill>
                <a:latin typeface="Tahoma" panose="020B0604030504040204" pitchFamily="34" charset="0"/>
              </a:rPr>
              <a:t>TTGA</a:t>
            </a:r>
            <a:r>
              <a:rPr lang="nl-NL" altLang="en-US" sz="1800">
                <a:solidFill>
                  <a:srgbClr val="FFFF66"/>
                </a:solidFill>
                <a:latin typeface="Tahoma" panose="020B0604030504040204" pitchFamily="34" charset="0"/>
              </a:rPr>
              <a:t>TTGA</a:t>
            </a:r>
          </a:p>
        </p:txBody>
      </p:sp>
      <p:sp>
        <p:nvSpPr>
          <p:cNvPr id="40964" name="Line 4"/>
          <p:cNvSpPr>
            <a:spLocks noChangeShapeType="1"/>
          </p:cNvSpPr>
          <p:nvPr/>
        </p:nvSpPr>
        <p:spPr bwMode="auto">
          <a:xfrm>
            <a:off x="5507038" y="2162175"/>
            <a:ext cx="865187"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5" name="Line 5"/>
          <p:cNvSpPr>
            <a:spLocks noChangeShapeType="1"/>
          </p:cNvSpPr>
          <p:nvPr/>
        </p:nvSpPr>
        <p:spPr bwMode="auto">
          <a:xfrm>
            <a:off x="1993900" y="2162175"/>
            <a:ext cx="8651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6" name="Line 6"/>
          <p:cNvSpPr>
            <a:spLocks noChangeShapeType="1"/>
          </p:cNvSpPr>
          <p:nvPr/>
        </p:nvSpPr>
        <p:spPr bwMode="auto">
          <a:xfrm>
            <a:off x="1993900" y="2466975"/>
            <a:ext cx="8651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7" name="Line 7"/>
          <p:cNvSpPr>
            <a:spLocks noChangeShapeType="1"/>
          </p:cNvSpPr>
          <p:nvPr/>
        </p:nvSpPr>
        <p:spPr bwMode="auto">
          <a:xfrm>
            <a:off x="5478463" y="2463800"/>
            <a:ext cx="865187"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8" name="Text Box 8"/>
          <p:cNvSpPr txBox="1">
            <a:spLocks noChangeArrowheads="1"/>
          </p:cNvSpPr>
          <p:nvPr/>
        </p:nvSpPr>
        <p:spPr bwMode="auto">
          <a:xfrm>
            <a:off x="2833688" y="2698750"/>
            <a:ext cx="1406525" cy="650875"/>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800">
                <a:solidFill>
                  <a:schemeClr val="accent2"/>
                </a:solidFill>
                <a:latin typeface="Tahoma" panose="020B0604030504040204" pitchFamily="34" charset="0"/>
              </a:rPr>
              <a:t>AACT</a:t>
            </a:r>
            <a:r>
              <a:rPr lang="nl-NL" altLang="en-US" sz="1800">
                <a:solidFill>
                  <a:srgbClr val="FFFF66"/>
                </a:solidFill>
                <a:latin typeface="Tahoma" panose="020B0604030504040204" pitchFamily="34" charset="0"/>
              </a:rPr>
              <a:t>AACT</a:t>
            </a:r>
          </a:p>
          <a:p>
            <a:pPr>
              <a:spcBef>
                <a:spcPct val="0"/>
              </a:spcBef>
              <a:buClrTx/>
              <a:buFontTx/>
              <a:buNone/>
            </a:pPr>
            <a:r>
              <a:rPr lang="nl-NL" altLang="en-US" sz="1800">
                <a:solidFill>
                  <a:schemeClr val="accent2"/>
                </a:solidFill>
                <a:latin typeface="Tahoma" panose="020B0604030504040204" pitchFamily="34" charset="0"/>
              </a:rPr>
              <a:t>TTGA</a:t>
            </a:r>
            <a:r>
              <a:rPr lang="nl-NL" altLang="en-US" sz="1800">
                <a:solidFill>
                  <a:srgbClr val="FFFF66"/>
                </a:solidFill>
                <a:latin typeface="Tahoma" panose="020B0604030504040204" pitchFamily="34" charset="0"/>
              </a:rPr>
              <a:t>TTGA</a:t>
            </a:r>
          </a:p>
        </p:txBody>
      </p:sp>
      <p:sp>
        <p:nvSpPr>
          <p:cNvPr id="40969" name="Line 9"/>
          <p:cNvSpPr>
            <a:spLocks noChangeShapeType="1"/>
          </p:cNvSpPr>
          <p:nvPr/>
        </p:nvSpPr>
        <p:spPr bwMode="auto">
          <a:xfrm>
            <a:off x="4248150" y="2922588"/>
            <a:ext cx="8651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0" name="Line 10"/>
          <p:cNvSpPr>
            <a:spLocks noChangeShapeType="1"/>
          </p:cNvSpPr>
          <p:nvPr/>
        </p:nvSpPr>
        <p:spPr bwMode="auto">
          <a:xfrm>
            <a:off x="1971675" y="2922588"/>
            <a:ext cx="8651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1" name="Line 11"/>
          <p:cNvSpPr>
            <a:spLocks noChangeShapeType="1"/>
          </p:cNvSpPr>
          <p:nvPr/>
        </p:nvSpPr>
        <p:spPr bwMode="auto">
          <a:xfrm>
            <a:off x="1971675" y="3227388"/>
            <a:ext cx="8651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2" name="Line 12"/>
          <p:cNvSpPr>
            <a:spLocks noChangeShapeType="1"/>
          </p:cNvSpPr>
          <p:nvPr/>
        </p:nvSpPr>
        <p:spPr bwMode="auto">
          <a:xfrm>
            <a:off x="4276725" y="3225800"/>
            <a:ext cx="8651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3" name="Text Box 13"/>
          <p:cNvSpPr txBox="1">
            <a:spLocks noChangeArrowheads="1"/>
          </p:cNvSpPr>
          <p:nvPr/>
        </p:nvSpPr>
        <p:spPr bwMode="auto">
          <a:xfrm>
            <a:off x="784225" y="1938338"/>
            <a:ext cx="1057275" cy="5905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600">
                <a:solidFill>
                  <a:schemeClr val="bg2"/>
                </a:solidFill>
                <a:latin typeface="Tahoma" panose="020B0604030504040204" pitchFamily="34" charset="0"/>
              </a:rPr>
              <a:t>Paternal</a:t>
            </a:r>
          </a:p>
          <a:p>
            <a:pPr>
              <a:spcBef>
                <a:spcPct val="0"/>
              </a:spcBef>
              <a:buClrTx/>
              <a:buFontTx/>
              <a:buNone/>
            </a:pPr>
            <a:r>
              <a:rPr lang="nl-NL" altLang="en-US" sz="1600">
                <a:solidFill>
                  <a:schemeClr val="bg2"/>
                </a:solidFill>
                <a:latin typeface="Tahoma" panose="020B0604030504040204" pitchFamily="34" charset="0"/>
              </a:rPr>
              <a:t>allele</a:t>
            </a:r>
          </a:p>
        </p:txBody>
      </p:sp>
      <p:sp>
        <p:nvSpPr>
          <p:cNvPr id="40974" name="Text Box 14"/>
          <p:cNvSpPr txBox="1">
            <a:spLocks noChangeArrowheads="1"/>
          </p:cNvSpPr>
          <p:nvPr/>
        </p:nvSpPr>
        <p:spPr bwMode="auto">
          <a:xfrm>
            <a:off x="774700" y="2720975"/>
            <a:ext cx="1104900" cy="5905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600">
                <a:solidFill>
                  <a:schemeClr val="bg2"/>
                </a:solidFill>
                <a:latin typeface="Tahoma" panose="020B0604030504040204" pitchFamily="34" charset="0"/>
              </a:rPr>
              <a:t>Maternal</a:t>
            </a:r>
          </a:p>
          <a:p>
            <a:pPr>
              <a:spcBef>
                <a:spcPct val="0"/>
              </a:spcBef>
              <a:buClrTx/>
              <a:buFontTx/>
              <a:buNone/>
            </a:pPr>
            <a:r>
              <a:rPr lang="nl-NL" altLang="en-US" sz="1600">
                <a:solidFill>
                  <a:schemeClr val="bg2"/>
                </a:solidFill>
                <a:latin typeface="Tahoma" panose="020B0604030504040204" pitchFamily="34" charset="0"/>
              </a:rPr>
              <a:t>allele</a:t>
            </a:r>
          </a:p>
        </p:txBody>
      </p:sp>
      <p:sp>
        <p:nvSpPr>
          <p:cNvPr id="40975" name="Line 15"/>
          <p:cNvSpPr>
            <a:spLocks noChangeShapeType="1"/>
          </p:cNvSpPr>
          <p:nvPr/>
        </p:nvSpPr>
        <p:spPr bwMode="auto">
          <a:xfrm>
            <a:off x="6715125" y="2284413"/>
            <a:ext cx="476250" cy="0"/>
          </a:xfrm>
          <a:prstGeom prst="line">
            <a:avLst/>
          </a:prstGeom>
          <a:noFill/>
          <a:ln w="3175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6" name="Text Box 16"/>
          <p:cNvSpPr txBox="1">
            <a:spLocks noChangeArrowheads="1"/>
          </p:cNvSpPr>
          <p:nvPr/>
        </p:nvSpPr>
        <p:spPr bwMode="auto">
          <a:xfrm>
            <a:off x="7297738" y="2055813"/>
            <a:ext cx="1271587" cy="376237"/>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800">
                <a:solidFill>
                  <a:schemeClr val="bg2"/>
                </a:solidFill>
                <a:latin typeface="Tahoma" panose="020B0604030504040204" pitchFamily="34" charset="0"/>
              </a:rPr>
              <a:t>4 repeats</a:t>
            </a:r>
          </a:p>
        </p:txBody>
      </p:sp>
      <p:sp>
        <p:nvSpPr>
          <p:cNvPr id="40977" name="Line 17"/>
          <p:cNvSpPr>
            <a:spLocks noChangeShapeType="1"/>
          </p:cNvSpPr>
          <p:nvPr/>
        </p:nvSpPr>
        <p:spPr bwMode="auto">
          <a:xfrm>
            <a:off x="6742113" y="3060700"/>
            <a:ext cx="476250" cy="0"/>
          </a:xfrm>
          <a:prstGeom prst="line">
            <a:avLst/>
          </a:prstGeom>
          <a:noFill/>
          <a:ln w="3175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8" name="Text Box 18"/>
          <p:cNvSpPr txBox="1">
            <a:spLocks noChangeArrowheads="1"/>
          </p:cNvSpPr>
          <p:nvPr/>
        </p:nvSpPr>
        <p:spPr bwMode="auto">
          <a:xfrm>
            <a:off x="7334250" y="2832100"/>
            <a:ext cx="1271588" cy="376238"/>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800">
                <a:solidFill>
                  <a:schemeClr val="bg2"/>
                </a:solidFill>
                <a:latin typeface="Tahoma" panose="020B0604030504040204" pitchFamily="34" charset="0"/>
              </a:rPr>
              <a:t>2 repeats</a:t>
            </a:r>
          </a:p>
        </p:txBody>
      </p:sp>
      <p:sp>
        <p:nvSpPr>
          <p:cNvPr id="40979" name="Text Box 19"/>
          <p:cNvSpPr txBox="1">
            <a:spLocks noChangeArrowheads="1"/>
          </p:cNvSpPr>
          <p:nvPr/>
        </p:nvSpPr>
        <p:spPr bwMode="auto">
          <a:xfrm>
            <a:off x="812800" y="1274763"/>
            <a:ext cx="2900363" cy="376237"/>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r>
              <a:rPr lang="en-US" altLang="en-US" sz="1800">
                <a:solidFill>
                  <a:schemeClr val="bg2"/>
                </a:solidFill>
                <a:latin typeface="Tahoma" panose="020B0604030504040204" pitchFamily="34" charset="0"/>
              </a:rPr>
              <a:t>Tetranucleotide repeat:</a:t>
            </a:r>
          </a:p>
        </p:txBody>
      </p:sp>
      <p:sp>
        <p:nvSpPr>
          <p:cNvPr id="40980" name="Text Box 20"/>
          <p:cNvSpPr txBox="1">
            <a:spLocks noChangeArrowheads="1"/>
          </p:cNvSpPr>
          <p:nvPr/>
        </p:nvSpPr>
        <p:spPr bwMode="auto">
          <a:xfrm>
            <a:off x="2946400" y="4418013"/>
            <a:ext cx="2671763" cy="652462"/>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800">
                <a:solidFill>
                  <a:schemeClr val="accent2"/>
                </a:solidFill>
                <a:latin typeface="Tahoma" panose="020B0604030504040204" pitchFamily="34" charset="0"/>
              </a:rPr>
              <a:t>CA</a:t>
            </a:r>
            <a:r>
              <a:rPr lang="nl-NL" altLang="en-US" sz="1800">
                <a:solidFill>
                  <a:srgbClr val="FFFF66"/>
                </a:solidFill>
                <a:latin typeface="Tahoma" panose="020B0604030504040204" pitchFamily="34" charset="0"/>
              </a:rPr>
              <a:t>CA</a:t>
            </a:r>
            <a:r>
              <a:rPr lang="nl-NL" altLang="en-US" sz="1800">
                <a:solidFill>
                  <a:schemeClr val="accent2"/>
                </a:solidFill>
                <a:latin typeface="Tahoma" panose="020B0604030504040204" pitchFamily="34" charset="0"/>
              </a:rPr>
              <a:t>CA</a:t>
            </a:r>
            <a:r>
              <a:rPr lang="nl-NL" altLang="en-US" sz="1800">
                <a:solidFill>
                  <a:srgbClr val="FFFF66"/>
                </a:solidFill>
                <a:latin typeface="Tahoma" panose="020B0604030504040204" pitchFamily="34" charset="0"/>
              </a:rPr>
              <a:t>CA</a:t>
            </a:r>
            <a:r>
              <a:rPr lang="nl-NL" altLang="en-US" sz="1800">
                <a:solidFill>
                  <a:schemeClr val="accent2"/>
                </a:solidFill>
                <a:latin typeface="Tahoma" panose="020B0604030504040204" pitchFamily="34" charset="0"/>
              </a:rPr>
              <a:t>CA</a:t>
            </a:r>
            <a:r>
              <a:rPr lang="nl-NL" altLang="en-US" sz="1800">
                <a:solidFill>
                  <a:srgbClr val="FFFF66"/>
                </a:solidFill>
                <a:latin typeface="Tahoma" panose="020B0604030504040204" pitchFamily="34" charset="0"/>
              </a:rPr>
              <a:t>CA</a:t>
            </a:r>
            <a:r>
              <a:rPr lang="nl-NL" altLang="en-US" sz="1800">
                <a:solidFill>
                  <a:schemeClr val="accent2"/>
                </a:solidFill>
                <a:latin typeface="Tahoma" panose="020B0604030504040204" pitchFamily="34" charset="0"/>
              </a:rPr>
              <a:t>CA</a:t>
            </a:r>
            <a:r>
              <a:rPr lang="nl-NL" altLang="en-US" sz="1800">
                <a:solidFill>
                  <a:srgbClr val="FFFF66"/>
                </a:solidFill>
                <a:latin typeface="Tahoma" panose="020B0604030504040204" pitchFamily="34" charset="0"/>
              </a:rPr>
              <a:t>CA</a:t>
            </a:r>
          </a:p>
          <a:p>
            <a:pPr>
              <a:spcBef>
                <a:spcPct val="0"/>
              </a:spcBef>
              <a:buClrTx/>
              <a:buFontTx/>
              <a:buNone/>
            </a:pPr>
            <a:r>
              <a:rPr lang="nl-NL" altLang="en-US" sz="1800">
                <a:solidFill>
                  <a:schemeClr val="accent2"/>
                </a:solidFill>
                <a:latin typeface="Tahoma" panose="020B0604030504040204" pitchFamily="34" charset="0"/>
              </a:rPr>
              <a:t>GT</a:t>
            </a:r>
            <a:r>
              <a:rPr lang="nl-NL" altLang="en-US" sz="1800">
                <a:solidFill>
                  <a:srgbClr val="FFFF66"/>
                </a:solidFill>
                <a:latin typeface="Tahoma" panose="020B0604030504040204" pitchFamily="34" charset="0"/>
              </a:rPr>
              <a:t>GT</a:t>
            </a:r>
            <a:r>
              <a:rPr lang="nl-NL" altLang="en-US" sz="1800">
                <a:solidFill>
                  <a:schemeClr val="accent2"/>
                </a:solidFill>
                <a:latin typeface="Tahoma" panose="020B0604030504040204" pitchFamily="34" charset="0"/>
              </a:rPr>
              <a:t>GT</a:t>
            </a:r>
            <a:r>
              <a:rPr lang="nl-NL" altLang="en-US" sz="1800">
                <a:solidFill>
                  <a:srgbClr val="FFFF66"/>
                </a:solidFill>
                <a:latin typeface="Tahoma" panose="020B0604030504040204" pitchFamily="34" charset="0"/>
              </a:rPr>
              <a:t>GT</a:t>
            </a:r>
            <a:r>
              <a:rPr lang="nl-NL" altLang="en-US" sz="1800">
                <a:solidFill>
                  <a:schemeClr val="accent2"/>
                </a:solidFill>
                <a:latin typeface="Tahoma" panose="020B0604030504040204" pitchFamily="34" charset="0"/>
              </a:rPr>
              <a:t>GT</a:t>
            </a:r>
            <a:r>
              <a:rPr lang="nl-NL" altLang="en-US" sz="1800">
                <a:solidFill>
                  <a:srgbClr val="FFFF66"/>
                </a:solidFill>
                <a:latin typeface="Tahoma" panose="020B0604030504040204" pitchFamily="34" charset="0"/>
              </a:rPr>
              <a:t>GT</a:t>
            </a:r>
            <a:r>
              <a:rPr lang="nl-NL" altLang="en-US" sz="1800">
                <a:solidFill>
                  <a:schemeClr val="accent2"/>
                </a:solidFill>
                <a:latin typeface="Tahoma" panose="020B0604030504040204" pitchFamily="34" charset="0"/>
              </a:rPr>
              <a:t>GT</a:t>
            </a:r>
            <a:r>
              <a:rPr lang="nl-NL" altLang="en-US" sz="1800">
                <a:solidFill>
                  <a:srgbClr val="FFFF66"/>
                </a:solidFill>
                <a:latin typeface="Tahoma" panose="020B0604030504040204" pitchFamily="34" charset="0"/>
              </a:rPr>
              <a:t>GT</a:t>
            </a:r>
          </a:p>
        </p:txBody>
      </p:sp>
      <p:sp>
        <p:nvSpPr>
          <p:cNvPr id="40981" name="Line 21"/>
          <p:cNvSpPr>
            <a:spLocks noChangeShapeType="1"/>
          </p:cNvSpPr>
          <p:nvPr/>
        </p:nvSpPr>
        <p:spPr bwMode="auto">
          <a:xfrm>
            <a:off x="5610225" y="4641850"/>
            <a:ext cx="8651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2" name="Line 22"/>
          <p:cNvSpPr>
            <a:spLocks noChangeShapeType="1"/>
          </p:cNvSpPr>
          <p:nvPr/>
        </p:nvSpPr>
        <p:spPr bwMode="auto">
          <a:xfrm>
            <a:off x="2085975" y="4641850"/>
            <a:ext cx="865188"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3" name="Line 23"/>
          <p:cNvSpPr>
            <a:spLocks noChangeShapeType="1"/>
          </p:cNvSpPr>
          <p:nvPr/>
        </p:nvSpPr>
        <p:spPr bwMode="auto">
          <a:xfrm>
            <a:off x="2085975" y="4946650"/>
            <a:ext cx="865188"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4" name="Line 24"/>
          <p:cNvSpPr>
            <a:spLocks noChangeShapeType="1"/>
          </p:cNvSpPr>
          <p:nvPr/>
        </p:nvSpPr>
        <p:spPr bwMode="auto">
          <a:xfrm>
            <a:off x="5638800" y="4945063"/>
            <a:ext cx="8651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5" name="Text Box 25"/>
          <p:cNvSpPr txBox="1">
            <a:spLocks noChangeArrowheads="1"/>
          </p:cNvSpPr>
          <p:nvPr/>
        </p:nvSpPr>
        <p:spPr bwMode="auto">
          <a:xfrm>
            <a:off x="2935288" y="5180013"/>
            <a:ext cx="1122362" cy="650875"/>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800">
                <a:solidFill>
                  <a:schemeClr val="accent2"/>
                </a:solidFill>
                <a:latin typeface="Tahoma" panose="020B0604030504040204" pitchFamily="34" charset="0"/>
              </a:rPr>
              <a:t>CA</a:t>
            </a:r>
            <a:r>
              <a:rPr lang="nl-NL" altLang="en-US" sz="1800">
                <a:solidFill>
                  <a:srgbClr val="FFFF66"/>
                </a:solidFill>
                <a:latin typeface="Tahoma" panose="020B0604030504040204" pitchFamily="34" charset="0"/>
              </a:rPr>
              <a:t>CA</a:t>
            </a:r>
            <a:r>
              <a:rPr lang="nl-NL" altLang="en-US" sz="1800">
                <a:solidFill>
                  <a:schemeClr val="accent2"/>
                </a:solidFill>
                <a:latin typeface="Tahoma" panose="020B0604030504040204" pitchFamily="34" charset="0"/>
              </a:rPr>
              <a:t>CA</a:t>
            </a:r>
          </a:p>
          <a:p>
            <a:pPr>
              <a:spcBef>
                <a:spcPct val="0"/>
              </a:spcBef>
              <a:buClrTx/>
              <a:buFontTx/>
              <a:buNone/>
            </a:pPr>
            <a:r>
              <a:rPr lang="nl-NL" altLang="en-US" sz="1800">
                <a:solidFill>
                  <a:schemeClr val="accent2"/>
                </a:solidFill>
                <a:latin typeface="Tahoma" panose="020B0604030504040204" pitchFamily="34" charset="0"/>
              </a:rPr>
              <a:t>GT</a:t>
            </a:r>
            <a:r>
              <a:rPr lang="nl-NL" altLang="en-US" sz="1800">
                <a:solidFill>
                  <a:srgbClr val="FFFF66"/>
                </a:solidFill>
                <a:latin typeface="Tahoma" panose="020B0604030504040204" pitchFamily="34" charset="0"/>
              </a:rPr>
              <a:t>GT</a:t>
            </a:r>
            <a:r>
              <a:rPr lang="nl-NL" altLang="en-US" sz="1800">
                <a:solidFill>
                  <a:schemeClr val="accent2"/>
                </a:solidFill>
                <a:latin typeface="Tahoma" panose="020B0604030504040204" pitchFamily="34" charset="0"/>
              </a:rPr>
              <a:t>GT</a:t>
            </a:r>
          </a:p>
        </p:txBody>
      </p:sp>
      <p:sp>
        <p:nvSpPr>
          <p:cNvPr id="40986" name="Line 26"/>
          <p:cNvSpPr>
            <a:spLocks noChangeShapeType="1"/>
          </p:cNvSpPr>
          <p:nvPr/>
        </p:nvSpPr>
        <p:spPr bwMode="auto">
          <a:xfrm>
            <a:off x="4089400" y="5403850"/>
            <a:ext cx="8636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7" name="Line 27"/>
          <p:cNvSpPr>
            <a:spLocks noChangeShapeType="1"/>
          </p:cNvSpPr>
          <p:nvPr/>
        </p:nvSpPr>
        <p:spPr bwMode="auto">
          <a:xfrm>
            <a:off x="2073275" y="5403850"/>
            <a:ext cx="865188"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8" name="Line 28"/>
          <p:cNvSpPr>
            <a:spLocks noChangeShapeType="1"/>
          </p:cNvSpPr>
          <p:nvPr/>
        </p:nvSpPr>
        <p:spPr bwMode="auto">
          <a:xfrm>
            <a:off x="2073275" y="5692775"/>
            <a:ext cx="865188" cy="0"/>
          </a:xfrm>
          <a:prstGeom prst="line">
            <a:avLst/>
          </a:prstGeom>
          <a:noFill/>
          <a:ln w="254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89" name="Line 29"/>
          <p:cNvSpPr>
            <a:spLocks noChangeShapeType="1"/>
          </p:cNvSpPr>
          <p:nvPr/>
        </p:nvSpPr>
        <p:spPr bwMode="auto">
          <a:xfrm>
            <a:off x="4089400" y="5707063"/>
            <a:ext cx="8636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90" name="Text Box 30"/>
          <p:cNvSpPr txBox="1">
            <a:spLocks noChangeArrowheads="1"/>
          </p:cNvSpPr>
          <p:nvPr/>
        </p:nvSpPr>
        <p:spPr bwMode="auto">
          <a:xfrm>
            <a:off x="876300" y="4402138"/>
            <a:ext cx="1057275" cy="5905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600">
                <a:solidFill>
                  <a:schemeClr val="bg2"/>
                </a:solidFill>
                <a:latin typeface="Tahoma" panose="020B0604030504040204" pitchFamily="34" charset="0"/>
              </a:rPr>
              <a:t>Paternal</a:t>
            </a:r>
          </a:p>
          <a:p>
            <a:pPr>
              <a:spcBef>
                <a:spcPct val="0"/>
              </a:spcBef>
              <a:buClrTx/>
              <a:buFontTx/>
              <a:buNone/>
            </a:pPr>
            <a:r>
              <a:rPr lang="nl-NL" altLang="en-US" sz="1600">
                <a:solidFill>
                  <a:schemeClr val="bg2"/>
                </a:solidFill>
                <a:latin typeface="Tahoma" panose="020B0604030504040204" pitchFamily="34" charset="0"/>
              </a:rPr>
              <a:t>allele</a:t>
            </a:r>
          </a:p>
        </p:txBody>
      </p:sp>
      <p:sp>
        <p:nvSpPr>
          <p:cNvPr id="40991" name="Text Box 31"/>
          <p:cNvSpPr txBox="1">
            <a:spLocks noChangeArrowheads="1"/>
          </p:cNvSpPr>
          <p:nvPr/>
        </p:nvSpPr>
        <p:spPr bwMode="auto">
          <a:xfrm>
            <a:off x="876300" y="5184775"/>
            <a:ext cx="1104900" cy="5905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600">
                <a:solidFill>
                  <a:schemeClr val="bg2"/>
                </a:solidFill>
                <a:latin typeface="Tahoma" panose="020B0604030504040204" pitchFamily="34" charset="0"/>
              </a:rPr>
              <a:t>Maternal</a:t>
            </a:r>
          </a:p>
          <a:p>
            <a:pPr>
              <a:spcBef>
                <a:spcPct val="0"/>
              </a:spcBef>
              <a:buClrTx/>
              <a:buFontTx/>
              <a:buNone/>
            </a:pPr>
            <a:r>
              <a:rPr lang="nl-NL" altLang="en-US" sz="1600">
                <a:solidFill>
                  <a:schemeClr val="bg2"/>
                </a:solidFill>
                <a:latin typeface="Tahoma" panose="020B0604030504040204" pitchFamily="34" charset="0"/>
              </a:rPr>
              <a:t>allele</a:t>
            </a:r>
          </a:p>
        </p:txBody>
      </p:sp>
      <p:sp>
        <p:nvSpPr>
          <p:cNvPr id="40992" name="Line 32"/>
          <p:cNvSpPr>
            <a:spLocks noChangeShapeType="1"/>
          </p:cNvSpPr>
          <p:nvPr/>
        </p:nvSpPr>
        <p:spPr bwMode="auto">
          <a:xfrm>
            <a:off x="6807200" y="4765675"/>
            <a:ext cx="476250" cy="0"/>
          </a:xfrm>
          <a:prstGeom prst="line">
            <a:avLst/>
          </a:prstGeom>
          <a:noFill/>
          <a:ln w="3175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93" name="Text Box 33"/>
          <p:cNvSpPr txBox="1">
            <a:spLocks noChangeArrowheads="1"/>
          </p:cNvSpPr>
          <p:nvPr/>
        </p:nvSpPr>
        <p:spPr bwMode="auto">
          <a:xfrm>
            <a:off x="7399338" y="4535488"/>
            <a:ext cx="1271587" cy="376237"/>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800">
                <a:solidFill>
                  <a:schemeClr val="bg2"/>
                </a:solidFill>
                <a:latin typeface="Tahoma" panose="020B0604030504040204" pitchFamily="34" charset="0"/>
              </a:rPr>
              <a:t>8 repeats</a:t>
            </a:r>
          </a:p>
        </p:txBody>
      </p:sp>
      <p:sp>
        <p:nvSpPr>
          <p:cNvPr id="40994" name="Line 34"/>
          <p:cNvSpPr>
            <a:spLocks noChangeShapeType="1"/>
          </p:cNvSpPr>
          <p:nvPr/>
        </p:nvSpPr>
        <p:spPr bwMode="auto">
          <a:xfrm>
            <a:off x="6843713" y="5541963"/>
            <a:ext cx="476250" cy="0"/>
          </a:xfrm>
          <a:prstGeom prst="line">
            <a:avLst/>
          </a:prstGeom>
          <a:noFill/>
          <a:ln w="3175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95" name="Text Box 35"/>
          <p:cNvSpPr txBox="1">
            <a:spLocks noChangeArrowheads="1"/>
          </p:cNvSpPr>
          <p:nvPr/>
        </p:nvSpPr>
        <p:spPr bwMode="auto">
          <a:xfrm>
            <a:off x="7435850" y="5313363"/>
            <a:ext cx="1271588" cy="376237"/>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nl-NL" altLang="en-US" sz="1800">
                <a:solidFill>
                  <a:schemeClr val="bg2"/>
                </a:solidFill>
                <a:latin typeface="Tahoma" panose="020B0604030504040204" pitchFamily="34" charset="0"/>
              </a:rPr>
              <a:t>3 repeats</a:t>
            </a:r>
          </a:p>
        </p:txBody>
      </p:sp>
      <p:sp>
        <p:nvSpPr>
          <p:cNvPr id="40996" name="Text Box 36"/>
          <p:cNvSpPr txBox="1">
            <a:spLocks noChangeArrowheads="1"/>
          </p:cNvSpPr>
          <p:nvPr/>
        </p:nvSpPr>
        <p:spPr bwMode="auto">
          <a:xfrm>
            <a:off x="904875" y="3738563"/>
            <a:ext cx="2535238" cy="376237"/>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r>
              <a:rPr lang="en-US" altLang="en-US" sz="1800">
                <a:solidFill>
                  <a:schemeClr val="bg2"/>
                </a:solidFill>
                <a:latin typeface="Tahoma" panose="020B0604030504040204" pitchFamily="34" charset="0"/>
              </a:rPr>
              <a:t>Dinucleotide repeat:</a:t>
            </a:r>
          </a:p>
        </p:txBody>
      </p:sp>
      <p:sp>
        <p:nvSpPr>
          <p:cNvPr id="40997" name="Line 37"/>
          <p:cNvSpPr>
            <a:spLocks noChangeShapeType="1"/>
          </p:cNvSpPr>
          <p:nvPr/>
        </p:nvSpPr>
        <p:spPr bwMode="auto">
          <a:xfrm>
            <a:off x="338138" y="1079500"/>
            <a:ext cx="8805862" cy="0"/>
          </a:xfrm>
          <a:prstGeom prst="line">
            <a:avLst/>
          </a:prstGeom>
          <a:noFill/>
          <a:ln w="38100" cmpd="dbl">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010" name="Group 2"/>
          <p:cNvGrpSpPr>
            <a:grpSpLocks/>
          </p:cNvGrpSpPr>
          <p:nvPr/>
        </p:nvGrpSpPr>
        <p:grpSpPr bwMode="auto">
          <a:xfrm>
            <a:off x="1485900" y="1771650"/>
            <a:ext cx="3679825" cy="2057400"/>
            <a:chOff x="960" y="693"/>
            <a:chExt cx="2318" cy="1296"/>
          </a:xfrm>
        </p:grpSpPr>
        <p:grpSp>
          <p:nvGrpSpPr>
            <p:cNvPr id="43038" name="Group 3"/>
            <p:cNvGrpSpPr>
              <a:grpSpLocks/>
            </p:cNvGrpSpPr>
            <p:nvPr/>
          </p:nvGrpSpPr>
          <p:grpSpPr bwMode="auto">
            <a:xfrm>
              <a:off x="960" y="693"/>
              <a:ext cx="2304" cy="192"/>
              <a:chOff x="288" y="864"/>
              <a:chExt cx="2304" cy="192"/>
            </a:xfrm>
          </p:grpSpPr>
          <p:grpSp>
            <p:nvGrpSpPr>
              <p:cNvPr id="43080" name="Group 4"/>
              <p:cNvGrpSpPr>
                <a:grpSpLocks/>
              </p:cNvGrpSpPr>
              <p:nvPr/>
            </p:nvGrpSpPr>
            <p:grpSpPr bwMode="auto">
              <a:xfrm>
                <a:off x="288" y="960"/>
                <a:ext cx="672" cy="0"/>
                <a:chOff x="288" y="1392"/>
                <a:chExt cx="672" cy="0"/>
              </a:xfrm>
            </p:grpSpPr>
            <p:sp>
              <p:nvSpPr>
                <p:cNvPr id="43089" name="Line 5"/>
                <p:cNvSpPr>
                  <a:spLocks noChangeShapeType="1"/>
                </p:cNvSpPr>
                <p:nvPr/>
              </p:nvSpPr>
              <p:spPr bwMode="auto">
                <a:xfrm>
                  <a:off x="288" y="1392"/>
                  <a:ext cx="2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90" name="Line 6"/>
                <p:cNvSpPr>
                  <a:spLocks noChangeShapeType="1"/>
                </p:cNvSpPr>
                <p:nvPr/>
              </p:nvSpPr>
              <p:spPr bwMode="auto">
                <a:xfrm>
                  <a:off x="576"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91" name="Line 7"/>
                <p:cNvSpPr>
                  <a:spLocks noChangeShapeType="1"/>
                </p:cNvSpPr>
                <p:nvPr/>
              </p:nvSpPr>
              <p:spPr bwMode="auto">
                <a:xfrm>
                  <a:off x="768"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3081" name="Rectangle 8"/>
              <p:cNvSpPr>
                <a:spLocks noChangeArrowheads="1"/>
              </p:cNvSpPr>
              <p:nvPr/>
            </p:nvSpPr>
            <p:spPr bwMode="auto">
              <a:xfrm>
                <a:off x="960" y="864"/>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82" name="Rectangle 9"/>
              <p:cNvSpPr>
                <a:spLocks noChangeArrowheads="1"/>
              </p:cNvSpPr>
              <p:nvPr/>
            </p:nvSpPr>
            <p:spPr bwMode="auto">
              <a:xfrm>
                <a:off x="1104" y="864"/>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83" name="Rectangle 10"/>
              <p:cNvSpPr>
                <a:spLocks noChangeArrowheads="1"/>
              </p:cNvSpPr>
              <p:nvPr/>
            </p:nvSpPr>
            <p:spPr bwMode="auto">
              <a:xfrm>
                <a:off x="1248" y="864"/>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84" name="Rectangle 11"/>
              <p:cNvSpPr>
                <a:spLocks noChangeArrowheads="1"/>
              </p:cNvSpPr>
              <p:nvPr/>
            </p:nvSpPr>
            <p:spPr bwMode="auto">
              <a:xfrm>
                <a:off x="1392" y="864"/>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grpSp>
            <p:nvGrpSpPr>
              <p:cNvPr id="43085" name="Group 12"/>
              <p:cNvGrpSpPr>
                <a:grpSpLocks/>
              </p:cNvGrpSpPr>
              <p:nvPr/>
            </p:nvGrpSpPr>
            <p:grpSpPr bwMode="auto">
              <a:xfrm>
                <a:off x="1536" y="960"/>
                <a:ext cx="1056" cy="48"/>
                <a:chOff x="288" y="1392"/>
                <a:chExt cx="672" cy="0"/>
              </a:xfrm>
            </p:grpSpPr>
            <p:sp>
              <p:nvSpPr>
                <p:cNvPr id="43086" name="Line 13"/>
                <p:cNvSpPr>
                  <a:spLocks noChangeShapeType="1"/>
                </p:cNvSpPr>
                <p:nvPr/>
              </p:nvSpPr>
              <p:spPr bwMode="auto">
                <a:xfrm>
                  <a:off x="288" y="1392"/>
                  <a:ext cx="2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87" name="Line 14"/>
                <p:cNvSpPr>
                  <a:spLocks noChangeShapeType="1"/>
                </p:cNvSpPr>
                <p:nvPr/>
              </p:nvSpPr>
              <p:spPr bwMode="auto">
                <a:xfrm>
                  <a:off x="576"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88" name="Line 15"/>
                <p:cNvSpPr>
                  <a:spLocks noChangeShapeType="1"/>
                </p:cNvSpPr>
                <p:nvPr/>
              </p:nvSpPr>
              <p:spPr bwMode="auto">
                <a:xfrm>
                  <a:off x="768"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43039" name="Group 16"/>
            <p:cNvGrpSpPr>
              <a:grpSpLocks/>
            </p:cNvGrpSpPr>
            <p:nvPr/>
          </p:nvGrpSpPr>
          <p:grpSpPr bwMode="auto">
            <a:xfrm>
              <a:off x="960" y="1029"/>
              <a:ext cx="2318" cy="192"/>
              <a:chOff x="288" y="1632"/>
              <a:chExt cx="2318" cy="192"/>
            </a:xfrm>
          </p:grpSpPr>
          <p:sp>
            <p:nvSpPr>
              <p:cNvPr id="43066" name="Rectangle 17"/>
              <p:cNvSpPr>
                <a:spLocks noChangeArrowheads="1"/>
              </p:cNvSpPr>
              <p:nvPr/>
            </p:nvSpPr>
            <p:spPr bwMode="auto">
              <a:xfrm>
                <a:off x="1104" y="1632"/>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grpSp>
            <p:nvGrpSpPr>
              <p:cNvPr id="43067" name="Group 18"/>
              <p:cNvGrpSpPr>
                <a:grpSpLocks/>
              </p:cNvGrpSpPr>
              <p:nvPr/>
            </p:nvGrpSpPr>
            <p:grpSpPr bwMode="auto">
              <a:xfrm>
                <a:off x="288" y="1632"/>
                <a:ext cx="2318" cy="192"/>
                <a:chOff x="288" y="1632"/>
                <a:chExt cx="2318" cy="192"/>
              </a:xfrm>
            </p:grpSpPr>
            <p:sp>
              <p:nvSpPr>
                <p:cNvPr id="43068" name="Rectangle 19"/>
                <p:cNvSpPr>
                  <a:spLocks noChangeArrowheads="1"/>
                </p:cNvSpPr>
                <p:nvPr/>
              </p:nvSpPr>
              <p:spPr bwMode="auto">
                <a:xfrm>
                  <a:off x="1536" y="1632"/>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69" name="Rectangle 20"/>
                <p:cNvSpPr>
                  <a:spLocks noChangeArrowheads="1"/>
                </p:cNvSpPr>
                <p:nvPr/>
              </p:nvSpPr>
              <p:spPr bwMode="auto">
                <a:xfrm>
                  <a:off x="1680" y="1632"/>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grpSp>
              <p:nvGrpSpPr>
                <p:cNvPr id="43070" name="Group 21"/>
                <p:cNvGrpSpPr>
                  <a:grpSpLocks/>
                </p:cNvGrpSpPr>
                <p:nvPr/>
              </p:nvGrpSpPr>
              <p:grpSpPr bwMode="auto">
                <a:xfrm>
                  <a:off x="288" y="1728"/>
                  <a:ext cx="672" cy="0"/>
                  <a:chOff x="288" y="1392"/>
                  <a:chExt cx="672" cy="0"/>
                </a:xfrm>
              </p:grpSpPr>
              <p:sp>
                <p:nvSpPr>
                  <p:cNvPr id="43077" name="Line 22"/>
                  <p:cNvSpPr>
                    <a:spLocks noChangeShapeType="1"/>
                  </p:cNvSpPr>
                  <p:nvPr/>
                </p:nvSpPr>
                <p:spPr bwMode="auto">
                  <a:xfrm>
                    <a:off x="288" y="1392"/>
                    <a:ext cx="2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78" name="Line 23"/>
                  <p:cNvSpPr>
                    <a:spLocks noChangeShapeType="1"/>
                  </p:cNvSpPr>
                  <p:nvPr/>
                </p:nvSpPr>
                <p:spPr bwMode="auto">
                  <a:xfrm>
                    <a:off x="576"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79" name="Line 24"/>
                  <p:cNvSpPr>
                    <a:spLocks noChangeShapeType="1"/>
                  </p:cNvSpPr>
                  <p:nvPr/>
                </p:nvSpPr>
                <p:spPr bwMode="auto">
                  <a:xfrm>
                    <a:off x="768"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3071" name="Rectangle 25"/>
                <p:cNvSpPr>
                  <a:spLocks noChangeArrowheads="1"/>
                </p:cNvSpPr>
                <p:nvPr/>
              </p:nvSpPr>
              <p:spPr bwMode="auto">
                <a:xfrm>
                  <a:off x="960" y="1632"/>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72" name="Rectangle 26"/>
                <p:cNvSpPr>
                  <a:spLocks noChangeArrowheads="1"/>
                </p:cNvSpPr>
                <p:nvPr/>
              </p:nvSpPr>
              <p:spPr bwMode="auto">
                <a:xfrm>
                  <a:off x="1248" y="1632"/>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73" name="Rectangle 27"/>
                <p:cNvSpPr>
                  <a:spLocks noChangeArrowheads="1"/>
                </p:cNvSpPr>
                <p:nvPr/>
              </p:nvSpPr>
              <p:spPr bwMode="auto">
                <a:xfrm>
                  <a:off x="1392" y="1632"/>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74" name="Line 28"/>
                <p:cNvSpPr>
                  <a:spLocks noChangeShapeType="1"/>
                </p:cNvSpPr>
                <p:nvPr/>
              </p:nvSpPr>
              <p:spPr bwMode="auto">
                <a:xfrm>
                  <a:off x="1824" y="1728"/>
                  <a:ext cx="453"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75" name="Line 29"/>
                <p:cNvSpPr>
                  <a:spLocks noChangeShapeType="1"/>
                </p:cNvSpPr>
                <p:nvPr/>
              </p:nvSpPr>
              <p:spPr bwMode="auto">
                <a:xfrm>
                  <a:off x="2064" y="1728"/>
                  <a:ext cx="24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76" name="Line 30"/>
                <p:cNvSpPr>
                  <a:spLocks noChangeShapeType="1"/>
                </p:cNvSpPr>
                <p:nvPr/>
              </p:nvSpPr>
              <p:spPr bwMode="auto">
                <a:xfrm>
                  <a:off x="2304" y="1728"/>
                  <a:ext cx="30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43040" name="Group 31"/>
            <p:cNvGrpSpPr>
              <a:grpSpLocks/>
            </p:cNvGrpSpPr>
            <p:nvPr/>
          </p:nvGrpSpPr>
          <p:grpSpPr bwMode="auto">
            <a:xfrm>
              <a:off x="960" y="1461"/>
              <a:ext cx="2304" cy="192"/>
              <a:chOff x="336" y="1632"/>
              <a:chExt cx="2304" cy="192"/>
            </a:xfrm>
          </p:grpSpPr>
          <p:sp>
            <p:nvSpPr>
              <p:cNvPr id="43053" name="Rectangle 32"/>
              <p:cNvSpPr>
                <a:spLocks noChangeArrowheads="1"/>
              </p:cNvSpPr>
              <p:nvPr/>
            </p:nvSpPr>
            <p:spPr bwMode="auto">
              <a:xfrm>
                <a:off x="1584" y="1632"/>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grpSp>
            <p:nvGrpSpPr>
              <p:cNvPr id="43054" name="Group 33"/>
              <p:cNvGrpSpPr>
                <a:grpSpLocks/>
              </p:cNvGrpSpPr>
              <p:nvPr/>
            </p:nvGrpSpPr>
            <p:grpSpPr bwMode="auto">
              <a:xfrm>
                <a:off x="336" y="1728"/>
                <a:ext cx="672" cy="0"/>
                <a:chOff x="288" y="1392"/>
                <a:chExt cx="672" cy="0"/>
              </a:xfrm>
            </p:grpSpPr>
            <p:sp>
              <p:nvSpPr>
                <p:cNvPr id="43063" name="Line 34"/>
                <p:cNvSpPr>
                  <a:spLocks noChangeShapeType="1"/>
                </p:cNvSpPr>
                <p:nvPr/>
              </p:nvSpPr>
              <p:spPr bwMode="auto">
                <a:xfrm>
                  <a:off x="288" y="1392"/>
                  <a:ext cx="2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64" name="Line 35"/>
                <p:cNvSpPr>
                  <a:spLocks noChangeShapeType="1"/>
                </p:cNvSpPr>
                <p:nvPr/>
              </p:nvSpPr>
              <p:spPr bwMode="auto">
                <a:xfrm>
                  <a:off x="576"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65" name="Line 36"/>
                <p:cNvSpPr>
                  <a:spLocks noChangeShapeType="1"/>
                </p:cNvSpPr>
                <p:nvPr/>
              </p:nvSpPr>
              <p:spPr bwMode="auto">
                <a:xfrm>
                  <a:off x="768"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sp>
            <p:nvSpPr>
              <p:cNvPr id="43055" name="Rectangle 37"/>
              <p:cNvSpPr>
                <a:spLocks noChangeArrowheads="1"/>
              </p:cNvSpPr>
              <p:nvPr/>
            </p:nvSpPr>
            <p:spPr bwMode="auto">
              <a:xfrm>
                <a:off x="1008" y="1632"/>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56" name="Rectangle 38"/>
              <p:cNvSpPr>
                <a:spLocks noChangeArrowheads="1"/>
              </p:cNvSpPr>
              <p:nvPr/>
            </p:nvSpPr>
            <p:spPr bwMode="auto">
              <a:xfrm>
                <a:off x="1152" y="1632"/>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57" name="Rectangle 39"/>
              <p:cNvSpPr>
                <a:spLocks noChangeArrowheads="1"/>
              </p:cNvSpPr>
              <p:nvPr/>
            </p:nvSpPr>
            <p:spPr bwMode="auto">
              <a:xfrm>
                <a:off x="1296" y="1632"/>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58" name="Rectangle 40"/>
              <p:cNvSpPr>
                <a:spLocks noChangeArrowheads="1"/>
              </p:cNvSpPr>
              <p:nvPr/>
            </p:nvSpPr>
            <p:spPr bwMode="auto">
              <a:xfrm>
                <a:off x="1440" y="1632"/>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grpSp>
            <p:nvGrpSpPr>
              <p:cNvPr id="43059" name="Group 41"/>
              <p:cNvGrpSpPr>
                <a:grpSpLocks/>
              </p:cNvGrpSpPr>
              <p:nvPr/>
            </p:nvGrpSpPr>
            <p:grpSpPr bwMode="auto">
              <a:xfrm>
                <a:off x="1728" y="1728"/>
                <a:ext cx="912" cy="48"/>
                <a:chOff x="288" y="1392"/>
                <a:chExt cx="672" cy="0"/>
              </a:xfrm>
            </p:grpSpPr>
            <p:sp>
              <p:nvSpPr>
                <p:cNvPr id="43060" name="Line 42"/>
                <p:cNvSpPr>
                  <a:spLocks noChangeShapeType="1"/>
                </p:cNvSpPr>
                <p:nvPr/>
              </p:nvSpPr>
              <p:spPr bwMode="auto">
                <a:xfrm>
                  <a:off x="288" y="1392"/>
                  <a:ext cx="2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61" name="Line 43"/>
                <p:cNvSpPr>
                  <a:spLocks noChangeShapeType="1"/>
                </p:cNvSpPr>
                <p:nvPr/>
              </p:nvSpPr>
              <p:spPr bwMode="auto">
                <a:xfrm>
                  <a:off x="576"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62" name="Line 44"/>
                <p:cNvSpPr>
                  <a:spLocks noChangeShapeType="1"/>
                </p:cNvSpPr>
                <p:nvPr/>
              </p:nvSpPr>
              <p:spPr bwMode="auto">
                <a:xfrm>
                  <a:off x="768"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grpSp>
          <p:nvGrpSpPr>
            <p:cNvPr id="43041" name="Group 45"/>
            <p:cNvGrpSpPr>
              <a:grpSpLocks/>
            </p:cNvGrpSpPr>
            <p:nvPr/>
          </p:nvGrpSpPr>
          <p:grpSpPr bwMode="auto">
            <a:xfrm>
              <a:off x="960" y="1797"/>
              <a:ext cx="2304" cy="192"/>
              <a:chOff x="336" y="2928"/>
              <a:chExt cx="2352" cy="192"/>
            </a:xfrm>
          </p:grpSpPr>
          <p:grpSp>
            <p:nvGrpSpPr>
              <p:cNvPr id="43042" name="Group 46"/>
              <p:cNvGrpSpPr>
                <a:grpSpLocks/>
              </p:cNvGrpSpPr>
              <p:nvPr/>
            </p:nvGrpSpPr>
            <p:grpSpPr bwMode="auto">
              <a:xfrm>
                <a:off x="336" y="3024"/>
                <a:ext cx="672" cy="0"/>
                <a:chOff x="288" y="1392"/>
                <a:chExt cx="672" cy="0"/>
              </a:xfrm>
            </p:grpSpPr>
            <p:sp>
              <p:nvSpPr>
                <p:cNvPr id="43050" name="Line 47"/>
                <p:cNvSpPr>
                  <a:spLocks noChangeShapeType="1"/>
                </p:cNvSpPr>
                <p:nvPr/>
              </p:nvSpPr>
              <p:spPr bwMode="auto">
                <a:xfrm>
                  <a:off x="288" y="1392"/>
                  <a:ext cx="28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51" name="Line 48"/>
                <p:cNvSpPr>
                  <a:spLocks noChangeShapeType="1"/>
                </p:cNvSpPr>
                <p:nvPr/>
              </p:nvSpPr>
              <p:spPr bwMode="auto">
                <a:xfrm>
                  <a:off x="576"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52" name="Line 49"/>
                <p:cNvSpPr>
                  <a:spLocks noChangeShapeType="1"/>
                </p:cNvSpPr>
                <p:nvPr/>
              </p:nvSpPr>
              <p:spPr bwMode="auto">
                <a:xfrm>
                  <a:off x="768" y="1392"/>
                  <a:ext cx="192"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nvGrpSpPr>
              <p:cNvPr id="43043" name="Group 50"/>
              <p:cNvGrpSpPr>
                <a:grpSpLocks/>
              </p:cNvGrpSpPr>
              <p:nvPr/>
            </p:nvGrpSpPr>
            <p:grpSpPr bwMode="auto">
              <a:xfrm>
                <a:off x="1008" y="2928"/>
                <a:ext cx="432" cy="192"/>
                <a:chOff x="1008" y="1968"/>
                <a:chExt cx="432" cy="192"/>
              </a:xfrm>
            </p:grpSpPr>
            <p:sp>
              <p:nvSpPr>
                <p:cNvPr id="43047" name="Rectangle 51"/>
                <p:cNvSpPr>
                  <a:spLocks noChangeArrowheads="1"/>
                </p:cNvSpPr>
                <p:nvPr/>
              </p:nvSpPr>
              <p:spPr bwMode="auto">
                <a:xfrm>
                  <a:off x="1152" y="1968"/>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48" name="Rectangle 52"/>
                <p:cNvSpPr>
                  <a:spLocks noChangeArrowheads="1"/>
                </p:cNvSpPr>
                <p:nvPr/>
              </p:nvSpPr>
              <p:spPr bwMode="auto">
                <a:xfrm>
                  <a:off x="1008" y="1968"/>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49" name="Rectangle 53"/>
                <p:cNvSpPr>
                  <a:spLocks noChangeArrowheads="1"/>
                </p:cNvSpPr>
                <p:nvPr/>
              </p:nvSpPr>
              <p:spPr bwMode="auto">
                <a:xfrm>
                  <a:off x="1296" y="1968"/>
                  <a:ext cx="144" cy="192"/>
                </a:xfrm>
                <a:prstGeom prst="rect">
                  <a:avLst/>
                </a:prstGeom>
                <a:solidFill>
                  <a:schemeClr val="accent1"/>
                </a:solidFill>
                <a:ln w="254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grpSp>
          <p:sp>
            <p:nvSpPr>
              <p:cNvPr id="43044" name="Line 54"/>
              <p:cNvSpPr>
                <a:spLocks noChangeShapeType="1"/>
              </p:cNvSpPr>
              <p:nvPr/>
            </p:nvSpPr>
            <p:spPr bwMode="auto">
              <a:xfrm>
                <a:off x="1440" y="3024"/>
                <a:ext cx="535"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45" name="Line 55"/>
              <p:cNvSpPr>
                <a:spLocks noChangeShapeType="1"/>
              </p:cNvSpPr>
              <p:nvPr/>
            </p:nvSpPr>
            <p:spPr bwMode="auto">
              <a:xfrm>
                <a:off x="1680" y="3024"/>
                <a:ext cx="24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46" name="Line 56"/>
              <p:cNvSpPr>
                <a:spLocks noChangeShapeType="1"/>
              </p:cNvSpPr>
              <p:nvPr/>
            </p:nvSpPr>
            <p:spPr bwMode="auto">
              <a:xfrm>
                <a:off x="1920" y="3024"/>
                <a:ext cx="768"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grpSp>
      </p:grpSp>
      <p:sp>
        <p:nvSpPr>
          <p:cNvPr id="43011" name="Rectangle 57"/>
          <p:cNvSpPr>
            <a:spLocks noChangeArrowheads="1"/>
          </p:cNvSpPr>
          <p:nvPr/>
        </p:nvSpPr>
        <p:spPr bwMode="auto">
          <a:xfrm>
            <a:off x="5753100" y="1520825"/>
            <a:ext cx="457200" cy="1143000"/>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12" name="Text Box 58"/>
          <p:cNvSpPr txBox="1">
            <a:spLocks noChangeArrowheads="1"/>
          </p:cNvSpPr>
          <p:nvPr/>
        </p:nvSpPr>
        <p:spPr bwMode="auto">
          <a:xfrm>
            <a:off x="6275388" y="1858963"/>
            <a:ext cx="304800" cy="649287"/>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50000"/>
              </a:spcBef>
              <a:buClrTx/>
              <a:buFontTx/>
              <a:buNone/>
            </a:pPr>
            <a:r>
              <a:rPr lang="en-US" altLang="en-US" sz="1400">
                <a:solidFill>
                  <a:schemeClr val="bg2"/>
                </a:solidFill>
                <a:latin typeface="Arial" panose="020B0604020202020204" pitchFamily="34" charset="0"/>
              </a:rPr>
              <a:t>6</a:t>
            </a:r>
          </a:p>
          <a:p>
            <a:pPr eaLnBrk="1" hangingPunct="1">
              <a:spcBef>
                <a:spcPct val="50000"/>
              </a:spcBef>
              <a:buClrTx/>
              <a:buFontTx/>
              <a:buNone/>
            </a:pPr>
            <a:r>
              <a:rPr lang="en-US" altLang="en-US" sz="1400">
                <a:solidFill>
                  <a:schemeClr val="bg2"/>
                </a:solidFill>
                <a:latin typeface="Arial" panose="020B0604020202020204" pitchFamily="34" charset="0"/>
              </a:rPr>
              <a:t>4</a:t>
            </a:r>
          </a:p>
        </p:txBody>
      </p:sp>
      <p:sp>
        <p:nvSpPr>
          <p:cNvPr id="43013" name="Line 59"/>
          <p:cNvSpPr>
            <a:spLocks noChangeShapeType="1"/>
          </p:cNvSpPr>
          <p:nvPr/>
        </p:nvSpPr>
        <p:spPr bwMode="auto">
          <a:xfrm>
            <a:off x="5829300" y="1995488"/>
            <a:ext cx="3048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14" name="Line 60"/>
          <p:cNvSpPr>
            <a:spLocks noChangeShapeType="1"/>
          </p:cNvSpPr>
          <p:nvPr/>
        </p:nvSpPr>
        <p:spPr bwMode="auto">
          <a:xfrm>
            <a:off x="5829300" y="2379663"/>
            <a:ext cx="3048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15" name="Rectangle 61"/>
          <p:cNvSpPr>
            <a:spLocks noChangeArrowheads="1"/>
          </p:cNvSpPr>
          <p:nvPr/>
        </p:nvSpPr>
        <p:spPr bwMode="auto">
          <a:xfrm>
            <a:off x="5753100" y="2914650"/>
            <a:ext cx="457200" cy="1185863"/>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16" name="Text Box 62"/>
          <p:cNvSpPr txBox="1">
            <a:spLocks noChangeArrowheads="1"/>
          </p:cNvSpPr>
          <p:nvPr/>
        </p:nvSpPr>
        <p:spPr bwMode="auto">
          <a:xfrm>
            <a:off x="6286500" y="3384550"/>
            <a:ext cx="304800" cy="649288"/>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50000"/>
              </a:spcBef>
              <a:buClrTx/>
              <a:buFontTx/>
              <a:buNone/>
            </a:pPr>
            <a:r>
              <a:rPr lang="en-US" altLang="en-US" sz="1400">
                <a:solidFill>
                  <a:schemeClr val="bg2"/>
                </a:solidFill>
                <a:latin typeface="Arial" panose="020B0604020202020204" pitchFamily="34" charset="0"/>
              </a:rPr>
              <a:t>5</a:t>
            </a:r>
          </a:p>
          <a:p>
            <a:pPr eaLnBrk="1" hangingPunct="1">
              <a:spcBef>
                <a:spcPct val="50000"/>
              </a:spcBef>
              <a:buClrTx/>
              <a:buFontTx/>
              <a:buNone/>
            </a:pPr>
            <a:r>
              <a:rPr lang="en-US" altLang="en-US" sz="1400">
                <a:solidFill>
                  <a:schemeClr val="bg2"/>
                </a:solidFill>
                <a:latin typeface="Arial" panose="020B0604020202020204" pitchFamily="34" charset="0"/>
              </a:rPr>
              <a:t>3</a:t>
            </a:r>
          </a:p>
        </p:txBody>
      </p:sp>
      <p:sp>
        <p:nvSpPr>
          <p:cNvPr id="43017" name="Line 63"/>
          <p:cNvSpPr>
            <a:spLocks noChangeShapeType="1"/>
          </p:cNvSpPr>
          <p:nvPr/>
        </p:nvSpPr>
        <p:spPr bwMode="auto">
          <a:xfrm>
            <a:off x="5829300" y="3532188"/>
            <a:ext cx="3048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18" name="Line 64"/>
          <p:cNvSpPr>
            <a:spLocks noChangeShapeType="1"/>
          </p:cNvSpPr>
          <p:nvPr/>
        </p:nvSpPr>
        <p:spPr bwMode="auto">
          <a:xfrm>
            <a:off x="5843588" y="3862388"/>
            <a:ext cx="3048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19" name="Line 65"/>
          <p:cNvSpPr>
            <a:spLocks noChangeShapeType="1"/>
          </p:cNvSpPr>
          <p:nvPr/>
        </p:nvSpPr>
        <p:spPr bwMode="auto">
          <a:xfrm>
            <a:off x="2038350" y="4486275"/>
            <a:ext cx="51816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20" name="Line 66"/>
          <p:cNvSpPr>
            <a:spLocks noChangeShapeType="1"/>
          </p:cNvSpPr>
          <p:nvPr/>
        </p:nvSpPr>
        <p:spPr bwMode="auto">
          <a:xfrm>
            <a:off x="4095750" y="4029075"/>
            <a:ext cx="7620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21" name="Line 67"/>
          <p:cNvSpPr>
            <a:spLocks noChangeShapeType="1"/>
          </p:cNvSpPr>
          <p:nvPr/>
        </p:nvSpPr>
        <p:spPr bwMode="auto">
          <a:xfrm>
            <a:off x="4476750" y="4029075"/>
            <a:ext cx="0" cy="45720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22" name="Line 68"/>
          <p:cNvSpPr>
            <a:spLocks noChangeShapeType="1"/>
          </p:cNvSpPr>
          <p:nvPr/>
        </p:nvSpPr>
        <p:spPr bwMode="auto">
          <a:xfrm>
            <a:off x="2038350" y="4486275"/>
            <a:ext cx="0" cy="15240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23" name="Line 69"/>
          <p:cNvSpPr>
            <a:spLocks noChangeShapeType="1"/>
          </p:cNvSpPr>
          <p:nvPr/>
        </p:nvSpPr>
        <p:spPr bwMode="auto">
          <a:xfrm>
            <a:off x="7219950" y="4486275"/>
            <a:ext cx="0" cy="15240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24" name="Line 70"/>
          <p:cNvSpPr>
            <a:spLocks noChangeShapeType="1"/>
          </p:cNvSpPr>
          <p:nvPr/>
        </p:nvSpPr>
        <p:spPr bwMode="auto">
          <a:xfrm>
            <a:off x="338138" y="1123950"/>
            <a:ext cx="8534400" cy="0"/>
          </a:xfrm>
          <a:prstGeom prst="line">
            <a:avLst/>
          </a:prstGeom>
          <a:noFill/>
          <a:ln w="25400" cmpd="dbl">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43025" name="Picture 71" descr="DSCN2494"/>
          <p:cNvPicPr preferRelativeResize="0">
            <a:picLocks noGrp="1" noChangeAspect="1" noChangeArrowheads="1"/>
          </p:cNvPicPr>
          <p:nvPr>
            <p:ph sz="quarter" idx="4294967295"/>
          </p:nvPr>
        </p:nvPicPr>
        <p:blipFill>
          <a:blip r:embed="rId3">
            <a:extLst>
              <a:ext uri="{28A0092B-C50C-407E-A947-70E740481C1C}">
                <a14:useLocalDpi xmlns:a14="http://schemas.microsoft.com/office/drawing/2010/main" val="0"/>
              </a:ext>
            </a:extLst>
          </a:blip>
          <a:srcRect l="46353" t="21574" r="26981" b="29584"/>
          <a:stretch>
            <a:fillRect/>
          </a:stretch>
        </p:blipFill>
        <p:spPr>
          <a:xfrm>
            <a:off x="1312863" y="4651375"/>
            <a:ext cx="1511300" cy="1806575"/>
          </a:xfrm>
          <a:noFill/>
          <a:ln>
            <a:solidFill>
              <a:schemeClr val="bg2"/>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3026" name="Text Box 72"/>
          <p:cNvSpPr txBox="1">
            <a:spLocks noChangeArrowheads="1"/>
          </p:cNvSpPr>
          <p:nvPr/>
        </p:nvSpPr>
        <p:spPr bwMode="auto">
          <a:xfrm>
            <a:off x="184150" y="0"/>
            <a:ext cx="8534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eaLnBrk="1" hangingPunct="1">
              <a:spcBef>
                <a:spcPct val="0"/>
              </a:spcBef>
              <a:buClrTx/>
              <a:buFontTx/>
              <a:buNone/>
            </a:pPr>
            <a:r>
              <a:rPr lang="en-US" altLang="en-US">
                <a:solidFill>
                  <a:schemeClr val="bg2"/>
                </a:solidFill>
                <a:latin typeface="Comic Sans MS" panose="030F0702030302020204" pitchFamily="66" charset="0"/>
              </a:rPr>
              <a:t>Use for microsatellites: </a:t>
            </a:r>
          </a:p>
          <a:p>
            <a:pPr algn="ctr" eaLnBrk="1" hangingPunct="1">
              <a:spcBef>
                <a:spcPct val="0"/>
              </a:spcBef>
              <a:buClrTx/>
              <a:buFontTx/>
              <a:buNone/>
            </a:pPr>
            <a:r>
              <a:rPr lang="en-US" altLang="en-US">
                <a:solidFill>
                  <a:schemeClr val="bg2"/>
                </a:solidFill>
                <a:latin typeface="Comic Sans MS" panose="030F0702030302020204" pitchFamily="66" charset="0"/>
              </a:rPr>
              <a:t>Paternity Testing</a:t>
            </a:r>
            <a:endParaRPr lang="en-GB" altLang="en-US" b="0">
              <a:solidFill>
                <a:schemeClr val="bg2"/>
              </a:solidFill>
              <a:latin typeface="Tahoma" panose="020B0604030504040204" pitchFamily="34" charset="0"/>
            </a:endParaRPr>
          </a:p>
        </p:txBody>
      </p:sp>
      <p:pic>
        <p:nvPicPr>
          <p:cNvPr id="43027" name="Picture 73" descr="antonio_banderas1"/>
          <p:cNvPicPr preferRelativeResize="0">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6780213" y="1416050"/>
            <a:ext cx="1158875" cy="1458913"/>
          </a:xfrm>
          <a:noFill/>
          <a:ln>
            <a:solidFill>
              <a:schemeClr val="bg2"/>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3028" name="Picture 74" descr="Kari-Lori"/>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l="27362" t="18739" r="51384" b="26543"/>
          <a:stretch>
            <a:fillRect/>
          </a:stretch>
        </p:blipFill>
        <p:spPr bwMode="auto">
          <a:xfrm>
            <a:off x="6842125" y="3089275"/>
            <a:ext cx="1090613" cy="1262063"/>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pic>
        <p:nvPicPr>
          <p:cNvPr id="43029" name="Picture 75" descr="topsail 2006 3 003"/>
          <p:cNvPicPr preferRelativeResize="0">
            <a:picLocks noChangeAspect="1" noChangeArrowheads="1"/>
          </p:cNvPicPr>
          <p:nvPr/>
        </p:nvPicPr>
        <p:blipFill>
          <a:blip r:embed="rId6" cstate="print">
            <a:extLst>
              <a:ext uri="{28A0092B-C50C-407E-A947-70E740481C1C}">
                <a14:useLocalDpi xmlns:a14="http://schemas.microsoft.com/office/drawing/2010/main" val="0"/>
              </a:ext>
            </a:extLst>
          </a:blip>
          <a:srcRect l="37207" t="21225" r="42896" b="50195"/>
          <a:stretch>
            <a:fillRect/>
          </a:stretch>
        </p:blipFill>
        <p:spPr bwMode="auto">
          <a:xfrm>
            <a:off x="6323013" y="4803775"/>
            <a:ext cx="1393825" cy="165417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3030" name="Rectangle 76"/>
          <p:cNvSpPr>
            <a:spLocks noChangeArrowheads="1"/>
          </p:cNvSpPr>
          <p:nvPr/>
        </p:nvSpPr>
        <p:spPr bwMode="auto">
          <a:xfrm>
            <a:off x="238125" y="5078413"/>
            <a:ext cx="457200" cy="1185862"/>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31" name="Text Box 77"/>
          <p:cNvSpPr txBox="1">
            <a:spLocks noChangeArrowheads="1"/>
          </p:cNvSpPr>
          <p:nvPr/>
        </p:nvSpPr>
        <p:spPr bwMode="auto">
          <a:xfrm>
            <a:off x="771525" y="5576888"/>
            <a:ext cx="304800" cy="649287"/>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50000"/>
              </a:spcBef>
              <a:buClrTx/>
              <a:buFontTx/>
              <a:buNone/>
            </a:pPr>
            <a:r>
              <a:rPr lang="en-US" altLang="en-US" sz="1400">
                <a:solidFill>
                  <a:schemeClr val="bg2"/>
                </a:solidFill>
                <a:latin typeface="Arial" panose="020B0604020202020204" pitchFamily="34" charset="0"/>
              </a:rPr>
              <a:t>5</a:t>
            </a:r>
          </a:p>
          <a:p>
            <a:pPr eaLnBrk="1" hangingPunct="1">
              <a:spcBef>
                <a:spcPct val="50000"/>
              </a:spcBef>
              <a:buClrTx/>
              <a:buFontTx/>
              <a:buNone/>
            </a:pPr>
            <a:r>
              <a:rPr lang="en-US" altLang="en-US" sz="1400">
                <a:solidFill>
                  <a:schemeClr val="bg2"/>
                </a:solidFill>
                <a:latin typeface="Arial" panose="020B0604020202020204" pitchFamily="34" charset="0"/>
              </a:rPr>
              <a:t>3</a:t>
            </a:r>
          </a:p>
        </p:txBody>
      </p:sp>
      <p:sp>
        <p:nvSpPr>
          <p:cNvPr id="43032" name="Line 78"/>
          <p:cNvSpPr>
            <a:spLocks noChangeShapeType="1"/>
          </p:cNvSpPr>
          <p:nvPr/>
        </p:nvSpPr>
        <p:spPr bwMode="auto">
          <a:xfrm>
            <a:off x="314325" y="5708650"/>
            <a:ext cx="3048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33" name="Line 79"/>
          <p:cNvSpPr>
            <a:spLocks noChangeShapeType="1"/>
          </p:cNvSpPr>
          <p:nvPr/>
        </p:nvSpPr>
        <p:spPr bwMode="auto">
          <a:xfrm>
            <a:off x="312738" y="6043613"/>
            <a:ext cx="3048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34" name="Rectangle 80"/>
          <p:cNvSpPr>
            <a:spLocks noChangeArrowheads="1"/>
          </p:cNvSpPr>
          <p:nvPr/>
        </p:nvSpPr>
        <p:spPr bwMode="auto">
          <a:xfrm>
            <a:off x="5294313" y="5022850"/>
            <a:ext cx="457200" cy="1185863"/>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43035" name="Text Box 81"/>
          <p:cNvSpPr txBox="1">
            <a:spLocks noChangeArrowheads="1"/>
          </p:cNvSpPr>
          <p:nvPr/>
        </p:nvSpPr>
        <p:spPr bwMode="auto">
          <a:xfrm>
            <a:off x="5827713" y="5164138"/>
            <a:ext cx="304800" cy="649287"/>
          </a:xfrm>
          <a:prstGeom prst="rect">
            <a:avLst/>
          </a:prstGeom>
          <a:noFill/>
          <a:ln w="25400">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50000"/>
              </a:spcBef>
              <a:buClrTx/>
              <a:buFontTx/>
              <a:buNone/>
            </a:pPr>
            <a:r>
              <a:rPr lang="en-US" altLang="en-US" sz="1400">
                <a:solidFill>
                  <a:schemeClr val="bg2"/>
                </a:solidFill>
                <a:latin typeface="Arial" panose="020B0604020202020204" pitchFamily="34" charset="0"/>
              </a:rPr>
              <a:t>9</a:t>
            </a:r>
          </a:p>
          <a:p>
            <a:pPr eaLnBrk="1" hangingPunct="1">
              <a:spcBef>
                <a:spcPct val="50000"/>
              </a:spcBef>
              <a:buClrTx/>
              <a:buFontTx/>
              <a:buNone/>
            </a:pPr>
            <a:r>
              <a:rPr lang="en-US" altLang="en-US" sz="1400">
                <a:solidFill>
                  <a:schemeClr val="bg2"/>
                </a:solidFill>
                <a:latin typeface="Arial" panose="020B0604020202020204" pitchFamily="34" charset="0"/>
              </a:rPr>
              <a:t>5</a:t>
            </a:r>
          </a:p>
        </p:txBody>
      </p:sp>
      <p:sp>
        <p:nvSpPr>
          <p:cNvPr id="43036" name="Line 82"/>
          <p:cNvSpPr>
            <a:spLocks noChangeShapeType="1"/>
          </p:cNvSpPr>
          <p:nvPr/>
        </p:nvSpPr>
        <p:spPr bwMode="auto">
          <a:xfrm>
            <a:off x="5356225" y="5248275"/>
            <a:ext cx="3048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43037" name="Line 83"/>
          <p:cNvSpPr>
            <a:spLocks noChangeShapeType="1"/>
          </p:cNvSpPr>
          <p:nvPr/>
        </p:nvSpPr>
        <p:spPr bwMode="auto">
          <a:xfrm>
            <a:off x="5367338" y="5697538"/>
            <a:ext cx="304800" cy="0"/>
          </a:xfrm>
          <a:prstGeom prst="line">
            <a:avLst/>
          </a:prstGeom>
          <a:noFill/>
          <a:ln w="254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736600" y="871538"/>
            <a:ext cx="7786688" cy="5526087"/>
          </a:xfrm>
          <a:noFill/>
          <a:extLst>
            <a:ext uri="{91240B29-F687-4F45-9708-019B960494DF}">
              <a14:hiddenLine xmlns:a14="http://schemas.microsoft.com/office/drawing/2010/main" w="9525">
                <a:solidFill>
                  <a:schemeClr val="bg2"/>
                </a:solidFill>
                <a:miter lim="800000"/>
                <a:headEnd/>
                <a:tailEnd/>
              </a14:hiddenLine>
            </a:ext>
          </a:extLst>
        </p:spPr>
        <p:txBody>
          <a:bodyPr/>
          <a:lstStyle/>
          <a:p>
            <a:pPr marL="838200" indent="-838200" algn="l"/>
            <a:r>
              <a:rPr lang="en-US" altLang="en-US" sz="2800" b="1" dirty="0">
                <a:latin typeface="Arial" panose="020B0604020202020204" pitchFamily="34" charset="0"/>
              </a:rPr>
              <a:t>        Human genomes vary at multi-</a:t>
            </a:r>
            <a:r>
              <a:rPr lang="en-US" altLang="en-US" sz="2800" b="1" dirty="0" err="1">
                <a:latin typeface="Arial" panose="020B0604020202020204" pitchFamily="34" charset="0"/>
              </a:rPr>
              <a:t>kilobase</a:t>
            </a:r>
            <a:r>
              <a:rPr lang="en-US" altLang="en-US" sz="2800" b="1" dirty="0">
                <a:latin typeface="Arial" panose="020B0604020202020204" pitchFamily="34" charset="0"/>
              </a:rPr>
              <a:t> as well as single-nucleotide scales (</a:t>
            </a:r>
            <a:r>
              <a:rPr lang="en-US" altLang="en-US" sz="2800" b="1" dirty="0" err="1">
                <a:latin typeface="Arial" panose="020B0604020202020204" pitchFamily="34" charset="0"/>
              </a:rPr>
              <a:t>Lafrate</a:t>
            </a:r>
            <a:r>
              <a:rPr lang="en-US" altLang="en-US" sz="2800" b="1" dirty="0">
                <a:latin typeface="Arial" panose="020B0604020202020204" pitchFamily="34" charset="0"/>
              </a:rPr>
              <a:t> et al., Nature Genetics 2004; Sebat et al., Science 2004) </a:t>
            </a:r>
            <a:br>
              <a:rPr lang="en-US" altLang="en-US" sz="2800" b="1" dirty="0">
                <a:latin typeface="Arial" panose="020B0604020202020204" pitchFamily="34" charset="0"/>
              </a:rPr>
            </a:br>
            <a:r>
              <a:rPr lang="en-US" altLang="en-US" sz="2800" b="1" dirty="0">
                <a:latin typeface="Arial" panose="020B0604020202020204" pitchFamily="34" charset="0"/>
              </a:rPr>
              <a:t/>
            </a:r>
            <a:br>
              <a:rPr lang="en-US" altLang="en-US" sz="2800" b="1" dirty="0">
                <a:latin typeface="Arial" panose="020B0604020202020204" pitchFamily="34" charset="0"/>
              </a:rPr>
            </a:br>
            <a:r>
              <a:rPr lang="en-US" altLang="en-US" sz="2800" b="1" dirty="0">
                <a:latin typeface="Arial" panose="020B0604020202020204" pitchFamily="34" charset="0"/>
              </a:rPr>
              <a:t>Defined as variation in copy number of genomic segments 1-500 kb in size</a:t>
            </a:r>
            <a:br>
              <a:rPr lang="en-US" altLang="en-US" sz="2800" b="1" dirty="0">
                <a:latin typeface="Arial" panose="020B0604020202020204" pitchFamily="34" charset="0"/>
              </a:rPr>
            </a:br>
            <a:endParaRPr lang="en-US" altLang="en-US" sz="2800" b="1" dirty="0">
              <a:latin typeface="Arial" panose="020B0604020202020204" pitchFamily="34" charset="0"/>
            </a:endParaRPr>
          </a:p>
        </p:txBody>
      </p:sp>
      <p:sp>
        <p:nvSpPr>
          <p:cNvPr id="45059" name="Text Box 39"/>
          <p:cNvSpPr txBox="1">
            <a:spLocks noChangeArrowheads="1"/>
          </p:cNvSpPr>
          <p:nvPr/>
        </p:nvSpPr>
        <p:spPr bwMode="auto">
          <a:xfrm>
            <a:off x="228600" y="331788"/>
            <a:ext cx="8534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eaLnBrk="1" hangingPunct="1">
              <a:spcBef>
                <a:spcPct val="0"/>
              </a:spcBef>
              <a:buClrTx/>
              <a:buFontTx/>
              <a:buNone/>
            </a:pPr>
            <a:r>
              <a:rPr lang="en-US" altLang="en-US" sz="4000">
                <a:solidFill>
                  <a:schemeClr val="bg2"/>
                </a:solidFill>
                <a:latin typeface="Comic Sans MS" panose="030F0702030302020204" pitchFamily="66" charset="0"/>
              </a:rPr>
              <a:t>Copy Number Variants</a:t>
            </a:r>
            <a:endParaRPr lang="en-GB" altLang="en-US" sz="4000" b="0">
              <a:solidFill>
                <a:schemeClr val="bg2"/>
              </a:solidFill>
              <a:latin typeface="Tahoma" panose="020B0604030504040204" pitchFamily="34" charset="0"/>
            </a:endParaRPr>
          </a:p>
        </p:txBody>
      </p:sp>
      <p:sp>
        <p:nvSpPr>
          <p:cNvPr id="45060" name="Line 41"/>
          <p:cNvSpPr>
            <a:spLocks noChangeShapeType="1"/>
          </p:cNvSpPr>
          <p:nvPr/>
        </p:nvSpPr>
        <p:spPr bwMode="auto">
          <a:xfrm>
            <a:off x="138113" y="1079500"/>
            <a:ext cx="8805862" cy="0"/>
          </a:xfrm>
          <a:prstGeom prst="line">
            <a:avLst/>
          </a:prstGeom>
          <a:noFill/>
          <a:ln w="38100" cmpd="dbl">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177800" y="609600"/>
            <a:ext cx="8759825" cy="1143000"/>
          </a:xfrm>
        </p:spPr>
        <p:txBody>
          <a:bodyPr/>
          <a:lstStyle/>
          <a:p>
            <a:r>
              <a:rPr lang="en-US" altLang="en-US" b="1">
                <a:latin typeface="Comic Sans MS" panose="030F0702030302020204" pitchFamily="66" charset="0"/>
              </a:rPr>
              <a:t>Common misconceptions about copy number variation</a:t>
            </a:r>
          </a:p>
        </p:txBody>
      </p:sp>
      <p:sp>
        <p:nvSpPr>
          <p:cNvPr id="47107" name="Rectangle 3"/>
          <p:cNvSpPr>
            <a:spLocks noGrp="1" noChangeArrowheads="1"/>
          </p:cNvSpPr>
          <p:nvPr>
            <p:ph type="body" idx="4294967295"/>
          </p:nvPr>
        </p:nvSpPr>
        <p:spPr>
          <a:xfrm>
            <a:off x="685800" y="2362200"/>
            <a:ext cx="7772400" cy="3505200"/>
          </a:xfrm>
        </p:spPr>
        <p:txBody>
          <a:bodyPr/>
          <a:lstStyle/>
          <a:p>
            <a:pPr>
              <a:lnSpc>
                <a:spcPct val="90000"/>
              </a:lnSpc>
            </a:pPr>
            <a:r>
              <a:rPr lang="en-US" altLang="en-US" sz="1800" b="1">
                <a:solidFill>
                  <a:srgbClr val="FF0C09"/>
                </a:solidFill>
                <a:latin typeface="Arial" panose="020B0604020202020204" pitchFamily="34" charset="0"/>
              </a:rPr>
              <a:t>Copy number variation is vast -- large (&gt;50 kb) CNVs reported to influence 15-18% of the human genome, greatly exceeding SNP variation</a:t>
            </a:r>
            <a:endParaRPr lang="en-US" altLang="en-US" sz="1800" b="1">
              <a:latin typeface="Arial" panose="020B0604020202020204" pitchFamily="34" charset="0"/>
            </a:endParaRPr>
          </a:p>
          <a:p>
            <a:pPr lvl="2">
              <a:lnSpc>
                <a:spcPct val="90000"/>
              </a:lnSpc>
            </a:pPr>
            <a:endParaRPr lang="en-US" altLang="en-US" sz="1800" b="1">
              <a:latin typeface="Arial" panose="020B0604020202020204" pitchFamily="34" charset="0"/>
            </a:endParaRPr>
          </a:p>
          <a:p>
            <a:pPr lvl="2">
              <a:lnSpc>
                <a:spcPct val="90000"/>
              </a:lnSpc>
            </a:pPr>
            <a:r>
              <a:rPr lang="en-US" altLang="en-US" sz="1800" b="1">
                <a:latin typeface="Arial" panose="020B0604020202020204" pitchFamily="34" charset="0"/>
              </a:rPr>
              <a:t>Redon</a:t>
            </a:r>
            <a:r>
              <a:rPr lang="en-US" altLang="en-US" sz="1800" b="1" i="1">
                <a:latin typeface="Arial" panose="020B0604020202020204" pitchFamily="34" charset="0"/>
              </a:rPr>
              <a:t> et al., Nature </a:t>
            </a:r>
            <a:r>
              <a:rPr lang="en-US" altLang="en-US" sz="1800" b="1">
                <a:latin typeface="Arial" panose="020B0604020202020204" pitchFamily="34" charset="0"/>
              </a:rPr>
              <a:t>2007</a:t>
            </a:r>
            <a:endParaRPr lang="en-US" altLang="en-US" sz="1800" b="1" i="1">
              <a:latin typeface="Arial" panose="020B0604020202020204" pitchFamily="34" charset="0"/>
            </a:endParaRPr>
          </a:p>
          <a:p>
            <a:pPr lvl="2">
              <a:lnSpc>
                <a:spcPct val="90000"/>
              </a:lnSpc>
            </a:pPr>
            <a:r>
              <a:rPr lang="en-US" altLang="en-US" sz="1800" b="1">
                <a:latin typeface="Arial" panose="020B0604020202020204" pitchFamily="34" charset="0"/>
              </a:rPr>
              <a:t>Database of Genomic Variants</a:t>
            </a:r>
          </a:p>
          <a:p>
            <a:pPr lvl="2">
              <a:lnSpc>
                <a:spcPct val="90000"/>
              </a:lnSpc>
            </a:pPr>
            <a:endParaRPr lang="en-US" altLang="en-US" sz="1800" b="1">
              <a:latin typeface="Arial" panose="020B0604020202020204" pitchFamily="34" charset="0"/>
            </a:endParaRPr>
          </a:p>
          <a:p>
            <a:pPr>
              <a:lnSpc>
                <a:spcPct val="90000"/>
              </a:lnSpc>
              <a:buFontTx/>
              <a:buNone/>
            </a:pPr>
            <a:r>
              <a:rPr lang="en-US" altLang="en-US" sz="1800" b="1">
                <a:latin typeface="Arial" panose="020B0604020202020204" pitchFamily="34" charset="0"/>
              </a:rPr>
              <a:t>	</a:t>
            </a:r>
            <a:endParaRPr lang="en-US" altLang="en-US" sz="1800" b="1" i="1">
              <a:solidFill>
                <a:srgbClr val="FF0C12"/>
              </a:solidFill>
              <a:latin typeface="Arial" panose="020B0604020202020204" pitchFamily="34" charset="0"/>
            </a:endParaRPr>
          </a:p>
          <a:p>
            <a:pPr>
              <a:lnSpc>
                <a:spcPct val="90000"/>
              </a:lnSpc>
              <a:buFontTx/>
              <a:buNone/>
            </a:pPr>
            <a:endParaRPr lang="en-US" altLang="en-US" sz="1800" b="1">
              <a:latin typeface="Arial" panose="020B0604020202020204" pitchFamily="34" charset="0"/>
            </a:endParaRPr>
          </a:p>
          <a:p>
            <a:pPr>
              <a:lnSpc>
                <a:spcPct val="90000"/>
              </a:lnSpc>
            </a:pPr>
            <a:r>
              <a:rPr lang="en-US" altLang="en-US" sz="1800" b="1">
                <a:solidFill>
                  <a:srgbClr val="FF0C09"/>
                </a:solidFill>
                <a:latin typeface="Arial" panose="020B0604020202020204" pitchFamily="34" charset="0"/>
              </a:rPr>
              <a:t>CNVs are mostly rare and reflect recent, recurring mutations</a:t>
            </a:r>
            <a:endParaRPr lang="en-US" altLang="en-US" sz="1800" b="1">
              <a:latin typeface="Arial" panose="020B0604020202020204" pitchFamily="34" charset="0"/>
            </a:endParaRPr>
          </a:p>
          <a:p>
            <a:pPr lvl="1">
              <a:lnSpc>
                <a:spcPct val="90000"/>
              </a:lnSpc>
            </a:pPr>
            <a:endParaRPr lang="en-US" altLang="en-US" sz="1800" b="1">
              <a:latin typeface="Arial" panose="020B0604020202020204" pitchFamily="34" charset="0"/>
            </a:endParaRPr>
          </a:p>
          <a:p>
            <a:pPr lvl="2">
              <a:lnSpc>
                <a:spcPct val="90000"/>
              </a:lnSpc>
            </a:pPr>
            <a:r>
              <a:rPr lang="en-US" altLang="en-US" sz="1800" b="1">
                <a:latin typeface="Arial" panose="020B0604020202020204" pitchFamily="34" charset="0"/>
              </a:rPr>
              <a:t>Jakobsson</a:t>
            </a:r>
            <a:r>
              <a:rPr lang="en-US" altLang="en-US" sz="1800" b="1" i="1">
                <a:latin typeface="Arial" panose="020B0604020202020204" pitchFamily="34" charset="0"/>
              </a:rPr>
              <a:t> et al., Nature </a:t>
            </a:r>
            <a:r>
              <a:rPr lang="en-US" altLang="en-US" sz="1800" b="1">
                <a:latin typeface="Arial" panose="020B0604020202020204" pitchFamily="34" charset="0"/>
              </a:rPr>
              <a:t>2008</a:t>
            </a:r>
          </a:p>
          <a:p>
            <a:pPr>
              <a:lnSpc>
                <a:spcPct val="90000"/>
              </a:lnSpc>
            </a:pPr>
            <a:endParaRPr lang="en-US" altLang="en-US" sz="1800" b="1">
              <a:latin typeface="Arial" panose="020B0604020202020204" pitchFamily="34" charset="0"/>
            </a:endParaRPr>
          </a:p>
        </p:txBody>
      </p:sp>
      <p:sp>
        <p:nvSpPr>
          <p:cNvPr id="47108" name="Line 5"/>
          <p:cNvSpPr>
            <a:spLocks noChangeShapeType="1"/>
          </p:cNvSpPr>
          <p:nvPr/>
        </p:nvSpPr>
        <p:spPr bwMode="auto">
          <a:xfrm>
            <a:off x="138113" y="2108200"/>
            <a:ext cx="8805862" cy="0"/>
          </a:xfrm>
          <a:prstGeom prst="line">
            <a:avLst/>
          </a:prstGeom>
          <a:noFill/>
          <a:ln w="38100" cmpd="dbl">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71438" y="295275"/>
            <a:ext cx="8907462" cy="1143000"/>
          </a:xfrm>
        </p:spPr>
        <p:txBody>
          <a:bodyPr/>
          <a:lstStyle/>
          <a:p>
            <a:r>
              <a:rPr lang="en-US" altLang="en-US" sz="4000" b="1">
                <a:latin typeface="Comic Sans MS" panose="030F0702030302020204" pitchFamily="66" charset="0"/>
              </a:rPr>
              <a:t>Common </a:t>
            </a:r>
            <a:r>
              <a:rPr lang="en-US" altLang="en-US" sz="4000" b="1">
                <a:solidFill>
                  <a:srgbClr val="FF0C09"/>
                </a:solidFill>
                <a:latin typeface="Comic Sans MS" panose="030F0702030302020204" pitchFamily="66" charset="0"/>
              </a:rPr>
              <a:t>mis</a:t>
            </a:r>
            <a:r>
              <a:rPr lang="en-US" altLang="en-US" sz="4000" b="1">
                <a:latin typeface="Comic Sans MS" panose="030F0702030302020204" pitchFamily="66" charset="0"/>
              </a:rPr>
              <a:t>conceptions about copy number variation- McCarroll et al.</a:t>
            </a:r>
          </a:p>
        </p:txBody>
      </p:sp>
      <p:sp>
        <p:nvSpPr>
          <p:cNvPr id="49155" name="Rectangle 3"/>
          <p:cNvSpPr>
            <a:spLocks noGrp="1" noChangeArrowheads="1"/>
          </p:cNvSpPr>
          <p:nvPr>
            <p:ph type="body" idx="4294967295"/>
          </p:nvPr>
        </p:nvSpPr>
        <p:spPr>
          <a:xfrm>
            <a:off x="685800" y="2116138"/>
            <a:ext cx="7772400" cy="3505200"/>
          </a:xfrm>
        </p:spPr>
        <p:txBody>
          <a:bodyPr/>
          <a:lstStyle/>
          <a:p>
            <a:pPr>
              <a:lnSpc>
                <a:spcPct val="90000"/>
              </a:lnSpc>
            </a:pPr>
            <a:r>
              <a:rPr lang="en-US" altLang="en-US" sz="1800" b="1" dirty="0">
                <a:solidFill>
                  <a:srgbClr val="FF0C09"/>
                </a:solidFill>
                <a:latin typeface="Arial" panose="020B0604020202020204" pitchFamily="34" charset="0"/>
              </a:rPr>
              <a:t>Copy number variation is vast -- large (&gt;50 kb) CNVs reported to influence 15-18% of the human genome, greatly exceeding SNP variation</a:t>
            </a:r>
            <a:endParaRPr lang="en-US" altLang="en-US" sz="1800" b="1" dirty="0">
              <a:latin typeface="Arial" panose="020B0604020202020204" pitchFamily="34" charset="0"/>
            </a:endParaRPr>
          </a:p>
          <a:p>
            <a:pPr lvl="2">
              <a:lnSpc>
                <a:spcPct val="90000"/>
              </a:lnSpc>
            </a:pPr>
            <a:endParaRPr lang="en-US" altLang="en-US" sz="1800" b="1" dirty="0">
              <a:latin typeface="Arial" panose="020B0604020202020204" pitchFamily="34" charset="0"/>
            </a:endParaRPr>
          </a:p>
          <a:p>
            <a:pPr lvl="2">
              <a:lnSpc>
                <a:spcPct val="90000"/>
              </a:lnSpc>
            </a:pPr>
            <a:r>
              <a:rPr lang="en-US" altLang="en-US" sz="1800" b="1" i="1" dirty="0">
                <a:latin typeface="Arial" panose="020B0604020202020204" pitchFamily="34" charset="0"/>
              </a:rPr>
              <a:t>Our finding: Any two individuals differ at less than 0.3% of their genomes due to large CNVs</a:t>
            </a:r>
            <a:endParaRPr lang="en-US" altLang="en-US" sz="1800" b="1" dirty="0">
              <a:latin typeface="Arial" panose="020B0604020202020204" pitchFamily="34" charset="0"/>
            </a:endParaRPr>
          </a:p>
          <a:p>
            <a:pPr>
              <a:lnSpc>
                <a:spcPct val="90000"/>
              </a:lnSpc>
              <a:buFontTx/>
              <a:buNone/>
            </a:pPr>
            <a:r>
              <a:rPr lang="en-US" altLang="en-US" sz="1800" b="1" dirty="0">
                <a:latin typeface="Arial" panose="020B0604020202020204" pitchFamily="34" charset="0"/>
              </a:rPr>
              <a:t>	</a:t>
            </a:r>
            <a:endParaRPr lang="en-US" altLang="en-US" sz="1800" b="1" i="1" dirty="0">
              <a:solidFill>
                <a:srgbClr val="FF0C12"/>
              </a:solidFill>
              <a:latin typeface="Arial" panose="020B0604020202020204" pitchFamily="34" charset="0"/>
            </a:endParaRPr>
          </a:p>
          <a:p>
            <a:pPr>
              <a:lnSpc>
                <a:spcPct val="90000"/>
              </a:lnSpc>
              <a:buFontTx/>
              <a:buNone/>
            </a:pPr>
            <a:endParaRPr lang="en-US" altLang="en-US" sz="1800" b="1" dirty="0">
              <a:latin typeface="Arial" panose="020B0604020202020204" pitchFamily="34" charset="0"/>
            </a:endParaRPr>
          </a:p>
          <a:p>
            <a:pPr>
              <a:lnSpc>
                <a:spcPct val="90000"/>
              </a:lnSpc>
            </a:pPr>
            <a:r>
              <a:rPr lang="en-US" altLang="en-US" sz="1800" b="1" dirty="0">
                <a:solidFill>
                  <a:srgbClr val="FF0C09"/>
                </a:solidFill>
                <a:latin typeface="Arial" panose="020B0604020202020204" pitchFamily="34" charset="0"/>
              </a:rPr>
              <a:t>CNVs are mostly rare and reflect recent, recurring mutations</a:t>
            </a:r>
            <a:endParaRPr lang="en-US" altLang="en-US" sz="1800" b="1" dirty="0">
              <a:latin typeface="Arial" panose="020B0604020202020204" pitchFamily="34" charset="0"/>
            </a:endParaRPr>
          </a:p>
          <a:p>
            <a:pPr lvl="1">
              <a:lnSpc>
                <a:spcPct val="90000"/>
              </a:lnSpc>
            </a:pPr>
            <a:endParaRPr lang="en-US" altLang="en-US" sz="1800" b="1" dirty="0">
              <a:latin typeface="Arial" panose="020B0604020202020204" pitchFamily="34" charset="0"/>
            </a:endParaRPr>
          </a:p>
          <a:p>
            <a:pPr lvl="2">
              <a:lnSpc>
                <a:spcPct val="90000"/>
              </a:lnSpc>
            </a:pPr>
            <a:r>
              <a:rPr lang="en-US" altLang="en-US" sz="1800" b="1" i="1" dirty="0">
                <a:latin typeface="Arial" panose="020B0604020202020204" pitchFamily="34" charset="0"/>
              </a:rPr>
              <a:t>Our finding: More than 90% of copy-number variation among normal individuals is due to a limited set of common polymorphisms that reflect ancestral mutations</a:t>
            </a:r>
          </a:p>
          <a:p>
            <a:pPr lvl="2">
              <a:lnSpc>
                <a:spcPct val="90000"/>
              </a:lnSpc>
            </a:pPr>
            <a:endParaRPr lang="en-US" altLang="en-US" sz="1800" b="1" i="1" dirty="0">
              <a:latin typeface="Arial" panose="020B0604020202020204" pitchFamily="34" charset="0"/>
            </a:endParaRPr>
          </a:p>
          <a:p>
            <a:pPr lvl="1">
              <a:lnSpc>
                <a:spcPct val="90000"/>
              </a:lnSpc>
            </a:pPr>
            <a:r>
              <a:rPr lang="en-US" altLang="en-US" sz="2000" b="1" dirty="0">
                <a:latin typeface="Arial" panose="020B0604020202020204" pitchFamily="34" charset="0"/>
              </a:rPr>
              <a:t>Also– recent evidence shows that ~60% of CNV’s are highly correlated with known SNP variation. </a:t>
            </a:r>
          </a:p>
          <a:p>
            <a:pPr>
              <a:lnSpc>
                <a:spcPct val="90000"/>
              </a:lnSpc>
            </a:pPr>
            <a:endParaRPr lang="en-US" altLang="en-US" sz="1800" b="1" dirty="0">
              <a:latin typeface="Arial" panose="020B0604020202020204" pitchFamily="34" charset="0"/>
            </a:endParaRPr>
          </a:p>
        </p:txBody>
      </p:sp>
      <p:sp>
        <p:nvSpPr>
          <p:cNvPr id="49156" name="Line 4"/>
          <p:cNvSpPr>
            <a:spLocks noChangeShapeType="1"/>
          </p:cNvSpPr>
          <p:nvPr/>
        </p:nvSpPr>
        <p:spPr bwMode="auto">
          <a:xfrm>
            <a:off x="138113" y="1736725"/>
            <a:ext cx="8805862" cy="0"/>
          </a:xfrm>
          <a:prstGeom prst="line">
            <a:avLst/>
          </a:prstGeom>
          <a:noFill/>
          <a:ln w="38100" cmpd="dbl">
            <a:solidFill>
              <a:srgbClr val="00CC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415925" y="927608"/>
            <a:ext cx="8501063" cy="58108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Aft>
                <a:spcPct val="20000"/>
              </a:spcAft>
              <a:buClrTx/>
            </a:pPr>
            <a:endParaRPr lang="en-US" altLang="en-US" sz="2800" b="0" dirty="0">
              <a:solidFill>
                <a:schemeClr val="bg2"/>
              </a:solidFill>
              <a:latin typeface="Arial" panose="020B0604020202020204" pitchFamily="34" charset="0"/>
            </a:endParaRPr>
          </a:p>
          <a:p>
            <a:pPr>
              <a:lnSpc>
                <a:spcPct val="90000"/>
              </a:lnSpc>
              <a:spcAft>
                <a:spcPct val="20000"/>
              </a:spcAft>
              <a:buClrTx/>
            </a:pPr>
            <a:r>
              <a:rPr lang="en-US" altLang="en-US" sz="2400" b="0" dirty="0">
                <a:solidFill>
                  <a:schemeClr val="bg2"/>
                </a:solidFill>
                <a:latin typeface="Arial" panose="020B0604020202020204" pitchFamily="34" charset="0"/>
              </a:rPr>
              <a:t>Used to mark or “track” sections of DNA from parent to child or to compare sections of DNA from individual to individual</a:t>
            </a:r>
          </a:p>
          <a:p>
            <a:pPr>
              <a:lnSpc>
                <a:spcPct val="90000"/>
              </a:lnSpc>
              <a:spcAft>
                <a:spcPct val="20000"/>
              </a:spcAft>
              <a:buClrTx/>
            </a:pPr>
            <a:r>
              <a:rPr lang="en-US" altLang="en-US" sz="2400" b="0" dirty="0">
                <a:solidFill>
                  <a:schemeClr val="bg2"/>
                </a:solidFill>
                <a:latin typeface="Arial" panose="020B0604020202020204" pitchFamily="34" charset="0"/>
              </a:rPr>
              <a:t>A gene or other segment of DNA with an identifiable physical location on a chromosome and whose inheritance can be followed</a:t>
            </a:r>
          </a:p>
          <a:p>
            <a:pPr>
              <a:lnSpc>
                <a:spcPct val="90000"/>
              </a:lnSpc>
              <a:spcAft>
                <a:spcPct val="20000"/>
              </a:spcAft>
              <a:buClrTx/>
            </a:pPr>
            <a:r>
              <a:rPr lang="en-US" altLang="en-US" sz="2400" b="0" dirty="0">
                <a:solidFill>
                  <a:schemeClr val="bg2"/>
                </a:solidFill>
                <a:latin typeface="Arial" panose="020B0604020202020204" pitchFamily="34" charset="0"/>
              </a:rPr>
              <a:t>A variable DNA sequence that can be localized to a single genomic locus</a:t>
            </a:r>
          </a:p>
          <a:p>
            <a:pPr>
              <a:lnSpc>
                <a:spcPct val="90000"/>
              </a:lnSpc>
              <a:spcAft>
                <a:spcPct val="20000"/>
              </a:spcAft>
              <a:buClrTx/>
            </a:pPr>
            <a:r>
              <a:rPr lang="en-US" altLang="en-US" sz="2400" b="0" dirty="0">
                <a:solidFill>
                  <a:schemeClr val="bg2"/>
                </a:solidFill>
                <a:latin typeface="Arial" panose="020B0604020202020204" pitchFamily="34" charset="0"/>
              </a:rPr>
              <a:t>Can identify differences between individuals and between homologous chromosomes in an individual</a:t>
            </a:r>
          </a:p>
          <a:p>
            <a:pPr>
              <a:lnSpc>
                <a:spcPct val="90000"/>
              </a:lnSpc>
              <a:spcAft>
                <a:spcPct val="20000"/>
              </a:spcAft>
              <a:buClrTx/>
            </a:pPr>
            <a:r>
              <a:rPr lang="en-US" altLang="en-US" sz="2400" b="0" dirty="0">
                <a:solidFill>
                  <a:schemeClr val="bg2"/>
                </a:solidFill>
                <a:latin typeface="Arial" panose="020B0604020202020204" pitchFamily="34" charset="0"/>
              </a:rPr>
              <a:t>Genetic markers have a pivotal role in gene mapping</a:t>
            </a:r>
          </a:p>
          <a:p>
            <a:pPr>
              <a:lnSpc>
                <a:spcPct val="90000"/>
              </a:lnSpc>
              <a:spcAft>
                <a:spcPct val="20000"/>
              </a:spcAft>
              <a:buClrTx/>
            </a:pPr>
            <a:r>
              <a:rPr lang="en-US" altLang="en-US" sz="2400" b="0" dirty="0">
                <a:solidFill>
                  <a:schemeClr val="bg2"/>
                </a:solidFill>
                <a:latin typeface="Arial" panose="020B0604020202020204" pitchFamily="34" charset="0"/>
              </a:rPr>
              <a:t>Sequence variations at genetic markers are not usually functional, (but may be correlated with functional variants)</a:t>
            </a:r>
          </a:p>
          <a:p>
            <a:pPr algn="ctr">
              <a:spcBef>
                <a:spcPct val="0"/>
              </a:spcBef>
              <a:buClrTx/>
              <a:buFontTx/>
              <a:buNone/>
            </a:pPr>
            <a:endParaRPr lang="en-US" altLang="en-US" sz="2400" b="0" dirty="0">
              <a:solidFill>
                <a:schemeClr val="bg2"/>
              </a:solidFill>
              <a:latin typeface="Arial" panose="020B0604020202020204" pitchFamily="34" charset="0"/>
            </a:endParaRPr>
          </a:p>
        </p:txBody>
      </p:sp>
      <p:sp>
        <p:nvSpPr>
          <p:cNvPr id="51203" name="Text Box 3"/>
          <p:cNvSpPr txBox="1">
            <a:spLocks noChangeArrowheads="1"/>
          </p:cNvSpPr>
          <p:nvPr/>
        </p:nvSpPr>
        <p:spPr bwMode="auto">
          <a:xfrm>
            <a:off x="209550" y="0"/>
            <a:ext cx="8705850" cy="1212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90000"/>
              </a:lnSpc>
              <a:spcBef>
                <a:spcPct val="0"/>
              </a:spcBef>
              <a:spcAft>
                <a:spcPct val="50000"/>
              </a:spcAft>
              <a:buClrTx/>
              <a:buFontTx/>
              <a:buNone/>
            </a:pPr>
            <a:r>
              <a:rPr lang="en-US" altLang="en-US">
                <a:solidFill>
                  <a:schemeClr val="bg2"/>
                </a:solidFill>
                <a:latin typeface="Comic Sans MS" panose="030F0702030302020204" pitchFamily="66" charset="0"/>
              </a:rPr>
              <a:t>Human Genetic Variation: </a:t>
            </a:r>
          </a:p>
          <a:p>
            <a:pPr algn="ctr">
              <a:lnSpc>
                <a:spcPct val="90000"/>
              </a:lnSpc>
              <a:spcBef>
                <a:spcPct val="0"/>
              </a:spcBef>
              <a:spcAft>
                <a:spcPct val="50000"/>
              </a:spcAft>
              <a:buClrTx/>
              <a:buFontTx/>
              <a:buNone/>
            </a:pPr>
            <a:r>
              <a:rPr lang="en-US" altLang="en-US">
                <a:solidFill>
                  <a:schemeClr val="bg2"/>
                </a:solidFill>
                <a:latin typeface="Comic Sans MS" panose="030F0702030302020204" pitchFamily="66" charset="0"/>
              </a:rPr>
              <a:t>Genetic Markers</a:t>
            </a:r>
          </a:p>
        </p:txBody>
      </p:sp>
      <p:sp>
        <p:nvSpPr>
          <p:cNvPr id="51204" name="Line 4"/>
          <p:cNvSpPr>
            <a:spLocks noChangeShapeType="1"/>
          </p:cNvSpPr>
          <p:nvPr/>
        </p:nvSpPr>
        <p:spPr bwMode="auto">
          <a:xfrm>
            <a:off x="271463" y="1465263"/>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571500" y="1687513"/>
            <a:ext cx="8137525" cy="5160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Aft>
                <a:spcPct val="20000"/>
              </a:spcAft>
              <a:buClrTx/>
            </a:pPr>
            <a:r>
              <a:rPr lang="en-US" altLang="en-US" sz="2800" b="0" dirty="0">
                <a:solidFill>
                  <a:schemeClr val="bg2"/>
                </a:solidFill>
                <a:latin typeface="Arial" panose="020B0604020202020204" pitchFamily="34" charset="0"/>
              </a:rPr>
              <a:t>Heritable</a:t>
            </a:r>
          </a:p>
          <a:p>
            <a:pPr>
              <a:lnSpc>
                <a:spcPct val="90000"/>
              </a:lnSpc>
              <a:spcAft>
                <a:spcPct val="20000"/>
              </a:spcAft>
              <a:buClrTx/>
            </a:pPr>
            <a:r>
              <a:rPr lang="en-US" altLang="en-US" sz="2800" b="0" dirty="0">
                <a:solidFill>
                  <a:schemeClr val="bg2"/>
                </a:solidFill>
                <a:latin typeface="Arial" panose="020B0604020202020204" pitchFamily="34" charset="0"/>
              </a:rPr>
              <a:t>Low mutation frequency (so it will be passed from generation to generation without alteration)</a:t>
            </a:r>
          </a:p>
          <a:p>
            <a:pPr>
              <a:lnSpc>
                <a:spcPct val="90000"/>
              </a:lnSpc>
              <a:spcAft>
                <a:spcPct val="20000"/>
              </a:spcAft>
              <a:buClrTx/>
            </a:pPr>
            <a:r>
              <a:rPr lang="en-US" altLang="en-US" sz="2800" b="0" dirty="0">
                <a:solidFill>
                  <a:schemeClr val="bg2"/>
                </a:solidFill>
                <a:latin typeface="Arial" panose="020B0604020202020204" pitchFamily="34" charset="0"/>
              </a:rPr>
              <a:t>Codominant inheritance (all genotypes are distinguishable)</a:t>
            </a:r>
          </a:p>
          <a:p>
            <a:pPr>
              <a:lnSpc>
                <a:spcPct val="90000"/>
              </a:lnSpc>
              <a:spcAft>
                <a:spcPct val="20000"/>
              </a:spcAft>
              <a:buClrTx/>
            </a:pPr>
            <a:r>
              <a:rPr lang="en-US" altLang="en-US" sz="2800" b="0" dirty="0">
                <a:solidFill>
                  <a:schemeClr val="bg2"/>
                </a:solidFill>
                <a:latin typeface="Arial" panose="020B0604020202020204" pitchFamily="34" charset="0"/>
              </a:rPr>
              <a:t>Hardy Weinberg Equilibrium (HWE)</a:t>
            </a:r>
          </a:p>
          <a:p>
            <a:pPr>
              <a:lnSpc>
                <a:spcPct val="90000"/>
              </a:lnSpc>
              <a:spcAft>
                <a:spcPct val="20000"/>
              </a:spcAft>
              <a:buClrTx/>
            </a:pPr>
            <a:r>
              <a:rPr lang="en-US" altLang="en-US" sz="2800" b="0" dirty="0">
                <a:solidFill>
                  <a:schemeClr val="bg2"/>
                </a:solidFill>
                <a:latin typeface="Arial" panose="020B0604020202020204" pitchFamily="34" charset="0"/>
              </a:rPr>
              <a:t>Polymorphic (the more variants and the higher the proportion of heterozygotes there are, the better)</a:t>
            </a:r>
          </a:p>
          <a:p>
            <a:pPr>
              <a:lnSpc>
                <a:spcPct val="90000"/>
              </a:lnSpc>
              <a:spcAft>
                <a:spcPct val="20000"/>
              </a:spcAft>
              <a:buClrTx/>
            </a:pPr>
            <a:endParaRPr lang="en-US" altLang="en-US" sz="2400" dirty="0">
              <a:solidFill>
                <a:schemeClr val="bg2"/>
              </a:solidFill>
              <a:latin typeface="Arial" panose="020B0604020202020204" pitchFamily="34" charset="0"/>
            </a:endParaRPr>
          </a:p>
          <a:p>
            <a:pPr algn="ctr">
              <a:spcBef>
                <a:spcPct val="0"/>
              </a:spcBef>
              <a:buClrTx/>
              <a:buFontTx/>
              <a:buNone/>
            </a:pPr>
            <a:endParaRPr lang="en-US" altLang="en-US" sz="2400" dirty="0">
              <a:solidFill>
                <a:schemeClr val="bg2"/>
              </a:solidFill>
              <a:latin typeface="Arial" panose="020B0604020202020204" pitchFamily="34" charset="0"/>
            </a:endParaRPr>
          </a:p>
        </p:txBody>
      </p:sp>
      <p:sp>
        <p:nvSpPr>
          <p:cNvPr id="52227" name="Text Box 3"/>
          <p:cNvSpPr txBox="1">
            <a:spLocks noChangeArrowheads="1"/>
          </p:cNvSpPr>
          <p:nvPr/>
        </p:nvSpPr>
        <p:spPr bwMode="auto">
          <a:xfrm>
            <a:off x="438150" y="223838"/>
            <a:ext cx="8705850" cy="58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90000"/>
              </a:lnSpc>
              <a:spcBef>
                <a:spcPct val="0"/>
              </a:spcBef>
              <a:spcAft>
                <a:spcPct val="50000"/>
              </a:spcAft>
              <a:buClrTx/>
              <a:buFontTx/>
              <a:buNone/>
            </a:pPr>
            <a:r>
              <a:rPr lang="en-US" altLang="en-US" sz="3600" dirty="0">
                <a:solidFill>
                  <a:schemeClr val="bg2"/>
                </a:solidFill>
                <a:latin typeface="Comic Sans MS" panose="030F0702030302020204" pitchFamily="66" charset="0"/>
              </a:rPr>
              <a:t>Genetic Markers: Desirable Qualities</a:t>
            </a:r>
          </a:p>
        </p:txBody>
      </p:sp>
      <p:sp>
        <p:nvSpPr>
          <p:cNvPr id="52228" name="Line 4"/>
          <p:cNvSpPr>
            <a:spLocks noChangeShapeType="1"/>
          </p:cNvSpPr>
          <p:nvPr/>
        </p:nvSpPr>
        <p:spPr bwMode="auto">
          <a:xfrm>
            <a:off x="271463" y="1465263"/>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body" idx="4294967295"/>
          </p:nvPr>
        </p:nvSpPr>
        <p:spPr>
          <a:xfrm>
            <a:off x="1685925" y="2586038"/>
            <a:ext cx="6748463" cy="1443037"/>
          </a:xfrm>
        </p:spPr>
        <p:txBody>
          <a:bodyPr/>
          <a:lstStyle/>
          <a:p>
            <a:pPr>
              <a:spcBef>
                <a:spcPct val="40000"/>
              </a:spcBef>
              <a:spcAft>
                <a:spcPct val="40000"/>
              </a:spcAft>
              <a:buFontTx/>
              <a:buNone/>
            </a:pPr>
            <a:r>
              <a:rPr lang="en-US" altLang="en-US" sz="4800" b="1">
                <a:solidFill>
                  <a:schemeClr val="bg2"/>
                </a:solidFill>
                <a:latin typeface="Comic Sans MS" panose="030F0702030302020204" pitchFamily="66" charset="0"/>
                <a:cs typeface="Arial" panose="020B0604020202020204" pitchFamily="34" charset="0"/>
              </a:rPr>
              <a:t>Mendelian Genetics </a:t>
            </a:r>
          </a:p>
        </p:txBody>
      </p:sp>
      <p:sp>
        <p:nvSpPr>
          <p:cNvPr id="53251" name="Line 3"/>
          <p:cNvSpPr>
            <a:spLocks noChangeShapeType="1"/>
          </p:cNvSpPr>
          <p:nvPr/>
        </p:nvSpPr>
        <p:spPr bwMode="auto">
          <a:xfrm>
            <a:off x="271463" y="1547813"/>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52" name="Line 4"/>
          <p:cNvSpPr>
            <a:spLocks noChangeShapeType="1"/>
          </p:cNvSpPr>
          <p:nvPr/>
        </p:nvSpPr>
        <p:spPr bwMode="auto">
          <a:xfrm>
            <a:off x="295275" y="431482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184150" y="119063"/>
            <a:ext cx="8882063"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90000"/>
              </a:lnSpc>
              <a:spcBef>
                <a:spcPct val="55000"/>
              </a:spcBef>
              <a:spcAft>
                <a:spcPct val="45000"/>
              </a:spcAft>
              <a:buClrTx/>
              <a:buFontTx/>
              <a:buNone/>
            </a:pPr>
            <a:r>
              <a:rPr lang="en-US" altLang="en-US" sz="3600">
                <a:solidFill>
                  <a:schemeClr val="bg2"/>
                </a:solidFill>
                <a:latin typeface="Comic Sans MS" panose="030F0702030302020204" pitchFamily="66" charset="0"/>
                <a:cs typeface="Times New Roman" panose="02020603050405020304" pitchFamily="18" charset="0"/>
              </a:rPr>
              <a:t>Pedigrees are Pictorial Representations of the Family Tree</a:t>
            </a:r>
          </a:p>
        </p:txBody>
      </p:sp>
      <p:sp>
        <p:nvSpPr>
          <p:cNvPr id="55299" name="Line 3"/>
          <p:cNvSpPr>
            <a:spLocks noChangeShapeType="1"/>
          </p:cNvSpPr>
          <p:nvPr/>
        </p:nvSpPr>
        <p:spPr bwMode="auto">
          <a:xfrm>
            <a:off x="203200" y="1309688"/>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0" name="Text Box 4"/>
          <p:cNvSpPr txBox="1">
            <a:spLocks noChangeArrowheads="1"/>
          </p:cNvSpPr>
          <p:nvPr/>
        </p:nvSpPr>
        <p:spPr bwMode="auto">
          <a:xfrm>
            <a:off x="3900488" y="1892300"/>
            <a:ext cx="4962525" cy="475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accent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228600" indent="-228600">
              <a:spcBef>
                <a:spcPct val="20000"/>
              </a:spcBef>
              <a:buClr>
                <a:schemeClr val="accent2"/>
              </a:buClr>
              <a:buChar char="•"/>
              <a:defRPr sz="3200">
                <a:solidFill>
                  <a:srgbClr val="006600"/>
                </a:solidFill>
                <a:latin typeface="Times New Roman" panose="02020603050405020304" pitchFamily="18" charset="0"/>
              </a:defRPr>
            </a:lvl1pPr>
            <a:lvl2pPr marL="571500" indent="-22860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ts val="3200"/>
              </a:lnSpc>
              <a:spcBef>
                <a:spcPts val="1200"/>
              </a:spcBef>
              <a:spcAft>
                <a:spcPts val="700"/>
              </a:spcAft>
            </a:pPr>
            <a:r>
              <a:rPr lang="en-US" altLang="en-US" sz="2800">
                <a:solidFill>
                  <a:schemeClr val="bg2"/>
                </a:solidFill>
                <a:latin typeface="Arial" panose="020B0604020202020204" pitchFamily="34" charset="0"/>
              </a:rPr>
              <a:t>The biological relationships are indicated in the symbols and how they are drawn</a:t>
            </a:r>
          </a:p>
          <a:p>
            <a:pPr lvl="1">
              <a:lnSpc>
                <a:spcPts val="2800"/>
              </a:lnSpc>
              <a:spcBef>
                <a:spcPts val="1200"/>
              </a:spcBef>
            </a:pPr>
            <a:r>
              <a:rPr lang="en-US" altLang="en-US" sz="2400">
                <a:solidFill>
                  <a:schemeClr val="bg2"/>
                </a:solidFill>
                <a:latin typeface="Arial" panose="020B0604020202020204" pitchFamily="34" charset="0"/>
              </a:rPr>
              <a:t>Each generation is represented by a row</a:t>
            </a:r>
          </a:p>
          <a:p>
            <a:pPr lvl="1">
              <a:lnSpc>
                <a:spcPts val="2800"/>
              </a:lnSpc>
              <a:spcBef>
                <a:spcPts val="1200"/>
              </a:spcBef>
            </a:pPr>
            <a:r>
              <a:rPr lang="en-US" altLang="en-US" sz="2400">
                <a:solidFill>
                  <a:schemeClr val="bg2"/>
                </a:solidFill>
                <a:latin typeface="Arial" panose="020B0604020202020204" pitchFamily="34" charset="0"/>
              </a:rPr>
              <a:t>Horizontal lines join individuals who have children together</a:t>
            </a:r>
          </a:p>
          <a:p>
            <a:pPr lvl="1">
              <a:lnSpc>
                <a:spcPts val="2800"/>
              </a:lnSpc>
              <a:spcBef>
                <a:spcPts val="1200"/>
              </a:spcBef>
            </a:pPr>
            <a:r>
              <a:rPr lang="en-US" altLang="en-US" sz="2400">
                <a:solidFill>
                  <a:schemeClr val="bg2"/>
                </a:solidFill>
                <a:latin typeface="Arial" panose="020B0604020202020204" pitchFamily="34" charset="0"/>
              </a:rPr>
              <a:t>Vertical lines connect their children to them</a:t>
            </a:r>
          </a:p>
        </p:txBody>
      </p:sp>
      <p:grpSp>
        <p:nvGrpSpPr>
          <p:cNvPr id="55301" name="Group 5"/>
          <p:cNvGrpSpPr>
            <a:grpSpLocks/>
          </p:cNvGrpSpPr>
          <p:nvPr/>
        </p:nvGrpSpPr>
        <p:grpSpPr bwMode="auto">
          <a:xfrm>
            <a:off x="504825" y="2309813"/>
            <a:ext cx="3365500" cy="2867025"/>
            <a:chOff x="1566" y="1131"/>
            <a:chExt cx="2296" cy="1806"/>
          </a:xfrm>
        </p:grpSpPr>
        <p:sp>
          <p:nvSpPr>
            <p:cNvPr id="55302" name="Oval 6"/>
            <p:cNvSpPr>
              <a:spLocks noChangeArrowheads="1"/>
            </p:cNvSpPr>
            <p:nvPr/>
          </p:nvSpPr>
          <p:spPr bwMode="auto">
            <a:xfrm>
              <a:off x="1940" y="1131"/>
              <a:ext cx="408" cy="423"/>
            </a:xfrm>
            <a:prstGeom prst="ellipse">
              <a:avLst/>
            </a:prstGeom>
            <a:noFill/>
            <a:ln w="31750">
              <a:solidFill>
                <a:schemeClr val="bg2"/>
              </a:solidFill>
              <a:round/>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5303" name="Rectangle 7"/>
            <p:cNvSpPr>
              <a:spLocks noChangeArrowheads="1"/>
            </p:cNvSpPr>
            <p:nvPr/>
          </p:nvSpPr>
          <p:spPr bwMode="auto">
            <a:xfrm>
              <a:off x="2926" y="1131"/>
              <a:ext cx="407" cy="423"/>
            </a:xfrm>
            <a:prstGeom prst="rect">
              <a:avLst/>
            </a:prstGeom>
            <a:noFill/>
            <a:ln w="31750">
              <a:solidFill>
                <a:schemeClr val="bg2"/>
              </a:solidFill>
              <a:miter lim="800000"/>
              <a:headEnd type="none" w="sm" len="sm"/>
              <a:tailEnd type="none" w="sm" len="sm"/>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5304" name="Line 8"/>
            <p:cNvSpPr>
              <a:spLocks noChangeShapeType="1"/>
            </p:cNvSpPr>
            <p:nvPr/>
          </p:nvSpPr>
          <p:spPr bwMode="auto">
            <a:xfrm>
              <a:off x="2348" y="1343"/>
              <a:ext cx="578" cy="0"/>
            </a:xfrm>
            <a:prstGeom prst="line">
              <a:avLst/>
            </a:prstGeom>
            <a:noFill/>
            <a:ln w="3175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5" name="Line 9"/>
            <p:cNvSpPr>
              <a:spLocks noChangeShapeType="1"/>
            </p:cNvSpPr>
            <p:nvPr/>
          </p:nvSpPr>
          <p:spPr bwMode="auto">
            <a:xfrm>
              <a:off x="2620" y="1343"/>
              <a:ext cx="0" cy="564"/>
            </a:xfrm>
            <a:prstGeom prst="line">
              <a:avLst/>
            </a:prstGeom>
            <a:noFill/>
            <a:ln w="3175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6" name="Line 10"/>
            <p:cNvSpPr>
              <a:spLocks noChangeShapeType="1"/>
            </p:cNvSpPr>
            <p:nvPr/>
          </p:nvSpPr>
          <p:spPr bwMode="auto">
            <a:xfrm>
              <a:off x="1770" y="1907"/>
              <a:ext cx="1801" cy="0"/>
            </a:xfrm>
            <a:prstGeom prst="line">
              <a:avLst/>
            </a:prstGeom>
            <a:noFill/>
            <a:ln w="3175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7" name="Oval 11"/>
            <p:cNvSpPr>
              <a:spLocks noChangeArrowheads="1"/>
            </p:cNvSpPr>
            <p:nvPr/>
          </p:nvSpPr>
          <p:spPr bwMode="auto">
            <a:xfrm>
              <a:off x="1566" y="2154"/>
              <a:ext cx="408" cy="424"/>
            </a:xfrm>
            <a:prstGeom prst="ellipse">
              <a:avLst/>
            </a:prstGeom>
            <a:noFill/>
            <a:ln w="31750">
              <a:solidFill>
                <a:schemeClr val="bg2"/>
              </a:solidFill>
              <a:round/>
              <a:headEnd type="none" w="sm" len="sm"/>
              <a:tailEnd type="none" w="sm" len="sm"/>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5308" name="Oval 12"/>
            <p:cNvSpPr>
              <a:spLocks noChangeArrowheads="1"/>
            </p:cNvSpPr>
            <p:nvPr/>
          </p:nvSpPr>
          <p:spPr bwMode="auto">
            <a:xfrm>
              <a:off x="2824" y="2154"/>
              <a:ext cx="408" cy="424"/>
            </a:xfrm>
            <a:prstGeom prst="ellipse">
              <a:avLst/>
            </a:prstGeom>
            <a:solidFill>
              <a:schemeClr val="tx1"/>
            </a:solidFill>
            <a:ln w="3175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5309" name="Rectangle 13"/>
            <p:cNvSpPr>
              <a:spLocks noChangeArrowheads="1"/>
            </p:cNvSpPr>
            <p:nvPr/>
          </p:nvSpPr>
          <p:spPr bwMode="auto">
            <a:xfrm>
              <a:off x="2212" y="2154"/>
              <a:ext cx="408" cy="424"/>
            </a:xfrm>
            <a:prstGeom prst="rect">
              <a:avLst/>
            </a:prstGeom>
            <a:solidFill>
              <a:schemeClr val="tx1"/>
            </a:solidFill>
            <a:ln w="31750">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5310" name="Rectangle 14"/>
            <p:cNvSpPr>
              <a:spLocks noChangeArrowheads="1"/>
            </p:cNvSpPr>
            <p:nvPr/>
          </p:nvSpPr>
          <p:spPr bwMode="auto">
            <a:xfrm>
              <a:off x="3367" y="2154"/>
              <a:ext cx="408" cy="424"/>
            </a:xfrm>
            <a:prstGeom prst="rect">
              <a:avLst/>
            </a:prstGeom>
            <a:noFill/>
            <a:ln w="31750">
              <a:solidFill>
                <a:schemeClr val="bg2"/>
              </a:solidFill>
              <a:miter lim="800000"/>
              <a:headEnd type="none" w="sm" len="sm"/>
              <a:tailEnd type="none" w="sm" len="sm"/>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5311" name="Line 15"/>
            <p:cNvSpPr>
              <a:spLocks noChangeShapeType="1"/>
            </p:cNvSpPr>
            <p:nvPr/>
          </p:nvSpPr>
          <p:spPr bwMode="auto">
            <a:xfrm>
              <a:off x="1770" y="1907"/>
              <a:ext cx="0" cy="247"/>
            </a:xfrm>
            <a:prstGeom prst="line">
              <a:avLst/>
            </a:prstGeom>
            <a:noFill/>
            <a:ln w="3175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2" name="Line 16"/>
            <p:cNvSpPr>
              <a:spLocks noChangeShapeType="1"/>
            </p:cNvSpPr>
            <p:nvPr/>
          </p:nvSpPr>
          <p:spPr bwMode="auto">
            <a:xfrm>
              <a:off x="2416" y="1907"/>
              <a:ext cx="0" cy="247"/>
            </a:xfrm>
            <a:prstGeom prst="line">
              <a:avLst/>
            </a:prstGeom>
            <a:noFill/>
            <a:ln w="3175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3" name="Line 17"/>
            <p:cNvSpPr>
              <a:spLocks noChangeShapeType="1"/>
            </p:cNvSpPr>
            <p:nvPr/>
          </p:nvSpPr>
          <p:spPr bwMode="auto">
            <a:xfrm>
              <a:off x="3028" y="1907"/>
              <a:ext cx="0" cy="247"/>
            </a:xfrm>
            <a:prstGeom prst="line">
              <a:avLst/>
            </a:prstGeom>
            <a:noFill/>
            <a:ln w="3175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4" name="Line 18"/>
            <p:cNvSpPr>
              <a:spLocks noChangeShapeType="1"/>
            </p:cNvSpPr>
            <p:nvPr/>
          </p:nvSpPr>
          <p:spPr bwMode="auto">
            <a:xfrm>
              <a:off x="3571" y="1907"/>
              <a:ext cx="0" cy="247"/>
            </a:xfrm>
            <a:prstGeom prst="line">
              <a:avLst/>
            </a:prstGeom>
            <a:noFill/>
            <a:ln w="31750">
              <a:solidFill>
                <a:schemeClr val="bg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5" name="Text Box 19"/>
            <p:cNvSpPr txBox="1">
              <a:spLocks noChangeArrowheads="1"/>
            </p:cNvSpPr>
            <p:nvPr/>
          </p:nvSpPr>
          <p:spPr bwMode="auto">
            <a:xfrm>
              <a:off x="2994" y="1591"/>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sp>
          <p:nvSpPr>
            <p:cNvPr id="55316" name="Text Box 20"/>
            <p:cNvSpPr txBox="1">
              <a:spLocks noChangeArrowheads="1"/>
            </p:cNvSpPr>
            <p:nvPr/>
          </p:nvSpPr>
          <p:spPr bwMode="auto">
            <a:xfrm>
              <a:off x="2001" y="1589"/>
              <a:ext cx="4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sp>
          <p:nvSpPr>
            <p:cNvPr id="55317" name="Text Box 21"/>
            <p:cNvSpPr txBox="1">
              <a:spLocks noChangeArrowheads="1"/>
            </p:cNvSpPr>
            <p:nvPr/>
          </p:nvSpPr>
          <p:spPr bwMode="auto">
            <a:xfrm>
              <a:off x="1661" y="2632"/>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sp>
          <p:nvSpPr>
            <p:cNvPr id="55318" name="Text Box 22"/>
            <p:cNvSpPr txBox="1">
              <a:spLocks noChangeArrowheads="1"/>
            </p:cNvSpPr>
            <p:nvPr/>
          </p:nvSpPr>
          <p:spPr bwMode="auto">
            <a:xfrm>
              <a:off x="2246" y="2648"/>
              <a:ext cx="4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sp>
          <p:nvSpPr>
            <p:cNvPr id="55319" name="Text Box 23"/>
            <p:cNvSpPr txBox="1">
              <a:spLocks noChangeArrowheads="1"/>
            </p:cNvSpPr>
            <p:nvPr/>
          </p:nvSpPr>
          <p:spPr bwMode="auto">
            <a:xfrm>
              <a:off x="2892" y="2648"/>
              <a:ext cx="4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sp>
          <p:nvSpPr>
            <p:cNvPr id="55320" name="Text Box 24"/>
            <p:cNvSpPr txBox="1">
              <a:spLocks noChangeArrowheads="1"/>
            </p:cNvSpPr>
            <p:nvPr/>
          </p:nvSpPr>
          <p:spPr bwMode="auto">
            <a:xfrm>
              <a:off x="3470" y="2649"/>
              <a:ext cx="3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a:xfrm>
            <a:off x="358775" y="0"/>
            <a:ext cx="8424863" cy="1143000"/>
          </a:xfrm>
          <a:noFill/>
          <a:extLst>
            <a:ext uri="{91240B29-F687-4F45-9708-019B960494DF}">
              <a14:hiddenLine xmlns:a14="http://schemas.microsoft.com/office/drawing/2010/main" w="31750">
                <a:solidFill>
                  <a:schemeClr val="bg2"/>
                </a:solidFill>
                <a:miter lim="800000"/>
                <a:headEnd/>
                <a:tailEnd/>
              </a14:hiddenLine>
            </a:ext>
          </a:extLst>
        </p:spPr>
        <p:txBody>
          <a:bodyPr/>
          <a:lstStyle/>
          <a:p>
            <a:pPr>
              <a:lnSpc>
                <a:spcPct val="90000"/>
              </a:lnSpc>
            </a:pPr>
            <a:r>
              <a:rPr lang="en-US" altLang="en-US" sz="4000" b="1">
                <a:latin typeface="Comic Sans MS" panose="030F0702030302020204" pitchFamily="66" charset="0"/>
              </a:rPr>
              <a:t>Pedigree Construction: Symbols</a:t>
            </a:r>
          </a:p>
        </p:txBody>
      </p:sp>
      <p:sp>
        <p:nvSpPr>
          <p:cNvPr id="57347" name="Line 3"/>
          <p:cNvSpPr>
            <a:spLocks noChangeShapeType="1"/>
          </p:cNvSpPr>
          <p:nvPr/>
        </p:nvSpPr>
        <p:spPr bwMode="auto">
          <a:xfrm>
            <a:off x="203200" y="990600"/>
            <a:ext cx="8534400" cy="0"/>
          </a:xfrm>
          <a:prstGeom prst="line">
            <a:avLst/>
          </a:prstGeom>
          <a:noFill/>
          <a:ln w="31750" cmpd="dbl">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348" name="Oval 4"/>
          <p:cNvSpPr>
            <a:spLocks noChangeArrowheads="1"/>
          </p:cNvSpPr>
          <p:nvPr/>
        </p:nvSpPr>
        <p:spPr bwMode="auto">
          <a:xfrm>
            <a:off x="827088" y="1538288"/>
            <a:ext cx="914400" cy="914400"/>
          </a:xfrm>
          <a:prstGeom prst="ellipse">
            <a:avLst/>
          </a:prstGeom>
          <a:noFill/>
          <a:ln w="31750">
            <a:solidFill>
              <a:schemeClr val="bg2"/>
            </a:solidFill>
            <a:round/>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7349" name="Text Box 5"/>
          <p:cNvSpPr txBox="1">
            <a:spLocks noChangeArrowheads="1"/>
          </p:cNvSpPr>
          <p:nvPr/>
        </p:nvSpPr>
        <p:spPr bwMode="auto">
          <a:xfrm>
            <a:off x="1946275" y="1714500"/>
            <a:ext cx="17176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800">
                <a:solidFill>
                  <a:schemeClr val="bg2"/>
                </a:solidFill>
                <a:latin typeface="Arial" panose="020B0604020202020204" pitchFamily="34" charset="0"/>
              </a:rPr>
              <a:t>= Female</a:t>
            </a:r>
          </a:p>
        </p:txBody>
      </p:sp>
      <p:sp>
        <p:nvSpPr>
          <p:cNvPr id="57350" name="Rectangle 6"/>
          <p:cNvSpPr>
            <a:spLocks noChangeArrowheads="1"/>
          </p:cNvSpPr>
          <p:nvPr/>
        </p:nvSpPr>
        <p:spPr bwMode="auto">
          <a:xfrm>
            <a:off x="827088" y="2757488"/>
            <a:ext cx="914400" cy="914400"/>
          </a:xfrm>
          <a:prstGeom prst="rect">
            <a:avLst/>
          </a:prstGeom>
          <a:noFill/>
          <a:ln w="31750">
            <a:solidFill>
              <a:schemeClr val="bg2"/>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7351" name="Text Box 7"/>
          <p:cNvSpPr txBox="1">
            <a:spLocks noChangeArrowheads="1"/>
          </p:cNvSpPr>
          <p:nvPr/>
        </p:nvSpPr>
        <p:spPr bwMode="auto">
          <a:xfrm>
            <a:off x="1946275" y="2984500"/>
            <a:ext cx="12827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800">
                <a:solidFill>
                  <a:schemeClr val="bg2"/>
                </a:solidFill>
                <a:latin typeface="Arial" panose="020B0604020202020204" pitchFamily="34" charset="0"/>
              </a:rPr>
              <a:t>= Male</a:t>
            </a:r>
          </a:p>
        </p:txBody>
      </p:sp>
      <p:sp>
        <p:nvSpPr>
          <p:cNvPr id="57352" name="Oval 8"/>
          <p:cNvSpPr>
            <a:spLocks noChangeArrowheads="1"/>
          </p:cNvSpPr>
          <p:nvPr/>
        </p:nvSpPr>
        <p:spPr bwMode="auto">
          <a:xfrm>
            <a:off x="827088" y="4029075"/>
            <a:ext cx="914400" cy="914400"/>
          </a:xfrm>
          <a:prstGeom prst="ellipse">
            <a:avLst/>
          </a:prstGeom>
          <a:solidFill>
            <a:schemeClr val="bg2"/>
          </a:solidFill>
          <a:ln w="3175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7353" name="Rectangle 9"/>
          <p:cNvSpPr>
            <a:spLocks noChangeArrowheads="1"/>
          </p:cNvSpPr>
          <p:nvPr/>
        </p:nvSpPr>
        <p:spPr bwMode="auto">
          <a:xfrm>
            <a:off x="2027238" y="4043363"/>
            <a:ext cx="914400" cy="914400"/>
          </a:xfrm>
          <a:prstGeom prst="rect">
            <a:avLst/>
          </a:prstGeom>
          <a:solidFill>
            <a:schemeClr val="bg2"/>
          </a:solidFill>
          <a:ln w="31750">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2400">
              <a:solidFill>
                <a:schemeClr val="bg2"/>
              </a:solidFill>
            </a:endParaRPr>
          </a:p>
        </p:txBody>
      </p:sp>
      <p:sp>
        <p:nvSpPr>
          <p:cNvPr id="57354" name="Text Box 10"/>
          <p:cNvSpPr txBox="1">
            <a:spLocks noChangeArrowheads="1"/>
          </p:cNvSpPr>
          <p:nvPr/>
        </p:nvSpPr>
        <p:spPr bwMode="auto">
          <a:xfrm>
            <a:off x="3162300" y="4233863"/>
            <a:ext cx="43211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800">
                <a:solidFill>
                  <a:schemeClr val="bg2"/>
                </a:solidFill>
                <a:latin typeface="Arial" panose="020B0604020202020204" pitchFamily="34" charset="0"/>
              </a:rPr>
              <a:t>= Affected Female, Male</a:t>
            </a:r>
            <a:r>
              <a:rPr lang="en-US" altLang="en-US" sz="2800">
                <a:solidFill>
                  <a:schemeClr val="bg2"/>
                </a:solidFill>
              </a:rPr>
              <a:t> </a:t>
            </a:r>
          </a:p>
        </p:txBody>
      </p:sp>
      <p:sp>
        <p:nvSpPr>
          <p:cNvPr id="57355" name="Oval 11"/>
          <p:cNvSpPr>
            <a:spLocks noChangeArrowheads="1"/>
          </p:cNvSpPr>
          <p:nvPr/>
        </p:nvSpPr>
        <p:spPr bwMode="auto">
          <a:xfrm>
            <a:off x="4262438" y="1538288"/>
            <a:ext cx="914400" cy="914400"/>
          </a:xfrm>
          <a:prstGeom prst="ellipse">
            <a:avLst/>
          </a:prstGeom>
          <a:noFill/>
          <a:ln w="31750">
            <a:solidFill>
              <a:schemeClr val="bg2"/>
            </a:solidFill>
            <a:round/>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7356" name="Oval 12"/>
          <p:cNvSpPr>
            <a:spLocks noChangeArrowheads="1"/>
          </p:cNvSpPr>
          <p:nvPr/>
        </p:nvSpPr>
        <p:spPr bwMode="auto">
          <a:xfrm>
            <a:off x="4643438" y="1919288"/>
            <a:ext cx="152400" cy="152400"/>
          </a:xfrm>
          <a:prstGeom prst="ellipse">
            <a:avLst/>
          </a:prstGeom>
          <a:solidFill>
            <a:schemeClr val="tx1"/>
          </a:solidFill>
          <a:ln w="31750">
            <a:solidFill>
              <a:schemeClr val="bg2"/>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7357" name="Text Box 13"/>
          <p:cNvSpPr txBox="1">
            <a:spLocks noChangeArrowheads="1"/>
          </p:cNvSpPr>
          <p:nvPr/>
        </p:nvSpPr>
        <p:spPr bwMode="auto">
          <a:xfrm>
            <a:off x="5329238" y="1582738"/>
            <a:ext cx="3595687"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800">
                <a:solidFill>
                  <a:schemeClr val="bg2"/>
                </a:solidFill>
                <a:latin typeface="Arial" panose="020B0604020202020204" pitchFamily="34" charset="0"/>
              </a:rPr>
              <a:t>= Female carrier for </a:t>
            </a:r>
          </a:p>
          <a:p>
            <a:pPr>
              <a:spcBef>
                <a:spcPct val="0"/>
              </a:spcBef>
              <a:buClrTx/>
              <a:buFontTx/>
              <a:buNone/>
            </a:pPr>
            <a:r>
              <a:rPr lang="en-US" altLang="en-US" sz="2800">
                <a:solidFill>
                  <a:schemeClr val="bg2"/>
                </a:solidFill>
                <a:latin typeface="Arial" panose="020B0604020202020204" pitchFamily="34" charset="0"/>
              </a:rPr>
              <a:t>   X-linked trait</a:t>
            </a:r>
          </a:p>
        </p:txBody>
      </p:sp>
      <p:sp>
        <p:nvSpPr>
          <p:cNvPr id="57358" name="Rectangle 14"/>
          <p:cNvSpPr>
            <a:spLocks noChangeArrowheads="1"/>
          </p:cNvSpPr>
          <p:nvPr/>
        </p:nvSpPr>
        <p:spPr bwMode="auto">
          <a:xfrm rot="-2742231">
            <a:off x="4414838" y="2909888"/>
            <a:ext cx="685800" cy="685800"/>
          </a:xfrm>
          <a:prstGeom prst="rect">
            <a:avLst/>
          </a:prstGeom>
          <a:noFill/>
          <a:ln w="31750">
            <a:solidFill>
              <a:schemeClr val="bg2"/>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7359" name="Text Box 15"/>
          <p:cNvSpPr txBox="1">
            <a:spLocks noChangeArrowheads="1"/>
          </p:cNvSpPr>
          <p:nvPr/>
        </p:nvSpPr>
        <p:spPr bwMode="auto">
          <a:xfrm>
            <a:off x="5329238" y="2984500"/>
            <a:ext cx="27860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800">
                <a:solidFill>
                  <a:schemeClr val="bg2"/>
                </a:solidFill>
                <a:latin typeface="Arial" panose="020B0604020202020204" pitchFamily="34" charset="0"/>
              </a:rPr>
              <a:t>= Unknown sex</a:t>
            </a:r>
            <a:endParaRPr lang="en-US" altLang="en-US" sz="2400">
              <a:solidFill>
                <a:schemeClr val="bg2"/>
              </a:solidFill>
              <a:latin typeface="Arial" panose="020B0604020202020204" pitchFamily="34" charset="0"/>
            </a:endParaRPr>
          </a:p>
        </p:txBody>
      </p:sp>
      <p:sp>
        <p:nvSpPr>
          <p:cNvPr id="57360" name="Rectangle 16"/>
          <p:cNvSpPr>
            <a:spLocks noChangeArrowheads="1"/>
          </p:cNvSpPr>
          <p:nvPr/>
        </p:nvSpPr>
        <p:spPr bwMode="auto">
          <a:xfrm>
            <a:off x="827088" y="5338763"/>
            <a:ext cx="914400" cy="914400"/>
          </a:xfrm>
          <a:prstGeom prst="rect">
            <a:avLst/>
          </a:prstGeom>
          <a:noFill/>
          <a:ln w="31750">
            <a:solidFill>
              <a:schemeClr val="bg2"/>
            </a:solidFill>
            <a:miter lim="800000"/>
            <a:headEnd type="none" w="sm" len="sm"/>
            <a:tailEnd type="none" w="sm" len="sm"/>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endParaRPr lang="en-US" altLang="en-US" sz="1000">
              <a:solidFill>
                <a:schemeClr val="bg2"/>
              </a:solidFill>
              <a:latin typeface="Arial" panose="020B0604020202020204" pitchFamily="34" charset="0"/>
            </a:endParaRPr>
          </a:p>
        </p:txBody>
      </p:sp>
      <p:sp>
        <p:nvSpPr>
          <p:cNvPr id="57361" name="Line 17"/>
          <p:cNvSpPr>
            <a:spLocks noChangeShapeType="1"/>
          </p:cNvSpPr>
          <p:nvPr/>
        </p:nvSpPr>
        <p:spPr bwMode="auto">
          <a:xfrm flipV="1">
            <a:off x="717550" y="5259388"/>
            <a:ext cx="1071563" cy="1073150"/>
          </a:xfrm>
          <a:prstGeom prst="line">
            <a:avLst/>
          </a:prstGeom>
          <a:noFill/>
          <a:ln w="317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en-US"/>
          </a:p>
        </p:txBody>
      </p:sp>
      <p:sp>
        <p:nvSpPr>
          <p:cNvPr id="57362" name="Text Box 18"/>
          <p:cNvSpPr txBox="1">
            <a:spLocks noChangeArrowheads="1"/>
          </p:cNvSpPr>
          <p:nvPr/>
        </p:nvSpPr>
        <p:spPr bwMode="auto">
          <a:xfrm>
            <a:off x="1946275" y="5537200"/>
            <a:ext cx="3046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1750">
                <a:solidFill>
                  <a:schemeClr val="bg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800">
                <a:solidFill>
                  <a:schemeClr val="bg2"/>
                </a:solidFill>
                <a:latin typeface="Arial" panose="020B0604020202020204" pitchFamily="34" charset="0"/>
              </a:rPr>
              <a:t>= Deceased Male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370" name="Object 2"/>
          <p:cNvGraphicFramePr>
            <a:graphicFrameLocks noChangeAspect="1"/>
          </p:cNvGraphicFramePr>
          <p:nvPr/>
        </p:nvGraphicFramePr>
        <p:xfrm>
          <a:off x="201613" y="1076325"/>
          <a:ext cx="4071937" cy="5508625"/>
        </p:xfrm>
        <a:graphic>
          <a:graphicData uri="http://schemas.openxmlformats.org/presentationml/2006/ole">
            <mc:AlternateContent xmlns:mc="http://schemas.openxmlformats.org/markup-compatibility/2006">
              <mc:Choice xmlns:v="urn:schemas-microsoft-com:vml" Requires="v">
                <p:oleObj spid="_x0000_s1065" name="Photo House" r:id="rId3" imgW="2050092" imgH="2806554" progId="Photohse.Document">
                  <p:embed/>
                </p:oleObj>
              </mc:Choice>
              <mc:Fallback>
                <p:oleObj name="Photo House" r:id="rId3" imgW="2050092" imgH="2806554" progId="Photohse.Document">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b="8829"/>
                      <a:stretch>
                        <a:fillRect/>
                      </a:stretch>
                    </p:blipFill>
                    <p:spPr bwMode="auto">
                      <a:xfrm>
                        <a:off x="201613" y="1076325"/>
                        <a:ext cx="4071937" cy="550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8371" name="Line 3"/>
          <p:cNvSpPr>
            <a:spLocks noChangeShapeType="1"/>
          </p:cNvSpPr>
          <p:nvPr/>
        </p:nvSpPr>
        <p:spPr bwMode="auto">
          <a:xfrm>
            <a:off x="185738" y="9144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372" name="Rectangle 4"/>
          <p:cNvSpPr>
            <a:spLocks noChangeArrowheads="1"/>
          </p:cNvSpPr>
          <p:nvPr/>
        </p:nvSpPr>
        <p:spPr bwMode="auto">
          <a:xfrm>
            <a:off x="4189413" y="1287463"/>
            <a:ext cx="4954587" cy="508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800100" indent="-34290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Aft>
                <a:spcPct val="20000"/>
              </a:spcAft>
              <a:buClr>
                <a:schemeClr val="tx1"/>
              </a:buClr>
            </a:pPr>
            <a:r>
              <a:rPr lang="en-US" altLang="en-US" sz="2800">
                <a:solidFill>
                  <a:schemeClr val="bg2"/>
                </a:solidFill>
                <a:latin typeface="Arial" panose="020B0604020202020204" pitchFamily="34" charset="0"/>
                <a:cs typeface="Times New Roman" panose="02020603050405020304" pitchFamily="18" charset="0"/>
              </a:rPr>
              <a:t>Augustinian monk working in country presently known as Czech Republic</a:t>
            </a:r>
            <a:endParaRPr lang="en-US" altLang="en-US" sz="2800">
              <a:solidFill>
                <a:schemeClr val="bg2"/>
              </a:solidFill>
              <a:latin typeface="Arial" panose="020B0604020202020204" pitchFamily="34" charset="0"/>
              <a:cs typeface="Courier New" panose="02070309020205020404" pitchFamily="49" charset="0"/>
            </a:endParaRPr>
          </a:p>
          <a:p>
            <a:pPr>
              <a:lnSpc>
                <a:spcPct val="90000"/>
              </a:lnSpc>
              <a:spcAft>
                <a:spcPct val="20000"/>
              </a:spcAft>
              <a:buClr>
                <a:schemeClr val="tx1"/>
              </a:buClr>
            </a:pPr>
            <a:r>
              <a:rPr lang="en-US" altLang="en-US" sz="2800">
                <a:solidFill>
                  <a:schemeClr val="bg2"/>
                </a:solidFill>
                <a:latin typeface="Arial" panose="020B0604020202020204" pitchFamily="34" charset="0"/>
                <a:cs typeface="Times New Roman" panose="02020603050405020304" pitchFamily="18" charset="0"/>
              </a:rPr>
              <a:t>Studied plant hybridization for 8 years </a:t>
            </a:r>
          </a:p>
          <a:p>
            <a:pPr lvl="1">
              <a:lnSpc>
                <a:spcPct val="90000"/>
              </a:lnSpc>
              <a:spcAft>
                <a:spcPct val="20000"/>
              </a:spcAft>
              <a:buClr>
                <a:schemeClr val="tx1"/>
              </a:buClr>
            </a:pPr>
            <a:r>
              <a:rPr lang="en-US" altLang="en-US" sz="2400">
                <a:solidFill>
                  <a:schemeClr val="bg2"/>
                </a:solidFill>
                <a:latin typeface="Arial" panose="020B0604020202020204" pitchFamily="34" charset="0"/>
                <a:cs typeface="Times New Roman" panose="02020603050405020304" pitchFamily="18" charset="0"/>
              </a:rPr>
              <a:t>Cross pollination of common varieties of sweet pea (color, shape, size, and form of sea pod)</a:t>
            </a:r>
          </a:p>
          <a:p>
            <a:pPr lvl="1">
              <a:lnSpc>
                <a:spcPct val="90000"/>
              </a:lnSpc>
              <a:spcAft>
                <a:spcPct val="20000"/>
              </a:spcAft>
              <a:buClr>
                <a:schemeClr val="tx1"/>
              </a:buClr>
            </a:pPr>
            <a:r>
              <a:rPr lang="en-US" altLang="en-US" sz="2400">
                <a:solidFill>
                  <a:schemeClr val="bg2"/>
                </a:solidFill>
                <a:latin typeface="Arial" panose="020B0604020202020204" pitchFamily="34" charset="0"/>
                <a:cs typeface="Times New Roman" panose="02020603050405020304" pitchFamily="18" charset="0"/>
              </a:rPr>
              <a:t>Lucky he chose traits of simple inheritance, each on their own chromosome</a:t>
            </a:r>
            <a:endParaRPr lang="en-US" altLang="en-US" sz="2400">
              <a:solidFill>
                <a:schemeClr val="bg2"/>
              </a:solidFill>
              <a:latin typeface="Arial" panose="020B0604020202020204" pitchFamily="34" charset="0"/>
              <a:cs typeface="Courier New" panose="02070309020205020404" pitchFamily="49" charset="0"/>
            </a:endParaRPr>
          </a:p>
        </p:txBody>
      </p:sp>
      <p:sp>
        <p:nvSpPr>
          <p:cNvPr id="58373" name="Rectangle 5"/>
          <p:cNvSpPr>
            <a:spLocks noChangeArrowheads="1"/>
          </p:cNvSpPr>
          <p:nvPr/>
        </p:nvSpPr>
        <p:spPr bwMode="auto">
          <a:xfrm>
            <a:off x="242888" y="-114300"/>
            <a:ext cx="84867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r>
              <a:rPr lang="en-US" altLang="en-US" sz="3600">
                <a:solidFill>
                  <a:schemeClr val="bg2"/>
                </a:solidFill>
                <a:latin typeface="Comic Sans MS" panose="030F0702030302020204" pitchFamily="66" charset="0"/>
                <a:cs typeface="Times New Roman" panose="02020603050405020304" pitchFamily="18" charset="0"/>
              </a:rPr>
              <a:t>Johann Gregor Mendel (1822-1884)</a:t>
            </a:r>
            <a:endParaRPr lang="en-US" altLang="en-US" sz="4400" b="0">
              <a:solidFill>
                <a:schemeClr val="bg2"/>
              </a:solidFill>
              <a:latin typeface="Comic Sans MS" panose="030F0702030302020204" pitchFamily="66" charset="0"/>
              <a:cs typeface="Courier New" panose="020703090202050204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ChangeArrowheads="1"/>
          </p:cNvSpPr>
          <p:nvPr/>
        </p:nvSpPr>
        <p:spPr bwMode="auto">
          <a:xfrm>
            <a:off x="234950" y="76200"/>
            <a:ext cx="890905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r>
              <a:rPr lang="en-US" altLang="en-US" sz="3600">
                <a:solidFill>
                  <a:schemeClr val="bg2"/>
                </a:solidFill>
                <a:latin typeface="Comic Sans MS" panose="030F0702030302020204" pitchFamily="66" charset="0"/>
                <a:cs typeface="Times New Roman" panose="02020603050405020304" pitchFamily="18" charset="0"/>
              </a:rPr>
              <a:t>Mendel (1822-1884)</a:t>
            </a:r>
            <a:endParaRPr lang="en-US" altLang="en-US" sz="4400" b="0">
              <a:solidFill>
                <a:schemeClr val="bg2"/>
              </a:solidFill>
              <a:latin typeface="Comic Sans MS" panose="030F0702030302020204" pitchFamily="66" charset="0"/>
              <a:cs typeface="Courier New" panose="02070309020205020404" pitchFamily="49" charset="0"/>
            </a:endParaRPr>
          </a:p>
        </p:txBody>
      </p:sp>
      <p:sp>
        <p:nvSpPr>
          <p:cNvPr id="59395" name="Rectangle 3"/>
          <p:cNvSpPr>
            <a:spLocks noChangeArrowheads="1"/>
          </p:cNvSpPr>
          <p:nvPr/>
        </p:nvSpPr>
        <p:spPr bwMode="auto">
          <a:xfrm>
            <a:off x="274638" y="1390650"/>
            <a:ext cx="8450262" cy="5048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Aft>
                <a:spcPct val="20000"/>
              </a:spcAft>
            </a:pPr>
            <a:r>
              <a:rPr lang="en-US" altLang="en-US">
                <a:solidFill>
                  <a:schemeClr val="bg2"/>
                </a:solidFill>
                <a:latin typeface="Arial" panose="020B0604020202020204" pitchFamily="34" charset="0"/>
                <a:cs typeface="Times New Roman" panose="02020603050405020304" pitchFamily="18" charset="0"/>
              </a:rPr>
              <a:t>Hypothesized that an organism’s characteristics were inherited as discrete units or elements and not through blending of parental traits</a:t>
            </a:r>
            <a:endParaRPr lang="en-US" altLang="en-US">
              <a:solidFill>
                <a:schemeClr val="bg2"/>
              </a:solidFill>
              <a:latin typeface="Arial" panose="020B0604020202020204" pitchFamily="34" charset="0"/>
              <a:cs typeface="Courier New" panose="02070309020205020404" pitchFamily="49" charset="0"/>
            </a:endParaRPr>
          </a:p>
          <a:p>
            <a:pPr>
              <a:lnSpc>
                <a:spcPct val="90000"/>
              </a:lnSpc>
              <a:spcAft>
                <a:spcPct val="20000"/>
              </a:spcAft>
            </a:pPr>
            <a:r>
              <a:rPr lang="en-US" altLang="en-US">
                <a:solidFill>
                  <a:schemeClr val="bg2"/>
                </a:solidFill>
                <a:latin typeface="Arial" panose="020B0604020202020204" pitchFamily="34" charset="0"/>
                <a:cs typeface="Times New Roman" panose="02020603050405020304" pitchFamily="18" charset="0"/>
              </a:rPr>
              <a:t>In 1864 began to disseminate findings </a:t>
            </a:r>
          </a:p>
          <a:p>
            <a:pPr>
              <a:lnSpc>
                <a:spcPct val="90000"/>
              </a:lnSpc>
              <a:spcAft>
                <a:spcPct val="20000"/>
              </a:spcAft>
            </a:pPr>
            <a:r>
              <a:rPr lang="en-US" altLang="en-US">
                <a:solidFill>
                  <a:schemeClr val="bg2"/>
                </a:solidFill>
                <a:latin typeface="Arial" panose="020B0604020202020204" pitchFamily="34" charset="0"/>
                <a:cs typeface="Times New Roman" panose="02020603050405020304" pitchFamily="18" charset="0"/>
              </a:rPr>
              <a:t>Mendel’s work was unrecognized during his lifetime</a:t>
            </a:r>
          </a:p>
          <a:p>
            <a:pPr lvl="1">
              <a:lnSpc>
                <a:spcPct val="90000"/>
              </a:lnSpc>
              <a:spcAft>
                <a:spcPct val="20000"/>
              </a:spcAft>
            </a:pPr>
            <a:r>
              <a:rPr lang="en-US" altLang="en-US" sz="2400">
                <a:solidFill>
                  <a:schemeClr val="bg2"/>
                </a:solidFill>
                <a:latin typeface="Arial" panose="020B0604020202020204" pitchFamily="34" charset="0"/>
                <a:cs typeface="Times New Roman" panose="02020603050405020304" pitchFamily="18" charset="0"/>
              </a:rPr>
              <a:t>In 1900 three independent botanical researchers uncovered his work (deVries, Correns, and Tschermak)</a:t>
            </a:r>
            <a:endParaRPr lang="en-US" altLang="en-US" sz="2000">
              <a:solidFill>
                <a:schemeClr val="bg2"/>
              </a:solidFill>
              <a:latin typeface="Arial" panose="020B0604020202020204" pitchFamily="34" charset="0"/>
            </a:endParaRPr>
          </a:p>
        </p:txBody>
      </p:sp>
      <p:sp>
        <p:nvSpPr>
          <p:cNvPr id="59396" name="Line 4"/>
          <p:cNvSpPr>
            <a:spLocks noChangeShapeType="1"/>
          </p:cNvSpPr>
          <p:nvPr/>
        </p:nvSpPr>
        <p:spPr bwMode="auto">
          <a:xfrm>
            <a:off x="271463" y="12192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idx="4294967295"/>
          </p:nvPr>
        </p:nvSpPr>
        <p:spPr>
          <a:xfrm>
            <a:off x="685800" y="130175"/>
            <a:ext cx="7772400" cy="1143000"/>
          </a:xfrm>
        </p:spPr>
        <p:txBody>
          <a:bodyPr/>
          <a:lstStyle/>
          <a:p>
            <a:r>
              <a:rPr lang="en-US" altLang="en-US" sz="4000" b="1">
                <a:latin typeface="Comic Sans MS" panose="030F0702030302020204" pitchFamily="66" charset="0"/>
              </a:rPr>
              <a:t>Example – ABO Blood Group</a:t>
            </a:r>
          </a:p>
        </p:txBody>
      </p:sp>
      <p:sp>
        <p:nvSpPr>
          <p:cNvPr id="60419" name="Rectangle 3"/>
          <p:cNvSpPr>
            <a:spLocks noGrp="1" noChangeArrowheads="1"/>
          </p:cNvSpPr>
          <p:nvPr>
            <p:ph type="body" idx="4294967295"/>
          </p:nvPr>
        </p:nvSpPr>
        <p:spPr>
          <a:xfrm>
            <a:off x="307975" y="1544638"/>
            <a:ext cx="8458200" cy="4114800"/>
          </a:xfrm>
        </p:spPr>
        <p:txBody>
          <a:bodyPr/>
          <a:lstStyle/>
          <a:p>
            <a:pPr>
              <a:lnSpc>
                <a:spcPct val="90000"/>
              </a:lnSpc>
              <a:spcBef>
                <a:spcPts val="600"/>
              </a:spcBef>
              <a:spcAft>
                <a:spcPts val="600"/>
              </a:spcAft>
            </a:pPr>
            <a:r>
              <a:rPr lang="en-US" altLang="en-US" sz="2000" b="1" dirty="0">
                <a:latin typeface="Arial" panose="020B0604020202020204" pitchFamily="34" charset="0"/>
              </a:rPr>
              <a:t>Based on antigens on the surface of red blood cells</a:t>
            </a:r>
          </a:p>
          <a:p>
            <a:pPr>
              <a:lnSpc>
                <a:spcPct val="90000"/>
              </a:lnSpc>
              <a:spcBef>
                <a:spcPts val="600"/>
              </a:spcBef>
              <a:spcAft>
                <a:spcPts val="600"/>
              </a:spcAft>
            </a:pPr>
            <a:r>
              <a:rPr lang="en-US" altLang="en-US" sz="2000" b="1" dirty="0">
                <a:latin typeface="Arial" panose="020B0604020202020204" pitchFamily="34" charset="0"/>
              </a:rPr>
              <a:t>Chromosome 9. </a:t>
            </a:r>
          </a:p>
          <a:p>
            <a:pPr>
              <a:lnSpc>
                <a:spcPct val="90000"/>
              </a:lnSpc>
              <a:spcBef>
                <a:spcPts val="600"/>
              </a:spcBef>
              <a:spcAft>
                <a:spcPts val="600"/>
              </a:spcAft>
            </a:pPr>
            <a:r>
              <a:rPr lang="en-US" altLang="en-US" sz="2000" b="1" dirty="0">
                <a:latin typeface="Arial" panose="020B0604020202020204" pitchFamily="34" charset="0"/>
              </a:rPr>
              <a:t>Alleles: A, B, O  A = A antigen; B = B antigen; O=neither</a:t>
            </a:r>
          </a:p>
          <a:p>
            <a:pPr>
              <a:lnSpc>
                <a:spcPct val="90000"/>
              </a:lnSpc>
              <a:spcBef>
                <a:spcPts val="600"/>
              </a:spcBef>
              <a:spcAft>
                <a:spcPts val="600"/>
              </a:spcAft>
            </a:pPr>
            <a:r>
              <a:rPr lang="en-US" altLang="en-US" sz="2000" b="1" u="sng" dirty="0">
                <a:latin typeface="Arial" panose="020B0604020202020204" pitchFamily="34" charset="0"/>
              </a:rPr>
              <a:t>Genotype</a:t>
            </a:r>
            <a:r>
              <a:rPr lang="en-US" altLang="en-US" sz="2000" b="1" dirty="0">
                <a:latin typeface="Arial" panose="020B0604020202020204" pitchFamily="34" charset="0"/>
              </a:rPr>
              <a:t>		</a:t>
            </a:r>
            <a:r>
              <a:rPr lang="en-US" altLang="en-US" sz="2000" b="1" u="sng" dirty="0">
                <a:latin typeface="Arial" panose="020B0604020202020204" pitchFamily="34" charset="0"/>
              </a:rPr>
              <a:t>Phenotype</a:t>
            </a:r>
            <a:r>
              <a:rPr lang="en-US" altLang="en-US" sz="2000" b="1" dirty="0">
                <a:latin typeface="Arial" panose="020B0604020202020204" pitchFamily="34" charset="0"/>
              </a:rPr>
              <a:t> (blood </a:t>
            </a:r>
            <a:r>
              <a:rPr lang="en-US" altLang="en-US" sz="2000" b="1" dirty="0" smtClean="0">
                <a:latin typeface="Arial" panose="020B0604020202020204" pitchFamily="34" charset="0"/>
              </a:rPr>
              <a:t>group, monogenic)</a:t>
            </a:r>
            <a:endParaRPr lang="en-US" altLang="en-US" sz="2000" b="1" dirty="0">
              <a:latin typeface="Arial" panose="020B0604020202020204" pitchFamily="34" charset="0"/>
            </a:endParaRPr>
          </a:p>
          <a:p>
            <a:pPr>
              <a:lnSpc>
                <a:spcPct val="90000"/>
              </a:lnSpc>
              <a:spcBef>
                <a:spcPts val="600"/>
              </a:spcBef>
              <a:spcAft>
                <a:spcPts val="600"/>
              </a:spcAft>
              <a:buFontTx/>
              <a:buNone/>
            </a:pPr>
            <a:r>
              <a:rPr lang="en-US" altLang="en-US" sz="2000" b="1" dirty="0">
                <a:latin typeface="Arial" panose="020B0604020202020204" pitchFamily="34" charset="0"/>
              </a:rPr>
              <a:t>	AA, AO		A</a:t>
            </a:r>
          </a:p>
          <a:p>
            <a:pPr>
              <a:lnSpc>
                <a:spcPct val="90000"/>
              </a:lnSpc>
              <a:spcBef>
                <a:spcPts val="600"/>
              </a:spcBef>
              <a:spcAft>
                <a:spcPts val="600"/>
              </a:spcAft>
              <a:buFontTx/>
              <a:buNone/>
            </a:pPr>
            <a:r>
              <a:rPr lang="en-US" altLang="en-US" sz="2000" b="1" dirty="0">
                <a:latin typeface="Arial" panose="020B0604020202020204" pitchFamily="34" charset="0"/>
              </a:rPr>
              <a:t>	BB, BO		B</a:t>
            </a:r>
          </a:p>
          <a:p>
            <a:pPr>
              <a:lnSpc>
                <a:spcPct val="90000"/>
              </a:lnSpc>
              <a:spcBef>
                <a:spcPts val="600"/>
              </a:spcBef>
              <a:spcAft>
                <a:spcPts val="600"/>
              </a:spcAft>
              <a:buFontTx/>
              <a:buNone/>
            </a:pPr>
            <a:r>
              <a:rPr lang="en-US" altLang="en-US" sz="2000" b="1" dirty="0">
                <a:latin typeface="Arial" panose="020B0604020202020204" pitchFamily="34" charset="0"/>
              </a:rPr>
              <a:t>	AB			AB</a:t>
            </a:r>
          </a:p>
          <a:p>
            <a:pPr>
              <a:lnSpc>
                <a:spcPct val="90000"/>
              </a:lnSpc>
              <a:spcBef>
                <a:spcPts val="600"/>
              </a:spcBef>
              <a:spcAft>
                <a:spcPts val="600"/>
              </a:spcAft>
              <a:buFontTx/>
              <a:buNone/>
            </a:pPr>
            <a:r>
              <a:rPr lang="en-US" altLang="en-US" sz="2000" b="1" dirty="0">
                <a:latin typeface="Arial" panose="020B0604020202020204" pitchFamily="34" charset="0"/>
              </a:rPr>
              <a:t>	OO			O</a:t>
            </a:r>
          </a:p>
          <a:p>
            <a:pPr>
              <a:lnSpc>
                <a:spcPct val="90000"/>
              </a:lnSpc>
              <a:spcBef>
                <a:spcPts val="600"/>
              </a:spcBef>
              <a:spcAft>
                <a:spcPts val="600"/>
              </a:spcAft>
            </a:pPr>
            <a:r>
              <a:rPr lang="en-US" altLang="en-US" sz="2000" b="1" dirty="0">
                <a:latin typeface="Arial" panose="020B0604020202020204" pitchFamily="34" charset="0"/>
              </a:rPr>
              <a:t>Genotypes consisting of two copies of the same allele are homozygous. Examples AA, BB, OO</a:t>
            </a:r>
          </a:p>
          <a:p>
            <a:pPr>
              <a:lnSpc>
                <a:spcPct val="90000"/>
              </a:lnSpc>
              <a:spcBef>
                <a:spcPts val="600"/>
              </a:spcBef>
              <a:spcAft>
                <a:spcPts val="600"/>
              </a:spcAft>
            </a:pPr>
            <a:r>
              <a:rPr lang="en-US" altLang="en-US" sz="2000" b="1" dirty="0">
                <a:latin typeface="Arial" panose="020B0604020202020204" pitchFamily="34" charset="0"/>
              </a:rPr>
              <a:t>Genotypes consisting of two different alleles are heterozygous. Examples: AB, AO, BO</a:t>
            </a:r>
          </a:p>
          <a:p>
            <a:pPr>
              <a:lnSpc>
                <a:spcPct val="90000"/>
              </a:lnSpc>
              <a:buFontTx/>
              <a:buNone/>
            </a:pPr>
            <a:endParaRPr lang="en-US" altLang="en-US" sz="2000" dirty="0"/>
          </a:p>
        </p:txBody>
      </p:sp>
      <p:sp>
        <p:nvSpPr>
          <p:cNvPr id="60420" name="Line 3"/>
          <p:cNvSpPr>
            <a:spLocks noChangeShapeType="1"/>
          </p:cNvSpPr>
          <p:nvPr/>
        </p:nvSpPr>
        <p:spPr bwMode="auto">
          <a:xfrm>
            <a:off x="274638" y="131445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0"/>
          <p:cNvSpPr>
            <a:spLocks noChangeArrowheads="1"/>
          </p:cNvSpPr>
          <p:nvPr/>
        </p:nvSpPr>
        <p:spPr bwMode="auto">
          <a:xfrm>
            <a:off x="1709738" y="131763"/>
            <a:ext cx="49530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3600">
                <a:solidFill>
                  <a:schemeClr val="bg2"/>
                </a:solidFill>
                <a:latin typeface="Comic Sans MS" panose="030F0702030302020204" pitchFamily="66" charset="0"/>
                <a:cs typeface="Times New Roman" panose="02020603050405020304" pitchFamily="18" charset="0"/>
              </a:rPr>
              <a:t>Dominant - Recessive</a:t>
            </a:r>
          </a:p>
        </p:txBody>
      </p:sp>
      <p:sp>
        <p:nvSpPr>
          <p:cNvPr id="62467" name="Line 21"/>
          <p:cNvSpPr>
            <a:spLocks noChangeShapeType="1"/>
          </p:cNvSpPr>
          <p:nvPr/>
        </p:nvSpPr>
        <p:spPr bwMode="auto">
          <a:xfrm>
            <a:off x="203200" y="962025"/>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468" name="Rectangle 3"/>
          <p:cNvSpPr txBox="1">
            <a:spLocks noChangeArrowheads="1"/>
          </p:cNvSpPr>
          <p:nvPr/>
        </p:nvSpPr>
        <p:spPr bwMode="auto">
          <a:xfrm>
            <a:off x="347663" y="1516063"/>
            <a:ext cx="8302625" cy="417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r>
              <a:rPr lang="en-US" altLang="en-US" sz="2000" dirty="0">
                <a:solidFill>
                  <a:schemeClr val="bg2"/>
                </a:solidFill>
                <a:latin typeface="Arial" panose="020B0604020202020204" pitchFamily="34" charset="0"/>
              </a:rPr>
              <a:t>When a heterozygous genotype has distinguishable phenotype from both homozygous genotypes, the alleles are </a:t>
            </a:r>
            <a:r>
              <a:rPr lang="en-US" altLang="en-US" sz="2000" i="1" dirty="0">
                <a:solidFill>
                  <a:schemeClr val="bg2"/>
                </a:solidFill>
                <a:latin typeface="Arial" panose="020B0604020202020204" pitchFamily="34" charset="0"/>
              </a:rPr>
              <a:t>codominant</a:t>
            </a:r>
          </a:p>
          <a:p>
            <a:pPr>
              <a:buFontTx/>
              <a:buNone/>
            </a:pPr>
            <a:r>
              <a:rPr lang="en-US" altLang="en-US" sz="2000" dirty="0">
                <a:solidFill>
                  <a:schemeClr val="bg2"/>
                </a:solidFill>
                <a:latin typeface="Arial" panose="020B0604020202020204" pitchFamily="34" charset="0"/>
              </a:rPr>
              <a:t>		</a:t>
            </a:r>
            <a:r>
              <a:rPr lang="en-US" altLang="en-US" sz="2000" dirty="0" smtClean="0">
                <a:solidFill>
                  <a:schemeClr val="bg2"/>
                </a:solidFill>
                <a:latin typeface="Arial" panose="020B0604020202020204" pitchFamily="34" charset="0"/>
              </a:rPr>
              <a:t>- Example</a:t>
            </a:r>
            <a:r>
              <a:rPr lang="en-US" altLang="en-US" sz="2000" dirty="0">
                <a:solidFill>
                  <a:schemeClr val="bg2"/>
                </a:solidFill>
                <a:latin typeface="Arial" panose="020B0604020202020204" pitchFamily="34" charset="0"/>
              </a:rPr>
              <a:t>: ABO Blood Group; </a:t>
            </a:r>
            <a:r>
              <a:rPr lang="en-US" altLang="en-US" sz="2000" i="1" dirty="0">
                <a:solidFill>
                  <a:schemeClr val="bg2"/>
                </a:solidFill>
                <a:latin typeface="Arial" panose="020B0604020202020204" pitchFamily="34" charset="0"/>
              </a:rPr>
              <a:t>A </a:t>
            </a:r>
            <a:r>
              <a:rPr lang="en-US" altLang="en-US" sz="2000" dirty="0">
                <a:solidFill>
                  <a:schemeClr val="bg2"/>
                </a:solidFill>
                <a:latin typeface="Arial" panose="020B0604020202020204" pitchFamily="34" charset="0"/>
              </a:rPr>
              <a:t>and </a:t>
            </a:r>
            <a:r>
              <a:rPr lang="en-US" altLang="en-US" sz="2000" i="1" dirty="0">
                <a:solidFill>
                  <a:schemeClr val="bg2"/>
                </a:solidFill>
                <a:latin typeface="Arial" panose="020B0604020202020204" pitchFamily="34" charset="0"/>
              </a:rPr>
              <a:t>B</a:t>
            </a:r>
            <a:r>
              <a:rPr lang="en-US" altLang="en-US" sz="2000" dirty="0">
                <a:solidFill>
                  <a:schemeClr val="bg2"/>
                </a:solidFill>
                <a:latin typeface="Arial" panose="020B0604020202020204" pitchFamily="34" charset="0"/>
              </a:rPr>
              <a:t> are codominant 	- (AB genotype results in unique phenotype)</a:t>
            </a:r>
          </a:p>
          <a:p>
            <a:pPr>
              <a:buFont typeface="Arial" panose="020B0604020202020204" pitchFamily="34" charset="0"/>
              <a:buChar char="•"/>
            </a:pPr>
            <a:r>
              <a:rPr lang="en-US" altLang="en-US" sz="2000" dirty="0" smtClean="0">
                <a:solidFill>
                  <a:schemeClr val="bg2"/>
                </a:solidFill>
                <a:latin typeface="Arial" panose="020B0604020202020204" pitchFamily="34" charset="0"/>
              </a:rPr>
              <a:t>When </a:t>
            </a:r>
            <a:r>
              <a:rPr lang="en-US" altLang="en-US" sz="2000" dirty="0">
                <a:solidFill>
                  <a:schemeClr val="bg2"/>
                </a:solidFill>
                <a:latin typeface="Arial" panose="020B0604020202020204" pitchFamily="34" charset="0"/>
              </a:rPr>
              <a:t>a heterozygous genotype results in the same phenotype as a corresponding homozygous genotype, the allele is </a:t>
            </a:r>
            <a:r>
              <a:rPr lang="en-US" altLang="en-US" sz="2000" i="1" dirty="0">
                <a:solidFill>
                  <a:schemeClr val="bg2"/>
                </a:solidFill>
                <a:latin typeface="Arial" panose="020B0604020202020204" pitchFamily="34" charset="0"/>
              </a:rPr>
              <a:t>dominant</a:t>
            </a:r>
            <a:r>
              <a:rPr lang="en-US" altLang="en-US" sz="2000" dirty="0">
                <a:solidFill>
                  <a:schemeClr val="bg2"/>
                </a:solidFill>
                <a:latin typeface="Arial" panose="020B0604020202020204" pitchFamily="34" charset="0"/>
              </a:rPr>
              <a:t>. </a:t>
            </a:r>
          </a:p>
          <a:p>
            <a:pPr lvl="1">
              <a:buFontTx/>
              <a:buNone/>
            </a:pPr>
            <a:r>
              <a:rPr lang="en-US" altLang="en-US" sz="2000" dirty="0">
                <a:solidFill>
                  <a:schemeClr val="bg2"/>
                </a:solidFill>
                <a:latin typeface="Arial" panose="020B0604020202020204" pitchFamily="34" charset="0"/>
              </a:rPr>
              <a:t>		- Example: </a:t>
            </a:r>
          </a:p>
          <a:p>
            <a:pPr lvl="1">
              <a:buFontTx/>
              <a:buNone/>
            </a:pPr>
            <a:r>
              <a:rPr lang="en-US" altLang="en-US" sz="2000" dirty="0">
                <a:solidFill>
                  <a:schemeClr val="bg2"/>
                </a:solidFill>
                <a:latin typeface="Arial" panose="020B0604020202020204" pitchFamily="34" charset="0"/>
              </a:rPr>
              <a:t>		- AA, AO result in blood group A. </a:t>
            </a:r>
          </a:p>
          <a:p>
            <a:pPr lvl="1">
              <a:buFontTx/>
              <a:buNone/>
            </a:pPr>
            <a:r>
              <a:rPr lang="en-US" altLang="en-US" sz="2000" dirty="0">
                <a:solidFill>
                  <a:schemeClr val="bg2"/>
                </a:solidFill>
                <a:latin typeface="Arial" panose="020B0604020202020204" pitchFamily="34" charset="0"/>
              </a:rPr>
              <a:t>		- BB, BO result in blood group B.</a:t>
            </a:r>
          </a:p>
          <a:p>
            <a:pPr lvl="1">
              <a:buFontTx/>
              <a:buNone/>
            </a:pPr>
            <a:r>
              <a:rPr lang="en-US" altLang="en-US" sz="2000" dirty="0">
                <a:solidFill>
                  <a:schemeClr val="bg2"/>
                </a:solidFill>
                <a:latin typeface="Arial" panose="020B0604020202020204" pitchFamily="34" charset="0"/>
              </a:rPr>
              <a:t>		- A and B are </a:t>
            </a:r>
            <a:r>
              <a:rPr lang="en-US" altLang="en-US" sz="2000" i="1" dirty="0">
                <a:solidFill>
                  <a:schemeClr val="bg2"/>
                </a:solidFill>
                <a:latin typeface="Arial" panose="020B0604020202020204" pitchFamily="34" charset="0"/>
              </a:rPr>
              <a:t>dominant</a:t>
            </a:r>
            <a:r>
              <a:rPr lang="en-US" altLang="en-US" sz="2000" dirty="0">
                <a:solidFill>
                  <a:schemeClr val="bg2"/>
                </a:solidFill>
                <a:latin typeface="Arial" panose="020B0604020202020204" pitchFamily="34" charset="0"/>
              </a:rPr>
              <a:t> to O. </a:t>
            </a:r>
          </a:p>
          <a:p>
            <a:pPr lvl="1">
              <a:buFontTx/>
              <a:buNone/>
            </a:pPr>
            <a:r>
              <a:rPr lang="en-US" altLang="en-US" sz="2000" dirty="0">
                <a:solidFill>
                  <a:schemeClr val="bg2"/>
                </a:solidFill>
                <a:latin typeface="Arial" panose="020B0604020202020204" pitchFamily="34" charset="0"/>
              </a:rPr>
              <a:t>		- Equivalently, O is </a:t>
            </a:r>
            <a:r>
              <a:rPr lang="en-US" altLang="en-US" sz="2000" i="1" dirty="0">
                <a:solidFill>
                  <a:schemeClr val="bg2"/>
                </a:solidFill>
                <a:latin typeface="Arial" panose="020B0604020202020204" pitchFamily="34" charset="0"/>
              </a:rPr>
              <a:t>recessive</a:t>
            </a:r>
            <a:r>
              <a:rPr lang="en-US" altLang="en-US" sz="2000" dirty="0">
                <a:solidFill>
                  <a:schemeClr val="bg2"/>
                </a:solidFill>
                <a:latin typeface="Arial" panose="020B0604020202020204" pitchFamily="34" charset="0"/>
              </a:rPr>
              <a:t> to A and B.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962025" y="14288"/>
            <a:ext cx="7772400" cy="1143000"/>
          </a:xfrm>
        </p:spPr>
        <p:txBody>
          <a:bodyPr/>
          <a:lstStyle/>
          <a:p>
            <a:r>
              <a:rPr lang="en-US" altLang="en-US" sz="4000" b="1">
                <a:latin typeface="Comic Sans MS" panose="030F0702030302020204" pitchFamily="66" charset="0"/>
              </a:rPr>
              <a:t>Mendel’s Law Continued</a:t>
            </a:r>
          </a:p>
        </p:txBody>
      </p:sp>
      <p:sp>
        <p:nvSpPr>
          <p:cNvPr id="64515" name="Rectangle 3"/>
          <p:cNvSpPr>
            <a:spLocks noGrp="1" noChangeArrowheads="1"/>
          </p:cNvSpPr>
          <p:nvPr>
            <p:ph type="body" idx="4294967295"/>
          </p:nvPr>
        </p:nvSpPr>
        <p:spPr>
          <a:xfrm>
            <a:off x="1077913" y="1155700"/>
            <a:ext cx="3562350" cy="806450"/>
          </a:xfrm>
        </p:spPr>
        <p:txBody>
          <a:bodyPr/>
          <a:lstStyle/>
          <a:p>
            <a:pPr>
              <a:lnSpc>
                <a:spcPct val="80000"/>
              </a:lnSpc>
              <a:buFontTx/>
              <a:buNone/>
            </a:pPr>
            <a:r>
              <a:rPr lang="en-US" altLang="en-US" sz="1800" b="1">
                <a:latin typeface="Arial" panose="020B0604020202020204" pitchFamily="34" charset="0"/>
              </a:rPr>
              <a:t>Heterozygous cross:  MNxMN</a:t>
            </a:r>
          </a:p>
          <a:p>
            <a:pPr>
              <a:lnSpc>
                <a:spcPct val="80000"/>
              </a:lnSpc>
              <a:buFontTx/>
              <a:buNone/>
            </a:pPr>
            <a:r>
              <a:rPr lang="en-US" altLang="en-US" sz="1800" b="1">
                <a:latin typeface="Arial" panose="020B0604020202020204" pitchFamily="34" charset="0"/>
              </a:rPr>
              <a:t>Example: MN blood group</a:t>
            </a:r>
          </a:p>
          <a:p>
            <a:pPr>
              <a:lnSpc>
                <a:spcPct val="80000"/>
              </a:lnSpc>
              <a:buFontTx/>
              <a:buNone/>
            </a:pPr>
            <a:r>
              <a:rPr lang="en-US" altLang="en-US" sz="1800" b="1">
                <a:latin typeface="Arial" panose="020B0604020202020204" pitchFamily="34" charset="0"/>
              </a:rPr>
              <a:t>(another codominant locus) </a:t>
            </a:r>
          </a:p>
          <a:p>
            <a:pPr>
              <a:lnSpc>
                <a:spcPct val="80000"/>
              </a:lnSpc>
              <a:buFontTx/>
              <a:buNone/>
            </a:pPr>
            <a:endParaRPr lang="en-US" altLang="en-US" sz="1800" b="1"/>
          </a:p>
        </p:txBody>
      </p:sp>
      <p:sp>
        <p:nvSpPr>
          <p:cNvPr id="64516" name="Line 2"/>
          <p:cNvSpPr>
            <a:spLocks noChangeShapeType="1"/>
          </p:cNvSpPr>
          <p:nvPr/>
        </p:nvSpPr>
        <p:spPr bwMode="auto">
          <a:xfrm>
            <a:off x="271463" y="9906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51334" name="Group 70"/>
          <p:cNvGraphicFramePr>
            <a:graphicFrameLocks noGrp="1"/>
          </p:cNvGraphicFramePr>
          <p:nvPr/>
        </p:nvGraphicFramePr>
        <p:xfrm>
          <a:off x="1509713" y="2165350"/>
          <a:ext cx="6096000" cy="4252913"/>
        </p:xfrm>
        <a:graphic>
          <a:graphicData uri="http://schemas.openxmlformats.org/drawingml/2006/table">
            <a:tbl>
              <a:tblPr/>
              <a:tblGrid>
                <a:gridCol w="2032000">
                  <a:extLst>
                    <a:ext uri="{9D8B030D-6E8A-4147-A177-3AD203B41FA5}">
                      <a16:colId xmlns:a16="http://schemas.microsoft.com/office/drawing/2014/main" val="3496922942"/>
                    </a:ext>
                  </a:extLst>
                </a:gridCol>
                <a:gridCol w="2032000">
                  <a:extLst>
                    <a:ext uri="{9D8B030D-6E8A-4147-A177-3AD203B41FA5}">
                      <a16:colId xmlns:a16="http://schemas.microsoft.com/office/drawing/2014/main" val="2566709161"/>
                    </a:ext>
                  </a:extLst>
                </a:gridCol>
                <a:gridCol w="2032000">
                  <a:extLst>
                    <a:ext uri="{9D8B030D-6E8A-4147-A177-3AD203B41FA5}">
                      <a16:colId xmlns:a16="http://schemas.microsoft.com/office/drawing/2014/main" val="790291611"/>
                    </a:ext>
                  </a:extLst>
                </a:gridCol>
              </a:tblGrid>
              <a:tr h="1542564">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eaLnBrk="0" hangingPunct="0">
                        <a:spcBef>
                          <a:spcPct val="20000"/>
                        </a:spcBef>
                        <a:buClr>
                          <a:schemeClr val="accent2"/>
                        </a:buClr>
                        <a:defRPr sz="2400">
                          <a:solidFill>
                            <a:srgbClr val="006600"/>
                          </a:solidFill>
                          <a:latin typeface="Times New Roman" panose="02020603050405020304" pitchFamily="18" charset="0"/>
                        </a:defRPr>
                      </a:lvl2pPr>
                      <a:lvl3pPr eaLnBrk="0" hangingPunct="0">
                        <a:spcBef>
                          <a:spcPct val="20000"/>
                        </a:spcBef>
                        <a:buClr>
                          <a:schemeClr val="accent2"/>
                        </a:buClr>
                        <a:defRPr sz="2000">
                          <a:solidFill>
                            <a:srgbClr val="006600"/>
                          </a:solidFill>
                          <a:latin typeface="Times New Roman" panose="02020603050405020304" pitchFamily="18" charset="0"/>
                        </a:defRPr>
                      </a:lvl3pPr>
                      <a:lvl4pPr eaLnBrk="0" hangingPunct="0">
                        <a:spcBef>
                          <a:spcPct val="20000"/>
                        </a:spcBef>
                        <a:buClr>
                          <a:schemeClr val="accent2"/>
                        </a:buClr>
                        <a:defRPr>
                          <a:solidFill>
                            <a:srgbClr val="006600"/>
                          </a:solidFill>
                          <a:latin typeface="Times New Roman" panose="02020603050405020304" pitchFamily="18" charset="0"/>
                        </a:defRPr>
                      </a:lvl4pPr>
                      <a:lvl5pPr eaLnBrk="0" hangingPunct="0">
                        <a:spcBef>
                          <a:spcPct val="20000"/>
                        </a:spcBef>
                        <a:buClr>
                          <a:schemeClr val="accent2"/>
                        </a:buClr>
                        <a:defRPr>
                          <a:solidFill>
                            <a:srgbClr val="006600"/>
                          </a:solidFill>
                          <a:latin typeface="Times New Roman" panose="02020603050405020304" pitchFamily="18" charset="0"/>
                        </a:defRPr>
                      </a:lvl5pPr>
                      <a:lvl6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0" i="0" u="none" strike="noStrike" cap="none" normalizeH="0" baseline="0">
                          <a:ln>
                            <a:noFill/>
                          </a:ln>
                          <a:solidFill>
                            <a:srgbClr val="006600"/>
                          </a:solidFill>
                          <a:effectLst/>
                          <a:latin typeface="Times New Roman" panose="02020603050405020304" pitchFamily="18" charset="0"/>
                        </a:rPr>
                        <a:t>maternal</a:t>
                      </a:r>
                      <a:r>
                        <a:rPr kumimoji="0" lang="en-US" altLang="en-US" sz="2800" b="0" i="0" u="none" strike="noStrike" cap="none" normalizeH="0" baseline="0">
                          <a:ln>
                            <a:noFill/>
                          </a:ln>
                          <a:solidFill>
                            <a:srgbClr val="006600"/>
                          </a:solidFill>
                          <a:effectLst/>
                          <a:latin typeface="Times New Roman" panose="02020603050405020304" pitchFamily="18" charset="0"/>
                          <a:sym typeface="Wingdings" panose="05000000000000000000" pitchFamily="2" charset="2"/>
                        </a:rPr>
                        <a:t></a:t>
                      </a:r>
                    </a:p>
                    <a:p>
                      <a:pPr marL="0" marR="0" lvl="0" indent="0" algn="l" defTabSz="914400" rtl="0" eaLnBrk="0" fontAlgn="base" latinLnBrk="0" hangingPunct="0">
                        <a:lnSpc>
                          <a:spcPct val="100000"/>
                        </a:lnSpc>
                        <a:spcBef>
                          <a:spcPct val="20000"/>
                        </a:spcBef>
                        <a:spcAft>
                          <a:spcPct val="0"/>
                        </a:spcAft>
                        <a:buClr>
                          <a:schemeClr val="accent2"/>
                        </a:buClr>
                        <a:buSzTx/>
                        <a:buFontTx/>
                        <a:buNone/>
                        <a:tabLst/>
                      </a:pPr>
                      <a:endParaRPr kumimoji="0" lang="en-US" altLang="en-US" sz="2800" b="0" i="0" u="none" strike="noStrike" cap="none" normalizeH="0" baseline="0">
                        <a:ln>
                          <a:noFill/>
                        </a:ln>
                        <a:solidFill>
                          <a:srgbClr val="006600"/>
                        </a:solidFill>
                        <a:effectLst/>
                        <a:latin typeface="Times New Roman" panose="02020603050405020304" pitchFamily="18" charset="0"/>
                        <a:sym typeface="Wingdings" panose="05000000000000000000" pitchFamily="2" charset="2"/>
                      </a:endParaRPr>
                    </a:p>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0" i="0" u="none" strike="noStrike" cap="none" normalizeH="0" baseline="0">
                          <a:ln>
                            <a:noFill/>
                          </a:ln>
                          <a:solidFill>
                            <a:srgbClr val="006600"/>
                          </a:solidFill>
                          <a:effectLst/>
                          <a:latin typeface="Times New Roman" panose="02020603050405020304" pitchFamily="18" charset="0"/>
                          <a:sym typeface="Wingdings" panose="05000000000000000000" pitchFamily="2" charset="2"/>
                        </a:rPr>
                        <a:t>paternal</a:t>
                      </a:r>
                      <a:endParaRPr kumimoji="0" lang="en-US" altLang="en-US" sz="2800" b="0" i="0" u="none" strike="noStrike" cap="none" normalizeH="0" baseline="0">
                        <a:ln>
                          <a:noFill/>
                        </a:ln>
                        <a:solidFill>
                          <a:srgbClr val="006600"/>
                        </a:solidFill>
                        <a:effectLst/>
                        <a:latin typeface="Times New Roman" panose="02020603050405020304" pitchFamily="18" charset="0"/>
                      </a:endParaRPr>
                    </a:p>
                  </a:txBody>
                  <a:tcPr marT="45728" marB="45728"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eaLnBrk="0" hangingPunct="0">
                        <a:spcBef>
                          <a:spcPct val="20000"/>
                        </a:spcBef>
                        <a:buClr>
                          <a:schemeClr val="accent2"/>
                        </a:buClr>
                        <a:defRPr sz="2400">
                          <a:solidFill>
                            <a:srgbClr val="006600"/>
                          </a:solidFill>
                          <a:latin typeface="Times New Roman" panose="02020603050405020304" pitchFamily="18" charset="0"/>
                        </a:defRPr>
                      </a:lvl2pPr>
                      <a:lvl3pPr eaLnBrk="0" hangingPunct="0">
                        <a:spcBef>
                          <a:spcPct val="20000"/>
                        </a:spcBef>
                        <a:buClr>
                          <a:schemeClr val="accent2"/>
                        </a:buClr>
                        <a:defRPr sz="2000">
                          <a:solidFill>
                            <a:srgbClr val="006600"/>
                          </a:solidFill>
                          <a:latin typeface="Times New Roman" panose="02020603050405020304" pitchFamily="18" charset="0"/>
                        </a:defRPr>
                      </a:lvl3pPr>
                      <a:lvl4pPr eaLnBrk="0" hangingPunct="0">
                        <a:spcBef>
                          <a:spcPct val="20000"/>
                        </a:spcBef>
                        <a:buClr>
                          <a:schemeClr val="accent2"/>
                        </a:buClr>
                        <a:defRPr>
                          <a:solidFill>
                            <a:srgbClr val="006600"/>
                          </a:solidFill>
                          <a:latin typeface="Times New Roman" panose="02020603050405020304" pitchFamily="18" charset="0"/>
                        </a:defRPr>
                      </a:lvl4pPr>
                      <a:lvl5pPr eaLnBrk="0" hangingPunct="0">
                        <a:spcBef>
                          <a:spcPct val="20000"/>
                        </a:spcBef>
                        <a:buClr>
                          <a:schemeClr val="accent2"/>
                        </a:buClr>
                        <a:defRPr>
                          <a:solidFill>
                            <a:srgbClr val="006600"/>
                          </a:solidFill>
                          <a:latin typeface="Times New Roman" panose="02020603050405020304" pitchFamily="18" charset="0"/>
                        </a:defRPr>
                      </a:lvl5pPr>
                      <a:lvl6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0" i="0" u="none" strike="noStrike" cap="none" normalizeH="0" baseline="0">
                          <a:ln>
                            <a:noFill/>
                          </a:ln>
                          <a:solidFill>
                            <a:srgbClr val="006600"/>
                          </a:solidFill>
                          <a:effectLst/>
                          <a:latin typeface="Times New Roman" panose="02020603050405020304" pitchFamily="18" charset="0"/>
                        </a:rPr>
                        <a:t>M</a:t>
                      </a:r>
                    </a:p>
                  </a:txBody>
                  <a:tcPr marT="45728" marB="45728"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eaLnBrk="0" hangingPunct="0">
                        <a:spcBef>
                          <a:spcPct val="20000"/>
                        </a:spcBef>
                        <a:buClr>
                          <a:schemeClr val="accent2"/>
                        </a:buClr>
                        <a:defRPr sz="2400">
                          <a:solidFill>
                            <a:srgbClr val="006600"/>
                          </a:solidFill>
                          <a:latin typeface="Times New Roman" panose="02020603050405020304" pitchFamily="18" charset="0"/>
                        </a:defRPr>
                      </a:lvl2pPr>
                      <a:lvl3pPr eaLnBrk="0" hangingPunct="0">
                        <a:spcBef>
                          <a:spcPct val="20000"/>
                        </a:spcBef>
                        <a:buClr>
                          <a:schemeClr val="accent2"/>
                        </a:buClr>
                        <a:defRPr sz="2000">
                          <a:solidFill>
                            <a:srgbClr val="006600"/>
                          </a:solidFill>
                          <a:latin typeface="Times New Roman" panose="02020603050405020304" pitchFamily="18" charset="0"/>
                        </a:defRPr>
                      </a:lvl3pPr>
                      <a:lvl4pPr eaLnBrk="0" hangingPunct="0">
                        <a:spcBef>
                          <a:spcPct val="20000"/>
                        </a:spcBef>
                        <a:buClr>
                          <a:schemeClr val="accent2"/>
                        </a:buClr>
                        <a:defRPr>
                          <a:solidFill>
                            <a:srgbClr val="006600"/>
                          </a:solidFill>
                          <a:latin typeface="Times New Roman" panose="02020603050405020304" pitchFamily="18" charset="0"/>
                        </a:defRPr>
                      </a:lvl4pPr>
                      <a:lvl5pPr eaLnBrk="0" hangingPunct="0">
                        <a:spcBef>
                          <a:spcPct val="20000"/>
                        </a:spcBef>
                        <a:buClr>
                          <a:schemeClr val="accent2"/>
                        </a:buClr>
                        <a:defRPr>
                          <a:solidFill>
                            <a:srgbClr val="006600"/>
                          </a:solidFill>
                          <a:latin typeface="Times New Roman" panose="02020603050405020304" pitchFamily="18" charset="0"/>
                        </a:defRPr>
                      </a:lvl5pPr>
                      <a:lvl6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0" i="0" u="none" strike="noStrike" cap="none" normalizeH="0" baseline="0">
                          <a:ln>
                            <a:noFill/>
                          </a:ln>
                          <a:solidFill>
                            <a:srgbClr val="006600"/>
                          </a:solidFill>
                          <a:effectLst/>
                          <a:latin typeface="Times New Roman" panose="02020603050405020304" pitchFamily="18" charset="0"/>
                        </a:rPr>
                        <a:t>N</a:t>
                      </a:r>
                    </a:p>
                  </a:txBody>
                  <a:tcPr marT="45728" marB="45728"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24733216"/>
                  </a:ext>
                </a:extLst>
              </a:tr>
              <a:tr h="1355968">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eaLnBrk="0" hangingPunct="0">
                        <a:spcBef>
                          <a:spcPct val="20000"/>
                        </a:spcBef>
                        <a:buClr>
                          <a:schemeClr val="accent2"/>
                        </a:buClr>
                        <a:defRPr sz="2400">
                          <a:solidFill>
                            <a:srgbClr val="006600"/>
                          </a:solidFill>
                          <a:latin typeface="Times New Roman" panose="02020603050405020304" pitchFamily="18" charset="0"/>
                        </a:defRPr>
                      </a:lvl2pPr>
                      <a:lvl3pPr eaLnBrk="0" hangingPunct="0">
                        <a:spcBef>
                          <a:spcPct val="20000"/>
                        </a:spcBef>
                        <a:buClr>
                          <a:schemeClr val="accent2"/>
                        </a:buClr>
                        <a:defRPr sz="2000">
                          <a:solidFill>
                            <a:srgbClr val="006600"/>
                          </a:solidFill>
                          <a:latin typeface="Times New Roman" panose="02020603050405020304" pitchFamily="18" charset="0"/>
                        </a:defRPr>
                      </a:lvl3pPr>
                      <a:lvl4pPr eaLnBrk="0" hangingPunct="0">
                        <a:spcBef>
                          <a:spcPct val="20000"/>
                        </a:spcBef>
                        <a:buClr>
                          <a:schemeClr val="accent2"/>
                        </a:buClr>
                        <a:defRPr>
                          <a:solidFill>
                            <a:srgbClr val="006600"/>
                          </a:solidFill>
                          <a:latin typeface="Times New Roman" panose="02020603050405020304" pitchFamily="18" charset="0"/>
                        </a:defRPr>
                      </a:lvl4pPr>
                      <a:lvl5pPr eaLnBrk="0" hangingPunct="0">
                        <a:spcBef>
                          <a:spcPct val="20000"/>
                        </a:spcBef>
                        <a:buClr>
                          <a:schemeClr val="accent2"/>
                        </a:buClr>
                        <a:defRPr>
                          <a:solidFill>
                            <a:srgbClr val="006600"/>
                          </a:solidFill>
                          <a:latin typeface="Times New Roman" panose="02020603050405020304" pitchFamily="18" charset="0"/>
                        </a:defRPr>
                      </a:lvl5pPr>
                      <a:lvl6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0" i="0" u="none" strike="noStrike" cap="none" normalizeH="0" baseline="0">
                          <a:ln>
                            <a:noFill/>
                          </a:ln>
                          <a:solidFill>
                            <a:srgbClr val="006600"/>
                          </a:solidFill>
                          <a:effectLst/>
                          <a:latin typeface="Times New Roman" panose="02020603050405020304" pitchFamily="18" charset="0"/>
                        </a:rPr>
                        <a:t>M</a:t>
                      </a:r>
                    </a:p>
                  </a:txBody>
                  <a:tcPr marT="45728" marB="45728"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eaLnBrk="0" hangingPunct="0">
                        <a:spcBef>
                          <a:spcPct val="20000"/>
                        </a:spcBef>
                        <a:buClr>
                          <a:schemeClr val="accent2"/>
                        </a:buClr>
                        <a:defRPr sz="2400">
                          <a:solidFill>
                            <a:srgbClr val="006600"/>
                          </a:solidFill>
                          <a:latin typeface="Times New Roman" panose="02020603050405020304" pitchFamily="18" charset="0"/>
                        </a:defRPr>
                      </a:lvl2pPr>
                      <a:lvl3pPr eaLnBrk="0" hangingPunct="0">
                        <a:spcBef>
                          <a:spcPct val="20000"/>
                        </a:spcBef>
                        <a:buClr>
                          <a:schemeClr val="accent2"/>
                        </a:buClr>
                        <a:defRPr sz="2000">
                          <a:solidFill>
                            <a:srgbClr val="006600"/>
                          </a:solidFill>
                          <a:latin typeface="Times New Roman" panose="02020603050405020304" pitchFamily="18" charset="0"/>
                        </a:defRPr>
                      </a:lvl3pPr>
                      <a:lvl4pPr eaLnBrk="0" hangingPunct="0">
                        <a:spcBef>
                          <a:spcPct val="20000"/>
                        </a:spcBef>
                        <a:buClr>
                          <a:schemeClr val="accent2"/>
                        </a:buClr>
                        <a:defRPr>
                          <a:solidFill>
                            <a:srgbClr val="006600"/>
                          </a:solidFill>
                          <a:latin typeface="Times New Roman" panose="02020603050405020304" pitchFamily="18" charset="0"/>
                        </a:defRPr>
                      </a:lvl4pPr>
                      <a:lvl5pPr eaLnBrk="0" hangingPunct="0">
                        <a:spcBef>
                          <a:spcPct val="20000"/>
                        </a:spcBef>
                        <a:buClr>
                          <a:schemeClr val="accent2"/>
                        </a:buClr>
                        <a:defRPr>
                          <a:solidFill>
                            <a:srgbClr val="006600"/>
                          </a:solidFill>
                          <a:latin typeface="Times New Roman" panose="02020603050405020304" pitchFamily="18" charset="0"/>
                        </a:defRPr>
                      </a:lvl5pPr>
                      <a:lvl6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0" i="0" u="none" strike="noStrike" cap="none" normalizeH="0" baseline="0">
                          <a:ln>
                            <a:noFill/>
                          </a:ln>
                          <a:solidFill>
                            <a:srgbClr val="006600"/>
                          </a:solidFill>
                          <a:effectLst/>
                          <a:latin typeface="Times New Roman" panose="02020603050405020304" pitchFamily="18" charset="0"/>
                        </a:rPr>
                        <a:t>MM</a:t>
                      </a:r>
                    </a:p>
                  </a:txBody>
                  <a:tcPr marT="45728" marB="45728"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eaLnBrk="0" hangingPunct="0">
                        <a:spcBef>
                          <a:spcPct val="20000"/>
                        </a:spcBef>
                        <a:buClr>
                          <a:schemeClr val="accent2"/>
                        </a:buClr>
                        <a:defRPr sz="2400">
                          <a:solidFill>
                            <a:srgbClr val="006600"/>
                          </a:solidFill>
                          <a:latin typeface="Times New Roman" panose="02020603050405020304" pitchFamily="18" charset="0"/>
                        </a:defRPr>
                      </a:lvl2pPr>
                      <a:lvl3pPr eaLnBrk="0" hangingPunct="0">
                        <a:spcBef>
                          <a:spcPct val="20000"/>
                        </a:spcBef>
                        <a:buClr>
                          <a:schemeClr val="accent2"/>
                        </a:buClr>
                        <a:defRPr sz="2000">
                          <a:solidFill>
                            <a:srgbClr val="006600"/>
                          </a:solidFill>
                          <a:latin typeface="Times New Roman" panose="02020603050405020304" pitchFamily="18" charset="0"/>
                        </a:defRPr>
                      </a:lvl3pPr>
                      <a:lvl4pPr eaLnBrk="0" hangingPunct="0">
                        <a:spcBef>
                          <a:spcPct val="20000"/>
                        </a:spcBef>
                        <a:buClr>
                          <a:schemeClr val="accent2"/>
                        </a:buClr>
                        <a:defRPr>
                          <a:solidFill>
                            <a:srgbClr val="006600"/>
                          </a:solidFill>
                          <a:latin typeface="Times New Roman" panose="02020603050405020304" pitchFamily="18" charset="0"/>
                        </a:defRPr>
                      </a:lvl4pPr>
                      <a:lvl5pPr eaLnBrk="0" hangingPunct="0">
                        <a:spcBef>
                          <a:spcPct val="20000"/>
                        </a:spcBef>
                        <a:buClr>
                          <a:schemeClr val="accent2"/>
                        </a:buClr>
                        <a:defRPr>
                          <a:solidFill>
                            <a:srgbClr val="006600"/>
                          </a:solidFill>
                          <a:latin typeface="Times New Roman" panose="02020603050405020304" pitchFamily="18" charset="0"/>
                        </a:defRPr>
                      </a:lvl5pPr>
                      <a:lvl6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0" i="0" u="none" strike="noStrike" cap="none" normalizeH="0" baseline="0">
                          <a:ln>
                            <a:noFill/>
                          </a:ln>
                          <a:solidFill>
                            <a:srgbClr val="006600"/>
                          </a:solidFill>
                          <a:effectLst/>
                          <a:latin typeface="Times New Roman" panose="02020603050405020304" pitchFamily="18" charset="0"/>
                        </a:rPr>
                        <a:t>MN</a:t>
                      </a:r>
                    </a:p>
                  </a:txBody>
                  <a:tcPr marT="45728" marB="45728"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60930328"/>
                  </a:ext>
                </a:extLst>
              </a:tr>
              <a:tr h="1354381">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eaLnBrk="0" hangingPunct="0">
                        <a:spcBef>
                          <a:spcPct val="20000"/>
                        </a:spcBef>
                        <a:buClr>
                          <a:schemeClr val="accent2"/>
                        </a:buClr>
                        <a:defRPr sz="2400">
                          <a:solidFill>
                            <a:srgbClr val="006600"/>
                          </a:solidFill>
                          <a:latin typeface="Times New Roman" panose="02020603050405020304" pitchFamily="18" charset="0"/>
                        </a:defRPr>
                      </a:lvl2pPr>
                      <a:lvl3pPr eaLnBrk="0" hangingPunct="0">
                        <a:spcBef>
                          <a:spcPct val="20000"/>
                        </a:spcBef>
                        <a:buClr>
                          <a:schemeClr val="accent2"/>
                        </a:buClr>
                        <a:defRPr sz="2000">
                          <a:solidFill>
                            <a:srgbClr val="006600"/>
                          </a:solidFill>
                          <a:latin typeface="Times New Roman" panose="02020603050405020304" pitchFamily="18" charset="0"/>
                        </a:defRPr>
                      </a:lvl3pPr>
                      <a:lvl4pPr eaLnBrk="0" hangingPunct="0">
                        <a:spcBef>
                          <a:spcPct val="20000"/>
                        </a:spcBef>
                        <a:buClr>
                          <a:schemeClr val="accent2"/>
                        </a:buClr>
                        <a:defRPr>
                          <a:solidFill>
                            <a:srgbClr val="006600"/>
                          </a:solidFill>
                          <a:latin typeface="Times New Roman" panose="02020603050405020304" pitchFamily="18" charset="0"/>
                        </a:defRPr>
                      </a:lvl4pPr>
                      <a:lvl5pPr eaLnBrk="0" hangingPunct="0">
                        <a:spcBef>
                          <a:spcPct val="20000"/>
                        </a:spcBef>
                        <a:buClr>
                          <a:schemeClr val="accent2"/>
                        </a:buClr>
                        <a:defRPr>
                          <a:solidFill>
                            <a:srgbClr val="006600"/>
                          </a:solidFill>
                          <a:latin typeface="Times New Roman" panose="02020603050405020304" pitchFamily="18" charset="0"/>
                        </a:defRPr>
                      </a:lvl5pPr>
                      <a:lvl6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0" i="0" u="none" strike="noStrike" cap="none" normalizeH="0" baseline="0">
                          <a:ln>
                            <a:noFill/>
                          </a:ln>
                          <a:solidFill>
                            <a:srgbClr val="006600"/>
                          </a:solidFill>
                          <a:effectLst/>
                          <a:latin typeface="Times New Roman" panose="02020603050405020304" pitchFamily="18" charset="0"/>
                        </a:rPr>
                        <a:t>N</a:t>
                      </a:r>
                    </a:p>
                  </a:txBody>
                  <a:tcPr marT="45728" marB="45728"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eaLnBrk="0" hangingPunct="0">
                        <a:spcBef>
                          <a:spcPct val="20000"/>
                        </a:spcBef>
                        <a:buClr>
                          <a:schemeClr val="accent2"/>
                        </a:buClr>
                        <a:defRPr sz="2400">
                          <a:solidFill>
                            <a:srgbClr val="006600"/>
                          </a:solidFill>
                          <a:latin typeface="Times New Roman" panose="02020603050405020304" pitchFamily="18" charset="0"/>
                        </a:defRPr>
                      </a:lvl2pPr>
                      <a:lvl3pPr eaLnBrk="0" hangingPunct="0">
                        <a:spcBef>
                          <a:spcPct val="20000"/>
                        </a:spcBef>
                        <a:buClr>
                          <a:schemeClr val="accent2"/>
                        </a:buClr>
                        <a:defRPr sz="2000">
                          <a:solidFill>
                            <a:srgbClr val="006600"/>
                          </a:solidFill>
                          <a:latin typeface="Times New Roman" panose="02020603050405020304" pitchFamily="18" charset="0"/>
                        </a:defRPr>
                      </a:lvl3pPr>
                      <a:lvl4pPr eaLnBrk="0" hangingPunct="0">
                        <a:spcBef>
                          <a:spcPct val="20000"/>
                        </a:spcBef>
                        <a:buClr>
                          <a:schemeClr val="accent2"/>
                        </a:buClr>
                        <a:defRPr>
                          <a:solidFill>
                            <a:srgbClr val="006600"/>
                          </a:solidFill>
                          <a:latin typeface="Times New Roman" panose="02020603050405020304" pitchFamily="18" charset="0"/>
                        </a:defRPr>
                      </a:lvl4pPr>
                      <a:lvl5pPr eaLnBrk="0" hangingPunct="0">
                        <a:spcBef>
                          <a:spcPct val="20000"/>
                        </a:spcBef>
                        <a:buClr>
                          <a:schemeClr val="accent2"/>
                        </a:buClr>
                        <a:defRPr>
                          <a:solidFill>
                            <a:srgbClr val="006600"/>
                          </a:solidFill>
                          <a:latin typeface="Times New Roman" panose="02020603050405020304" pitchFamily="18" charset="0"/>
                        </a:defRPr>
                      </a:lvl5pPr>
                      <a:lvl6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0" i="0" u="none" strike="noStrike" cap="none" normalizeH="0" baseline="0">
                          <a:ln>
                            <a:noFill/>
                          </a:ln>
                          <a:solidFill>
                            <a:srgbClr val="006600"/>
                          </a:solidFill>
                          <a:effectLst/>
                          <a:latin typeface="Times New Roman" panose="02020603050405020304" pitchFamily="18" charset="0"/>
                        </a:rPr>
                        <a:t>MN</a:t>
                      </a:r>
                    </a:p>
                  </a:txBody>
                  <a:tcPr marT="45728" marB="45728"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eaLnBrk="0" hangingPunct="0">
                        <a:spcBef>
                          <a:spcPct val="20000"/>
                        </a:spcBef>
                        <a:buClr>
                          <a:schemeClr val="accent2"/>
                        </a:buClr>
                        <a:defRPr sz="2400">
                          <a:solidFill>
                            <a:srgbClr val="006600"/>
                          </a:solidFill>
                          <a:latin typeface="Times New Roman" panose="02020603050405020304" pitchFamily="18" charset="0"/>
                        </a:defRPr>
                      </a:lvl2pPr>
                      <a:lvl3pPr eaLnBrk="0" hangingPunct="0">
                        <a:spcBef>
                          <a:spcPct val="20000"/>
                        </a:spcBef>
                        <a:buClr>
                          <a:schemeClr val="accent2"/>
                        </a:buClr>
                        <a:defRPr sz="2000">
                          <a:solidFill>
                            <a:srgbClr val="006600"/>
                          </a:solidFill>
                          <a:latin typeface="Times New Roman" panose="02020603050405020304" pitchFamily="18" charset="0"/>
                        </a:defRPr>
                      </a:lvl3pPr>
                      <a:lvl4pPr eaLnBrk="0" hangingPunct="0">
                        <a:spcBef>
                          <a:spcPct val="20000"/>
                        </a:spcBef>
                        <a:buClr>
                          <a:schemeClr val="accent2"/>
                        </a:buClr>
                        <a:defRPr>
                          <a:solidFill>
                            <a:srgbClr val="006600"/>
                          </a:solidFill>
                          <a:latin typeface="Times New Roman" panose="02020603050405020304" pitchFamily="18" charset="0"/>
                        </a:defRPr>
                      </a:lvl4pPr>
                      <a:lvl5pPr eaLnBrk="0" hangingPunct="0">
                        <a:spcBef>
                          <a:spcPct val="20000"/>
                        </a:spcBef>
                        <a:buClr>
                          <a:schemeClr val="accent2"/>
                        </a:buClr>
                        <a:defRPr>
                          <a:solidFill>
                            <a:srgbClr val="006600"/>
                          </a:solidFill>
                          <a:latin typeface="Times New Roman" panose="02020603050405020304" pitchFamily="18" charset="0"/>
                        </a:defRPr>
                      </a:lvl5pPr>
                      <a:lvl6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0" i="0" u="none" strike="noStrike" cap="none" normalizeH="0" baseline="0">
                          <a:ln>
                            <a:noFill/>
                          </a:ln>
                          <a:solidFill>
                            <a:srgbClr val="006600"/>
                          </a:solidFill>
                          <a:effectLst/>
                          <a:latin typeface="Times New Roman" panose="02020603050405020304" pitchFamily="18" charset="0"/>
                        </a:rPr>
                        <a:t>NN</a:t>
                      </a:r>
                    </a:p>
                  </a:txBody>
                  <a:tcPr marT="45728" marB="45728" horzOverflow="overflow">
                    <a:lnL w="28575" cap="flat" cmpd="sng" algn="ctr">
                      <a:solidFill>
                        <a:schemeClr val="bg2"/>
                      </a:solidFill>
                      <a:prstDash val="solid"/>
                      <a:round/>
                      <a:headEnd type="none" w="med" len="med"/>
                      <a:tailEnd type="none" w="med" len="med"/>
                    </a:lnL>
                    <a:lnR w="28575" cap="flat" cmpd="sng" algn="ctr">
                      <a:solidFill>
                        <a:schemeClr val="bg2"/>
                      </a:solidFill>
                      <a:prstDash val="solid"/>
                      <a:round/>
                      <a:headEnd type="none" w="med" len="med"/>
                      <a:tailEnd type="none" w="med" len="med"/>
                    </a:lnR>
                    <a:lnT w="28575" cap="flat" cmpd="sng" algn="ctr">
                      <a:solidFill>
                        <a:schemeClr val="bg2"/>
                      </a:solidFill>
                      <a:prstDash val="solid"/>
                      <a:round/>
                      <a:headEnd type="none" w="med" len="med"/>
                      <a:tailEnd type="none" w="med" len="med"/>
                    </a:lnT>
                    <a:lnB w="28575" cap="flat" cmpd="sng" algn="ctr">
                      <a:solidFill>
                        <a:schemeClr val="bg2"/>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9623246"/>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542925" y="8572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r>
              <a:rPr lang="en-US" altLang="en-US" sz="3600">
                <a:solidFill>
                  <a:schemeClr val="bg2"/>
                </a:solidFill>
                <a:latin typeface="Comic Sans MS" panose="030F0702030302020204" pitchFamily="66" charset="0"/>
              </a:rPr>
              <a:t>Mendel’s Laws</a:t>
            </a:r>
          </a:p>
        </p:txBody>
      </p:sp>
      <p:sp>
        <p:nvSpPr>
          <p:cNvPr id="66563" name="Line 3"/>
          <p:cNvSpPr>
            <a:spLocks noChangeShapeType="1"/>
          </p:cNvSpPr>
          <p:nvPr/>
        </p:nvSpPr>
        <p:spPr bwMode="auto">
          <a:xfrm>
            <a:off x="203200" y="1309688"/>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564" name="Rectangle 4"/>
          <p:cNvSpPr>
            <a:spLocks noChangeArrowheads="1"/>
          </p:cNvSpPr>
          <p:nvPr/>
        </p:nvSpPr>
        <p:spPr bwMode="auto">
          <a:xfrm>
            <a:off x="1104900" y="1743075"/>
            <a:ext cx="6646863"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chemeClr val="accent2"/>
              </a:buClr>
              <a:buChar char="•"/>
              <a:defRPr sz="3200">
                <a:solidFill>
                  <a:srgbClr val="006600"/>
                </a:solidFill>
                <a:latin typeface="Times New Roman" panose="02020603050405020304" pitchFamily="18" charset="0"/>
              </a:defRPr>
            </a:lvl1pPr>
            <a:lvl2pPr marL="914400" indent="-45720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ts val="3600"/>
              </a:lnSpc>
              <a:spcBef>
                <a:spcPts val="1400"/>
              </a:spcBef>
              <a:spcAft>
                <a:spcPct val="45000"/>
              </a:spcAft>
            </a:pPr>
            <a:r>
              <a:rPr lang="en-US" altLang="en-US" i="1">
                <a:solidFill>
                  <a:schemeClr val="bg2"/>
                </a:solidFill>
                <a:latin typeface="Arial" panose="020B0604020202020204" pitchFamily="34" charset="0"/>
                <a:cs typeface="Times New Roman" panose="02020603050405020304" pitchFamily="18" charset="0"/>
              </a:rPr>
              <a:t>Law of Independent Segregation</a:t>
            </a:r>
          </a:p>
          <a:p>
            <a:pPr lvl="1">
              <a:lnSpc>
                <a:spcPts val="3600"/>
              </a:lnSpc>
              <a:spcBef>
                <a:spcPct val="0"/>
              </a:spcBef>
              <a:spcAft>
                <a:spcPts val="1300"/>
              </a:spcAft>
            </a:pPr>
            <a:r>
              <a:rPr lang="en-US" altLang="en-US" sz="3200" i="1">
                <a:solidFill>
                  <a:schemeClr val="bg2"/>
                </a:solidFill>
                <a:latin typeface="Arial" panose="020B0604020202020204" pitchFamily="34" charset="0"/>
                <a:cs typeface="Times New Roman" panose="02020603050405020304" pitchFamily="18" charset="0"/>
              </a:rPr>
              <a:t>Inheritance is particulate</a:t>
            </a:r>
            <a:endParaRPr lang="en-US" altLang="en-US" sz="3200" i="1">
              <a:solidFill>
                <a:schemeClr val="bg2"/>
              </a:solidFill>
              <a:latin typeface="Arial" panose="020B0604020202020204" pitchFamily="34" charset="0"/>
              <a:cs typeface="Courier New" panose="02070309020205020404" pitchFamily="49" charset="0"/>
            </a:endParaRPr>
          </a:p>
          <a:p>
            <a:pPr>
              <a:lnSpc>
                <a:spcPts val="3600"/>
              </a:lnSpc>
              <a:spcBef>
                <a:spcPts val="2000"/>
              </a:spcBef>
              <a:spcAft>
                <a:spcPts val="1700"/>
              </a:spcAft>
            </a:pPr>
            <a:r>
              <a:rPr lang="en-US" altLang="en-US">
                <a:solidFill>
                  <a:schemeClr val="bg2"/>
                </a:solidFill>
                <a:latin typeface="Arial" panose="020B0604020202020204" pitchFamily="34" charset="0"/>
                <a:cs typeface="Times New Roman" panose="02020603050405020304" pitchFamily="18" charset="0"/>
              </a:rPr>
              <a:t>Law of Independent Assortment</a:t>
            </a:r>
          </a:p>
          <a:p>
            <a:pPr lvl="1">
              <a:lnSpc>
                <a:spcPts val="3600"/>
              </a:lnSpc>
              <a:spcBef>
                <a:spcPct val="0"/>
              </a:spcBef>
            </a:pPr>
            <a:r>
              <a:rPr lang="en-US" altLang="en-US" sz="3200">
                <a:solidFill>
                  <a:schemeClr val="bg2"/>
                </a:solidFill>
                <a:latin typeface="Arial" panose="020B0604020202020204" pitchFamily="34" charset="0"/>
                <a:cs typeface="Times New Roman" panose="02020603050405020304" pitchFamily="18" charset="0"/>
              </a:rPr>
              <a:t>Genes sort independently</a:t>
            </a:r>
            <a:endParaRPr lang="en-US" altLang="en-US" sz="3200">
              <a:solidFill>
                <a:schemeClr val="bg2"/>
              </a:solidFill>
              <a:latin typeface="Arial" panose="020B0604020202020204" pitchFamily="34" charset="0"/>
              <a:cs typeface="Courier New" panose="02070309020205020404" pitchFamily="49" charset="0"/>
            </a:endParaRPr>
          </a:p>
        </p:txBody>
      </p:sp>
      <p:sp>
        <p:nvSpPr>
          <p:cNvPr id="66565" name="TextBox 5"/>
          <p:cNvSpPr txBox="1">
            <a:spLocks noChangeArrowheads="1"/>
          </p:cNvSpPr>
          <p:nvPr/>
        </p:nvSpPr>
        <p:spPr bwMode="auto">
          <a:xfrm>
            <a:off x="377825" y="5529263"/>
            <a:ext cx="7546975" cy="2046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50000"/>
              </a:spcBef>
              <a:spcAft>
                <a:spcPts val="600"/>
              </a:spcAft>
              <a:buClrTx/>
              <a:buFontTx/>
              <a:buNone/>
            </a:pPr>
            <a:r>
              <a:rPr lang="en-US" altLang="en-US" sz="1800" dirty="0">
                <a:solidFill>
                  <a:schemeClr val="bg2"/>
                </a:solidFill>
                <a:latin typeface="Arial" panose="020B0604020202020204" pitchFamily="34" charset="0"/>
              </a:rPr>
              <a:t>Meiosis (specialized cell division that takes place when sex cells </a:t>
            </a:r>
            <a:r>
              <a:rPr lang="en-US" altLang="en-US" sz="1800" dirty="0" smtClean="0">
                <a:solidFill>
                  <a:schemeClr val="bg2"/>
                </a:solidFill>
                <a:latin typeface="Arial" panose="020B0604020202020204" pitchFamily="34" charset="0"/>
              </a:rPr>
              <a:t>--gametes -- are </a:t>
            </a:r>
            <a:r>
              <a:rPr lang="en-US" altLang="en-US" sz="1800" dirty="0">
                <a:solidFill>
                  <a:schemeClr val="bg2"/>
                </a:solidFill>
                <a:latin typeface="Arial" panose="020B0604020202020204" pitchFamily="34" charset="0"/>
              </a:rPr>
              <a:t>produced ) </a:t>
            </a:r>
            <a:r>
              <a:rPr lang="en-US" altLang="en-US" sz="1800" dirty="0">
                <a:solidFill>
                  <a:schemeClr val="bg2"/>
                </a:solidFill>
                <a:latin typeface="Arial" panose="020B0604020202020204" pitchFamily="34" charset="0"/>
              </a:rPr>
              <a:t>is the basis for Mendel’s Laws of Inheritance</a:t>
            </a:r>
          </a:p>
          <a:p>
            <a:pPr>
              <a:spcBef>
                <a:spcPct val="50000"/>
              </a:spcBef>
              <a:spcAft>
                <a:spcPts val="600"/>
              </a:spcAft>
              <a:buClrTx/>
              <a:buFontTx/>
              <a:buNone/>
            </a:pPr>
            <a:r>
              <a:rPr lang="en-US" altLang="en-US" sz="1800" dirty="0">
                <a:solidFill>
                  <a:schemeClr val="bg2"/>
                </a:solidFill>
                <a:latin typeface="Arial" panose="020B0604020202020204" pitchFamily="34" charset="0"/>
              </a:rPr>
              <a:t>Mendel’s laws are probability models</a:t>
            </a:r>
          </a:p>
          <a:p>
            <a:pPr>
              <a:lnSpc>
                <a:spcPct val="150000"/>
              </a:lnSpc>
              <a:spcBef>
                <a:spcPct val="50000"/>
              </a:spcBef>
              <a:spcAft>
                <a:spcPts val="600"/>
              </a:spcAft>
              <a:buClrTx/>
              <a:buFontTx/>
              <a:buNone/>
            </a:pPr>
            <a:endParaRPr lang="en-US" altLang="en-US" sz="1800" dirty="0">
              <a:solidFill>
                <a:schemeClr val="bg2"/>
              </a:solidFill>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523875" y="533400"/>
            <a:ext cx="845185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a:solidFill>
                  <a:schemeClr val="bg2"/>
                </a:solidFill>
                <a:latin typeface="Comic Sans MS" panose="030F0702030302020204" pitchFamily="66" charset="0"/>
                <a:cs typeface="Times New Roman" panose="02020603050405020304" pitchFamily="18" charset="0"/>
              </a:rPr>
              <a:t>Mendel’s Law of Independent Segregation</a:t>
            </a:r>
          </a:p>
        </p:txBody>
      </p:sp>
      <p:sp>
        <p:nvSpPr>
          <p:cNvPr id="68611" name="Rectangle 3"/>
          <p:cNvSpPr>
            <a:spLocks noChangeArrowheads="1"/>
          </p:cNvSpPr>
          <p:nvPr/>
        </p:nvSpPr>
        <p:spPr bwMode="auto">
          <a:xfrm>
            <a:off x="685800" y="990600"/>
            <a:ext cx="7808913" cy="452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a:solidFill>
                  <a:schemeClr val="bg2"/>
                </a:solidFill>
                <a:latin typeface="Palatino" pitchFamily="18" charset="0"/>
                <a:cs typeface="Times New Roman" panose="02020603050405020304" pitchFamily="18" charset="0"/>
              </a:rPr>
              <a:t> </a:t>
            </a:r>
            <a:endParaRPr lang="en-US" altLang="en-US">
              <a:solidFill>
                <a:schemeClr val="bg2"/>
              </a:solidFill>
              <a:latin typeface="Arial" panose="020B0604020202020204" pitchFamily="34" charset="0"/>
              <a:cs typeface="Times New Roman" panose="02020603050405020304" pitchFamily="18" charset="0"/>
            </a:endParaRPr>
          </a:p>
          <a:p>
            <a:pPr>
              <a:lnSpc>
                <a:spcPct val="90000"/>
              </a:lnSpc>
              <a:spcBef>
                <a:spcPct val="55000"/>
              </a:spcBef>
              <a:spcAft>
                <a:spcPct val="45000"/>
              </a:spcAft>
              <a:buClrTx/>
            </a:pPr>
            <a:r>
              <a:rPr lang="en-US" altLang="en-US">
                <a:solidFill>
                  <a:schemeClr val="bg2"/>
                </a:solidFill>
                <a:latin typeface="Arial" panose="020B0604020202020204" pitchFamily="34" charset="0"/>
              </a:rPr>
              <a:t>Inheritance is particulate</a:t>
            </a:r>
          </a:p>
          <a:p>
            <a:pPr>
              <a:lnSpc>
                <a:spcPct val="90000"/>
              </a:lnSpc>
              <a:spcBef>
                <a:spcPct val="55000"/>
              </a:spcBef>
              <a:spcAft>
                <a:spcPct val="45000"/>
              </a:spcAft>
              <a:buClrTx/>
            </a:pPr>
            <a:r>
              <a:rPr lang="en-US" altLang="en-US">
                <a:solidFill>
                  <a:schemeClr val="bg2"/>
                </a:solidFill>
                <a:latin typeface="Arial" panose="020B0604020202020204" pitchFamily="34" charset="0"/>
              </a:rPr>
              <a:t>During the formation of gametes (eggs or sperm), the two alleles responsible for a trait separate from each other.  </a:t>
            </a:r>
          </a:p>
        </p:txBody>
      </p:sp>
      <p:sp>
        <p:nvSpPr>
          <p:cNvPr id="68612" name="Line 4"/>
          <p:cNvSpPr>
            <a:spLocks noChangeShapeType="1"/>
          </p:cNvSpPr>
          <p:nvPr/>
        </p:nvSpPr>
        <p:spPr bwMode="auto">
          <a:xfrm>
            <a:off x="271463" y="14478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4626" name="Group 2"/>
          <p:cNvGraphicFramePr>
            <a:graphicFrameLocks noGrp="1"/>
          </p:cNvGraphicFramePr>
          <p:nvPr/>
        </p:nvGraphicFramePr>
        <p:xfrm>
          <a:off x="1268413" y="1752600"/>
          <a:ext cx="6985000" cy="4038600"/>
        </p:xfrm>
        <a:graphic>
          <a:graphicData uri="http://schemas.openxmlformats.org/drawingml/2006/table">
            <a:tbl>
              <a:tblPr/>
              <a:tblGrid>
                <a:gridCol w="2622550">
                  <a:extLst>
                    <a:ext uri="{9D8B030D-6E8A-4147-A177-3AD203B41FA5}">
                      <a16:colId xmlns:a16="http://schemas.microsoft.com/office/drawing/2014/main" val="4263266266"/>
                    </a:ext>
                  </a:extLst>
                </a:gridCol>
                <a:gridCol w="2170112">
                  <a:extLst>
                    <a:ext uri="{9D8B030D-6E8A-4147-A177-3AD203B41FA5}">
                      <a16:colId xmlns:a16="http://schemas.microsoft.com/office/drawing/2014/main" val="3757835139"/>
                    </a:ext>
                  </a:extLst>
                </a:gridCol>
                <a:gridCol w="2192338">
                  <a:extLst>
                    <a:ext uri="{9D8B030D-6E8A-4147-A177-3AD203B41FA5}">
                      <a16:colId xmlns:a16="http://schemas.microsoft.com/office/drawing/2014/main" val="1407521773"/>
                    </a:ext>
                  </a:extLst>
                </a:gridCol>
              </a:tblGrid>
              <a:tr h="1035050">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marL="742950" indent="-285750" eaLnBrk="0" hangingPunct="0">
                        <a:spcBef>
                          <a:spcPct val="20000"/>
                        </a:spcBef>
                        <a:buClr>
                          <a:schemeClr val="accent2"/>
                        </a:buClr>
                        <a:defRPr sz="2400">
                          <a:solidFill>
                            <a:srgbClr val="006600"/>
                          </a:solidFill>
                          <a:latin typeface="Times New Roman" panose="02020603050405020304" pitchFamily="18" charset="0"/>
                        </a:defRPr>
                      </a:lvl2pPr>
                      <a:lvl3pPr marL="1143000" indent="-228600" eaLnBrk="0" hangingPunct="0">
                        <a:spcBef>
                          <a:spcPct val="20000"/>
                        </a:spcBef>
                        <a:buClr>
                          <a:schemeClr val="accent2"/>
                        </a:buClr>
                        <a:defRPr sz="2000">
                          <a:solidFill>
                            <a:srgbClr val="006600"/>
                          </a:solidFill>
                          <a:latin typeface="Times New Roman" panose="02020603050405020304" pitchFamily="18" charset="0"/>
                        </a:defRPr>
                      </a:lvl3pPr>
                      <a:lvl4pPr marL="1600200" indent="-228600" eaLnBrk="0" hangingPunct="0">
                        <a:spcBef>
                          <a:spcPct val="20000"/>
                        </a:spcBef>
                        <a:buClr>
                          <a:schemeClr val="accent2"/>
                        </a:buClr>
                        <a:defRPr>
                          <a:solidFill>
                            <a:srgbClr val="006600"/>
                          </a:solidFill>
                          <a:latin typeface="Times New Roman" panose="02020603050405020304" pitchFamily="18" charset="0"/>
                        </a:defRPr>
                      </a:lvl4pPr>
                      <a:lvl5pPr marL="2057400" indent="-228600" eaLnBrk="0" hangingPunct="0">
                        <a:spcBef>
                          <a:spcPct val="20000"/>
                        </a:spcBef>
                        <a:buClr>
                          <a:schemeClr val="accent2"/>
                        </a:buClr>
                        <a:defRPr>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endParaRPr kumimoji="0" lang="en-US" altLang="en-US" sz="2800" b="1" i="0" u="none" strike="noStrike" cap="none" normalizeH="0" baseline="0">
                        <a:ln>
                          <a:noFill/>
                        </a:ln>
                        <a:solidFill>
                          <a:schemeClr val="bg2"/>
                        </a:solidFill>
                        <a:effectLst/>
                        <a:latin typeface="Arial" panose="020B0604020202020204" pitchFamily="34" charset="0"/>
                      </a:endParaRP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marL="742950" indent="-285750" eaLnBrk="0" hangingPunct="0">
                        <a:spcBef>
                          <a:spcPct val="20000"/>
                        </a:spcBef>
                        <a:buClr>
                          <a:schemeClr val="accent2"/>
                        </a:buClr>
                        <a:defRPr sz="2400">
                          <a:solidFill>
                            <a:srgbClr val="006600"/>
                          </a:solidFill>
                          <a:latin typeface="Times New Roman" panose="02020603050405020304" pitchFamily="18" charset="0"/>
                        </a:defRPr>
                      </a:lvl2pPr>
                      <a:lvl3pPr marL="1143000" indent="-228600" eaLnBrk="0" hangingPunct="0">
                        <a:spcBef>
                          <a:spcPct val="20000"/>
                        </a:spcBef>
                        <a:buClr>
                          <a:schemeClr val="accent2"/>
                        </a:buClr>
                        <a:defRPr sz="2000">
                          <a:solidFill>
                            <a:srgbClr val="006600"/>
                          </a:solidFill>
                          <a:latin typeface="Times New Roman" panose="02020603050405020304" pitchFamily="18" charset="0"/>
                        </a:defRPr>
                      </a:lvl3pPr>
                      <a:lvl4pPr marL="1600200" indent="-228600" eaLnBrk="0" hangingPunct="0">
                        <a:spcBef>
                          <a:spcPct val="20000"/>
                        </a:spcBef>
                        <a:buClr>
                          <a:schemeClr val="accent2"/>
                        </a:buClr>
                        <a:defRPr>
                          <a:solidFill>
                            <a:srgbClr val="006600"/>
                          </a:solidFill>
                          <a:latin typeface="Times New Roman" panose="02020603050405020304" pitchFamily="18" charset="0"/>
                        </a:defRPr>
                      </a:lvl4pPr>
                      <a:lvl5pPr marL="2057400" indent="-228600" eaLnBrk="0" hangingPunct="0">
                        <a:spcBef>
                          <a:spcPct val="20000"/>
                        </a:spcBef>
                        <a:buClr>
                          <a:schemeClr val="accent2"/>
                        </a:buClr>
                        <a:defRPr>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1" i="0" u="none" strike="noStrike" cap="none" normalizeH="0" baseline="0">
                          <a:ln>
                            <a:noFill/>
                          </a:ln>
                          <a:solidFill>
                            <a:schemeClr val="bg2"/>
                          </a:solidFill>
                          <a:effectLst/>
                          <a:latin typeface="Arial" panose="020B0604020202020204" pitchFamily="34" charset="0"/>
                        </a:rPr>
                        <a:t>Parents</a:t>
                      </a: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marL="742950" indent="-285750" eaLnBrk="0" hangingPunct="0">
                        <a:spcBef>
                          <a:spcPct val="20000"/>
                        </a:spcBef>
                        <a:buClr>
                          <a:schemeClr val="accent2"/>
                        </a:buClr>
                        <a:defRPr sz="2400">
                          <a:solidFill>
                            <a:srgbClr val="006600"/>
                          </a:solidFill>
                          <a:latin typeface="Times New Roman" panose="02020603050405020304" pitchFamily="18" charset="0"/>
                        </a:defRPr>
                      </a:lvl2pPr>
                      <a:lvl3pPr marL="1143000" indent="-228600" eaLnBrk="0" hangingPunct="0">
                        <a:spcBef>
                          <a:spcPct val="20000"/>
                        </a:spcBef>
                        <a:buClr>
                          <a:schemeClr val="accent2"/>
                        </a:buClr>
                        <a:defRPr sz="2000">
                          <a:solidFill>
                            <a:srgbClr val="006600"/>
                          </a:solidFill>
                          <a:latin typeface="Times New Roman" panose="02020603050405020304" pitchFamily="18" charset="0"/>
                        </a:defRPr>
                      </a:lvl3pPr>
                      <a:lvl4pPr marL="1600200" indent="-228600" eaLnBrk="0" hangingPunct="0">
                        <a:spcBef>
                          <a:spcPct val="20000"/>
                        </a:spcBef>
                        <a:buClr>
                          <a:schemeClr val="accent2"/>
                        </a:buClr>
                        <a:defRPr>
                          <a:solidFill>
                            <a:srgbClr val="006600"/>
                          </a:solidFill>
                          <a:latin typeface="Times New Roman" panose="02020603050405020304" pitchFamily="18" charset="0"/>
                        </a:defRPr>
                      </a:lvl4pPr>
                      <a:lvl5pPr marL="2057400" indent="-228600" eaLnBrk="0" hangingPunct="0">
                        <a:spcBef>
                          <a:spcPct val="20000"/>
                        </a:spcBef>
                        <a:buClr>
                          <a:schemeClr val="accent2"/>
                        </a:buClr>
                        <a:defRPr>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1" i="0" u="none" strike="noStrike" cap="none" normalizeH="0" baseline="0">
                          <a:ln>
                            <a:noFill/>
                          </a:ln>
                          <a:solidFill>
                            <a:schemeClr val="bg2"/>
                          </a:solidFill>
                          <a:effectLst/>
                          <a:latin typeface="Arial" panose="020B0604020202020204" pitchFamily="34" charset="0"/>
                        </a:rPr>
                        <a:t>F1 Offspring</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803334070"/>
                  </a:ext>
                </a:extLst>
              </a:tr>
              <a:tr h="1450975">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marL="742950" indent="-285750" eaLnBrk="0" hangingPunct="0">
                        <a:spcBef>
                          <a:spcPct val="20000"/>
                        </a:spcBef>
                        <a:buClr>
                          <a:schemeClr val="accent2"/>
                        </a:buClr>
                        <a:defRPr sz="2400">
                          <a:solidFill>
                            <a:srgbClr val="006600"/>
                          </a:solidFill>
                          <a:latin typeface="Times New Roman" panose="02020603050405020304" pitchFamily="18" charset="0"/>
                        </a:defRPr>
                      </a:lvl2pPr>
                      <a:lvl3pPr marL="1143000" indent="-228600" eaLnBrk="0" hangingPunct="0">
                        <a:spcBef>
                          <a:spcPct val="20000"/>
                        </a:spcBef>
                        <a:buClr>
                          <a:schemeClr val="accent2"/>
                        </a:buClr>
                        <a:defRPr sz="2000">
                          <a:solidFill>
                            <a:srgbClr val="006600"/>
                          </a:solidFill>
                          <a:latin typeface="Times New Roman" panose="02020603050405020304" pitchFamily="18" charset="0"/>
                        </a:defRPr>
                      </a:lvl3pPr>
                      <a:lvl4pPr marL="1600200" indent="-228600" eaLnBrk="0" hangingPunct="0">
                        <a:spcBef>
                          <a:spcPct val="20000"/>
                        </a:spcBef>
                        <a:buClr>
                          <a:schemeClr val="accent2"/>
                        </a:buClr>
                        <a:defRPr>
                          <a:solidFill>
                            <a:srgbClr val="006600"/>
                          </a:solidFill>
                          <a:latin typeface="Times New Roman" panose="02020603050405020304" pitchFamily="18" charset="0"/>
                        </a:defRPr>
                      </a:lvl4pPr>
                      <a:lvl5pPr marL="2057400" indent="-228600" eaLnBrk="0" hangingPunct="0">
                        <a:spcBef>
                          <a:spcPct val="20000"/>
                        </a:spcBef>
                        <a:buClr>
                          <a:schemeClr val="accent2"/>
                        </a:buClr>
                        <a:defRPr>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1" i="0" u="none" strike="noStrike" cap="none" normalizeH="0" baseline="0">
                          <a:ln>
                            <a:noFill/>
                          </a:ln>
                          <a:solidFill>
                            <a:schemeClr val="bg2"/>
                          </a:solidFill>
                          <a:effectLst/>
                          <a:latin typeface="Arial" panose="020B0604020202020204" pitchFamily="34" charset="0"/>
                        </a:rPr>
                        <a:t>Genotype =</a:t>
                      </a: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marL="742950" indent="-285750" eaLnBrk="0" hangingPunct="0">
                        <a:spcBef>
                          <a:spcPct val="20000"/>
                        </a:spcBef>
                        <a:buClr>
                          <a:schemeClr val="accent2"/>
                        </a:buClr>
                        <a:defRPr sz="2400">
                          <a:solidFill>
                            <a:srgbClr val="006600"/>
                          </a:solidFill>
                          <a:latin typeface="Times New Roman" panose="02020603050405020304" pitchFamily="18" charset="0"/>
                        </a:defRPr>
                      </a:lvl2pPr>
                      <a:lvl3pPr marL="1143000" indent="-228600" eaLnBrk="0" hangingPunct="0">
                        <a:spcBef>
                          <a:spcPct val="20000"/>
                        </a:spcBef>
                        <a:buClr>
                          <a:schemeClr val="accent2"/>
                        </a:buClr>
                        <a:defRPr sz="2000">
                          <a:solidFill>
                            <a:srgbClr val="006600"/>
                          </a:solidFill>
                          <a:latin typeface="Times New Roman" panose="02020603050405020304" pitchFamily="18" charset="0"/>
                        </a:defRPr>
                      </a:lvl3pPr>
                      <a:lvl4pPr marL="1600200" indent="-228600" eaLnBrk="0" hangingPunct="0">
                        <a:spcBef>
                          <a:spcPct val="20000"/>
                        </a:spcBef>
                        <a:buClr>
                          <a:schemeClr val="accent2"/>
                        </a:buClr>
                        <a:defRPr>
                          <a:solidFill>
                            <a:srgbClr val="006600"/>
                          </a:solidFill>
                          <a:latin typeface="Times New Roman" panose="02020603050405020304" pitchFamily="18" charset="0"/>
                        </a:defRPr>
                      </a:lvl4pPr>
                      <a:lvl5pPr marL="2057400" indent="-228600" eaLnBrk="0" hangingPunct="0">
                        <a:spcBef>
                          <a:spcPct val="20000"/>
                        </a:spcBef>
                        <a:buClr>
                          <a:schemeClr val="accent2"/>
                        </a:buClr>
                        <a:defRPr>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1" i="0" u="none" strike="noStrike" cap="none" normalizeH="0" baseline="0">
                          <a:ln>
                            <a:noFill/>
                          </a:ln>
                          <a:solidFill>
                            <a:schemeClr val="bg2"/>
                          </a:solidFill>
                          <a:effectLst/>
                          <a:latin typeface="Arial" panose="020B0604020202020204" pitchFamily="34" charset="0"/>
                        </a:rPr>
                        <a:t>GG * gg</a:t>
                      </a: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marL="742950" indent="-285750" eaLnBrk="0" hangingPunct="0">
                        <a:spcBef>
                          <a:spcPct val="20000"/>
                        </a:spcBef>
                        <a:buClr>
                          <a:schemeClr val="accent2"/>
                        </a:buClr>
                        <a:defRPr sz="2400">
                          <a:solidFill>
                            <a:srgbClr val="006600"/>
                          </a:solidFill>
                          <a:latin typeface="Times New Roman" panose="02020603050405020304" pitchFamily="18" charset="0"/>
                        </a:defRPr>
                      </a:lvl2pPr>
                      <a:lvl3pPr marL="1143000" indent="-228600" eaLnBrk="0" hangingPunct="0">
                        <a:spcBef>
                          <a:spcPct val="20000"/>
                        </a:spcBef>
                        <a:buClr>
                          <a:schemeClr val="accent2"/>
                        </a:buClr>
                        <a:defRPr sz="2000">
                          <a:solidFill>
                            <a:srgbClr val="006600"/>
                          </a:solidFill>
                          <a:latin typeface="Times New Roman" panose="02020603050405020304" pitchFamily="18" charset="0"/>
                        </a:defRPr>
                      </a:lvl3pPr>
                      <a:lvl4pPr marL="1600200" indent="-228600" eaLnBrk="0" hangingPunct="0">
                        <a:spcBef>
                          <a:spcPct val="20000"/>
                        </a:spcBef>
                        <a:buClr>
                          <a:schemeClr val="accent2"/>
                        </a:buClr>
                        <a:defRPr>
                          <a:solidFill>
                            <a:srgbClr val="006600"/>
                          </a:solidFill>
                          <a:latin typeface="Times New Roman" panose="02020603050405020304" pitchFamily="18" charset="0"/>
                        </a:defRPr>
                      </a:lvl4pPr>
                      <a:lvl5pPr marL="2057400" indent="-228600" eaLnBrk="0" hangingPunct="0">
                        <a:spcBef>
                          <a:spcPct val="20000"/>
                        </a:spcBef>
                        <a:buClr>
                          <a:schemeClr val="accent2"/>
                        </a:buClr>
                        <a:defRPr>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1" i="0" u="none" strike="noStrike" cap="none" normalizeH="0" baseline="0">
                          <a:ln>
                            <a:noFill/>
                          </a:ln>
                          <a:solidFill>
                            <a:schemeClr val="bg2"/>
                          </a:solidFill>
                          <a:effectLst/>
                          <a:latin typeface="Arial" panose="020B0604020202020204" pitchFamily="34" charset="0"/>
                        </a:rPr>
                        <a:t> 100% Gg</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2536200506"/>
                  </a:ext>
                </a:extLst>
              </a:tr>
              <a:tr h="1552575">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marL="742950" indent="-285750" eaLnBrk="0" hangingPunct="0">
                        <a:spcBef>
                          <a:spcPct val="20000"/>
                        </a:spcBef>
                        <a:buClr>
                          <a:schemeClr val="accent2"/>
                        </a:buClr>
                        <a:defRPr sz="2400">
                          <a:solidFill>
                            <a:srgbClr val="006600"/>
                          </a:solidFill>
                          <a:latin typeface="Times New Roman" panose="02020603050405020304" pitchFamily="18" charset="0"/>
                        </a:defRPr>
                      </a:lvl2pPr>
                      <a:lvl3pPr marL="1143000" indent="-228600" eaLnBrk="0" hangingPunct="0">
                        <a:spcBef>
                          <a:spcPct val="20000"/>
                        </a:spcBef>
                        <a:buClr>
                          <a:schemeClr val="accent2"/>
                        </a:buClr>
                        <a:defRPr sz="2000">
                          <a:solidFill>
                            <a:srgbClr val="006600"/>
                          </a:solidFill>
                          <a:latin typeface="Times New Roman" panose="02020603050405020304" pitchFamily="18" charset="0"/>
                        </a:defRPr>
                      </a:lvl3pPr>
                      <a:lvl4pPr marL="1600200" indent="-228600" eaLnBrk="0" hangingPunct="0">
                        <a:spcBef>
                          <a:spcPct val="20000"/>
                        </a:spcBef>
                        <a:buClr>
                          <a:schemeClr val="accent2"/>
                        </a:buClr>
                        <a:defRPr>
                          <a:solidFill>
                            <a:srgbClr val="006600"/>
                          </a:solidFill>
                          <a:latin typeface="Times New Roman" panose="02020603050405020304" pitchFamily="18" charset="0"/>
                        </a:defRPr>
                      </a:lvl4pPr>
                      <a:lvl5pPr marL="2057400" indent="-228600" eaLnBrk="0" hangingPunct="0">
                        <a:spcBef>
                          <a:spcPct val="20000"/>
                        </a:spcBef>
                        <a:buClr>
                          <a:schemeClr val="accent2"/>
                        </a:buClr>
                        <a:defRPr>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1" i="0" u="none" strike="noStrike" cap="none" normalizeH="0" baseline="0">
                          <a:ln>
                            <a:noFill/>
                          </a:ln>
                          <a:solidFill>
                            <a:schemeClr val="bg2"/>
                          </a:solidFill>
                          <a:effectLst/>
                          <a:latin typeface="Arial" panose="020B0604020202020204" pitchFamily="34" charset="0"/>
                        </a:rPr>
                        <a:t>Phenotype =</a:t>
                      </a: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marL="742950" indent="-285750" eaLnBrk="0" hangingPunct="0">
                        <a:spcBef>
                          <a:spcPct val="20000"/>
                        </a:spcBef>
                        <a:buClr>
                          <a:schemeClr val="accent2"/>
                        </a:buClr>
                        <a:defRPr sz="2400">
                          <a:solidFill>
                            <a:srgbClr val="006600"/>
                          </a:solidFill>
                          <a:latin typeface="Times New Roman" panose="02020603050405020304" pitchFamily="18" charset="0"/>
                        </a:defRPr>
                      </a:lvl2pPr>
                      <a:lvl3pPr marL="1143000" indent="-228600" eaLnBrk="0" hangingPunct="0">
                        <a:spcBef>
                          <a:spcPct val="20000"/>
                        </a:spcBef>
                        <a:buClr>
                          <a:schemeClr val="accent2"/>
                        </a:buClr>
                        <a:defRPr sz="2000">
                          <a:solidFill>
                            <a:srgbClr val="006600"/>
                          </a:solidFill>
                          <a:latin typeface="Times New Roman" panose="02020603050405020304" pitchFamily="18" charset="0"/>
                        </a:defRPr>
                      </a:lvl3pPr>
                      <a:lvl4pPr marL="1600200" indent="-228600" eaLnBrk="0" hangingPunct="0">
                        <a:spcBef>
                          <a:spcPct val="20000"/>
                        </a:spcBef>
                        <a:buClr>
                          <a:schemeClr val="accent2"/>
                        </a:buClr>
                        <a:defRPr>
                          <a:solidFill>
                            <a:srgbClr val="006600"/>
                          </a:solidFill>
                          <a:latin typeface="Times New Roman" panose="02020603050405020304" pitchFamily="18" charset="0"/>
                        </a:defRPr>
                      </a:lvl4pPr>
                      <a:lvl5pPr marL="2057400" indent="-228600" eaLnBrk="0" hangingPunct="0">
                        <a:spcBef>
                          <a:spcPct val="20000"/>
                        </a:spcBef>
                        <a:buClr>
                          <a:schemeClr val="accent2"/>
                        </a:buClr>
                        <a:defRPr>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1" i="0" u="none" strike="noStrike" cap="none" normalizeH="0" baseline="0">
                          <a:ln>
                            <a:noFill/>
                          </a:ln>
                          <a:solidFill>
                            <a:schemeClr val="bg2"/>
                          </a:solidFill>
                          <a:effectLst/>
                          <a:latin typeface="Arial" panose="020B0604020202020204" pitchFamily="34" charset="0"/>
                        </a:rPr>
                        <a:t>Green * Yellow</a:t>
                      </a:r>
                    </a:p>
                  </a:txBody>
                  <a:tcPr horzOverflow="overflow">
                    <a:lnL>
                      <a:noFill/>
                    </a:lnL>
                    <a:lnR>
                      <a:noFill/>
                    </a:lnR>
                    <a:lnT>
                      <a:noFill/>
                    </a:lnT>
                    <a:lnB>
                      <a:noFill/>
                    </a:lnB>
                    <a:lnTlToBr>
                      <a:noFill/>
                    </a:lnTlToBr>
                    <a:lnBlToTr>
                      <a:noFill/>
                    </a:lnBlToTr>
                    <a:noFill/>
                  </a:tcPr>
                </a:tc>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marL="742950" indent="-285750" eaLnBrk="0" hangingPunct="0">
                        <a:spcBef>
                          <a:spcPct val="20000"/>
                        </a:spcBef>
                        <a:buClr>
                          <a:schemeClr val="accent2"/>
                        </a:buClr>
                        <a:defRPr sz="2400">
                          <a:solidFill>
                            <a:srgbClr val="006600"/>
                          </a:solidFill>
                          <a:latin typeface="Times New Roman" panose="02020603050405020304" pitchFamily="18" charset="0"/>
                        </a:defRPr>
                      </a:lvl2pPr>
                      <a:lvl3pPr marL="1143000" indent="-228600" eaLnBrk="0" hangingPunct="0">
                        <a:spcBef>
                          <a:spcPct val="20000"/>
                        </a:spcBef>
                        <a:buClr>
                          <a:schemeClr val="accent2"/>
                        </a:buClr>
                        <a:defRPr sz="2000">
                          <a:solidFill>
                            <a:srgbClr val="006600"/>
                          </a:solidFill>
                          <a:latin typeface="Times New Roman" panose="02020603050405020304" pitchFamily="18" charset="0"/>
                        </a:defRPr>
                      </a:lvl3pPr>
                      <a:lvl4pPr marL="1600200" indent="-228600" eaLnBrk="0" hangingPunct="0">
                        <a:spcBef>
                          <a:spcPct val="20000"/>
                        </a:spcBef>
                        <a:buClr>
                          <a:schemeClr val="accent2"/>
                        </a:buClr>
                        <a:defRPr>
                          <a:solidFill>
                            <a:srgbClr val="006600"/>
                          </a:solidFill>
                          <a:latin typeface="Times New Roman" panose="02020603050405020304" pitchFamily="18" charset="0"/>
                        </a:defRPr>
                      </a:lvl4pPr>
                      <a:lvl5pPr marL="2057400" indent="-228600" eaLnBrk="0" hangingPunct="0">
                        <a:spcBef>
                          <a:spcPct val="20000"/>
                        </a:spcBef>
                        <a:buClr>
                          <a:schemeClr val="accent2"/>
                        </a:buClr>
                        <a:defRPr>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800" b="1" i="0" u="none" strike="noStrike" cap="none" normalizeH="0" baseline="0">
                          <a:ln>
                            <a:noFill/>
                          </a:ln>
                          <a:solidFill>
                            <a:schemeClr val="bg2"/>
                          </a:solidFill>
                          <a:effectLst/>
                          <a:latin typeface="Arial" panose="020B0604020202020204" pitchFamily="34" charset="0"/>
                        </a:rPr>
                        <a:t>100% Green</a:t>
                      </a:r>
                    </a:p>
                    <a:p>
                      <a:pPr marL="0" marR="0" lvl="0" indent="0" algn="ctr" defTabSz="914400" rtl="0" eaLnBrk="0" fontAlgn="base" latinLnBrk="0" hangingPunct="0">
                        <a:lnSpc>
                          <a:spcPct val="100000"/>
                        </a:lnSpc>
                        <a:spcBef>
                          <a:spcPct val="20000"/>
                        </a:spcBef>
                        <a:spcAft>
                          <a:spcPct val="0"/>
                        </a:spcAft>
                        <a:buClr>
                          <a:schemeClr val="accent2"/>
                        </a:buClr>
                        <a:buSzTx/>
                        <a:buFontTx/>
                        <a:buNone/>
                        <a:tabLst/>
                      </a:pPr>
                      <a:endParaRPr kumimoji="0" lang="en-US" altLang="en-US" sz="2800" b="1" i="0" u="none" strike="noStrike" cap="none" normalizeH="0" baseline="0">
                        <a:ln>
                          <a:noFill/>
                        </a:ln>
                        <a:solidFill>
                          <a:schemeClr val="bg2"/>
                        </a:solidFill>
                        <a:effectLst/>
                        <a:latin typeface="Arial" panose="020B0604020202020204" pitchFamily="34" charset="0"/>
                      </a:endParaRP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5191545"/>
                  </a:ext>
                </a:extLst>
              </a:tr>
            </a:tbl>
          </a:graphicData>
        </a:graphic>
      </p:graphicFrame>
      <p:sp>
        <p:nvSpPr>
          <p:cNvPr id="70668" name="Rectangle 26"/>
          <p:cNvSpPr>
            <a:spLocks noChangeArrowheads="1"/>
          </p:cNvSpPr>
          <p:nvPr/>
        </p:nvSpPr>
        <p:spPr bwMode="auto">
          <a:xfrm>
            <a:off x="3246438" y="488950"/>
            <a:ext cx="3065462"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3600">
                <a:solidFill>
                  <a:schemeClr val="bg2"/>
                </a:solidFill>
                <a:latin typeface="Comic Sans MS" panose="030F0702030302020204" pitchFamily="66" charset="0"/>
                <a:cs typeface="Times New Roman" panose="02020603050405020304" pitchFamily="18" charset="0"/>
              </a:rPr>
              <a:t>F1 Offspring</a:t>
            </a:r>
          </a:p>
        </p:txBody>
      </p:sp>
      <p:sp>
        <p:nvSpPr>
          <p:cNvPr id="70669" name="Line 27"/>
          <p:cNvSpPr>
            <a:spLocks noChangeShapeType="1"/>
          </p:cNvSpPr>
          <p:nvPr/>
        </p:nvSpPr>
        <p:spPr bwMode="auto">
          <a:xfrm>
            <a:off x="271463" y="12954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Line 2"/>
          <p:cNvSpPr>
            <a:spLocks noChangeShapeType="1"/>
          </p:cNvSpPr>
          <p:nvPr/>
        </p:nvSpPr>
        <p:spPr bwMode="auto">
          <a:xfrm>
            <a:off x="271463" y="8382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2707" name="Rectangle 5"/>
          <p:cNvSpPr>
            <a:spLocks noChangeArrowheads="1"/>
          </p:cNvSpPr>
          <p:nvPr/>
        </p:nvSpPr>
        <p:spPr bwMode="auto">
          <a:xfrm>
            <a:off x="1422400" y="2438400"/>
            <a:ext cx="696913"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endParaRPr lang="en-US" altLang="en-US" sz="2800">
              <a:solidFill>
                <a:schemeClr val="bg2"/>
              </a:solidFill>
              <a:latin typeface="Arial" panose="020B0604020202020204" pitchFamily="34" charset="0"/>
            </a:endParaRPr>
          </a:p>
        </p:txBody>
      </p:sp>
      <p:sp>
        <p:nvSpPr>
          <p:cNvPr id="72708" name="Rectangle 6"/>
          <p:cNvSpPr>
            <a:spLocks noChangeArrowheads="1"/>
          </p:cNvSpPr>
          <p:nvPr/>
        </p:nvSpPr>
        <p:spPr bwMode="auto">
          <a:xfrm>
            <a:off x="2119313" y="2438400"/>
            <a:ext cx="2133600"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a:t>
            </a:r>
          </a:p>
        </p:txBody>
      </p:sp>
      <p:sp>
        <p:nvSpPr>
          <p:cNvPr id="72709" name="Rectangle 7"/>
          <p:cNvSpPr>
            <a:spLocks noChangeArrowheads="1"/>
          </p:cNvSpPr>
          <p:nvPr/>
        </p:nvSpPr>
        <p:spPr bwMode="auto">
          <a:xfrm>
            <a:off x="4252913" y="2438400"/>
            <a:ext cx="2114550"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a:t>
            </a:r>
          </a:p>
        </p:txBody>
      </p:sp>
      <p:sp>
        <p:nvSpPr>
          <p:cNvPr id="72710" name="Rectangle 8"/>
          <p:cNvSpPr>
            <a:spLocks noChangeArrowheads="1"/>
          </p:cNvSpPr>
          <p:nvPr/>
        </p:nvSpPr>
        <p:spPr bwMode="auto">
          <a:xfrm>
            <a:off x="1422400" y="3497263"/>
            <a:ext cx="696913"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a:t>
            </a:r>
          </a:p>
        </p:txBody>
      </p:sp>
      <p:sp>
        <p:nvSpPr>
          <p:cNvPr id="72711" name="Rectangle 9"/>
          <p:cNvSpPr>
            <a:spLocks noChangeArrowheads="1"/>
          </p:cNvSpPr>
          <p:nvPr/>
        </p:nvSpPr>
        <p:spPr bwMode="auto">
          <a:xfrm>
            <a:off x="2119313" y="3497263"/>
            <a:ext cx="2133600"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Gg</a:t>
            </a:r>
          </a:p>
        </p:txBody>
      </p:sp>
      <p:sp>
        <p:nvSpPr>
          <p:cNvPr id="72712" name="Rectangle 10"/>
          <p:cNvSpPr>
            <a:spLocks noChangeArrowheads="1"/>
          </p:cNvSpPr>
          <p:nvPr/>
        </p:nvSpPr>
        <p:spPr bwMode="auto">
          <a:xfrm>
            <a:off x="4252913" y="3497263"/>
            <a:ext cx="2114550"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Gg</a:t>
            </a:r>
          </a:p>
        </p:txBody>
      </p:sp>
      <p:sp>
        <p:nvSpPr>
          <p:cNvPr id="72713" name="Rectangle 11"/>
          <p:cNvSpPr>
            <a:spLocks noChangeArrowheads="1"/>
          </p:cNvSpPr>
          <p:nvPr/>
        </p:nvSpPr>
        <p:spPr bwMode="auto">
          <a:xfrm>
            <a:off x="1422400" y="4948238"/>
            <a:ext cx="696913"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a:t>
            </a:r>
          </a:p>
        </p:txBody>
      </p:sp>
      <p:sp>
        <p:nvSpPr>
          <p:cNvPr id="72714" name="Rectangle 12"/>
          <p:cNvSpPr>
            <a:spLocks noChangeArrowheads="1"/>
          </p:cNvSpPr>
          <p:nvPr/>
        </p:nvSpPr>
        <p:spPr bwMode="auto">
          <a:xfrm>
            <a:off x="2119313" y="4948238"/>
            <a:ext cx="2133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Gg</a:t>
            </a:r>
          </a:p>
        </p:txBody>
      </p:sp>
      <p:sp>
        <p:nvSpPr>
          <p:cNvPr id="72715" name="Rectangle 13"/>
          <p:cNvSpPr>
            <a:spLocks noChangeArrowheads="1"/>
          </p:cNvSpPr>
          <p:nvPr/>
        </p:nvSpPr>
        <p:spPr bwMode="auto">
          <a:xfrm>
            <a:off x="4252913" y="4948238"/>
            <a:ext cx="211455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Gg</a:t>
            </a:r>
          </a:p>
        </p:txBody>
      </p:sp>
      <p:sp>
        <p:nvSpPr>
          <p:cNvPr id="72716" name="Line 14"/>
          <p:cNvSpPr>
            <a:spLocks noChangeShapeType="1"/>
          </p:cNvSpPr>
          <p:nvPr/>
        </p:nvSpPr>
        <p:spPr bwMode="auto">
          <a:xfrm>
            <a:off x="2119313" y="2438400"/>
            <a:ext cx="0" cy="2509838"/>
          </a:xfrm>
          <a:prstGeom prst="line">
            <a:avLst/>
          </a:prstGeom>
          <a:noFill/>
          <a:ln w="12700" algn="ctr">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2717" name="Line 15"/>
          <p:cNvSpPr>
            <a:spLocks noChangeShapeType="1"/>
          </p:cNvSpPr>
          <p:nvPr/>
        </p:nvSpPr>
        <p:spPr bwMode="auto">
          <a:xfrm>
            <a:off x="4252913" y="2438400"/>
            <a:ext cx="0" cy="4062413"/>
          </a:xfrm>
          <a:prstGeom prst="line">
            <a:avLst/>
          </a:prstGeom>
          <a:noFill/>
          <a:ln w="12700" algn="ctr">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2718" name="Line 43"/>
          <p:cNvSpPr>
            <a:spLocks noChangeShapeType="1"/>
          </p:cNvSpPr>
          <p:nvPr/>
        </p:nvSpPr>
        <p:spPr bwMode="auto">
          <a:xfrm>
            <a:off x="2119313" y="4948238"/>
            <a:ext cx="0" cy="1552575"/>
          </a:xfrm>
          <a:prstGeom prst="line">
            <a:avLst/>
          </a:prstGeom>
          <a:noFill/>
          <a:ln w="12700" cap="sq" algn="ctr">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p>
        </p:txBody>
      </p:sp>
      <p:sp>
        <p:nvSpPr>
          <p:cNvPr id="72719" name="Text Box 27"/>
          <p:cNvSpPr txBox="1">
            <a:spLocks noChangeArrowheads="1"/>
          </p:cNvSpPr>
          <p:nvPr/>
        </p:nvSpPr>
        <p:spPr bwMode="auto">
          <a:xfrm rot="-10792055">
            <a:off x="211138" y="2039938"/>
            <a:ext cx="825500" cy="413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800">
                <a:solidFill>
                  <a:schemeClr val="bg2"/>
                </a:solidFill>
                <a:latin typeface="Arial" panose="020B0604020202020204" pitchFamily="34" charset="0"/>
              </a:rPr>
              <a:t>Yellow Pod Parent (gg)</a:t>
            </a:r>
          </a:p>
        </p:txBody>
      </p:sp>
      <p:sp>
        <p:nvSpPr>
          <p:cNvPr id="72720" name="Text Box 28"/>
          <p:cNvSpPr txBox="1">
            <a:spLocks noChangeArrowheads="1"/>
          </p:cNvSpPr>
          <p:nvPr/>
        </p:nvSpPr>
        <p:spPr bwMode="auto">
          <a:xfrm>
            <a:off x="2640013" y="-142875"/>
            <a:ext cx="86042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3600">
                <a:solidFill>
                  <a:schemeClr val="bg2"/>
                </a:solidFill>
                <a:latin typeface="Comic Sans MS" panose="030F0702030302020204" pitchFamily="66" charset="0"/>
              </a:rPr>
              <a:t>Punnett Squares</a:t>
            </a:r>
          </a:p>
        </p:txBody>
      </p:sp>
      <p:sp>
        <p:nvSpPr>
          <p:cNvPr id="72721" name="Text Box 29"/>
          <p:cNvSpPr txBox="1">
            <a:spLocks noChangeArrowheads="1"/>
          </p:cNvSpPr>
          <p:nvPr/>
        </p:nvSpPr>
        <p:spPr bwMode="auto">
          <a:xfrm>
            <a:off x="2679700" y="1019175"/>
            <a:ext cx="3802063"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800">
                <a:solidFill>
                  <a:schemeClr val="bg2"/>
                </a:solidFill>
                <a:latin typeface="Arial" panose="020B0604020202020204" pitchFamily="34" charset="0"/>
              </a:rPr>
              <a:t>Green Pod Parent (GG)</a:t>
            </a:r>
          </a:p>
        </p:txBody>
      </p:sp>
      <p:sp>
        <p:nvSpPr>
          <p:cNvPr id="72722" name="Text Box 30"/>
          <p:cNvSpPr txBox="1">
            <a:spLocks noChangeArrowheads="1"/>
          </p:cNvSpPr>
          <p:nvPr/>
        </p:nvSpPr>
        <p:spPr bwMode="auto">
          <a:xfrm rot="-5399728">
            <a:off x="377032" y="1366044"/>
            <a:ext cx="280828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85000"/>
              </a:lnSpc>
              <a:spcBef>
                <a:spcPct val="0"/>
              </a:spcBef>
              <a:buClrTx/>
              <a:buFontTx/>
              <a:buNone/>
            </a:pPr>
            <a:r>
              <a:rPr lang="en-US" altLang="en-US" sz="2400">
                <a:solidFill>
                  <a:schemeClr val="bg2"/>
                </a:solidFill>
                <a:latin typeface="Arial" panose="020B0604020202020204" pitchFamily="34" charset="0"/>
              </a:rPr>
              <a:t>Alleles for </a:t>
            </a:r>
          </a:p>
          <a:p>
            <a:pPr>
              <a:lnSpc>
                <a:spcPct val="85000"/>
              </a:lnSpc>
              <a:spcBef>
                <a:spcPct val="0"/>
              </a:spcBef>
              <a:buClrTx/>
              <a:buFontTx/>
              <a:buNone/>
            </a:pPr>
            <a:r>
              <a:rPr lang="en-US" altLang="en-US" sz="2400">
                <a:solidFill>
                  <a:schemeClr val="bg2"/>
                </a:solidFill>
                <a:latin typeface="Arial" panose="020B0604020202020204" pitchFamily="34" charset="0"/>
              </a:rPr>
              <a:t>Yellow  Parent</a:t>
            </a:r>
          </a:p>
        </p:txBody>
      </p:sp>
      <p:sp>
        <p:nvSpPr>
          <p:cNvPr id="72723" name="Text Box 31"/>
          <p:cNvSpPr txBox="1">
            <a:spLocks noChangeArrowheads="1"/>
          </p:cNvSpPr>
          <p:nvPr/>
        </p:nvSpPr>
        <p:spPr bwMode="auto">
          <a:xfrm>
            <a:off x="5711825" y="2362200"/>
            <a:ext cx="4470400"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400">
                <a:solidFill>
                  <a:schemeClr val="bg2"/>
                </a:solidFill>
                <a:latin typeface="Arial" panose="020B0604020202020204" pitchFamily="34" charset="0"/>
              </a:rPr>
              <a:t>Alleles for Green Pods</a:t>
            </a:r>
          </a:p>
        </p:txBody>
      </p:sp>
      <p:sp>
        <p:nvSpPr>
          <p:cNvPr id="72724" name="Line 46"/>
          <p:cNvSpPr>
            <a:spLocks noChangeShapeType="1"/>
          </p:cNvSpPr>
          <p:nvPr/>
        </p:nvSpPr>
        <p:spPr bwMode="auto">
          <a:xfrm>
            <a:off x="1363663" y="3324225"/>
            <a:ext cx="43402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2725" name="Line 47"/>
          <p:cNvSpPr>
            <a:spLocks noChangeShapeType="1"/>
          </p:cNvSpPr>
          <p:nvPr/>
        </p:nvSpPr>
        <p:spPr bwMode="auto">
          <a:xfrm>
            <a:off x="1357313" y="4492625"/>
            <a:ext cx="434022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Line 2"/>
          <p:cNvSpPr>
            <a:spLocks noChangeShapeType="1"/>
          </p:cNvSpPr>
          <p:nvPr/>
        </p:nvSpPr>
        <p:spPr bwMode="auto">
          <a:xfrm>
            <a:off x="271463" y="9906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4755" name="Rectangle 5"/>
          <p:cNvSpPr>
            <a:spLocks noChangeArrowheads="1"/>
          </p:cNvSpPr>
          <p:nvPr/>
        </p:nvSpPr>
        <p:spPr bwMode="auto">
          <a:xfrm>
            <a:off x="1693863" y="2362200"/>
            <a:ext cx="731837"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endParaRPr lang="en-US" altLang="en-US" sz="2800">
              <a:solidFill>
                <a:schemeClr val="bg2"/>
              </a:solidFill>
              <a:latin typeface="Arial" panose="020B0604020202020204" pitchFamily="34" charset="0"/>
            </a:endParaRPr>
          </a:p>
        </p:txBody>
      </p:sp>
      <p:sp>
        <p:nvSpPr>
          <p:cNvPr id="74756" name="Rectangle 6"/>
          <p:cNvSpPr>
            <a:spLocks noChangeArrowheads="1"/>
          </p:cNvSpPr>
          <p:nvPr/>
        </p:nvSpPr>
        <p:spPr bwMode="auto">
          <a:xfrm>
            <a:off x="2425700" y="2362200"/>
            <a:ext cx="2106613"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a:t>
            </a:r>
          </a:p>
        </p:txBody>
      </p:sp>
      <p:sp>
        <p:nvSpPr>
          <p:cNvPr id="74757" name="Rectangle 7"/>
          <p:cNvSpPr>
            <a:spLocks noChangeArrowheads="1"/>
          </p:cNvSpPr>
          <p:nvPr/>
        </p:nvSpPr>
        <p:spPr bwMode="auto">
          <a:xfrm>
            <a:off x="4532313" y="2362200"/>
            <a:ext cx="2106612"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a:t>
            </a:r>
          </a:p>
        </p:txBody>
      </p:sp>
      <p:sp>
        <p:nvSpPr>
          <p:cNvPr id="74758" name="Rectangle 8"/>
          <p:cNvSpPr>
            <a:spLocks noChangeArrowheads="1"/>
          </p:cNvSpPr>
          <p:nvPr/>
        </p:nvSpPr>
        <p:spPr bwMode="auto">
          <a:xfrm>
            <a:off x="1693863" y="3381375"/>
            <a:ext cx="731837"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a:t>
            </a:r>
          </a:p>
        </p:txBody>
      </p:sp>
      <p:sp>
        <p:nvSpPr>
          <p:cNvPr id="74759" name="Rectangle 9"/>
          <p:cNvSpPr>
            <a:spLocks noChangeArrowheads="1"/>
          </p:cNvSpPr>
          <p:nvPr/>
        </p:nvSpPr>
        <p:spPr bwMode="auto">
          <a:xfrm>
            <a:off x="2425700" y="3381375"/>
            <a:ext cx="2106613"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Green</a:t>
            </a:r>
          </a:p>
          <a:p>
            <a:pPr algn="ctr">
              <a:buFontTx/>
              <a:buNone/>
            </a:pPr>
            <a:r>
              <a:rPr lang="en-US" altLang="en-US" sz="2800">
                <a:solidFill>
                  <a:schemeClr val="bg2"/>
                </a:solidFill>
                <a:latin typeface="Arial" panose="020B0604020202020204" pitchFamily="34" charset="0"/>
              </a:rPr>
              <a:t>GG</a:t>
            </a:r>
          </a:p>
        </p:txBody>
      </p:sp>
      <p:sp>
        <p:nvSpPr>
          <p:cNvPr id="74760" name="Rectangle 10"/>
          <p:cNvSpPr>
            <a:spLocks noChangeArrowheads="1"/>
          </p:cNvSpPr>
          <p:nvPr/>
        </p:nvSpPr>
        <p:spPr bwMode="auto">
          <a:xfrm>
            <a:off x="4532313" y="3381375"/>
            <a:ext cx="2106612"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Green</a:t>
            </a:r>
          </a:p>
          <a:p>
            <a:pPr algn="ctr">
              <a:buFontTx/>
              <a:buNone/>
            </a:pPr>
            <a:r>
              <a:rPr lang="en-US" altLang="en-US" sz="2800">
                <a:solidFill>
                  <a:schemeClr val="bg2"/>
                </a:solidFill>
                <a:latin typeface="Arial" panose="020B0604020202020204" pitchFamily="34" charset="0"/>
              </a:rPr>
              <a:t>Gg</a:t>
            </a:r>
          </a:p>
        </p:txBody>
      </p:sp>
      <p:sp>
        <p:nvSpPr>
          <p:cNvPr id="74761" name="Rectangle 11"/>
          <p:cNvSpPr>
            <a:spLocks noChangeArrowheads="1"/>
          </p:cNvSpPr>
          <p:nvPr/>
        </p:nvSpPr>
        <p:spPr bwMode="auto">
          <a:xfrm>
            <a:off x="1693863" y="4832350"/>
            <a:ext cx="731837"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a:t>
            </a:r>
          </a:p>
        </p:txBody>
      </p:sp>
      <p:sp>
        <p:nvSpPr>
          <p:cNvPr id="74762" name="Rectangle 12"/>
          <p:cNvSpPr>
            <a:spLocks noChangeArrowheads="1"/>
          </p:cNvSpPr>
          <p:nvPr/>
        </p:nvSpPr>
        <p:spPr bwMode="auto">
          <a:xfrm>
            <a:off x="2425700" y="4832350"/>
            <a:ext cx="2106613"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Green </a:t>
            </a:r>
          </a:p>
          <a:p>
            <a:pPr algn="ctr">
              <a:buFontTx/>
              <a:buNone/>
            </a:pPr>
            <a:r>
              <a:rPr lang="en-US" altLang="en-US" sz="2800">
                <a:solidFill>
                  <a:schemeClr val="bg2"/>
                </a:solidFill>
                <a:latin typeface="Arial" panose="020B0604020202020204" pitchFamily="34" charset="0"/>
              </a:rPr>
              <a:t>Gg</a:t>
            </a:r>
          </a:p>
        </p:txBody>
      </p:sp>
      <p:sp>
        <p:nvSpPr>
          <p:cNvPr id="74763" name="Rectangle 13"/>
          <p:cNvSpPr>
            <a:spLocks noChangeArrowheads="1"/>
          </p:cNvSpPr>
          <p:nvPr/>
        </p:nvSpPr>
        <p:spPr bwMode="auto">
          <a:xfrm>
            <a:off x="4532313" y="4832350"/>
            <a:ext cx="2106612"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i="1">
                <a:solidFill>
                  <a:schemeClr val="bg2"/>
                </a:solidFill>
                <a:latin typeface="Arial" panose="020B0604020202020204" pitchFamily="34" charset="0"/>
              </a:rPr>
              <a:t>Yellow</a:t>
            </a:r>
          </a:p>
          <a:p>
            <a:pPr algn="ctr">
              <a:buFontTx/>
              <a:buNone/>
            </a:pPr>
            <a:r>
              <a:rPr lang="en-US" altLang="en-US" sz="2800" i="1">
                <a:solidFill>
                  <a:schemeClr val="bg2"/>
                </a:solidFill>
                <a:latin typeface="Arial" panose="020B0604020202020204" pitchFamily="34" charset="0"/>
              </a:rPr>
              <a:t>gg</a:t>
            </a:r>
          </a:p>
        </p:txBody>
      </p:sp>
      <p:sp>
        <p:nvSpPr>
          <p:cNvPr id="74764" name="Line 14"/>
          <p:cNvSpPr>
            <a:spLocks noChangeShapeType="1"/>
          </p:cNvSpPr>
          <p:nvPr/>
        </p:nvSpPr>
        <p:spPr bwMode="auto">
          <a:xfrm>
            <a:off x="2425700" y="2362200"/>
            <a:ext cx="0" cy="4022725"/>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5" name="Line 15"/>
          <p:cNvSpPr>
            <a:spLocks noChangeShapeType="1"/>
          </p:cNvSpPr>
          <p:nvPr/>
        </p:nvSpPr>
        <p:spPr bwMode="auto">
          <a:xfrm>
            <a:off x="4532313" y="2362200"/>
            <a:ext cx="0" cy="4022725"/>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6" name="Line 16"/>
          <p:cNvSpPr>
            <a:spLocks noChangeShapeType="1"/>
          </p:cNvSpPr>
          <p:nvPr/>
        </p:nvSpPr>
        <p:spPr bwMode="auto">
          <a:xfrm>
            <a:off x="1693863" y="3381375"/>
            <a:ext cx="4945062" cy="0"/>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7" name="Line 17"/>
          <p:cNvSpPr>
            <a:spLocks noChangeShapeType="1"/>
          </p:cNvSpPr>
          <p:nvPr/>
        </p:nvSpPr>
        <p:spPr bwMode="auto">
          <a:xfrm>
            <a:off x="1693863" y="4832350"/>
            <a:ext cx="4945062" cy="0"/>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4768" name="Text Box 27"/>
          <p:cNvSpPr txBox="1">
            <a:spLocks noChangeArrowheads="1"/>
          </p:cNvSpPr>
          <p:nvPr/>
        </p:nvSpPr>
        <p:spPr bwMode="auto">
          <a:xfrm>
            <a:off x="2438400" y="866775"/>
            <a:ext cx="3706813" cy="137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800">
                <a:solidFill>
                  <a:schemeClr val="bg2"/>
                </a:solidFill>
                <a:latin typeface="Arial" panose="020B0604020202020204" pitchFamily="34" charset="0"/>
              </a:rPr>
              <a:t>Green Pod Parent (Gg)</a:t>
            </a:r>
          </a:p>
        </p:txBody>
      </p:sp>
      <p:sp>
        <p:nvSpPr>
          <p:cNvPr id="74769" name="Text Box 28"/>
          <p:cNvSpPr txBox="1">
            <a:spLocks noChangeArrowheads="1"/>
          </p:cNvSpPr>
          <p:nvPr/>
        </p:nvSpPr>
        <p:spPr bwMode="auto">
          <a:xfrm rot="-10792055">
            <a:off x="617538" y="1152525"/>
            <a:ext cx="825500" cy="471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800">
                <a:solidFill>
                  <a:schemeClr val="bg2"/>
                </a:solidFill>
                <a:latin typeface="Arial" panose="020B0604020202020204" pitchFamily="34" charset="0"/>
              </a:rPr>
              <a:t>Green Pod Parent (Gg)</a:t>
            </a:r>
          </a:p>
        </p:txBody>
      </p:sp>
      <p:sp>
        <p:nvSpPr>
          <p:cNvPr id="74770" name="Text Box 29"/>
          <p:cNvSpPr txBox="1">
            <a:spLocks noChangeArrowheads="1"/>
          </p:cNvSpPr>
          <p:nvPr/>
        </p:nvSpPr>
        <p:spPr bwMode="auto">
          <a:xfrm>
            <a:off x="374650" y="80963"/>
            <a:ext cx="9139238"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a:solidFill>
                  <a:schemeClr val="bg2"/>
                </a:solidFill>
                <a:latin typeface="Comic Sans MS" panose="030F0702030302020204" pitchFamily="66" charset="0"/>
              </a:rPr>
              <a:t>Mendel’s Law of Independent Segregation</a:t>
            </a:r>
          </a:p>
        </p:txBody>
      </p:sp>
      <p:sp>
        <p:nvSpPr>
          <p:cNvPr id="600087" name="Rectangle 23"/>
          <p:cNvSpPr>
            <a:spLocks noChangeArrowheads="1"/>
          </p:cNvSpPr>
          <p:nvPr/>
        </p:nvSpPr>
        <p:spPr bwMode="auto">
          <a:xfrm>
            <a:off x="6940550" y="2111375"/>
            <a:ext cx="1914525"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eaLnBrk="1" hangingPunct="1">
              <a:spcBef>
                <a:spcPct val="0"/>
              </a:spcBef>
              <a:buClrTx/>
              <a:buFontTx/>
              <a:buNone/>
            </a:pPr>
            <a:r>
              <a:rPr lang="en-US" altLang="en-US" sz="1800">
                <a:solidFill>
                  <a:schemeClr val="bg2"/>
                </a:solidFill>
                <a:latin typeface="Arial" panose="020B0604020202020204" pitchFamily="34" charset="0"/>
              </a:rPr>
              <a:t>Note: Mendel’s laws are probability models– not deterministic.</a:t>
            </a:r>
          </a:p>
          <a:p>
            <a:pPr eaLnBrk="1" hangingPunct="1">
              <a:spcBef>
                <a:spcPct val="0"/>
              </a:spcBef>
              <a:buClrTx/>
              <a:buFontTx/>
              <a:buNone/>
            </a:pPr>
            <a:endParaRPr lang="en-US" altLang="en-US" sz="1800">
              <a:solidFill>
                <a:schemeClr val="bg2"/>
              </a:solidFill>
              <a:latin typeface="Arial" panose="020B0604020202020204" pitchFamily="34" charset="0"/>
            </a:endParaRPr>
          </a:p>
          <a:p>
            <a:pPr eaLnBrk="1" hangingPunct="1">
              <a:spcBef>
                <a:spcPct val="0"/>
              </a:spcBef>
              <a:buClrTx/>
              <a:buFontTx/>
              <a:buNone/>
            </a:pPr>
            <a:r>
              <a:rPr lang="en-US" altLang="en-US" sz="1800">
                <a:solidFill>
                  <a:schemeClr val="bg2"/>
                </a:solidFill>
                <a:latin typeface="Arial" panose="020B0604020202020204" pitchFamily="34" charset="0"/>
              </a:rPr>
              <a:t>GgxGg</a:t>
            </a:r>
            <a:r>
              <a:rPr lang="en-US" altLang="en-US" sz="1800">
                <a:solidFill>
                  <a:schemeClr val="bg2"/>
                </a:solidFill>
                <a:latin typeface="Arial" panose="020B0604020202020204" pitchFamily="34" charset="0"/>
                <a:sym typeface="Wingdings" panose="05000000000000000000" pitchFamily="2" charset="2"/>
              </a:rPr>
              <a:t> each offspring has a ¼ </a:t>
            </a:r>
            <a:r>
              <a:rPr lang="en-US" altLang="en-US" sz="1800" i="1">
                <a:solidFill>
                  <a:schemeClr val="bg2"/>
                </a:solidFill>
                <a:latin typeface="Arial" panose="020B0604020202020204" pitchFamily="34" charset="0"/>
                <a:sym typeface="Wingdings" panose="05000000000000000000" pitchFamily="2" charset="2"/>
              </a:rPr>
              <a:t>chance</a:t>
            </a:r>
            <a:r>
              <a:rPr lang="en-US" altLang="en-US" sz="1800">
                <a:solidFill>
                  <a:schemeClr val="bg2"/>
                </a:solidFill>
                <a:latin typeface="Arial" panose="020B0604020202020204" pitchFamily="34" charset="0"/>
                <a:sym typeface="Wingdings" panose="05000000000000000000" pitchFamily="2" charset="2"/>
              </a:rPr>
              <a:t> of being yellow.  Or: if you had a zillion pods, you would expect ¼ to be yellow, on average.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00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008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98" name="Text Box 30"/>
          <p:cNvSpPr txBox="1">
            <a:spLocks noChangeArrowheads="1"/>
          </p:cNvSpPr>
          <p:nvPr/>
        </p:nvSpPr>
        <p:spPr bwMode="auto">
          <a:xfrm>
            <a:off x="4352925" y="5092700"/>
            <a:ext cx="4791075" cy="259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30000"/>
              </a:spcBef>
              <a:spcAft>
                <a:spcPct val="30000"/>
              </a:spcAft>
              <a:buFontTx/>
              <a:buNone/>
            </a:pPr>
            <a:r>
              <a:rPr lang="en-US" altLang="en-US" sz="2400">
                <a:solidFill>
                  <a:schemeClr val="bg2"/>
                </a:solidFill>
                <a:latin typeface="Arial" panose="020B0604020202020204" pitchFamily="34" charset="0"/>
              </a:rPr>
              <a:t>Offspring (F2 Generation) </a:t>
            </a:r>
          </a:p>
          <a:p>
            <a:pPr>
              <a:lnSpc>
                <a:spcPct val="90000"/>
              </a:lnSpc>
              <a:spcBef>
                <a:spcPct val="30000"/>
              </a:spcBef>
              <a:spcAft>
                <a:spcPct val="30000"/>
              </a:spcAft>
              <a:buFontTx/>
              <a:buNone/>
            </a:pPr>
            <a:r>
              <a:rPr lang="en-US" altLang="en-US" sz="2000">
                <a:solidFill>
                  <a:schemeClr val="bg2"/>
                </a:solidFill>
                <a:latin typeface="Arial" panose="020B0604020202020204" pitchFamily="34" charset="0"/>
              </a:rPr>
              <a:t>Genotypes: 25% GG, 50% Gg,  25% gg</a:t>
            </a:r>
          </a:p>
          <a:p>
            <a:pPr>
              <a:lnSpc>
                <a:spcPct val="90000"/>
              </a:lnSpc>
              <a:spcBef>
                <a:spcPct val="30000"/>
              </a:spcBef>
              <a:spcAft>
                <a:spcPct val="30000"/>
              </a:spcAft>
              <a:buFontTx/>
              <a:buNone/>
            </a:pPr>
            <a:r>
              <a:rPr lang="en-US" altLang="en-US" sz="2000">
                <a:solidFill>
                  <a:schemeClr val="bg2"/>
                </a:solidFill>
                <a:latin typeface="Arial" panose="020B0604020202020204" pitchFamily="34" charset="0"/>
              </a:rPr>
              <a:t>Phenotypes: 75% green , 25% yellow</a:t>
            </a:r>
          </a:p>
          <a:p>
            <a:pPr>
              <a:lnSpc>
                <a:spcPct val="80000"/>
              </a:lnSpc>
              <a:spcBef>
                <a:spcPct val="0"/>
              </a:spcBef>
              <a:buFontTx/>
              <a:buNone/>
            </a:pPr>
            <a:endParaRPr lang="en-US" altLang="en-US" sz="2400">
              <a:solidFill>
                <a:schemeClr val="bg2"/>
              </a:solidFill>
              <a:latin typeface="Arial" panose="020B0604020202020204" pitchFamily="34" charset="0"/>
            </a:endParaRPr>
          </a:p>
          <a:p>
            <a:pPr>
              <a:lnSpc>
                <a:spcPct val="150000"/>
              </a:lnSpc>
              <a:spcBef>
                <a:spcPct val="50000"/>
              </a:spcBef>
              <a:spcAft>
                <a:spcPts val="600"/>
              </a:spcAft>
              <a:buClrTx/>
              <a:buFontTx/>
              <a:buNone/>
            </a:pPr>
            <a:endParaRPr lang="en-US" altLang="en-US" sz="2800">
              <a:solidFill>
                <a:schemeClr val="bg2"/>
              </a:solidFill>
              <a:latin typeface="Arial" panose="020B0604020202020204" pitchFamily="34" charset="0"/>
            </a:endParaRPr>
          </a:p>
        </p:txBody>
      </p:sp>
      <p:sp>
        <p:nvSpPr>
          <p:cNvPr id="76803" name="Line 2"/>
          <p:cNvSpPr>
            <a:spLocks noChangeShapeType="1"/>
          </p:cNvSpPr>
          <p:nvPr/>
        </p:nvSpPr>
        <p:spPr bwMode="auto">
          <a:xfrm>
            <a:off x="271463" y="9906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6804" name="Text Box 3"/>
          <p:cNvSpPr txBox="1">
            <a:spLocks noChangeArrowheads="1"/>
          </p:cNvSpPr>
          <p:nvPr/>
        </p:nvSpPr>
        <p:spPr bwMode="auto">
          <a:xfrm>
            <a:off x="431800" y="0"/>
            <a:ext cx="8602663"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a:solidFill>
                  <a:schemeClr val="bg2"/>
                </a:solidFill>
                <a:latin typeface="Comic Sans MS" panose="030F0702030302020204" pitchFamily="66" charset="0"/>
              </a:rPr>
              <a:t>Mendel’s Law of Independent Segregation</a:t>
            </a:r>
          </a:p>
        </p:txBody>
      </p:sp>
      <p:graphicFrame>
        <p:nvGraphicFramePr>
          <p:cNvPr id="160772" name="Group 4"/>
          <p:cNvGraphicFramePr>
            <a:graphicFrameLocks noGrp="1"/>
          </p:cNvGraphicFramePr>
          <p:nvPr/>
        </p:nvGraphicFramePr>
        <p:xfrm>
          <a:off x="4064000" y="1611313"/>
          <a:ext cx="2801938" cy="3149600"/>
        </p:xfrm>
        <a:graphic>
          <a:graphicData uri="http://schemas.openxmlformats.org/drawingml/2006/table">
            <a:tbl>
              <a:tblPr/>
              <a:tblGrid>
                <a:gridCol w="2801938">
                  <a:extLst>
                    <a:ext uri="{9D8B030D-6E8A-4147-A177-3AD203B41FA5}">
                      <a16:colId xmlns:a16="http://schemas.microsoft.com/office/drawing/2014/main" val="3813705050"/>
                    </a:ext>
                  </a:extLst>
                </a:gridCol>
              </a:tblGrid>
              <a:tr h="1574800">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marL="742950" indent="-285750" eaLnBrk="0" hangingPunct="0">
                        <a:spcBef>
                          <a:spcPct val="20000"/>
                        </a:spcBef>
                        <a:buClr>
                          <a:schemeClr val="accent2"/>
                        </a:buClr>
                        <a:defRPr sz="2400">
                          <a:solidFill>
                            <a:srgbClr val="006600"/>
                          </a:solidFill>
                          <a:latin typeface="Times New Roman" panose="02020603050405020304" pitchFamily="18" charset="0"/>
                        </a:defRPr>
                      </a:lvl2pPr>
                      <a:lvl3pPr marL="1143000" indent="-228600" eaLnBrk="0" hangingPunct="0">
                        <a:spcBef>
                          <a:spcPct val="20000"/>
                        </a:spcBef>
                        <a:buClr>
                          <a:schemeClr val="accent2"/>
                        </a:buClr>
                        <a:defRPr sz="2000">
                          <a:solidFill>
                            <a:srgbClr val="006600"/>
                          </a:solidFill>
                          <a:latin typeface="Times New Roman" panose="02020603050405020304" pitchFamily="18" charset="0"/>
                        </a:defRPr>
                      </a:lvl3pPr>
                      <a:lvl4pPr marL="1600200" indent="-228600" eaLnBrk="0" hangingPunct="0">
                        <a:spcBef>
                          <a:spcPct val="20000"/>
                        </a:spcBef>
                        <a:buClr>
                          <a:schemeClr val="accent2"/>
                        </a:buClr>
                        <a:defRPr>
                          <a:solidFill>
                            <a:srgbClr val="006600"/>
                          </a:solidFill>
                          <a:latin typeface="Times New Roman" panose="02020603050405020304" pitchFamily="18" charset="0"/>
                        </a:defRPr>
                      </a:lvl4pPr>
                      <a:lvl5pPr marL="2057400" indent="-228600" eaLnBrk="0" hangingPunct="0">
                        <a:spcBef>
                          <a:spcPct val="20000"/>
                        </a:spcBef>
                        <a:buClr>
                          <a:schemeClr val="accent2"/>
                        </a:buClr>
                        <a:defRPr>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400" b="1" i="0" u="none" strike="noStrike" cap="none" normalizeH="0" baseline="0">
                          <a:ln>
                            <a:noFill/>
                          </a:ln>
                          <a:solidFill>
                            <a:schemeClr val="bg2"/>
                          </a:solidFill>
                          <a:effectLst/>
                          <a:latin typeface="Arial" panose="020B0604020202020204" pitchFamily="34" charset="0"/>
                        </a:rPr>
                        <a:t>Parent Pea Plants   (Two Members of F1 Generation) </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498616872"/>
                  </a:ext>
                </a:extLst>
              </a:tr>
              <a:tr h="1574800">
                <a:tc>
                  <a:txBody>
                    <a:bodyPr/>
                    <a:lstStyle>
                      <a:lvl1pPr eaLnBrk="0" hangingPunct="0">
                        <a:spcBef>
                          <a:spcPct val="20000"/>
                        </a:spcBef>
                        <a:buClr>
                          <a:schemeClr val="accent2"/>
                        </a:buClr>
                        <a:defRPr sz="2800">
                          <a:solidFill>
                            <a:srgbClr val="006600"/>
                          </a:solidFill>
                          <a:latin typeface="Times New Roman" panose="02020603050405020304" pitchFamily="18" charset="0"/>
                        </a:defRPr>
                      </a:lvl1pPr>
                      <a:lvl2pPr marL="742950" indent="-285750" eaLnBrk="0" hangingPunct="0">
                        <a:spcBef>
                          <a:spcPct val="20000"/>
                        </a:spcBef>
                        <a:buClr>
                          <a:schemeClr val="accent2"/>
                        </a:buClr>
                        <a:defRPr sz="2400">
                          <a:solidFill>
                            <a:srgbClr val="006600"/>
                          </a:solidFill>
                          <a:latin typeface="Times New Roman" panose="02020603050405020304" pitchFamily="18" charset="0"/>
                        </a:defRPr>
                      </a:lvl2pPr>
                      <a:lvl3pPr marL="1143000" indent="-228600" eaLnBrk="0" hangingPunct="0">
                        <a:spcBef>
                          <a:spcPct val="20000"/>
                        </a:spcBef>
                        <a:buClr>
                          <a:schemeClr val="accent2"/>
                        </a:buClr>
                        <a:defRPr sz="2000">
                          <a:solidFill>
                            <a:srgbClr val="006600"/>
                          </a:solidFill>
                          <a:latin typeface="Times New Roman" panose="02020603050405020304" pitchFamily="18" charset="0"/>
                        </a:defRPr>
                      </a:lvl3pPr>
                      <a:lvl4pPr marL="1600200" indent="-228600" eaLnBrk="0" hangingPunct="0">
                        <a:spcBef>
                          <a:spcPct val="20000"/>
                        </a:spcBef>
                        <a:buClr>
                          <a:schemeClr val="accent2"/>
                        </a:buClr>
                        <a:defRPr>
                          <a:solidFill>
                            <a:srgbClr val="006600"/>
                          </a:solidFill>
                          <a:latin typeface="Times New Roman" panose="02020603050405020304" pitchFamily="18" charset="0"/>
                        </a:defRPr>
                      </a:lvl4pPr>
                      <a:lvl5pPr marL="2057400" indent="-228600" eaLnBrk="0" hangingPunct="0">
                        <a:spcBef>
                          <a:spcPct val="20000"/>
                        </a:spcBef>
                        <a:buClr>
                          <a:schemeClr val="accent2"/>
                        </a:buClr>
                        <a:defRPr>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defRPr>
                          <a:solidFill>
                            <a:srgbClr val="006600"/>
                          </a:solidFill>
                          <a:latin typeface="Times New Roman" panose="02020603050405020304" pitchFamily="18" charset="0"/>
                        </a:defRPr>
                      </a:lvl9pPr>
                    </a:lstStyle>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000" b="1" i="0" u="none" strike="noStrike" cap="none" normalizeH="0" baseline="0">
                          <a:ln>
                            <a:noFill/>
                          </a:ln>
                          <a:solidFill>
                            <a:schemeClr val="bg2"/>
                          </a:solidFill>
                          <a:effectLst/>
                          <a:latin typeface="Arial" panose="020B0604020202020204" pitchFamily="34" charset="0"/>
                        </a:rPr>
                        <a:t>Genotypes: </a:t>
                      </a:r>
                    </a:p>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000" b="1" i="0" u="none" strike="noStrike" cap="none" normalizeH="0" baseline="0">
                          <a:ln>
                            <a:noFill/>
                          </a:ln>
                          <a:solidFill>
                            <a:schemeClr val="bg2"/>
                          </a:solidFill>
                          <a:effectLst/>
                          <a:latin typeface="Arial" panose="020B0604020202020204" pitchFamily="34" charset="0"/>
                        </a:rPr>
                        <a:t>Gg x Gg</a:t>
                      </a:r>
                    </a:p>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000" b="1" i="0" u="none" strike="noStrike" cap="none" normalizeH="0" baseline="0">
                          <a:ln>
                            <a:noFill/>
                          </a:ln>
                          <a:solidFill>
                            <a:schemeClr val="bg2"/>
                          </a:solidFill>
                          <a:effectLst/>
                          <a:latin typeface="Arial" panose="020B0604020202020204" pitchFamily="34" charset="0"/>
                        </a:rPr>
                        <a:t>Phenotypes:</a:t>
                      </a:r>
                    </a:p>
                    <a:p>
                      <a:pPr marL="0" marR="0" lvl="0" indent="0" algn="l" defTabSz="914400" rtl="0" eaLnBrk="0" fontAlgn="base" latinLnBrk="0" hangingPunct="0">
                        <a:lnSpc>
                          <a:spcPct val="100000"/>
                        </a:lnSpc>
                        <a:spcBef>
                          <a:spcPct val="20000"/>
                        </a:spcBef>
                        <a:spcAft>
                          <a:spcPct val="0"/>
                        </a:spcAft>
                        <a:buClr>
                          <a:schemeClr val="accent2"/>
                        </a:buClr>
                        <a:buSzTx/>
                        <a:buFontTx/>
                        <a:buNone/>
                        <a:tabLst/>
                      </a:pPr>
                      <a:r>
                        <a:rPr kumimoji="0" lang="en-US" altLang="en-US" sz="2000" b="1" i="0" u="none" strike="noStrike" cap="none" normalizeH="0" baseline="0">
                          <a:ln>
                            <a:noFill/>
                          </a:ln>
                          <a:solidFill>
                            <a:schemeClr val="bg2"/>
                          </a:solidFill>
                          <a:effectLst/>
                          <a:latin typeface="Arial" panose="020B0604020202020204" pitchFamily="34" charset="0"/>
                        </a:rPr>
                        <a:t>green x green</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3081226984"/>
                  </a:ext>
                </a:extLst>
              </a:tr>
            </a:tbl>
          </a:graphicData>
        </a:graphic>
      </p:graphicFrame>
      <p:grpSp>
        <p:nvGrpSpPr>
          <p:cNvPr id="76808" name="Group 12"/>
          <p:cNvGrpSpPr>
            <a:grpSpLocks/>
          </p:cNvGrpSpPr>
          <p:nvPr/>
        </p:nvGrpSpPr>
        <p:grpSpPr bwMode="auto">
          <a:xfrm>
            <a:off x="0" y="1343025"/>
            <a:ext cx="3787775" cy="4679950"/>
            <a:chOff x="96" y="864"/>
            <a:chExt cx="1680" cy="2016"/>
          </a:xfrm>
        </p:grpSpPr>
        <p:pic>
          <p:nvPicPr>
            <p:cNvPr id="76812" name="Picture 13" descr="Click To Down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 y="86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3" name="Picture 14" descr="Click To Downlo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 y="864"/>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4" name="Picture 15" descr="Click To Downlo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 y="16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15" name="Picture 16" descr="Click To Downlo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 y="168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16" name="Text Box 17"/>
            <p:cNvSpPr txBox="1">
              <a:spLocks noChangeArrowheads="1"/>
            </p:cNvSpPr>
            <p:nvPr/>
          </p:nvSpPr>
          <p:spPr bwMode="auto">
            <a:xfrm>
              <a:off x="710" y="912"/>
              <a:ext cx="17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a:t>
              </a:r>
            </a:p>
          </p:txBody>
        </p:sp>
        <p:sp>
          <p:nvSpPr>
            <p:cNvPr id="76817" name="Line 18"/>
            <p:cNvSpPr>
              <a:spLocks noChangeShapeType="1"/>
            </p:cNvSpPr>
            <p:nvPr/>
          </p:nvSpPr>
          <p:spPr bwMode="auto">
            <a:xfrm flipH="1">
              <a:off x="480" y="1152"/>
              <a:ext cx="336" cy="480"/>
            </a:xfrm>
            <a:prstGeom prst="line">
              <a:avLst/>
            </a:prstGeom>
            <a:noFill/>
            <a:ln w="28575">
              <a:solidFill>
                <a:schemeClr val="bg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76818" name="Line 19"/>
            <p:cNvSpPr>
              <a:spLocks noChangeShapeType="1"/>
            </p:cNvSpPr>
            <p:nvPr/>
          </p:nvSpPr>
          <p:spPr bwMode="auto">
            <a:xfrm>
              <a:off x="816" y="1152"/>
              <a:ext cx="336" cy="480"/>
            </a:xfrm>
            <a:prstGeom prst="line">
              <a:avLst/>
            </a:prstGeom>
            <a:noFill/>
            <a:ln w="28575">
              <a:solidFill>
                <a:schemeClr val="bg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76819" name="Text Box 20"/>
            <p:cNvSpPr txBox="1">
              <a:spLocks noChangeArrowheads="1"/>
            </p:cNvSpPr>
            <p:nvPr/>
          </p:nvSpPr>
          <p:spPr bwMode="auto">
            <a:xfrm>
              <a:off x="716" y="1728"/>
              <a:ext cx="17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a:t>
              </a:r>
            </a:p>
          </p:txBody>
        </p:sp>
        <p:pic>
          <p:nvPicPr>
            <p:cNvPr id="76820" name="Picture 21" descr="Click To Downlo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 y="2496"/>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21" name="Picture 22" descr="Click To Downlo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 y="2496"/>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22" name="Picture 23" descr="Click To Downloa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0" y="2496"/>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23" name="Picture 24" descr="Click To Downlo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2" y="2496"/>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24" name="Line 25"/>
            <p:cNvSpPr>
              <a:spLocks noChangeShapeType="1"/>
            </p:cNvSpPr>
            <p:nvPr/>
          </p:nvSpPr>
          <p:spPr bwMode="auto">
            <a:xfrm flipH="1">
              <a:off x="336" y="1968"/>
              <a:ext cx="480" cy="480"/>
            </a:xfrm>
            <a:prstGeom prst="line">
              <a:avLst/>
            </a:prstGeom>
            <a:noFill/>
            <a:ln w="28575">
              <a:solidFill>
                <a:schemeClr val="bg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76825" name="Line 26"/>
            <p:cNvSpPr>
              <a:spLocks noChangeShapeType="1"/>
            </p:cNvSpPr>
            <p:nvPr/>
          </p:nvSpPr>
          <p:spPr bwMode="auto">
            <a:xfrm flipH="1">
              <a:off x="720" y="1968"/>
              <a:ext cx="96" cy="480"/>
            </a:xfrm>
            <a:prstGeom prst="line">
              <a:avLst/>
            </a:prstGeom>
            <a:noFill/>
            <a:ln w="28575">
              <a:solidFill>
                <a:schemeClr val="bg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76826" name="Line 27"/>
            <p:cNvSpPr>
              <a:spLocks noChangeShapeType="1"/>
            </p:cNvSpPr>
            <p:nvPr/>
          </p:nvSpPr>
          <p:spPr bwMode="auto">
            <a:xfrm>
              <a:off x="816" y="1968"/>
              <a:ext cx="336" cy="480"/>
            </a:xfrm>
            <a:prstGeom prst="line">
              <a:avLst/>
            </a:prstGeom>
            <a:noFill/>
            <a:ln w="28575">
              <a:solidFill>
                <a:schemeClr val="bg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76827" name="Line 28"/>
            <p:cNvSpPr>
              <a:spLocks noChangeShapeType="1"/>
            </p:cNvSpPr>
            <p:nvPr/>
          </p:nvSpPr>
          <p:spPr bwMode="auto">
            <a:xfrm>
              <a:off x="816" y="1968"/>
              <a:ext cx="720" cy="480"/>
            </a:xfrm>
            <a:prstGeom prst="line">
              <a:avLst/>
            </a:prstGeom>
            <a:noFill/>
            <a:ln w="28575">
              <a:solidFill>
                <a:schemeClr val="bg2"/>
              </a:solidFill>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grpSp>
      <p:sp>
        <p:nvSpPr>
          <p:cNvPr id="76809" name="Line 29"/>
          <p:cNvSpPr>
            <a:spLocks noChangeShapeType="1"/>
          </p:cNvSpPr>
          <p:nvPr/>
        </p:nvSpPr>
        <p:spPr bwMode="auto">
          <a:xfrm flipH="1">
            <a:off x="3236913" y="2395538"/>
            <a:ext cx="711200" cy="790575"/>
          </a:xfrm>
          <a:prstGeom prst="line">
            <a:avLst/>
          </a:prstGeom>
          <a:noFill/>
          <a:ln w="25400">
            <a:solidFill>
              <a:schemeClr val="bg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6810" name="Line 31"/>
          <p:cNvSpPr>
            <a:spLocks noChangeShapeType="1"/>
          </p:cNvSpPr>
          <p:nvPr/>
        </p:nvSpPr>
        <p:spPr bwMode="auto">
          <a:xfrm flipH="1">
            <a:off x="3178175" y="3700463"/>
            <a:ext cx="769938" cy="0"/>
          </a:xfrm>
          <a:prstGeom prst="line">
            <a:avLst/>
          </a:prstGeom>
          <a:noFill/>
          <a:ln w="25400">
            <a:solidFill>
              <a:schemeClr val="bg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76811" name="Line 32"/>
          <p:cNvSpPr>
            <a:spLocks noChangeShapeType="1"/>
          </p:cNvSpPr>
          <p:nvPr/>
        </p:nvSpPr>
        <p:spPr bwMode="auto">
          <a:xfrm flipH="1">
            <a:off x="4035425" y="5573713"/>
            <a:ext cx="392113" cy="0"/>
          </a:xfrm>
          <a:prstGeom prst="line">
            <a:avLst/>
          </a:prstGeom>
          <a:noFill/>
          <a:ln w="25400">
            <a:solidFill>
              <a:schemeClr val="bg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60772"/>
                                        </p:tgtEl>
                                        <p:attrNameLst>
                                          <p:attrName>style.visibility</p:attrName>
                                        </p:attrNameLst>
                                      </p:cBhvr>
                                      <p:to>
                                        <p:strVal val="visible"/>
                                      </p:to>
                                    </p:set>
                                    <p:anim calcmode="lin" valueType="num">
                                      <p:cBhvr additive="base">
                                        <p:cTn id="7" dur="500" fill="hold"/>
                                        <p:tgtEl>
                                          <p:spTgt spid="160772"/>
                                        </p:tgtEl>
                                        <p:attrNameLst>
                                          <p:attrName>ppt_x</p:attrName>
                                        </p:attrNameLst>
                                      </p:cBhvr>
                                      <p:tavLst>
                                        <p:tav tm="0">
                                          <p:val>
                                            <p:strVal val="0-#ppt_w/2"/>
                                          </p:val>
                                        </p:tav>
                                        <p:tav tm="100000">
                                          <p:val>
                                            <p:strVal val="#ppt_x"/>
                                          </p:val>
                                        </p:tav>
                                      </p:tavLst>
                                    </p:anim>
                                    <p:anim calcmode="lin" valueType="num">
                                      <p:cBhvr additive="base">
                                        <p:cTn id="8" dur="500" fill="hold"/>
                                        <p:tgtEl>
                                          <p:spTgt spid="16077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60798"/>
                                        </p:tgtEl>
                                        <p:attrNameLst>
                                          <p:attrName>style.visibility</p:attrName>
                                        </p:attrNameLst>
                                      </p:cBhvr>
                                      <p:to>
                                        <p:strVal val="visible"/>
                                      </p:to>
                                    </p:set>
                                    <p:anim calcmode="lin" valueType="num">
                                      <p:cBhvr additive="base">
                                        <p:cTn id="13" dur="500" fill="hold"/>
                                        <p:tgtEl>
                                          <p:spTgt spid="160798"/>
                                        </p:tgtEl>
                                        <p:attrNameLst>
                                          <p:attrName>ppt_x</p:attrName>
                                        </p:attrNameLst>
                                      </p:cBhvr>
                                      <p:tavLst>
                                        <p:tav tm="0">
                                          <p:val>
                                            <p:strVal val="0-#ppt_w/2"/>
                                          </p:val>
                                        </p:tav>
                                        <p:tav tm="100000">
                                          <p:val>
                                            <p:strVal val="#ppt_x"/>
                                          </p:val>
                                        </p:tav>
                                      </p:tavLst>
                                    </p:anim>
                                    <p:anim calcmode="lin" valueType="num">
                                      <p:cBhvr additive="base">
                                        <p:cTn id="14" dur="500" fill="hold"/>
                                        <p:tgtEl>
                                          <p:spTgt spid="1607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98"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ChangeArrowheads="1"/>
          </p:cNvSpPr>
          <p:nvPr/>
        </p:nvSpPr>
        <p:spPr bwMode="auto">
          <a:xfrm>
            <a:off x="542925" y="8572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r>
              <a:rPr lang="en-US" altLang="en-US" sz="3600">
                <a:solidFill>
                  <a:schemeClr val="bg2"/>
                </a:solidFill>
                <a:latin typeface="Comic Sans MS" panose="030F0702030302020204" pitchFamily="66" charset="0"/>
              </a:rPr>
              <a:t>Mendel’s Laws, cont.</a:t>
            </a:r>
          </a:p>
        </p:txBody>
      </p:sp>
      <p:sp>
        <p:nvSpPr>
          <p:cNvPr id="78851" name="Line 3"/>
          <p:cNvSpPr>
            <a:spLocks noChangeShapeType="1"/>
          </p:cNvSpPr>
          <p:nvPr/>
        </p:nvSpPr>
        <p:spPr bwMode="auto">
          <a:xfrm>
            <a:off x="203200" y="1309688"/>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78852" name="Rectangle 4"/>
          <p:cNvSpPr>
            <a:spLocks noChangeArrowheads="1"/>
          </p:cNvSpPr>
          <p:nvPr/>
        </p:nvSpPr>
        <p:spPr bwMode="auto">
          <a:xfrm>
            <a:off x="1104900" y="1743075"/>
            <a:ext cx="6646863"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lr>
                <a:schemeClr val="accent2"/>
              </a:buClr>
              <a:buChar char="•"/>
              <a:defRPr sz="3200">
                <a:solidFill>
                  <a:srgbClr val="006600"/>
                </a:solidFill>
                <a:latin typeface="Times New Roman" panose="02020603050405020304" pitchFamily="18" charset="0"/>
              </a:defRPr>
            </a:lvl1pPr>
            <a:lvl2pPr marL="914400" indent="-45720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ts val="3600"/>
              </a:lnSpc>
              <a:spcBef>
                <a:spcPts val="1400"/>
              </a:spcBef>
              <a:spcAft>
                <a:spcPct val="45000"/>
              </a:spcAft>
            </a:pPr>
            <a:r>
              <a:rPr lang="en-US" altLang="en-US">
                <a:solidFill>
                  <a:schemeClr val="bg2"/>
                </a:solidFill>
                <a:latin typeface="Arial" panose="020B0604020202020204" pitchFamily="34" charset="0"/>
                <a:cs typeface="Times New Roman" panose="02020603050405020304" pitchFamily="18" charset="0"/>
              </a:rPr>
              <a:t>Law of Independent Segregation</a:t>
            </a:r>
          </a:p>
          <a:p>
            <a:pPr lvl="1">
              <a:lnSpc>
                <a:spcPts val="3600"/>
              </a:lnSpc>
              <a:spcBef>
                <a:spcPct val="0"/>
              </a:spcBef>
              <a:spcAft>
                <a:spcPts val="1300"/>
              </a:spcAft>
            </a:pPr>
            <a:r>
              <a:rPr lang="en-US" altLang="en-US" sz="3200">
                <a:solidFill>
                  <a:schemeClr val="bg2"/>
                </a:solidFill>
                <a:latin typeface="Arial" panose="020B0604020202020204" pitchFamily="34" charset="0"/>
                <a:cs typeface="Times New Roman" panose="02020603050405020304" pitchFamily="18" charset="0"/>
              </a:rPr>
              <a:t>Inheritance is particulate</a:t>
            </a:r>
            <a:endParaRPr lang="en-US" altLang="en-US" sz="3200">
              <a:solidFill>
                <a:schemeClr val="bg2"/>
              </a:solidFill>
              <a:latin typeface="Arial" panose="020B0604020202020204" pitchFamily="34" charset="0"/>
              <a:cs typeface="Courier New" panose="02070309020205020404" pitchFamily="49" charset="0"/>
            </a:endParaRPr>
          </a:p>
          <a:p>
            <a:pPr>
              <a:lnSpc>
                <a:spcPts val="3600"/>
              </a:lnSpc>
              <a:spcBef>
                <a:spcPts val="2000"/>
              </a:spcBef>
              <a:spcAft>
                <a:spcPts val="1700"/>
              </a:spcAft>
            </a:pPr>
            <a:r>
              <a:rPr lang="en-US" altLang="en-US" i="1">
                <a:solidFill>
                  <a:schemeClr val="bg2"/>
                </a:solidFill>
                <a:latin typeface="Arial" panose="020B0604020202020204" pitchFamily="34" charset="0"/>
                <a:cs typeface="Times New Roman" panose="02020603050405020304" pitchFamily="18" charset="0"/>
              </a:rPr>
              <a:t>Law of Independent Assortment</a:t>
            </a:r>
          </a:p>
          <a:p>
            <a:pPr lvl="1">
              <a:lnSpc>
                <a:spcPts val="3600"/>
              </a:lnSpc>
              <a:spcBef>
                <a:spcPct val="0"/>
              </a:spcBef>
            </a:pPr>
            <a:r>
              <a:rPr lang="en-US" altLang="en-US" sz="3200" i="1">
                <a:solidFill>
                  <a:schemeClr val="bg2"/>
                </a:solidFill>
                <a:latin typeface="Arial" panose="020B0604020202020204" pitchFamily="34" charset="0"/>
                <a:cs typeface="Times New Roman" panose="02020603050405020304" pitchFamily="18" charset="0"/>
              </a:rPr>
              <a:t>Genes sort independently</a:t>
            </a:r>
            <a:endParaRPr lang="en-US" altLang="en-US" sz="3200" i="1">
              <a:solidFill>
                <a:schemeClr val="bg2"/>
              </a:solidFill>
              <a:latin typeface="Arial" panose="020B0604020202020204" pitchFamily="34" charset="0"/>
              <a:cs typeface="Courier New" panose="02070309020205020404" pitchFamily="49" charset="0"/>
            </a:endParaRPr>
          </a:p>
        </p:txBody>
      </p:sp>
      <p:sp>
        <p:nvSpPr>
          <p:cNvPr id="78853" name="TextBox 5"/>
          <p:cNvSpPr txBox="1">
            <a:spLocks noChangeArrowheads="1"/>
          </p:cNvSpPr>
          <p:nvPr/>
        </p:nvSpPr>
        <p:spPr bwMode="auto">
          <a:xfrm>
            <a:off x="377825" y="5529263"/>
            <a:ext cx="7546975"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50000"/>
              </a:spcBef>
              <a:spcAft>
                <a:spcPts val="600"/>
              </a:spcAft>
              <a:buClrTx/>
              <a:buFontTx/>
              <a:buNone/>
            </a:pPr>
            <a:r>
              <a:rPr lang="en-US" altLang="en-US" sz="1800">
                <a:solidFill>
                  <a:schemeClr val="bg2"/>
                </a:solidFill>
                <a:latin typeface="Arial" panose="020B0604020202020204" pitchFamily="34" charset="0"/>
              </a:rPr>
              <a:t>Meiosis is the basis for Mendel’s Laws of Inheritance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ChangeArrowheads="1"/>
          </p:cNvSpPr>
          <p:nvPr/>
        </p:nvSpPr>
        <p:spPr bwMode="auto">
          <a:xfrm>
            <a:off x="1622425" y="215900"/>
            <a:ext cx="66738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90000"/>
              </a:lnSpc>
              <a:spcBef>
                <a:spcPct val="55000"/>
              </a:spcBef>
              <a:spcAft>
                <a:spcPct val="45000"/>
              </a:spcAft>
              <a:buClrTx/>
              <a:buFontTx/>
              <a:buNone/>
            </a:pPr>
            <a:r>
              <a:rPr lang="en-US" altLang="en-US" sz="3600">
                <a:solidFill>
                  <a:schemeClr val="bg2"/>
                </a:solidFill>
                <a:latin typeface="Comic Sans MS" panose="030F0702030302020204" pitchFamily="66" charset="0"/>
                <a:cs typeface="Times New Roman" panose="02020603050405020304" pitchFamily="18" charset="0"/>
              </a:rPr>
              <a:t>Mendel’s Law of Independent Assortment</a:t>
            </a:r>
          </a:p>
        </p:txBody>
      </p:sp>
      <p:sp>
        <p:nvSpPr>
          <p:cNvPr id="80899" name="Rectangle 3"/>
          <p:cNvSpPr>
            <a:spLocks noChangeArrowheads="1"/>
          </p:cNvSpPr>
          <p:nvPr/>
        </p:nvSpPr>
        <p:spPr bwMode="auto">
          <a:xfrm>
            <a:off x="685800" y="990600"/>
            <a:ext cx="8458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a:solidFill>
                  <a:schemeClr val="bg2"/>
                </a:solidFill>
                <a:latin typeface="Palatino" pitchFamily="18" charset="0"/>
                <a:cs typeface="Times New Roman" panose="02020603050405020304" pitchFamily="18" charset="0"/>
              </a:rPr>
              <a:t> </a:t>
            </a:r>
            <a:endParaRPr lang="en-US" altLang="en-US">
              <a:solidFill>
                <a:schemeClr val="bg2"/>
              </a:solidFill>
              <a:latin typeface="Arial" panose="020B0604020202020204" pitchFamily="34" charset="0"/>
              <a:cs typeface="Times New Roman" panose="02020603050405020304" pitchFamily="18" charset="0"/>
            </a:endParaRPr>
          </a:p>
          <a:p>
            <a:pPr>
              <a:lnSpc>
                <a:spcPct val="90000"/>
              </a:lnSpc>
              <a:spcBef>
                <a:spcPct val="55000"/>
              </a:spcBef>
              <a:spcAft>
                <a:spcPct val="45000"/>
              </a:spcAft>
              <a:buClrTx/>
            </a:pPr>
            <a:r>
              <a:rPr lang="en-US" altLang="en-US">
                <a:solidFill>
                  <a:schemeClr val="bg2"/>
                </a:solidFill>
                <a:latin typeface="Arial" panose="020B0604020202020204" pitchFamily="34" charset="0"/>
              </a:rPr>
              <a:t>Alleles for different traits sort independently</a:t>
            </a:r>
          </a:p>
          <a:p>
            <a:pPr>
              <a:lnSpc>
                <a:spcPct val="90000"/>
              </a:lnSpc>
              <a:spcBef>
                <a:spcPct val="55000"/>
              </a:spcBef>
              <a:spcAft>
                <a:spcPct val="45000"/>
              </a:spcAft>
              <a:buClrTx/>
            </a:pPr>
            <a:r>
              <a:rPr lang="en-US" altLang="en-US">
                <a:solidFill>
                  <a:schemeClr val="bg2"/>
                </a:solidFill>
                <a:latin typeface="Arial" panose="020B0604020202020204" pitchFamily="34" charset="0"/>
              </a:rPr>
              <a:t>Alleles for different traits are distributed to sex cells (&amp; offspring) independently of one another</a:t>
            </a:r>
          </a:p>
        </p:txBody>
      </p:sp>
      <p:sp>
        <p:nvSpPr>
          <p:cNvPr id="80900" name="Line 4"/>
          <p:cNvSpPr>
            <a:spLocks noChangeShapeType="1"/>
          </p:cNvSpPr>
          <p:nvPr/>
        </p:nvSpPr>
        <p:spPr bwMode="auto">
          <a:xfrm>
            <a:off x="271463" y="14478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descr="chromosome"/>
          <p:cNvPicPr>
            <a:picLocks noChangeAspect="1" noChangeArrowheads="1"/>
          </p:cNvPicPr>
          <p:nvPr/>
        </p:nvPicPr>
        <p:blipFill>
          <a:blip r:embed="rId3">
            <a:extLst>
              <a:ext uri="{28A0092B-C50C-407E-A947-70E740481C1C}">
                <a14:useLocalDpi xmlns:a14="http://schemas.microsoft.com/office/drawing/2010/main" val="0"/>
              </a:ext>
            </a:extLst>
          </a:blip>
          <a:srcRect r="68205" b="71014"/>
          <a:stretch>
            <a:fillRect/>
          </a:stretch>
        </p:blipFill>
        <p:spPr bwMode="auto">
          <a:xfrm>
            <a:off x="338138" y="1676400"/>
            <a:ext cx="2506662"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Rectangle 3"/>
          <p:cNvSpPr>
            <a:spLocks noChangeArrowheads="1"/>
          </p:cNvSpPr>
          <p:nvPr/>
        </p:nvSpPr>
        <p:spPr bwMode="auto">
          <a:xfrm>
            <a:off x="180975" y="260350"/>
            <a:ext cx="887730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3400">
                <a:solidFill>
                  <a:schemeClr val="bg2"/>
                </a:solidFill>
                <a:latin typeface="Comic Sans MS" panose="030F0702030302020204" pitchFamily="66" charset="0"/>
                <a:cs typeface="Times New Roman" panose="02020603050405020304" pitchFamily="18" charset="0"/>
              </a:rPr>
              <a:t>Mendel’s Law of Independent Assortment</a:t>
            </a:r>
          </a:p>
        </p:txBody>
      </p:sp>
      <p:sp>
        <p:nvSpPr>
          <p:cNvPr id="82948" name="Line 4"/>
          <p:cNvSpPr>
            <a:spLocks noChangeShapeType="1"/>
          </p:cNvSpPr>
          <p:nvPr/>
        </p:nvSpPr>
        <p:spPr bwMode="auto">
          <a:xfrm>
            <a:off x="338138" y="9906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2949" name="Rectangle 5"/>
          <p:cNvSpPr>
            <a:spLocks noChangeArrowheads="1"/>
          </p:cNvSpPr>
          <p:nvPr/>
        </p:nvSpPr>
        <p:spPr bwMode="auto">
          <a:xfrm>
            <a:off x="3487738" y="1603375"/>
            <a:ext cx="4919662"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dirty="0">
                <a:solidFill>
                  <a:schemeClr val="bg2"/>
                </a:solidFill>
                <a:latin typeface="Arial" panose="020B0604020202020204" pitchFamily="34" charset="0"/>
              </a:rPr>
              <a:t>Notice that we are dealing with two different traits: (1) seed size [ tall (AA, Aa) or short (aa) ] &amp; (2) pod color [ green (GG, Gg) or yellow (gg) ], inherited on different chromosomes </a:t>
            </a:r>
          </a:p>
        </p:txBody>
      </p:sp>
      <p:sp>
        <p:nvSpPr>
          <p:cNvPr id="82950" name="Line 6"/>
          <p:cNvSpPr>
            <a:spLocks noChangeShapeType="1"/>
          </p:cNvSpPr>
          <p:nvPr/>
        </p:nvSpPr>
        <p:spPr bwMode="auto">
          <a:xfrm>
            <a:off x="1016000" y="4038600"/>
            <a:ext cx="0" cy="106680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51" name="Line 7"/>
          <p:cNvSpPr>
            <a:spLocks noChangeShapeType="1"/>
          </p:cNvSpPr>
          <p:nvPr/>
        </p:nvSpPr>
        <p:spPr bwMode="auto">
          <a:xfrm>
            <a:off x="2303463" y="4038600"/>
            <a:ext cx="0" cy="99060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2952" name="Rectangle 8"/>
          <p:cNvSpPr>
            <a:spLocks noChangeArrowheads="1"/>
          </p:cNvSpPr>
          <p:nvPr/>
        </p:nvSpPr>
        <p:spPr bwMode="auto">
          <a:xfrm>
            <a:off x="0" y="5359400"/>
            <a:ext cx="2060575"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80000"/>
              </a:lnSpc>
              <a:spcBef>
                <a:spcPct val="0"/>
              </a:spcBef>
              <a:buClrTx/>
              <a:buFontTx/>
              <a:buNone/>
            </a:pPr>
            <a:r>
              <a:rPr lang="en-US" altLang="en-US" sz="2000">
                <a:solidFill>
                  <a:schemeClr val="bg2"/>
                </a:solidFill>
                <a:latin typeface="Arial" panose="020B0604020202020204" pitchFamily="34" charset="0"/>
              </a:rPr>
              <a:t>Gene for seed size on chromosome 1</a:t>
            </a:r>
            <a:r>
              <a:rPr lang="en-US" altLang="en-US" sz="2400">
                <a:solidFill>
                  <a:schemeClr val="bg2"/>
                </a:solidFill>
                <a:latin typeface="Arial" panose="020B0604020202020204" pitchFamily="34" charset="0"/>
              </a:rPr>
              <a:t> </a:t>
            </a:r>
          </a:p>
        </p:txBody>
      </p:sp>
      <p:sp>
        <p:nvSpPr>
          <p:cNvPr id="82953" name="Rectangle 9"/>
          <p:cNvSpPr>
            <a:spLocks noChangeArrowheads="1"/>
          </p:cNvSpPr>
          <p:nvPr/>
        </p:nvSpPr>
        <p:spPr bwMode="auto">
          <a:xfrm>
            <a:off x="2032000" y="5375275"/>
            <a:ext cx="2206625"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80000"/>
              </a:lnSpc>
              <a:spcBef>
                <a:spcPct val="0"/>
              </a:spcBef>
              <a:buClrTx/>
              <a:buFontTx/>
              <a:buNone/>
            </a:pPr>
            <a:r>
              <a:rPr lang="en-US" altLang="en-US" sz="2000">
                <a:solidFill>
                  <a:schemeClr val="bg2"/>
                </a:solidFill>
                <a:latin typeface="Arial" panose="020B0604020202020204" pitchFamily="34" charset="0"/>
              </a:rPr>
              <a:t>Gene for pod color on chromosome 2</a:t>
            </a:r>
            <a:r>
              <a:rPr lang="en-US" altLang="en-US" sz="2400">
                <a:solidFill>
                  <a:schemeClr val="bg2"/>
                </a:solidFill>
                <a:latin typeface="Arial" panose="020B0604020202020204" pitchFamily="34" charset="0"/>
              </a:rPr>
              <a:t>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descr="chromosome"/>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r="68210" b="70990"/>
          <a:stretch>
            <a:fillRect/>
          </a:stretch>
        </p:blipFill>
        <p:spPr bwMode="auto">
          <a:xfrm>
            <a:off x="3114675" y="2216150"/>
            <a:ext cx="2506663" cy="2363788"/>
          </a:xfrm>
          <a:prstGeom prst="rect">
            <a:avLst/>
          </a:prstGeom>
          <a:noFill/>
          <a:ln w="2857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84995" name="Rectangle 3"/>
          <p:cNvSpPr>
            <a:spLocks noChangeArrowheads="1"/>
          </p:cNvSpPr>
          <p:nvPr/>
        </p:nvSpPr>
        <p:spPr bwMode="auto">
          <a:xfrm>
            <a:off x="214313" y="260350"/>
            <a:ext cx="887730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3400">
                <a:solidFill>
                  <a:schemeClr val="bg2"/>
                </a:solidFill>
                <a:latin typeface="Comic Sans MS" panose="030F0702030302020204" pitchFamily="66" charset="0"/>
                <a:cs typeface="Times New Roman" panose="02020603050405020304" pitchFamily="18" charset="0"/>
              </a:rPr>
              <a:t>Mendel’s Law of Independent Assortment</a:t>
            </a:r>
          </a:p>
        </p:txBody>
      </p:sp>
      <p:sp>
        <p:nvSpPr>
          <p:cNvPr id="84996" name="Line 4"/>
          <p:cNvSpPr>
            <a:spLocks noChangeShapeType="1"/>
          </p:cNvSpPr>
          <p:nvPr/>
        </p:nvSpPr>
        <p:spPr bwMode="auto">
          <a:xfrm>
            <a:off x="338138" y="990600"/>
            <a:ext cx="8534400" cy="0"/>
          </a:xfrm>
          <a:prstGeom prst="line">
            <a:avLst/>
          </a:prstGeom>
          <a:noFill/>
          <a:ln w="28575" cmpd="dbl">
            <a:solidFill>
              <a:schemeClr val="bg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4997" name="Line 5"/>
          <p:cNvSpPr>
            <a:spLocks noChangeShapeType="1"/>
          </p:cNvSpPr>
          <p:nvPr/>
        </p:nvSpPr>
        <p:spPr bwMode="auto">
          <a:xfrm>
            <a:off x="3792538" y="4419600"/>
            <a:ext cx="0" cy="106680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998" name="Line 6"/>
          <p:cNvSpPr>
            <a:spLocks noChangeShapeType="1"/>
          </p:cNvSpPr>
          <p:nvPr/>
        </p:nvSpPr>
        <p:spPr bwMode="auto">
          <a:xfrm>
            <a:off x="5080000" y="4419600"/>
            <a:ext cx="0" cy="99060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4999" name="Rectangle 7"/>
          <p:cNvSpPr>
            <a:spLocks noChangeArrowheads="1"/>
          </p:cNvSpPr>
          <p:nvPr/>
        </p:nvSpPr>
        <p:spPr bwMode="auto">
          <a:xfrm>
            <a:off x="2401888" y="5483225"/>
            <a:ext cx="2271712"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80000"/>
              </a:lnSpc>
              <a:spcBef>
                <a:spcPct val="0"/>
              </a:spcBef>
              <a:buClrTx/>
              <a:buFontTx/>
              <a:buNone/>
            </a:pPr>
            <a:r>
              <a:rPr lang="en-US" altLang="en-US" sz="2000">
                <a:solidFill>
                  <a:schemeClr val="bg2"/>
                </a:solidFill>
                <a:latin typeface="Arial" panose="020B0604020202020204" pitchFamily="34" charset="0"/>
              </a:rPr>
              <a:t>Gene for seed size on chromosome 1</a:t>
            </a:r>
            <a:r>
              <a:rPr lang="en-US" altLang="en-US" sz="2400">
                <a:solidFill>
                  <a:schemeClr val="bg2"/>
                </a:solidFill>
                <a:latin typeface="Arial" panose="020B0604020202020204" pitchFamily="34" charset="0"/>
              </a:rPr>
              <a:t> </a:t>
            </a:r>
          </a:p>
        </p:txBody>
      </p:sp>
      <p:sp>
        <p:nvSpPr>
          <p:cNvPr id="85000" name="Rectangle 8"/>
          <p:cNvSpPr>
            <a:spLocks noChangeArrowheads="1"/>
          </p:cNvSpPr>
          <p:nvPr/>
        </p:nvSpPr>
        <p:spPr bwMode="auto">
          <a:xfrm>
            <a:off x="4810125" y="5484813"/>
            <a:ext cx="2214563" cy="87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80000"/>
              </a:lnSpc>
              <a:spcBef>
                <a:spcPct val="0"/>
              </a:spcBef>
              <a:buClrTx/>
              <a:buFontTx/>
              <a:buNone/>
            </a:pPr>
            <a:r>
              <a:rPr lang="en-US" altLang="en-US" sz="2000">
                <a:solidFill>
                  <a:schemeClr val="bg2"/>
                </a:solidFill>
                <a:latin typeface="Arial" panose="020B0604020202020204" pitchFamily="34" charset="0"/>
              </a:rPr>
              <a:t>Gene for pod color on chromosome 2</a:t>
            </a:r>
            <a:r>
              <a:rPr lang="en-US" altLang="en-US" sz="2400">
                <a:solidFill>
                  <a:schemeClr val="bg2"/>
                </a:solidFill>
                <a:latin typeface="Arial" panose="020B0604020202020204" pitchFamily="34" charset="0"/>
              </a:rPr>
              <a:t> </a:t>
            </a:r>
          </a:p>
        </p:txBody>
      </p:sp>
      <p:sp>
        <p:nvSpPr>
          <p:cNvPr id="85001" name="Line 9"/>
          <p:cNvSpPr>
            <a:spLocks noChangeShapeType="1"/>
          </p:cNvSpPr>
          <p:nvPr/>
        </p:nvSpPr>
        <p:spPr bwMode="auto">
          <a:xfrm flipH="1">
            <a:off x="1963738" y="2635250"/>
            <a:ext cx="949325"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02" name="Line 10"/>
          <p:cNvSpPr>
            <a:spLocks noChangeShapeType="1"/>
          </p:cNvSpPr>
          <p:nvPr/>
        </p:nvSpPr>
        <p:spPr bwMode="auto">
          <a:xfrm flipV="1">
            <a:off x="4132263" y="1416050"/>
            <a:ext cx="0" cy="68580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03" name="Line 11"/>
          <p:cNvSpPr>
            <a:spLocks noChangeShapeType="1"/>
          </p:cNvSpPr>
          <p:nvPr/>
        </p:nvSpPr>
        <p:spPr bwMode="auto">
          <a:xfrm flipV="1">
            <a:off x="4741863" y="1416050"/>
            <a:ext cx="0" cy="68580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04" name="Line 12"/>
          <p:cNvSpPr>
            <a:spLocks noChangeShapeType="1"/>
          </p:cNvSpPr>
          <p:nvPr/>
        </p:nvSpPr>
        <p:spPr bwMode="auto">
          <a:xfrm>
            <a:off x="5757863" y="2635250"/>
            <a:ext cx="947737" cy="0"/>
          </a:xfrm>
          <a:prstGeom prst="line">
            <a:avLst/>
          </a:prstGeom>
          <a:noFill/>
          <a:ln w="28575">
            <a:solidFill>
              <a:schemeClr val="bg2"/>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5005" name="Text Box 13"/>
          <p:cNvSpPr txBox="1">
            <a:spLocks noChangeArrowheads="1"/>
          </p:cNvSpPr>
          <p:nvPr/>
        </p:nvSpPr>
        <p:spPr bwMode="auto">
          <a:xfrm>
            <a:off x="1490663" y="1720850"/>
            <a:ext cx="33813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bg2"/>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400">
                <a:solidFill>
                  <a:schemeClr val="bg2"/>
                </a:solidFill>
                <a:latin typeface="Arial" panose="020B0604020202020204" pitchFamily="34" charset="0"/>
              </a:rPr>
              <a:t/>
            </a:r>
            <a:br>
              <a:rPr lang="en-US" altLang="en-US" sz="2400">
                <a:solidFill>
                  <a:schemeClr val="bg2"/>
                </a:solidFill>
                <a:latin typeface="Arial" panose="020B0604020202020204" pitchFamily="34" charset="0"/>
              </a:rPr>
            </a:br>
            <a:r>
              <a:rPr lang="en-US" altLang="en-US" sz="2400">
                <a:solidFill>
                  <a:schemeClr val="bg2"/>
                </a:solidFill>
                <a:latin typeface="Arial" panose="020B0604020202020204" pitchFamily="34" charset="0"/>
              </a:rPr>
              <a:t>A</a:t>
            </a:r>
          </a:p>
        </p:txBody>
      </p:sp>
      <p:sp>
        <p:nvSpPr>
          <p:cNvPr id="85006" name="Text Box 14"/>
          <p:cNvSpPr txBox="1">
            <a:spLocks noChangeArrowheads="1"/>
          </p:cNvSpPr>
          <p:nvPr/>
        </p:nvSpPr>
        <p:spPr bwMode="auto">
          <a:xfrm>
            <a:off x="6772275" y="1692275"/>
            <a:ext cx="3397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bg2"/>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400">
                <a:solidFill>
                  <a:schemeClr val="bg2"/>
                </a:solidFill>
                <a:latin typeface="Arial" panose="020B0604020202020204" pitchFamily="34" charset="0"/>
              </a:rPr>
              <a:t/>
            </a:r>
            <a:br>
              <a:rPr lang="en-US" altLang="en-US" sz="2400">
                <a:solidFill>
                  <a:schemeClr val="bg2"/>
                </a:solidFill>
                <a:latin typeface="Arial" panose="020B0604020202020204" pitchFamily="34" charset="0"/>
              </a:rPr>
            </a:br>
            <a:r>
              <a:rPr lang="en-US" altLang="en-US" sz="2400">
                <a:solidFill>
                  <a:schemeClr val="bg2"/>
                </a:solidFill>
                <a:latin typeface="Arial" panose="020B0604020202020204" pitchFamily="34" charset="0"/>
              </a:rPr>
              <a:t>g</a:t>
            </a:r>
          </a:p>
        </p:txBody>
      </p:sp>
      <p:sp>
        <p:nvSpPr>
          <p:cNvPr id="85007" name="Text Box 15"/>
          <p:cNvSpPr txBox="1">
            <a:spLocks noChangeArrowheads="1"/>
          </p:cNvSpPr>
          <p:nvPr/>
        </p:nvSpPr>
        <p:spPr bwMode="auto">
          <a:xfrm>
            <a:off x="4605338" y="228600"/>
            <a:ext cx="33813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400">
                <a:solidFill>
                  <a:schemeClr val="bg2"/>
                </a:solidFill>
                <a:latin typeface="Arial" panose="020B0604020202020204" pitchFamily="34" charset="0"/>
              </a:rPr>
              <a:t/>
            </a:r>
            <a:br>
              <a:rPr lang="en-US" altLang="en-US" sz="2400">
                <a:solidFill>
                  <a:schemeClr val="bg2"/>
                </a:solidFill>
                <a:latin typeface="Arial" panose="020B0604020202020204" pitchFamily="34" charset="0"/>
              </a:rPr>
            </a:br>
            <a:r>
              <a:rPr lang="en-US" altLang="en-US" sz="2400">
                <a:solidFill>
                  <a:schemeClr val="bg2"/>
                </a:solidFill>
                <a:latin typeface="Arial" panose="020B0604020202020204" pitchFamily="34" charset="0"/>
              </a:rPr>
              <a:t>G</a:t>
            </a:r>
          </a:p>
        </p:txBody>
      </p:sp>
      <p:sp>
        <p:nvSpPr>
          <p:cNvPr id="85008" name="Text Box 16"/>
          <p:cNvSpPr txBox="1">
            <a:spLocks noChangeArrowheads="1"/>
          </p:cNvSpPr>
          <p:nvPr/>
        </p:nvSpPr>
        <p:spPr bwMode="auto">
          <a:xfrm>
            <a:off x="3929063" y="273050"/>
            <a:ext cx="338137"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400">
                <a:solidFill>
                  <a:schemeClr val="bg2"/>
                </a:solidFill>
                <a:latin typeface="Arial" panose="020B0604020202020204" pitchFamily="34" charset="0"/>
              </a:rPr>
              <a:t/>
            </a:r>
            <a:br>
              <a:rPr lang="en-US" altLang="en-US" sz="2400">
                <a:solidFill>
                  <a:schemeClr val="bg2"/>
                </a:solidFill>
                <a:latin typeface="Arial" panose="020B0604020202020204" pitchFamily="34" charset="0"/>
              </a:rPr>
            </a:br>
            <a:r>
              <a:rPr lang="en-US" altLang="en-US" sz="2400">
                <a:solidFill>
                  <a:schemeClr val="bg2"/>
                </a:solidFill>
                <a:latin typeface="Arial" panose="020B0604020202020204" pitchFamily="34" charset="0"/>
              </a:rPr>
              <a:t>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p:cNvSpPr>
            <a:spLocks noChangeArrowheads="1"/>
          </p:cNvSpPr>
          <p:nvPr/>
        </p:nvSpPr>
        <p:spPr bwMode="auto">
          <a:xfrm>
            <a:off x="-7938" y="1604963"/>
            <a:ext cx="979488"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endParaRPr lang="en-US" altLang="en-US" sz="2800">
              <a:latin typeface="Arial" panose="020B0604020202020204" pitchFamily="34" charset="0"/>
            </a:endParaRPr>
          </a:p>
        </p:txBody>
      </p:sp>
      <p:sp>
        <p:nvSpPr>
          <p:cNvPr id="87043" name="Rectangle 5"/>
          <p:cNvSpPr>
            <a:spLocks noChangeArrowheads="1"/>
          </p:cNvSpPr>
          <p:nvPr/>
        </p:nvSpPr>
        <p:spPr bwMode="auto">
          <a:xfrm>
            <a:off x="971550" y="1604963"/>
            <a:ext cx="1458913"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latin typeface="Arial" panose="020B0604020202020204" pitchFamily="34" charset="0"/>
              </a:rPr>
              <a:t>GA</a:t>
            </a:r>
          </a:p>
        </p:txBody>
      </p:sp>
      <p:sp>
        <p:nvSpPr>
          <p:cNvPr id="87044" name="Rectangle 6"/>
          <p:cNvSpPr>
            <a:spLocks noChangeArrowheads="1"/>
          </p:cNvSpPr>
          <p:nvPr/>
        </p:nvSpPr>
        <p:spPr bwMode="auto">
          <a:xfrm>
            <a:off x="2430463" y="1604963"/>
            <a:ext cx="1227137"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latin typeface="Arial" panose="020B0604020202020204" pitchFamily="34" charset="0"/>
              </a:rPr>
              <a:t>gA</a:t>
            </a:r>
          </a:p>
        </p:txBody>
      </p:sp>
      <p:sp>
        <p:nvSpPr>
          <p:cNvPr id="87045" name="Rectangle 7"/>
          <p:cNvSpPr>
            <a:spLocks noChangeArrowheads="1"/>
          </p:cNvSpPr>
          <p:nvPr/>
        </p:nvSpPr>
        <p:spPr bwMode="auto">
          <a:xfrm>
            <a:off x="3657600" y="1604963"/>
            <a:ext cx="1211263"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latin typeface="Arial" panose="020B0604020202020204" pitchFamily="34" charset="0"/>
              </a:rPr>
              <a:t>Ga</a:t>
            </a:r>
          </a:p>
        </p:txBody>
      </p:sp>
      <p:sp>
        <p:nvSpPr>
          <p:cNvPr id="87046" name="Rectangle 8"/>
          <p:cNvSpPr>
            <a:spLocks noChangeArrowheads="1"/>
          </p:cNvSpPr>
          <p:nvPr/>
        </p:nvSpPr>
        <p:spPr bwMode="auto">
          <a:xfrm>
            <a:off x="4868863" y="1604963"/>
            <a:ext cx="12192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latin typeface="Arial" panose="020B0604020202020204" pitchFamily="34" charset="0"/>
              </a:rPr>
              <a:t>ga</a:t>
            </a:r>
          </a:p>
        </p:txBody>
      </p:sp>
      <p:sp>
        <p:nvSpPr>
          <p:cNvPr id="87047" name="Rectangle 9"/>
          <p:cNvSpPr>
            <a:spLocks noChangeArrowheads="1"/>
          </p:cNvSpPr>
          <p:nvPr/>
        </p:nvSpPr>
        <p:spPr bwMode="auto">
          <a:xfrm>
            <a:off x="-7938" y="2476500"/>
            <a:ext cx="979488"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latin typeface="Arial" panose="020B0604020202020204" pitchFamily="34" charset="0"/>
              </a:rPr>
              <a:t>GA</a:t>
            </a:r>
          </a:p>
        </p:txBody>
      </p:sp>
      <p:sp>
        <p:nvSpPr>
          <p:cNvPr id="87048" name="Rectangle 10"/>
          <p:cNvSpPr>
            <a:spLocks noChangeArrowheads="1"/>
          </p:cNvSpPr>
          <p:nvPr/>
        </p:nvSpPr>
        <p:spPr bwMode="auto">
          <a:xfrm>
            <a:off x="971550" y="2476500"/>
            <a:ext cx="1458913"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a:t>
            </a:r>
          </a:p>
          <a:p>
            <a:pPr>
              <a:buFontTx/>
              <a:buNone/>
            </a:pPr>
            <a:r>
              <a:rPr lang="en-US" altLang="en-US" sz="2800">
                <a:solidFill>
                  <a:srgbClr val="33CC33"/>
                </a:solidFill>
                <a:latin typeface="Arial" panose="020B0604020202020204" pitchFamily="34" charset="0"/>
              </a:rPr>
              <a:t>Tall</a:t>
            </a:r>
          </a:p>
        </p:txBody>
      </p:sp>
      <p:sp>
        <p:nvSpPr>
          <p:cNvPr id="87049" name="Rectangle 11"/>
          <p:cNvSpPr>
            <a:spLocks noChangeArrowheads="1"/>
          </p:cNvSpPr>
          <p:nvPr/>
        </p:nvSpPr>
        <p:spPr bwMode="auto">
          <a:xfrm>
            <a:off x="2430463" y="2476500"/>
            <a:ext cx="1227137"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a:t>
            </a:r>
          </a:p>
          <a:p>
            <a:pPr>
              <a:buFontTx/>
              <a:buNone/>
            </a:pPr>
            <a:r>
              <a:rPr lang="en-US" altLang="en-US" sz="2800">
                <a:solidFill>
                  <a:srgbClr val="33CC33"/>
                </a:solidFill>
                <a:latin typeface="Arial" panose="020B0604020202020204" pitchFamily="34" charset="0"/>
              </a:rPr>
              <a:t>Tall</a:t>
            </a:r>
          </a:p>
        </p:txBody>
      </p:sp>
      <p:sp>
        <p:nvSpPr>
          <p:cNvPr id="87050" name="Rectangle 12"/>
          <p:cNvSpPr>
            <a:spLocks noChangeArrowheads="1"/>
          </p:cNvSpPr>
          <p:nvPr/>
        </p:nvSpPr>
        <p:spPr bwMode="auto">
          <a:xfrm>
            <a:off x="3657600" y="2476500"/>
            <a:ext cx="1211263"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a:t>
            </a:r>
          </a:p>
          <a:p>
            <a:pPr>
              <a:buFontTx/>
              <a:buNone/>
            </a:pPr>
            <a:r>
              <a:rPr lang="en-US" altLang="en-US" sz="2800">
                <a:solidFill>
                  <a:srgbClr val="33CC33"/>
                </a:solidFill>
                <a:latin typeface="Arial" panose="020B0604020202020204" pitchFamily="34" charset="0"/>
              </a:rPr>
              <a:t>Tall</a:t>
            </a:r>
          </a:p>
        </p:txBody>
      </p:sp>
      <p:sp>
        <p:nvSpPr>
          <p:cNvPr id="87051" name="Rectangle 13"/>
          <p:cNvSpPr>
            <a:spLocks noChangeArrowheads="1"/>
          </p:cNvSpPr>
          <p:nvPr/>
        </p:nvSpPr>
        <p:spPr bwMode="auto">
          <a:xfrm>
            <a:off x="4868863" y="2476500"/>
            <a:ext cx="1219200"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a:t>
            </a:r>
          </a:p>
          <a:p>
            <a:pPr>
              <a:buFontTx/>
              <a:buNone/>
            </a:pPr>
            <a:r>
              <a:rPr lang="en-US" altLang="en-US" sz="2800">
                <a:solidFill>
                  <a:srgbClr val="33CC33"/>
                </a:solidFill>
                <a:latin typeface="Arial" panose="020B0604020202020204" pitchFamily="34" charset="0"/>
              </a:rPr>
              <a:t>Tall</a:t>
            </a:r>
          </a:p>
        </p:txBody>
      </p:sp>
      <p:sp>
        <p:nvSpPr>
          <p:cNvPr id="87052" name="Rectangle 14"/>
          <p:cNvSpPr>
            <a:spLocks noChangeArrowheads="1"/>
          </p:cNvSpPr>
          <p:nvPr/>
        </p:nvSpPr>
        <p:spPr bwMode="auto">
          <a:xfrm>
            <a:off x="-7938" y="3506788"/>
            <a:ext cx="979488"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latin typeface="Arial" panose="020B0604020202020204" pitchFamily="34" charset="0"/>
              </a:rPr>
              <a:t>gA</a:t>
            </a:r>
          </a:p>
        </p:txBody>
      </p:sp>
      <p:sp>
        <p:nvSpPr>
          <p:cNvPr id="87053" name="Rectangle 15"/>
          <p:cNvSpPr>
            <a:spLocks noChangeArrowheads="1"/>
          </p:cNvSpPr>
          <p:nvPr/>
        </p:nvSpPr>
        <p:spPr bwMode="auto">
          <a:xfrm>
            <a:off x="971550" y="3506788"/>
            <a:ext cx="1458913"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a:t>
            </a:r>
          </a:p>
          <a:p>
            <a:pPr>
              <a:buFontTx/>
              <a:buNone/>
            </a:pPr>
            <a:r>
              <a:rPr lang="en-US" altLang="en-US" sz="2800">
                <a:solidFill>
                  <a:srgbClr val="33CC33"/>
                </a:solidFill>
                <a:latin typeface="Arial" panose="020B0604020202020204" pitchFamily="34" charset="0"/>
              </a:rPr>
              <a:t>Tall</a:t>
            </a:r>
          </a:p>
        </p:txBody>
      </p:sp>
      <p:sp>
        <p:nvSpPr>
          <p:cNvPr id="87054" name="Rectangle 16"/>
          <p:cNvSpPr>
            <a:spLocks noChangeArrowheads="1"/>
          </p:cNvSpPr>
          <p:nvPr/>
        </p:nvSpPr>
        <p:spPr bwMode="auto">
          <a:xfrm>
            <a:off x="2430463" y="3506788"/>
            <a:ext cx="1227137"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chemeClr val="tx2"/>
                </a:solidFill>
                <a:latin typeface="Arial" panose="020B0604020202020204" pitchFamily="34" charset="0"/>
              </a:rPr>
              <a:t>ggAA</a:t>
            </a:r>
          </a:p>
          <a:p>
            <a:pPr>
              <a:buFontTx/>
              <a:buNone/>
            </a:pPr>
            <a:r>
              <a:rPr lang="en-US" altLang="en-US" sz="2800">
                <a:solidFill>
                  <a:schemeClr val="tx2"/>
                </a:solidFill>
                <a:latin typeface="Arial" panose="020B0604020202020204" pitchFamily="34" charset="0"/>
              </a:rPr>
              <a:t>Tall</a:t>
            </a:r>
          </a:p>
        </p:txBody>
      </p:sp>
      <p:sp>
        <p:nvSpPr>
          <p:cNvPr id="87055" name="Rectangle 17"/>
          <p:cNvSpPr>
            <a:spLocks noChangeArrowheads="1"/>
          </p:cNvSpPr>
          <p:nvPr/>
        </p:nvSpPr>
        <p:spPr bwMode="auto">
          <a:xfrm>
            <a:off x="3657600" y="3506788"/>
            <a:ext cx="1211263"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 Tall</a:t>
            </a:r>
          </a:p>
        </p:txBody>
      </p:sp>
      <p:sp>
        <p:nvSpPr>
          <p:cNvPr id="87056" name="Rectangle 18"/>
          <p:cNvSpPr>
            <a:spLocks noChangeArrowheads="1"/>
          </p:cNvSpPr>
          <p:nvPr/>
        </p:nvSpPr>
        <p:spPr bwMode="auto">
          <a:xfrm>
            <a:off x="4868863" y="3506788"/>
            <a:ext cx="1219200"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chemeClr val="tx2"/>
                </a:solidFill>
                <a:latin typeface="Arial" panose="020B0604020202020204" pitchFamily="34" charset="0"/>
              </a:rPr>
              <a:t>ggAa</a:t>
            </a:r>
          </a:p>
          <a:p>
            <a:pPr>
              <a:buFontTx/>
              <a:buNone/>
            </a:pPr>
            <a:r>
              <a:rPr lang="en-US" altLang="en-US" sz="2800">
                <a:solidFill>
                  <a:schemeClr val="tx2"/>
                </a:solidFill>
                <a:latin typeface="Arial" panose="020B0604020202020204" pitchFamily="34" charset="0"/>
              </a:rPr>
              <a:t>Tall</a:t>
            </a:r>
          </a:p>
        </p:txBody>
      </p:sp>
      <p:sp>
        <p:nvSpPr>
          <p:cNvPr id="87057" name="Rectangle 19"/>
          <p:cNvSpPr>
            <a:spLocks noChangeArrowheads="1"/>
          </p:cNvSpPr>
          <p:nvPr/>
        </p:nvSpPr>
        <p:spPr bwMode="auto">
          <a:xfrm>
            <a:off x="-7938" y="4537075"/>
            <a:ext cx="979488"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latin typeface="Arial" panose="020B0604020202020204" pitchFamily="34" charset="0"/>
              </a:rPr>
              <a:t>Ga</a:t>
            </a:r>
          </a:p>
        </p:txBody>
      </p:sp>
      <p:sp>
        <p:nvSpPr>
          <p:cNvPr id="87058" name="Rectangle 20"/>
          <p:cNvSpPr>
            <a:spLocks noChangeArrowheads="1"/>
          </p:cNvSpPr>
          <p:nvPr/>
        </p:nvSpPr>
        <p:spPr bwMode="auto">
          <a:xfrm>
            <a:off x="971550" y="4537075"/>
            <a:ext cx="1458913"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 Tall</a:t>
            </a:r>
          </a:p>
        </p:txBody>
      </p:sp>
      <p:sp>
        <p:nvSpPr>
          <p:cNvPr id="87059" name="Rectangle 21"/>
          <p:cNvSpPr>
            <a:spLocks noChangeArrowheads="1"/>
          </p:cNvSpPr>
          <p:nvPr/>
        </p:nvSpPr>
        <p:spPr bwMode="auto">
          <a:xfrm>
            <a:off x="2430463" y="4537075"/>
            <a:ext cx="1227137"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 Tall</a:t>
            </a:r>
          </a:p>
        </p:txBody>
      </p:sp>
      <p:sp>
        <p:nvSpPr>
          <p:cNvPr id="87060" name="Rectangle 22"/>
          <p:cNvSpPr>
            <a:spLocks noChangeArrowheads="1"/>
          </p:cNvSpPr>
          <p:nvPr/>
        </p:nvSpPr>
        <p:spPr bwMode="auto">
          <a:xfrm>
            <a:off x="3657600" y="4537075"/>
            <a:ext cx="1211263"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a:t>
            </a:r>
          </a:p>
          <a:p>
            <a:pPr>
              <a:buFontTx/>
              <a:buNone/>
            </a:pPr>
            <a:r>
              <a:rPr lang="en-US" altLang="en-US" sz="2800">
                <a:solidFill>
                  <a:srgbClr val="33CC33"/>
                </a:solidFill>
                <a:latin typeface="Arial" panose="020B0604020202020204" pitchFamily="34" charset="0"/>
              </a:rPr>
              <a:t>Short</a:t>
            </a:r>
          </a:p>
        </p:txBody>
      </p:sp>
      <p:sp>
        <p:nvSpPr>
          <p:cNvPr id="87061" name="Rectangle 23"/>
          <p:cNvSpPr>
            <a:spLocks noChangeArrowheads="1"/>
          </p:cNvSpPr>
          <p:nvPr/>
        </p:nvSpPr>
        <p:spPr bwMode="auto">
          <a:xfrm>
            <a:off x="4868863" y="4537075"/>
            <a:ext cx="1219200" cy="103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a:t>
            </a:r>
          </a:p>
          <a:p>
            <a:pPr>
              <a:buFontTx/>
              <a:buNone/>
            </a:pPr>
            <a:r>
              <a:rPr lang="en-US" altLang="en-US" sz="2800">
                <a:solidFill>
                  <a:srgbClr val="33CC33"/>
                </a:solidFill>
                <a:latin typeface="Arial" panose="020B0604020202020204" pitchFamily="34" charset="0"/>
              </a:rPr>
              <a:t>Short</a:t>
            </a:r>
          </a:p>
        </p:txBody>
      </p:sp>
      <p:sp>
        <p:nvSpPr>
          <p:cNvPr id="87062" name="Rectangle 24"/>
          <p:cNvSpPr>
            <a:spLocks noChangeArrowheads="1"/>
          </p:cNvSpPr>
          <p:nvPr/>
        </p:nvSpPr>
        <p:spPr bwMode="auto">
          <a:xfrm>
            <a:off x="-7938" y="5567363"/>
            <a:ext cx="979488"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latin typeface="Arial" panose="020B0604020202020204" pitchFamily="34" charset="0"/>
              </a:rPr>
              <a:t>ga</a:t>
            </a:r>
          </a:p>
        </p:txBody>
      </p:sp>
      <p:sp>
        <p:nvSpPr>
          <p:cNvPr id="87063" name="Rectangle 25"/>
          <p:cNvSpPr>
            <a:spLocks noChangeArrowheads="1"/>
          </p:cNvSpPr>
          <p:nvPr/>
        </p:nvSpPr>
        <p:spPr bwMode="auto">
          <a:xfrm>
            <a:off x="971550" y="5567363"/>
            <a:ext cx="1458913"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a:t>
            </a:r>
          </a:p>
          <a:p>
            <a:pPr>
              <a:buFontTx/>
              <a:buNone/>
            </a:pPr>
            <a:r>
              <a:rPr lang="en-US" altLang="en-US" sz="2800">
                <a:solidFill>
                  <a:srgbClr val="33CC33"/>
                </a:solidFill>
                <a:latin typeface="Arial" panose="020B0604020202020204" pitchFamily="34" charset="0"/>
              </a:rPr>
              <a:t> Tall</a:t>
            </a:r>
          </a:p>
        </p:txBody>
      </p:sp>
      <p:sp>
        <p:nvSpPr>
          <p:cNvPr id="87064" name="Rectangle 26"/>
          <p:cNvSpPr>
            <a:spLocks noChangeArrowheads="1"/>
          </p:cNvSpPr>
          <p:nvPr/>
        </p:nvSpPr>
        <p:spPr bwMode="auto">
          <a:xfrm>
            <a:off x="2430463" y="5567363"/>
            <a:ext cx="1227137"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chemeClr val="tx2"/>
                </a:solidFill>
                <a:latin typeface="Arial" panose="020B0604020202020204" pitchFamily="34" charset="0"/>
              </a:rPr>
              <a:t>ggAa</a:t>
            </a:r>
          </a:p>
          <a:p>
            <a:pPr>
              <a:buFontTx/>
              <a:buNone/>
            </a:pPr>
            <a:r>
              <a:rPr lang="en-US" altLang="en-US" sz="2800">
                <a:solidFill>
                  <a:schemeClr val="tx2"/>
                </a:solidFill>
                <a:latin typeface="Arial" panose="020B0604020202020204" pitchFamily="34" charset="0"/>
              </a:rPr>
              <a:t>Tall</a:t>
            </a:r>
          </a:p>
        </p:txBody>
      </p:sp>
      <p:sp>
        <p:nvSpPr>
          <p:cNvPr id="87065" name="Rectangle 27"/>
          <p:cNvSpPr>
            <a:spLocks noChangeArrowheads="1"/>
          </p:cNvSpPr>
          <p:nvPr/>
        </p:nvSpPr>
        <p:spPr bwMode="auto">
          <a:xfrm>
            <a:off x="3657600" y="5567363"/>
            <a:ext cx="1211263"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rgbClr val="33CC33"/>
                </a:solidFill>
                <a:latin typeface="Arial" panose="020B0604020202020204" pitchFamily="34" charset="0"/>
              </a:rPr>
              <a:t>Ggaa</a:t>
            </a:r>
          </a:p>
          <a:p>
            <a:pPr>
              <a:buFontTx/>
              <a:buNone/>
            </a:pPr>
            <a:r>
              <a:rPr lang="en-US" altLang="en-US" sz="2800">
                <a:solidFill>
                  <a:srgbClr val="33CC33"/>
                </a:solidFill>
                <a:latin typeface="Arial" panose="020B0604020202020204" pitchFamily="34" charset="0"/>
              </a:rPr>
              <a:t>Short</a:t>
            </a:r>
          </a:p>
        </p:txBody>
      </p:sp>
      <p:sp>
        <p:nvSpPr>
          <p:cNvPr id="87066" name="Rectangle 28"/>
          <p:cNvSpPr>
            <a:spLocks noChangeArrowheads="1"/>
          </p:cNvSpPr>
          <p:nvPr/>
        </p:nvSpPr>
        <p:spPr bwMode="auto">
          <a:xfrm>
            <a:off x="4868863" y="5567363"/>
            <a:ext cx="1219200"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r>
              <a:rPr lang="en-US" altLang="en-US" sz="2800">
                <a:solidFill>
                  <a:schemeClr val="tx2"/>
                </a:solidFill>
                <a:latin typeface="Arial" panose="020B0604020202020204" pitchFamily="34" charset="0"/>
              </a:rPr>
              <a:t>ggaa</a:t>
            </a:r>
          </a:p>
          <a:p>
            <a:pPr>
              <a:buFontTx/>
              <a:buNone/>
            </a:pPr>
            <a:r>
              <a:rPr lang="en-US" altLang="en-US" sz="2800">
                <a:solidFill>
                  <a:schemeClr val="tx2"/>
                </a:solidFill>
                <a:latin typeface="Arial" panose="020B0604020202020204" pitchFamily="34" charset="0"/>
              </a:rPr>
              <a:t>Short</a:t>
            </a:r>
          </a:p>
        </p:txBody>
      </p:sp>
      <p:sp>
        <p:nvSpPr>
          <p:cNvPr id="87067" name="Line 29"/>
          <p:cNvSpPr>
            <a:spLocks noChangeShapeType="1"/>
          </p:cNvSpPr>
          <p:nvPr/>
        </p:nvSpPr>
        <p:spPr bwMode="auto">
          <a:xfrm>
            <a:off x="971550" y="1604963"/>
            <a:ext cx="0" cy="4992687"/>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68" name="Line 30"/>
          <p:cNvSpPr>
            <a:spLocks noChangeShapeType="1"/>
          </p:cNvSpPr>
          <p:nvPr/>
        </p:nvSpPr>
        <p:spPr bwMode="auto">
          <a:xfrm>
            <a:off x="2430463" y="1604963"/>
            <a:ext cx="0" cy="4992687"/>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69" name="Line 31"/>
          <p:cNvSpPr>
            <a:spLocks noChangeShapeType="1"/>
          </p:cNvSpPr>
          <p:nvPr/>
        </p:nvSpPr>
        <p:spPr bwMode="auto">
          <a:xfrm>
            <a:off x="3657600" y="1604963"/>
            <a:ext cx="0" cy="4992687"/>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0" name="Line 32"/>
          <p:cNvSpPr>
            <a:spLocks noChangeShapeType="1"/>
          </p:cNvSpPr>
          <p:nvPr/>
        </p:nvSpPr>
        <p:spPr bwMode="auto">
          <a:xfrm>
            <a:off x="4868863" y="1604963"/>
            <a:ext cx="0" cy="4992687"/>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1" name="Line 33"/>
          <p:cNvSpPr>
            <a:spLocks noChangeShapeType="1"/>
          </p:cNvSpPr>
          <p:nvPr/>
        </p:nvSpPr>
        <p:spPr bwMode="auto">
          <a:xfrm>
            <a:off x="-7938" y="2476500"/>
            <a:ext cx="6096001" cy="0"/>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2" name="Line 34"/>
          <p:cNvSpPr>
            <a:spLocks noChangeShapeType="1"/>
          </p:cNvSpPr>
          <p:nvPr/>
        </p:nvSpPr>
        <p:spPr bwMode="auto">
          <a:xfrm>
            <a:off x="-7938" y="3506788"/>
            <a:ext cx="6096001" cy="0"/>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3" name="Line 35"/>
          <p:cNvSpPr>
            <a:spLocks noChangeShapeType="1"/>
          </p:cNvSpPr>
          <p:nvPr/>
        </p:nvSpPr>
        <p:spPr bwMode="auto">
          <a:xfrm>
            <a:off x="-7938" y="4537075"/>
            <a:ext cx="6096001" cy="0"/>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4" name="Line 36"/>
          <p:cNvSpPr>
            <a:spLocks noChangeShapeType="1"/>
          </p:cNvSpPr>
          <p:nvPr/>
        </p:nvSpPr>
        <p:spPr bwMode="auto">
          <a:xfrm>
            <a:off x="-7938" y="5567363"/>
            <a:ext cx="6096001" cy="0"/>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7075" name="Rectangle 40"/>
          <p:cNvSpPr>
            <a:spLocks noChangeArrowheads="1"/>
          </p:cNvSpPr>
          <p:nvPr/>
        </p:nvSpPr>
        <p:spPr bwMode="auto">
          <a:xfrm>
            <a:off x="130175" y="117475"/>
            <a:ext cx="887730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3400">
                <a:solidFill>
                  <a:schemeClr val="bg2"/>
                </a:solidFill>
                <a:latin typeface="Comic Sans MS" panose="030F0702030302020204" pitchFamily="66" charset="0"/>
                <a:cs typeface="Times New Roman" panose="02020603050405020304" pitchFamily="18" charset="0"/>
              </a:rPr>
              <a:t>Mendel’s Law of Independent Assortment</a:t>
            </a:r>
          </a:p>
        </p:txBody>
      </p:sp>
      <p:sp>
        <p:nvSpPr>
          <p:cNvPr id="87076" name="Line 41"/>
          <p:cNvSpPr>
            <a:spLocks noChangeShapeType="1"/>
          </p:cNvSpPr>
          <p:nvPr/>
        </p:nvSpPr>
        <p:spPr bwMode="auto">
          <a:xfrm>
            <a:off x="338138" y="747713"/>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7077" name="Rectangle 42"/>
          <p:cNvSpPr>
            <a:spLocks noChangeArrowheads="1"/>
          </p:cNvSpPr>
          <p:nvPr/>
        </p:nvSpPr>
        <p:spPr bwMode="auto">
          <a:xfrm>
            <a:off x="6475413" y="4278313"/>
            <a:ext cx="2859087" cy="379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0000"/>
              </a:spcBef>
              <a:spcAft>
                <a:spcPts val="600"/>
              </a:spcAft>
              <a:buClrTx/>
              <a:buFontTx/>
              <a:buNone/>
            </a:pPr>
            <a:r>
              <a:rPr lang="en-US" altLang="en-US" sz="2400">
                <a:solidFill>
                  <a:schemeClr val="bg2"/>
                </a:solidFill>
                <a:latin typeface="Arial" panose="020B0604020202020204" pitchFamily="34" charset="0"/>
              </a:rPr>
              <a:t>9 Green / Tall</a:t>
            </a:r>
          </a:p>
          <a:p>
            <a:pPr>
              <a:lnSpc>
                <a:spcPct val="90000"/>
              </a:lnSpc>
              <a:spcBef>
                <a:spcPct val="50000"/>
              </a:spcBef>
              <a:spcAft>
                <a:spcPts val="600"/>
              </a:spcAft>
              <a:buClrTx/>
              <a:buFontTx/>
              <a:buNone/>
            </a:pPr>
            <a:r>
              <a:rPr lang="en-US" altLang="en-US" sz="2400">
                <a:solidFill>
                  <a:schemeClr val="bg2"/>
                </a:solidFill>
                <a:latin typeface="Arial" panose="020B0604020202020204" pitchFamily="34" charset="0"/>
              </a:rPr>
              <a:t>3 Green / Short</a:t>
            </a:r>
          </a:p>
          <a:p>
            <a:pPr>
              <a:lnSpc>
                <a:spcPct val="90000"/>
              </a:lnSpc>
              <a:spcBef>
                <a:spcPct val="50000"/>
              </a:spcBef>
              <a:spcAft>
                <a:spcPts val="600"/>
              </a:spcAft>
              <a:buClrTx/>
              <a:buFontTx/>
              <a:buNone/>
            </a:pPr>
            <a:r>
              <a:rPr lang="en-US" altLang="en-US" sz="2400">
                <a:solidFill>
                  <a:schemeClr val="bg2"/>
                </a:solidFill>
                <a:latin typeface="Arial" panose="020B0604020202020204" pitchFamily="34" charset="0"/>
              </a:rPr>
              <a:t>3 Yellow / Tall</a:t>
            </a:r>
          </a:p>
          <a:p>
            <a:pPr>
              <a:lnSpc>
                <a:spcPct val="90000"/>
              </a:lnSpc>
              <a:spcBef>
                <a:spcPct val="50000"/>
              </a:spcBef>
              <a:spcAft>
                <a:spcPts val="600"/>
              </a:spcAft>
              <a:buClrTx/>
              <a:buFontTx/>
              <a:buNone/>
            </a:pPr>
            <a:r>
              <a:rPr lang="en-US" altLang="en-US" sz="2400">
                <a:solidFill>
                  <a:schemeClr val="bg2"/>
                </a:solidFill>
                <a:latin typeface="Arial" panose="020B0604020202020204" pitchFamily="34" charset="0"/>
              </a:rPr>
              <a:t>1 Yellow / Short</a:t>
            </a:r>
          </a:p>
          <a:p>
            <a:pPr>
              <a:lnSpc>
                <a:spcPct val="150000"/>
              </a:lnSpc>
              <a:spcBef>
                <a:spcPct val="50000"/>
              </a:spcBef>
              <a:spcAft>
                <a:spcPts val="600"/>
              </a:spcAft>
              <a:buClrTx/>
              <a:buFontTx/>
              <a:buNone/>
            </a:pPr>
            <a:endParaRPr lang="en-US" altLang="en-US" sz="2400">
              <a:solidFill>
                <a:schemeClr val="bg2"/>
              </a:solidFill>
              <a:latin typeface="Arial" panose="020B0604020202020204" pitchFamily="34" charset="0"/>
            </a:endParaRPr>
          </a:p>
          <a:p>
            <a:pPr>
              <a:lnSpc>
                <a:spcPct val="150000"/>
              </a:lnSpc>
              <a:spcBef>
                <a:spcPct val="50000"/>
              </a:spcBef>
              <a:spcAft>
                <a:spcPts val="600"/>
              </a:spcAft>
              <a:buClrTx/>
              <a:buFontTx/>
              <a:buNone/>
            </a:pPr>
            <a:endParaRPr lang="en-US" altLang="en-US" sz="2400">
              <a:solidFill>
                <a:schemeClr val="bg2"/>
              </a:solidFill>
              <a:latin typeface="Arial" panose="020B0604020202020204" pitchFamily="34" charset="0"/>
            </a:endParaRPr>
          </a:p>
        </p:txBody>
      </p:sp>
      <p:sp>
        <p:nvSpPr>
          <p:cNvPr id="87078" name="Rectangle 3"/>
          <p:cNvSpPr>
            <a:spLocks noChangeArrowheads="1"/>
          </p:cNvSpPr>
          <p:nvPr/>
        </p:nvSpPr>
        <p:spPr bwMode="auto">
          <a:xfrm>
            <a:off x="5175250" y="781050"/>
            <a:ext cx="406241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2000">
                <a:solidFill>
                  <a:schemeClr val="bg2"/>
                </a:solidFill>
                <a:latin typeface="Arial" panose="020B0604020202020204" pitchFamily="34" charset="0"/>
                <a:cs typeface="Times New Roman" panose="02020603050405020304" pitchFamily="18" charset="0"/>
              </a:rPr>
              <a:t>F1 cross: GgAa x GgAa</a:t>
            </a:r>
          </a:p>
        </p:txBody>
      </p:sp>
      <p:sp>
        <p:nvSpPr>
          <p:cNvPr id="87079" name="Rectangle 3"/>
          <p:cNvSpPr>
            <a:spLocks noChangeArrowheads="1"/>
          </p:cNvSpPr>
          <p:nvPr/>
        </p:nvSpPr>
        <p:spPr bwMode="auto">
          <a:xfrm>
            <a:off x="5561013" y="1346200"/>
            <a:ext cx="406241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2000">
                <a:solidFill>
                  <a:schemeClr val="bg2"/>
                </a:solidFill>
                <a:latin typeface="Arial" panose="020B0604020202020204" pitchFamily="34" charset="0"/>
                <a:cs typeface="Times New Roman" panose="02020603050405020304" pitchFamily="18" charset="0"/>
              </a:rPr>
              <a:t>Possible Gametes for two    traits sorting independently:</a:t>
            </a:r>
          </a:p>
        </p:txBody>
      </p:sp>
      <p:sp>
        <p:nvSpPr>
          <p:cNvPr id="87080" name="Text Box 6"/>
          <p:cNvSpPr txBox="1">
            <a:spLocks noChangeArrowheads="1"/>
          </p:cNvSpPr>
          <p:nvPr/>
        </p:nvSpPr>
        <p:spPr bwMode="auto">
          <a:xfrm>
            <a:off x="6557963" y="2063750"/>
            <a:ext cx="19589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GA, Ga, gA, ga</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ChangeArrowheads="1"/>
          </p:cNvSpPr>
          <p:nvPr/>
        </p:nvSpPr>
        <p:spPr bwMode="auto">
          <a:xfrm>
            <a:off x="168275" y="260350"/>
            <a:ext cx="887730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55000"/>
              </a:spcBef>
              <a:spcAft>
                <a:spcPct val="45000"/>
              </a:spcAft>
              <a:buClrTx/>
              <a:buFontTx/>
              <a:buNone/>
            </a:pPr>
            <a:r>
              <a:rPr lang="en-US" altLang="en-US" sz="3400">
                <a:solidFill>
                  <a:schemeClr val="bg2"/>
                </a:solidFill>
                <a:latin typeface="Comic Sans MS" panose="030F0702030302020204" pitchFamily="66" charset="0"/>
                <a:cs typeface="Times New Roman" panose="02020603050405020304" pitchFamily="18" charset="0"/>
              </a:rPr>
              <a:t>Mendel’s Law of Independent Assortment</a:t>
            </a:r>
          </a:p>
        </p:txBody>
      </p:sp>
      <p:sp>
        <p:nvSpPr>
          <p:cNvPr id="89091" name="Line 3"/>
          <p:cNvSpPr>
            <a:spLocks noChangeShapeType="1"/>
          </p:cNvSpPr>
          <p:nvPr/>
        </p:nvSpPr>
        <p:spPr bwMode="auto">
          <a:xfrm>
            <a:off x="338138" y="9906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9092" name="Rectangle 4"/>
          <p:cNvSpPr>
            <a:spLocks noChangeArrowheads="1"/>
          </p:cNvSpPr>
          <p:nvPr/>
        </p:nvSpPr>
        <p:spPr bwMode="auto">
          <a:xfrm>
            <a:off x="609600" y="1227138"/>
            <a:ext cx="8059738" cy="491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50000"/>
              </a:spcBef>
              <a:buClrTx/>
              <a:buFontTx/>
              <a:buNone/>
            </a:pPr>
            <a:r>
              <a:rPr lang="en-US" altLang="en-US" sz="2800">
                <a:solidFill>
                  <a:schemeClr val="bg2"/>
                </a:solidFill>
                <a:latin typeface="Arial" panose="020B0604020202020204" pitchFamily="34" charset="0"/>
              </a:rPr>
              <a:t>The results from a dihybrid cross are always the same: </a:t>
            </a:r>
          </a:p>
          <a:p>
            <a:pPr lvl="1">
              <a:spcBef>
                <a:spcPct val="50000"/>
              </a:spcBef>
              <a:buClrTx/>
            </a:pPr>
            <a:r>
              <a:rPr lang="en-US" altLang="en-US" sz="2600">
                <a:solidFill>
                  <a:schemeClr val="bg2"/>
                </a:solidFill>
                <a:latin typeface="Arial" panose="020B0604020202020204" pitchFamily="34" charset="0"/>
              </a:rPr>
              <a:t>9/16 boxes (offspring) show dominant phenotype for both traits (tall &amp; green)</a:t>
            </a:r>
          </a:p>
          <a:p>
            <a:pPr lvl="1">
              <a:spcBef>
                <a:spcPct val="50000"/>
              </a:spcBef>
              <a:buClrTx/>
            </a:pPr>
            <a:r>
              <a:rPr lang="en-US" altLang="en-US" sz="2600">
                <a:solidFill>
                  <a:schemeClr val="bg2"/>
                </a:solidFill>
                <a:latin typeface="Arial" panose="020B0604020202020204" pitchFamily="34" charset="0"/>
              </a:rPr>
              <a:t>3/16 show dominant phenotype for first trait &amp; recessive for second (tall &amp; yellow) </a:t>
            </a:r>
          </a:p>
          <a:p>
            <a:pPr lvl="1">
              <a:spcBef>
                <a:spcPct val="50000"/>
              </a:spcBef>
              <a:buClrTx/>
            </a:pPr>
            <a:r>
              <a:rPr lang="en-US" altLang="en-US" sz="2600">
                <a:solidFill>
                  <a:schemeClr val="bg2"/>
                </a:solidFill>
                <a:latin typeface="Arial" panose="020B0604020202020204" pitchFamily="34" charset="0"/>
              </a:rPr>
              <a:t>3/16 show recessive phenotype for first trait &amp; dominant form for second (short &amp; green)</a:t>
            </a:r>
          </a:p>
          <a:p>
            <a:pPr lvl="1">
              <a:spcBef>
                <a:spcPct val="50000"/>
              </a:spcBef>
              <a:buClrTx/>
            </a:pPr>
            <a:r>
              <a:rPr lang="en-US" altLang="en-US" sz="2600">
                <a:solidFill>
                  <a:schemeClr val="bg2"/>
                </a:solidFill>
                <a:latin typeface="Arial" panose="020B0604020202020204" pitchFamily="34" charset="0"/>
              </a:rPr>
              <a:t>1/16 show recessive form of both traits (short &amp; yellow)</a:t>
            </a:r>
            <a:endParaRPr lang="en-US" altLang="en-US" sz="2600" b="0">
              <a:solidFill>
                <a:schemeClr val="bg2"/>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idx="4294967295"/>
          </p:nvPr>
        </p:nvSpPr>
        <p:spPr>
          <a:xfrm>
            <a:off x="962025" y="14288"/>
            <a:ext cx="7772400" cy="1143000"/>
          </a:xfrm>
        </p:spPr>
        <p:txBody>
          <a:bodyPr/>
          <a:lstStyle/>
          <a:p>
            <a:r>
              <a:rPr lang="en-US" altLang="en-US" sz="4000" b="1">
                <a:latin typeface="Comic Sans MS" panose="030F0702030302020204" pitchFamily="66" charset="0"/>
              </a:rPr>
              <a:t>Mendel’s Law Continued</a:t>
            </a:r>
          </a:p>
        </p:txBody>
      </p:sp>
      <p:sp>
        <p:nvSpPr>
          <p:cNvPr id="91139" name="Rectangle 3"/>
          <p:cNvSpPr>
            <a:spLocks noGrp="1" noChangeArrowheads="1"/>
          </p:cNvSpPr>
          <p:nvPr>
            <p:ph type="body" idx="4294967295"/>
          </p:nvPr>
        </p:nvSpPr>
        <p:spPr>
          <a:xfrm>
            <a:off x="685800" y="1168400"/>
            <a:ext cx="7772400" cy="5405438"/>
          </a:xfrm>
        </p:spPr>
        <p:txBody>
          <a:bodyPr/>
          <a:lstStyle/>
          <a:p>
            <a:pPr>
              <a:lnSpc>
                <a:spcPct val="80000"/>
              </a:lnSpc>
              <a:buFontTx/>
              <a:buNone/>
            </a:pPr>
            <a:endParaRPr lang="en-US" altLang="en-US" sz="2400" b="1">
              <a:latin typeface="Arial" panose="020B0604020202020204" pitchFamily="34" charset="0"/>
            </a:endParaRPr>
          </a:p>
          <a:p>
            <a:pPr>
              <a:lnSpc>
                <a:spcPct val="80000"/>
              </a:lnSpc>
            </a:pPr>
            <a:r>
              <a:rPr lang="en-US" altLang="en-US" sz="2400" b="1">
                <a:latin typeface="Arial" panose="020B0604020202020204" pitchFamily="34" charset="0"/>
              </a:rPr>
              <a:t>Mendel II allows us to extend this sort of calculation to multiple (unlinked) loci</a:t>
            </a:r>
          </a:p>
          <a:p>
            <a:pPr>
              <a:lnSpc>
                <a:spcPct val="80000"/>
              </a:lnSpc>
            </a:pPr>
            <a:r>
              <a:rPr lang="en-US" altLang="en-US" sz="2400" b="1">
                <a:latin typeface="Arial" panose="020B0604020202020204" pitchFamily="34" charset="0"/>
              </a:rPr>
              <a:t>Example: MN and ABO Blood Group</a:t>
            </a:r>
          </a:p>
          <a:p>
            <a:pPr>
              <a:lnSpc>
                <a:spcPct val="80000"/>
              </a:lnSpc>
              <a:buFontTx/>
              <a:buNone/>
            </a:pPr>
            <a:r>
              <a:rPr lang="en-US" altLang="en-US" sz="2400" b="1">
                <a:latin typeface="Arial" panose="020B0604020202020204" pitchFamily="34" charset="0"/>
              </a:rPr>
              <a:t>	Dad			Mom</a:t>
            </a:r>
          </a:p>
          <a:p>
            <a:pPr>
              <a:lnSpc>
                <a:spcPct val="80000"/>
              </a:lnSpc>
              <a:buFontTx/>
              <a:buNone/>
            </a:pPr>
            <a:r>
              <a:rPr lang="en-US" altLang="en-US" sz="2400" b="1">
                <a:latin typeface="Arial" panose="020B0604020202020204" pitchFamily="34" charset="0"/>
              </a:rPr>
              <a:t>	MN 	AB	x 		MN   AB</a:t>
            </a:r>
          </a:p>
          <a:p>
            <a:pPr>
              <a:lnSpc>
                <a:spcPct val="80000"/>
              </a:lnSpc>
              <a:buFontTx/>
              <a:buNone/>
            </a:pPr>
            <a:r>
              <a:rPr lang="en-US" altLang="en-US" sz="2400" b="1">
                <a:latin typeface="Arial" panose="020B0604020202020204" pitchFamily="34" charset="0"/>
              </a:rPr>
              <a:t>			|</a:t>
            </a:r>
          </a:p>
          <a:p>
            <a:pPr>
              <a:lnSpc>
                <a:spcPct val="80000"/>
              </a:lnSpc>
              <a:buFontTx/>
              <a:buNone/>
            </a:pPr>
            <a:r>
              <a:rPr lang="en-US" altLang="en-US" sz="2400" b="1">
                <a:latin typeface="Arial" panose="020B0604020202020204" pitchFamily="34" charset="0"/>
              </a:rPr>
              <a:t>			?</a:t>
            </a:r>
          </a:p>
          <a:p>
            <a:pPr>
              <a:lnSpc>
                <a:spcPct val="80000"/>
              </a:lnSpc>
              <a:buFontTx/>
              <a:buNone/>
            </a:pPr>
            <a:r>
              <a:rPr lang="en-US" altLang="en-US" sz="2400" b="1">
                <a:latin typeface="Arial" panose="020B0604020202020204" pitchFamily="34" charset="0"/>
              </a:rPr>
              <a:t>	Pr(MM AB) = Pr(MM)xPr(AB) = (1/4)x(1/2) = 1/8</a:t>
            </a:r>
          </a:p>
          <a:p>
            <a:pPr>
              <a:lnSpc>
                <a:spcPct val="80000"/>
              </a:lnSpc>
              <a:buFontTx/>
              <a:buNone/>
            </a:pPr>
            <a:endParaRPr lang="en-US" altLang="en-US" sz="2400" b="1">
              <a:latin typeface="Arial" panose="020B0604020202020204" pitchFamily="34" charset="0"/>
            </a:endParaRPr>
          </a:p>
          <a:p>
            <a:pPr>
              <a:lnSpc>
                <a:spcPct val="80000"/>
              </a:lnSpc>
              <a:buFontTx/>
              <a:buNone/>
            </a:pPr>
            <a:r>
              <a:rPr lang="en-US" altLang="en-US" sz="2400" b="1">
                <a:latin typeface="Arial" panose="020B0604020202020204" pitchFamily="34" charset="0"/>
              </a:rPr>
              <a:t>	Pr(MM BB) = Pr(MM)xPr(BB) = (1/2)x(1/2) = ¼</a:t>
            </a:r>
          </a:p>
          <a:p>
            <a:pPr>
              <a:lnSpc>
                <a:spcPct val="80000"/>
              </a:lnSpc>
              <a:buFontTx/>
              <a:buNone/>
            </a:pPr>
            <a:endParaRPr lang="en-US" altLang="en-US" sz="1800" b="1"/>
          </a:p>
          <a:p>
            <a:pPr>
              <a:lnSpc>
                <a:spcPct val="80000"/>
              </a:lnSpc>
              <a:buFontTx/>
              <a:buNone/>
            </a:pPr>
            <a:r>
              <a:rPr lang="en-US" altLang="en-US" sz="1800" b="1"/>
              <a:t>i.e., since the MN and ABO blood group genes are transmitted independently of one another, we can simply multiply the individual probabilities to obtain joint probabilities.</a:t>
            </a:r>
          </a:p>
        </p:txBody>
      </p:sp>
      <p:sp>
        <p:nvSpPr>
          <p:cNvPr id="91140" name="Line 2"/>
          <p:cNvSpPr>
            <a:spLocks noChangeShapeType="1"/>
          </p:cNvSpPr>
          <p:nvPr/>
        </p:nvSpPr>
        <p:spPr bwMode="auto">
          <a:xfrm>
            <a:off x="271463" y="9906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ChangeArrowheads="1"/>
          </p:cNvSpPr>
          <p:nvPr/>
        </p:nvSpPr>
        <p:spPr bwMode="auto">
          <a:xfrm>
            <a:off x="457200" y="3432175"/>
            <a:ext cx="4291013" cy="346075"/>
          </a:xfrm>
          <a:prstGeom prst="rect">
            <a:avLst/>
          </a:prstGeom>
          <a:solidFill>
            <a:schemeClr val="accent2"/>
          </a:solidFill>
          <a:ln w="25400">
            <a:solidFill>
              <a:schemeClr val="accent2"/>
            </a:solidFill>
            <a:miter lim="800000"/>
            <a:headEnd/>
            <a:tailEnd/>
          </a:ln>
        </p:spPr>
        <p:txBody>
          <a:bodyPr anchor="ct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93187" name="Line 3"/>
          <p:cNvSpPr>
            <a:spLocks noChangeShapeType="1"/>
          </p:cNvSpPr>
          <p:nvPr/>
        </p:nvSpPr>
        <p:spPr bwMode="auto">
          <a:xfrm>
            <a:off x="271463" y="12573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3188" name="Text Box 4"/>
          <p:cNvSpPr txBox="1">
            <a:spLocks noChangeArrowheads="1"/>
          </p:cNvSpPr>
          <p:nvPr/>
        </p:nvSpPr>
        <p:spPr bwMode="auto">
          <a:xfrm>
            <a:off x="250825" y="123825"/>
            <a:ext cx="8601075"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150000"/>
              </a:lnSpc>
              <a:spcBef>
                <a:spcPct val="50000"/>
              </a:spcBef>
              <a:spcAft>
                <a:spcPts val="600"/>
              </a:spcAft>
              <a:buClrTx/>
              <a:buFontTx/>
              <a:buNone/>
            </a:pPr>
            <a:r>
              <a:rPr lang="en-US" altLang="en-US" sz="3600">
                <a:solidFill>
                  <a:schemeClr val="bg2"/>
                </a:solidFill>
                <a:latin typeface="Comic Sans MS" panose="030F0702030302020204" pitchFamily="66" charset="0"/>
              </a:rPr>
              <a:t>Mendelian Modes of Inheritance</a:t>
            </a:r>
          </a:p>
        </p:txBody>
      </p:sp>
      <p:sp>
        <p:nvSpPr>
          <p:cNvPr id="93189" name="Rectangle 5"/>
          <p:cNvSpPr>
            <a:spLocks noChangeArrowheads="1"/>
          </p:cNvSpPr>
          <p:nvPr/>
        </p:nvSpPr>
        <p:spPr bwMode="auto">
          <a:xfrm>
            <a:off x="149225" y="1966913"/>
            <a:ext cx="4994275" cy="42672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spcAft>
                <a:spcPct val="40000"/>
              </a:spcAft>
              <a:buClr>
                <a:schemeClr val="tx1"/>
              </a:buClr>
              <a:buFontTx/>
              <a:buNone/>
            </a:pPr>
            <a:r>
              <a:rPr lang="en-US" altLang="en-US">
                <a:solidFill>
                  <a:schemeClr val="bg2"/>
                </a:solidFill>
                <a:latin typeface="Arial" panose="020B0604020202020204" pitchFamily="34" charset="0"/>
              </a:rPr>
              <a:t>Autosomal Dominant</a:t>
            </a:r>
          </a:p>
          <a:p>
            <a:pPr algn="ctr">
              <a:spcBef>
                <a:spcPct val="0"/>
              </a:spcBef>
              <a:spcAft>
                <a:spcPct val="40000"/>
              </a:spcAft>
              <a:buClr>
                <a:schemeClr val="tx1"/>
              </a:buClr>
              <a:buFontTx/>
              <a:buNone/>
            </a:pPr>
            <a:r>
              <a:rPr lang="en-US" altLang="en-US">
                <a:solidFill>
                  <a:schemeClr val="bg2"/>
                </a:solidFill>
                <a:latin typeface="Arial" panose="020B0604020202020204" pitchFamily="34" charset="0"/>
              </a:rPr>
              <a:t>Autosomal Recessive</a:t>
            </a:r>
          </a:p>
          <a:p>
            <a:pPr algn="ctr">
              <a:spcBef>
                <a:spcPct val="0"/>
              </a:spcBef>
              <a:spcAft>
                <a:spcPct val="40000"/>
              </a:spcAft>
              <a:buClr>
                <a:schemeClr val="tx1"/>
              </a:buClr>
              <a:buFontTx/>
              <a:buNone/>
            </a:pPr>
            <a:r>
              <a:rPr lang="en-US" altLang="en-US">
                <a:solidFill>
                  <a:schemeClr val="bg2"/>
                </a:solidFill>
                <a:latin typeface="Arial" panose="020B0604020202020204" pitchFamily="34" charset="0"/>
              </a:rPr>
              <a:t>X-linked Recessive</a:t>
            </a:r>
          </a:p>
          <a:p>
            <a:pPr algn="ctr">
              <a:spcBef>
                <a:spcPct val="0"/>
              </a:spcBef>
              <a:spcAft>
                <a:spcPct val="40000"/>
              </a:spcAft>
              <a:buClr>
                <a:schemeClr val="tx1"/>
              </a:buClr>
              <a:buFontTx/>
              <a:buNone/>
            </a:pPr>
            <a:r>
              <a:rPr lang="en-US" altLang="en-US">
                <a:solidFill>
                  <a:schemeClr val="bg2"/>
                </a:solidFill>
                <a:latin typeface="Arial" panose="020B0604020202020204" pitchFamily="34" charset="0"/>
              </a:rPr>
              <a:t>X-linked Dominant</a:t>
            </a:r>
          </a:p>
          <a:p>
            <a:pPr algn="ctr">
              <a:spcBef>
                <a:spcPct val="0"/>
              </a:spcBef>
              <a:spcAft>
                <a:spcPct val="40000"/>
              </a:spcAft>
              <a:buClr>
                <a:schemeClr val="tx1"/>
              </a:buClr>
              <a:buFontTx/>
              <a:buNone/>
            </a:pPr>
            <a:r>
              <a:rPr lang="en-US" altLang="en-US">
                <a:solidFill>
                  <a:schemeClr val="bg2"/>
                </a:solidFill>
                <a:latin typeface="Arial" panose="020B0604020202020204" pitchFamily="34" charset="0"/>
              </a:rPr>
              <a:t>Y-linked</a:t>
            </a:r>
          </a:p>
        </p:txBody>
      </p:sp>
      <p:sp>
        <p:nvSpPr>
          <p:cNvPr id="93190" name="Rectangle 6"/>
          <p:cNvSpPr>
            <a:spLocks noChangeArrowheads="1"/>
          </p:cNvSpPr>
          <p:nvPr/>
        </p:nvSpPr>
        <p:spPr bwMode="auto">
          <a:xfrm>
            <a:off x="4962525" y="1866900"/>
            <a:ext cx="3987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90000"/>
              </a:lnSpc>
              <a:spcBef>
                <a:spcPct val="40000"/>
              </a:spcBef>
              <a:spcAft>
                <a:spcPct val="40000"/>
              </a:spcAft>
            </a:pPr>
            <a:r>
              <a:rPr lang="en-US" altLang="en-US" sz="2800">
                <a:solidFill>
                  <a:schemeClr val="bg2"/>
                </a:solidFill>
                <a:latin typeface="Arial" panose="020B0604020202020204" pitchFamily="34" charset="0"/>
                <a:cs typeface="Times New Roman" panose="02020603050405020304" pitchFamily="18" charset="0"/>
              </a:rPr>
              <a:t>Inheritance patterns describe how a disease is transmitted in families</a:t>
            </a:r>
          </a:p>
          <a:p>
            <a:pPr>
              <a:lnSpc>
                <a:spcPct val="90000"/>
              </a:lnSpc>
              <a:spcBef>
                <a:spcPct val="40000"/>
              </a:spcBef>
              <a:spcAft>
                <a:spcPct val="40000"/>
              </a:spcAft>
            </a:pPr>
            <a:r>
              <a:rPr lang="en-US" altLang="en-US" sz="2800">
                <a:solidFill>
                  <a:schemeClr val="bg2"/>
                </a:solidFill>
                <a:latin typeface="Arial" panose="020B0604020202020204" pitchFamily="34" charset="0"/>
                <a:cs typeface="Times New Roman" panose="02020603050405020304" pitchFamily="18" charset="0"/>
              </a:rPr>
              <a:t>These patterns help to predict the recurrence risk for relatives</a:t>
            </a:r>
          </a:p>
          <a:p>
            <a:endParaRPr lang="en-US" altLang="en-US" sz="2800" b="0">
              <a:solidFill>
                <a:schemeClr val="bg2"/>
              </a:solidFill>
              <a:latin typeface="Arial" panose="020B0604020202020204"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sp>
        <p:nvSpPr>
          <p:cNvPr id="94211" name="Rectangle 2"/>
          <p:cNvSpPr>
            <a:spLocks noGrp="1" noChangeArrowheads="1"/>
          </p:cNvSpPr>
          <p:nvPr>
            <p:ph type="title" idx="4294967295"/>
          </p:nvPr>
        </p:nvSpPr>
        <p:spPr>
          <a:xfrm>
            <a:off x="552450" y="-161925"/>
            <a:ext cx="8191500" cy="1143000"/>
          </a:xfrm>
        </p:spPr>
        <p:txBody>
          <a:bodyPr/>
          <a:lstStyle/>
          <a:p>
            <a:r>
              <a:rPr lang="en-US" altLang="en-US" sz="3800" b="1">
                <a:latin typeface="Comic Sans MS" panose="030F0702030302020204" pitchFamily="66" charset="0"/>
              </a:rPr>
              <a:t>Autosomal Dominant Inheritance</a:t>
            </a:r>
          </a:p>
        </p:txBody>
      </p:sp>
      <p:sp>
        <p:nvSpPr>
          <p:cNvPr id="94212" name="Rectangle 3"/>
          <p:cNvSpPr>
            <a:spLocks noGrp="1" noChangeArrowheads="1"/>
          </p:cNvSpPr>
          <p:nvPr>
            <p:ph type="body" idx="4294967295"/>
          </p:nvPr>
        </p:nvSpPr>
        <p:spPr>
          <a:xfrm>
            <a:off x="4038600" y="1214438"/>
            <a:ext cx="4876800" cy="5257800"/>
          </a:xfrm>
        </p:spPr>
        <p:txBody>
          <a:bodyPr/>
          <a:lstStyle/>
          <a:p>
            <a:pPr>
              <a:lnSpc>
                <a:spcPct val="90000"/>
              </a:lnSpc>
              <a:spcBef>
                <a:spcPct val="25000"/>
              </a:spcBef>
              <a:spcAft>
                <a:spcPct val="25000"/>
              </a:spcAft>
            </a:pPr>
            <a:r>
              <a:rPr lang="en-US" altLang="en-US" sz="2600" b="1">
                <a:latin typeface="Arial" panose="020B0604020202020204" pitchFamily="34" charset="0"/>
              </a:rPr>
              <a:t>A single copy of an allele is sufficient to cause expression of a trait</a:t>
            </a:r>
          </a:p>
          <a:p>
            <a:pPr>
              <a:lnSpc>
                <a:spcPct val="90000"/>
              </a:lnSpc>
              <a:spcBef>
                <a:spcPct val="25000"/>
              </a:spcBef>
              <a:spcAft>
                <a:spcPct val="25000"/>
              </a:spcAft>
            </a:pPr>
            <a:r>
              <a:rPr lang="en-US" altLang="en-US" sz="2600" b="1">
                <a:latin typeface="Arial" panose="020B0604020202020204" pitchFamily="34" charset="0"/>
              </a:rPr>
              <a:t>Phenotype is expressed in the heterozygote and homozygote</a:t>
            </a:r>
          </a:p>
          <a:p>
            <a:pPr>
              <a:lnSpc>
                <a:spcPct val="90000"/>
              </a:lnSpc>
              <a:spcBef>
                <a:spcPct val="25000"/>
              </a:spcBef>
              <a:spcAft>
                <a:spcPct val="25000"/>
              </a:spcAft>
            </a:pPr>
            <a:r>
              <a:rPr lang="en-US" altLang="en-US" sz="2600" b="1">
                <a:latin typeface="Arial" panose="020B0604020202020204" pitchFamily="34" charset="0"/>
              </a:rPr>
              <a:t>Affected individuals have at least one affected parent</a:t>
            </a:r>
          </a:p>
          <a:p>
            <a:pPr>
              <a:lnSpc>
                <a:spcPct val="90000"/>
              </a:lnSpc>
              <a:spcBef>
                <a:spcPct val="25000"/>
              </a:spcBef>
              <a:spcAft>
                <a:spcPct val="25000"/>
              </a:spcAft>
            </a:pPr>
            <a:r>
              <a:rPr lang="en-US" altLang="en-US" sz="2600" b="1">
                <a:latin typeface="Arial" panose="020B0604020202020204" pitchFamily="34" charset="0"/>
              </a:rPr>
              <a:t>In a population, males and females are equally at risk</a:t>
            </a:r>
          </a:p>
          <a:p>
            <a:pPr>
              <a:lnSpc>
                <a:spcPct val="90000"/>
              </a:lnSpc>
              <a:spcBef>
                <a:spcPct val="25000"/>
              </a:spcBef>
              <a:spcAft>
                <a:spcPct val="25000"/>
              </a:spcAft>
            </a:pPr>
            <a:r>
              <a:rPr lang="en-US" altLang="en-US" sz="2600" b="1">
                <a:latin typeface="Arial" panose="020B0604020202020204" pitchFamily="34" charset="0"/>
              </a:rPr>
              <a:t>Each pregnancy has a 50% risk of inheriting the gene</a:t>
            </a:r>
          </a:p>
        </p:txBody>
      </p:sp>
      <p:sp>
        <p:nvSpPr>
          <p:cNvPr id="94213" name="Oval 4"/>
          <p:cNvSpPr>
            <a:spLocks noChangeArrowheads="1"/>
          </p:cNvSpPr>
          <p:nvPr/>
        </p:nvSpPr>
        <p:spPr bwMode="auto">
          <a:xfrm>
            <a:off x="822325" y="2209800"/>
            <a:ext cx="647700" cy="671513"/>
          </a:xfrm>
          <a:prstGeom prst="ellipse">
            <a:avLst/>
          </a:prstGeom>
          <a:solidFill>
            <a:schemeClr val="bg2"/>
          </a:solidFill>
          <a:ln w="12700">
            <a:solidFill>
              <a:schemeClr val="bg2"/>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94214" name="Rectangle 5"/>
          <p:cNvSpPr>
            <a:spLocks noChangeArrowheads="1"/>
          </p:cNvSpPr>
          <p:nvPr/>
        </p:nvSpPr>
        <p:spPr bwMode="auto">
          <a:xfrm>
            <a:off x="2387600" y="2209800"/>
            <a:ext cx="647700" cy="671513"/>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94215" name="Line 6"/>
          <p:cNvSpPr>
            <a:spLocks noChangeShapeType="1"/>
          </p:cNvSpPr>
          <p:nvPr/>
        </p:nvSpPr>
        <p:spPr bwMode="auto">
          <a:xfrm>
            <a:off x="1470025" y="2546350"/>
            <a:ext cx="917575"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16" name="Line 7"/>
          <p:cNvSpPr>
            <a:spLocks noChangeShapeType="1"/>
          </p:cNvSpPr>
          <p:nvPr/>
        </p:nvSpPr>
        <p:spPr bwMode="auto">
          <a:xfrm>
            <a:off x="1901825" y="2546350"/>
            <a:ext cx="0" cy="89535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17" name="Line 8"/>
          <p:cNvSpPr>
            <a:spLocks noChangeShapeType="1"/>
          </p:cNvSpPr>
          <p:nvPr/>
        </p:nvSpPr>
        <p:spPr bwMode="auto">
          <a:xfrm>
            <a:off x="552450" y="3441700"/>
            <a:ext cx="2860675"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18" name="Oval 9"/>
          <p:cNvSpPr>
            <a:spLocks noChangeArrowheads="1"/>
          </p:cNvSpPr>
          <p:nvPr/>
        </p:nvSpPr>
        <p:spPr bwMode="auto">
          <a:xfrm>
            <a:off x="228600" y="3833813"/>
            <a:ext cx="647700" cy="673100"/>
          </a:xfrm>
          <a:prstGeom prst="ellipse">
            <a:avLst/>
          </a:prstGeom>
          <a:solidFill>
            <a:schemeClr val="bg2"/>
          </a:solidFill>
          <a:ln w="12700">
            <a:solidFill>
              <a:schemeClr val="bg2"/>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94219" name="Oval 10"/>
          <p:cNvSpPr>
            <a:spLocks noChangeArrowheads="1"/>
          </p:cNvSpPr>
          <p:nvPr/>
        </p:nvSpPr>
        <p:spPr bwMode="auto">
          <a:xfrm>
            <a:off x="2225675" y="3833813"/>
            <a:ext cx="646113" cy="673100"/>
          </a:xfrm>
          <a:prstGeom prst="ellipse">
            <a:avLst/>
          </a:prstGeom>
          <a:noFill/>
          <a:ln w="12700">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94220" name="Rectangle 11"/>
          <p:cNvSpPr>
            <a:spLocks noChangeArrowheads="1"/>
          </p:cNvSpPr>
          <p:nvPr/>
        </p:nvSpPr>
        <p:spPr bwMode="auto">
          <a:xfrm>
            <a:off x="1254125" y="3833813"/>
            <a:ext cx="647700" cy="673100"/>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94221" name="Rectangle 12"/>
          <p:cNvSpPr>
            <a:spLocks noChangeArrowheads="1"/>
          </p:cNvSpPr>
          <p:nvPr/>
        </p:nvSpPr>
        <p:spPr bwMode="auto">
          <a:xfrm>
            <a:off x="3089275" y="3833813"/>
            <a:ext cx="647700" cy="673100"/>
          </a:xfrm>
          <a:prstGeom prst="rect">
            <a:avLst/>
          </a:prstGeom>
          <a:solidFill>
            <a:schemeClr val="bg2"/>
          </a:solidFill>
          <a:ln w="12700">
            <a:solidFill>
              <a:schemeClr val="bg2"/>
            </a:solidFill>
            <a:miter lim="800000"/>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94222" name="Line 13"/>
          <p:cNvSpPr>
            <a:spLocks noChangeShapeType="1"/>
          </p:cNvSpPr>
          <p:nvPr/>
        </p:nvSpPr>
        <p:spPr bwMode="auto">
          <a:xfrm>
            <a:off x="552450" y="3441700"/>
            <a:ext cx="0" cy="39211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23" name="Line 14"/>
          <p:cNvSpPr>
            <a:spLocks noChangeShapeType="1"/>
          </p:cNvSpPr>
          <p:nvPr/>
        </p:nvSpPr>
        <p:spPr bwMode="auto">
          <a:xfrm>
            <a:off x="1577975" y="3441700"/>
            <a:ext cx="0" cy="39211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24" name="Line 15"/>
          <p:cNvSpPr>
            <a:spLocks noChangeShapeType="1"/>
          </p:cNvSpPr>
          <p:nvPr/>
        </p:nvSpPr>
        <p:spPr bwMode="auto">
          <a:xfrm>
            <a:off x="2547938" y="3441700"/>
            <a:ext cx="0" cy="39211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25" name="Line 16"/>
          <p:cNvSpPr>
            <a:spLocks noChangeShapeType="1"/>
          </p:cNvSpPr>
          <p:nvPr/>
        </p:nvSpPr>
        <p:spPr bwMode="auto">
          <a:xfrm>
            <a:off x="3413125" y="3441700"/>
            <a:ext cx="0" cy="39211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4226" name="Text Box 17"/>
          <p:cNvSpPr txBox="1">
            <a:spLocks noChangeArrowheads="1"/>
          </p:cNvSpPr>
          <p:nvPr/>
        </p:nvSpPr>
        <p:spPr bwMode="auto">
          <a:xfrm>
            <a:off x="2495550" y="2940050"/>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sp>
        <p:nvSpPr>
          <p:cNvPr id="94227" name="Text Box 18"/>
          <p:cNvSpPr txBox="1">
            <a:spLocks noChangeArrowheads="1"/>
          </p:cNvSpPr>
          <p:nvPr/>
        </p:nvSpPr>
        <p:spPr bwMode="auto">
          <a:xfrm>
            <a:off x="919163" y="2936875"/>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sp>
        <p:nvSpPr>
          <p:cNvPr id="94228" name="Text Box 19"/>
          <p:cNvSpPr txBox="1">
            <a:spLocks noChangeArrowheads="1"/>
          </p:cNvSpPr>
          <p:nvPr/>
        </p:nvSpPr>
        <p:spPr bwMode="auto">
          <a:xfrm>
            <a:off x="379413" y="4592638"/>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sp>
        <p:nvSpPr>
          <p:cNvPr id="94229" name="Text Box 20"/>
          <p:cNvSpPr txBox="1">
            <a:spLocks noChangeArrowheads="1"/>
          </p:cNvSpPr>
          <p:nvPr/>
        </p:nvSpPr>
        <p:spPr bwMode="auto">
          <a:xfrm>
            <a:off x="1308100" y="461803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sp>
        <p:nvSpPr>
          <p:cNvPr id="94230" name="Text Box 21"/>
          <p:cNvSpPr txBox="1">
            <a:spLocks noChangeArrowheads="1"/>
          </p:cNvSpPr>
          <p:nvPr/>
        </p:nvSpPr>
        <p:spPr bwMode="auto">
          <a:xfrm>
            <a:off x="2333625" y="461803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sp>
        <p:nvSpPr>
          <p:cNvPr id="94231" name="Text Box 22"/>
          <p:cNvSpPr txBox="1">
            <a:spLocks noChangeArrowheads="1"/>
          </p:cNvSpPr>
          <p:nvPr/>
        </p:nvSpPr>
        <p:spPr bwMode="auto">
          <a:xfrm>
            <a:off x="3251200" y="4619625"/>
            <a:ext cx="574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bg2"/>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Aa</a:t>
            </a:r>
          </a:p>
        </p:txBody>
      </p:sp>
      <p:sp>
        <p:nvSpPr>
          <p:cNvPr id="94232" name="Line 23"/>
          <p:cNvSpPr>
            <a:spLocks noChangeShapeType="1"/>
          </p:cNvSpPr>
          <p:nvPr/>
        </p:nvSpPr>
        <p:spPr bwMode="auto">
          <a:xfrm>
            <a:off x="271463" y="9144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Line 2"/>
          <p:cNvSpPr>
            <a:spLocks noChangeShapeType="1"/>
          </p:cNvSpPr>
          <p:nvPr/>
        </p:nvSpPr>
        <p:spPr bwMode="auto">
          <a:xfrm>
            <a:off x="288925" y="135255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95235" name="Picture 3" descr="oi"/>
          <p:cNvPicPr>
            <a:picLocks noChangeAspect="1" noChangeArrowheads="1"/>
          </p:cNvPicPr>
          <p:nvPr/>
        </p:nvPicPr>
        <p:blipFill>
          <a:blip r:embed="rId2">
            <a:extLst>
              <a:ext uri="{28A0092B-C50C-407E-A947-70E740481C1C}">
                <a14:useLocalDpi xmlns:a14="http://schemas.microsoft.com/office/drawing/2010/main" val="0"/>
              </a:ext>
            </a:extLst>
          </a:blip>
          <a:srcRect r="57918"/>
          <a:stretch>
            <a:fillRect/>
          </a:stretch>
        </p:blipFill>
        <p:spPr bwMode="auto">
          <a:xfrm>
            <a:off x="350838" y="1522413"/>
            <a:ext cx="3263900" cy="4783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6" name="Text Box 4"/>
          <p:cNvSpPr txBox="1">
            <a:spLocks noChangeArrowheads="1"/>
          </p:cNvSpPr>
          <p:nvPr/>
        </p:nvSpPr>
        <p:spPr bwMode="auto">
          <a:xfrm>
            <a:off x="-282575" y="188913"/>
            <a:ext cx="9653588"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150000"/>
              </a:lnSpc>
              <a:spcBef>
                <a:spcPct val="50000"/>
              </a:spcBef>
              <a:spcAft>
                <a:spcPts val="600"/>
              </a:spcAft>
              <a:buClrTx/>
              <a:buFontTx/>
              <a:buNone/>
            </a:pPr>
            <a:r>
              <a:rPr lang="en-US" altLang="en-US" sz="3400">
                <a:solidFill>
                  <a:schemeClr val="bg2"/>
                </a:solidFill>
                <a:latin typeface="Comic Sans MS" panose="030F0702030302020204" pitchFamily="66" charset="0"/>
              </a:rPr>
              <a:t>Example: Osteogensis Imperfecta (Type1)</a:t>
            </a:r>
          </a:p>
        </p:txBody>
      </p:sp>
      <p:sp>
        <p:nvSpPr>
          <p:cNvPr id="95237" name="Rectangle 5"/>
          <p:cNvSpPr>
            <a:spLocks noChangeArrowheads="1"/>
          </p:cNvSpPr>
          <p:nvPr/>
        </p:nvSpPr>
        <p:spPr bwMode="auto">
          <a:xfrm>
            <a:off x="3738563" y="1708150"/>
            <a:ext cx="5405437"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85000"/>
              </a:lnSpc>
              <a:spcBef>
                <a:spcPct val="30000"/>
              </a:spcBef>
              <a:spcAft>
                <a:spcPct val="30000"/>
              </a:spcAft>
            </a:pPr>
            <a:r>
              <a:rPr lang="en-US" altLang="en-US">
                <a:solidFill>
                  <a:schemeClr val="bg2"/>
                </a:solidFill>
                <a:latin typeface="Arial" panose="020B0604020202020204" pitchFamily="34" charset="0"/>
                <a:cs typeface="Times New Roman" panose="02020603050405020304" pitchFamily="18" charset="0"/>
              </a:rPr>
              <a:t>Mutations affecting a protein chain [alpha</a:t>
            </a:r>
            <a:r>
              <a:rPr lang="en-US" altLang="en-US" baseline="-34000">
                <a:solidFill>
                  <a:schemeClr val="bg2"/>
                </a:solidFill>
                <a:latin typeface="Arial" panose="020B0604020202020204" pitchFamily="34" charset="0"/>
                <a:cs typeface="Times New Roman" panose="02020603050405020304" pitchFamily="18" charset="0"/>
              </a:rPr>
              <a:t> </a:t>
            </a:r>
            <a:r>
              <a:rPr lang="en-US" altLang="en-US" baseline="-20000">
                <a:solidFill>
                  <a:schemeClr val="bg2"/>
                </a:solidFill>
                <a:latin typeface="Arial" panose="020B0604020202020204" pitchFamily="34" charset="0"/>
                <a:cs typeface="Times New Roman" panose="02020603050405020304" pitchFamily="18" charset="0"/>
              </a:rPr>
              <a:t>1</a:t>
            </a:r>
            <a:r>
              <a:rPr lang="en-US" altLang="en-US">
                <a:solidFill>
                  <a:schemeClr val="bg2"/>
                </a:solidFill>
                <a:latin typeface="Arial" panose="020B0604020202020204" pitchFamily="34" charset="0"/>
                <a:cs typeface="Times New Roman" panose="02020603050405020304" pitchFamily="18" charset="0"/>
              </a:rPr>
              <a:t>(I)] lead to deficient production of type I collagen </a:t>
            </a:r>
          </a:p>
          <a:p>
            <a:pPr>
              <a:lnSpc>
                <a:spcPct val="85000"/>
              </a:lnSpc>
              <a:spcBef>
                <a:spcPct val="30000"/>
              </a:spcBef>
              <a:spcAft>
                <a:spcPct val="30000"/>
              </a:spcAft>
            </a:pPr>
            <a:r>
              <a:rPr lang="en-US" altLang="en-US">
                <a:solidFill>
                  <a:schemeClr val="bg2"/>
                </a:solidFill>
                <a:latin typeface="Arial" panose="020B0604020202020204" pitchFamily="34" charset="0"/>
                <a:cs typeface="Times New Roman" panose="02020603050405020304" pitchFamily="18" charset="0"/>
              </a:rPr>
              <a:t>Marked by extreme fragility of bones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sp>
        <p:nvSpPr>
          <p:cNvPr id="96259" name="Rectangle 2"/>
          <p:cNvSpPr>
            <a:spLocks noGrp="1" noChangeArrowheads="1"/>
          </p:cNvSpPr>
          <p:nvPr>
            <p:ph type="title" idx="4294967295"/>
          </p:nvPr>
        </p:nvSpPr>
        <p:spPr>
          <a:xfrm>
            <a:off x="457200" y="71438"/>
            <a:ext cx="8229600" cy="1143000"/>
          </a:xfrm>
        </p:spPr>
        <p:txBody>
          <a:bodyPr/>
          <a:lstStyle/>
          <a:p>
            <a:pPr>
              <a:lnSpc>
                <a:spcPct val="90000"/>
              </a:lnSpc>
            </a:pPr>
            <a:r>
              <a:rPr lang="en-US" altLang="en-US" sz="3200" b="1">
                <a:latin typeface="Comic Sans MS" panose="030F0702030302020204" pitchFamily="66" charset="0"/>
              </a:rPr>
              <a:t>Other Examples of “Common” Autosomal Dominant Traits</a:t>
            </a:r>
          </a:p>
        </p:txBody>
      </p:sp>
      <p:sp>
        <p:nvSpPr>
          <p:cNvPr id="96260" name="Rectangle 3"/>
          <p:cNvSpPr>
            <a:spLocks noGrp="1" noChangeArrowheads="1"/>
          </p:cNvSpPr>
          <p:nvPr>
            <p:ph type="body" idx="4294967295"/>
          </p:nvPr>
        </p:nvSpPr>
        <p:spPr>
          <a:xfrm>
            <a:off x="701675" y="1695450"/>
            <a:ext cx="7889875" cy="4724400"/>
          </a:xfrm>
        </p:spPr>
        <p:txBody>
          <a:bodyPr/>
          <a:lstStyle/>
          <a:p>
            <a:pPr>
              <a:lnSpc>
                <a:spcPct val="90000"/>
              </a:lnSpc>
            </a:pPr>
            <a:r>
              <a:rPr lang="en-US" altLang="en-US" sz="2800" b="1">
                <a:latin typeface="Arial" panose="020B0604020202020204" pitchFamily="34" charset="0"/>
              </a:rPr>
              <a:t>Familial hypercholesterolemia -- 1/500</a:t>
            </a:r>
          </a:p>
          <a:p>
            <a:pPr lvl="1">
              <a:lnSpc>
                <a:spcPct val="90000"/>
              </a:lnSpc>
            </a:pPr>
            <a:r>
              <a:rPr lang="en-US" altLang="en-US" sz="2400" b="1">
                <a:latin typeface="Arial" panose="020B0604020202020204" pitchFamily="34" charset="0"/>
              </a:rPr>
              <a:t>Homozygote = 1/1,000,000 (more severe)</a:t>
            </a:r>
          </a:p>
          <a:p>
            <a:pPr lvl="1">
              <a:lnSpc>
                <a:spcPct val="90000"/>
              </a:lnSpc>
            </a:pPr>
            <a:r>
              <a:rPr lang="en-US" altLang="en-US" sz="2400" b="1">
                <a:latin typeface="Arial" panose="020B0604020202020204" pitchFamily="34" charset="0"/>
              </a:rPr>
              <a:t>Results in elevated LDL cholesterol and increased risk of CAD</a:t>
            </a:r>
          </a:p>
          <a:p>
            <a:pPr>
              <a:lnSpc>
                <a:spcPct val="90000"/>
              </a:lnSpc>
            </a:pPr>
            <a:r>
              <a:rPr lang="en-US" altLang="en-US" sz="2800" b="1">
                <a:latin typeface="Arial" panose="020B0604020202020204" pitchFamily="34" charset="0"/>
              </a:rPr>
              <a:t>Huntington</a:t>
            </a:r>
            <a:r>
              <a:rPr lang="en-US" altLang="en-US" sz="2800" b="1"/>
              <a:t>’</a:t>
            </a:r>
            <a:r>
              <a:rPr lang="en-US" altLang="en-US" sz="2800" b="1">
                <a:latin typeface="Arial" panose="020B0604020202020204" pitchFamily="34" charset="0"/>
              </a:rPr>
              <a:t>s disease ~ 1/10,000</a:t>
            </a:r>
          </a:p>
          <a:p>
            <a:pPr lvl="1">
              <a:lnSpc>
                <a:spcPct val="90000"/>
              </a:lnSpc>
            </a:pPr>
            <a:r>
              <a:rPr lang="en-US" altLang="en-US" sz="2400" b="1">
                <a:latin typeface="Arial" panose="020B0604020202020204" pitchFamily="34" charset="0"/>
              </a:rPr>
              <a:t>Associated with neuronal cell death and dementia</a:t>
            </a:r>
          </a:p>
          <a:p>
            <a:pPr>
              <a:lnSpc>
                <a:spcPct val="90000"/>
              </a:lnSpc>
            </a:pPr>
            <a:r>
              <a:rPr lang="en-US" altLang="en-US" sz="2800" b="1">
                <a:latin typeface="Arial" panose="020B0604020202020204" pitchFamily="34" charset="0"/>
              </a:rPr>
              <a:t>Ehlers-Danlos variants ~1/5,000-1/10,000</a:t>
            </a:r>
          </a:p>
          <a:p>
            <a:pPr lvl="1">
              <a:lnSpc>
                <a:spcPct val="90000"/>
              </a:lnSpc>
            </a:pPr>
            <a:r>
              <a:rPr lang="en-US" altLang="en-US" sz="2400" b="1">
                <a:latin typeface="Arial" panose="020B0604020202020204" pitchFamily="34" charset="0"/>
              </a:rPr>
              <a:t>Associated with a proneness to spontaneous rupture of bowel or large arteries</a:t>
            </a:r>
            <a:r>
              <a:rPr lang="en-US" altLang="en-US" sz="2400"/>
              <a:t> </a:t>
            </a:r>
            <a:endParaRPr lang="en-US" altLang="en-US" sz="2400" b="1">
              <a:latin typeface="Arial" panose="020B0604020202020204" pitchFamily="34" charset="0"/>
            </a:endParaRPr>
          </a:p>
          <a:p>
            <a:pPr>
              <a:lnSpc>
                <a:spcPct val="90000"/>
              </a:lnSpc>
            </a:pPr>
            <a:r>
              <a:rPr lang="en-US" altLang="en-US" sz="2800" b="1">
                <a:latin typeface="Arial" panose="020B0604020202020204" pitchFamily="34" charset="0"/>
              </a:rPr>
              <a:t>Achondroplasia ~1/12,000</a:t>
            </a:r>
          </a:p>
          <a:p>
            <a:pPr lvl="1">
              <a:lnSpc>
                <a:spcPct val="90000"/>
              </a:lnSpc>
            </a:pPr>
            <a:r>
              <a:rPr lang="en-US" altLang="en-US" sz="2400" b="1">
                <a:latin typeface="Arial" panose="020B0604020202020204" pitchFamily="34" charset="0"/>
              </a:rPr>
              <a:t>most frequent form of short-limb dwarfism</a:t>
            </a:r>
          </a:p>
        </p:txBody>
      </p:sp>
      <p:sp>
        <p:nvSpPr>
          <p:cNvPr id="96261" name="Line 4"/>
          <p:cNvSpPr>
            <a:spLocks noChangeShapeType="1"/>
          </p:cNvSpPr>
          <p:nvPr/>
        </p:nvSpPr>
        <p:spPr bwMode="auto">
          <a:xfrm>
            <a:off x="271463" y="1300163"/>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sp>
        <p:nvSpPr>
          <p:cNvPr id="98307" name="Rectangle 2"/>
          <p:cNvSpPr>
            <a:spLocks noGrp="1" noChangeArrowheads="1"/>
          </p:cNvSpPr>
          <p:nvPr>
            <p:ph type="title" idx="4294967295"/>
          </p:nvPr>
        </p:nvSpPr>
        <p:spPr>
          <a:xfrm>
            <a:off x="685800" y="-38100"/>
            <a:ext cx="7772400" cy="1143000"/>
          </a:xfrm>
        </p:spPr>
        <p:txBody>
          <a:bodyPr/>
          <a:lstStyle/>
          <a:p>
            <a:r>
              <a:rPr lang="en-US" altLang="en-US" sz="3600" b="1">
                <a:latin typeface="Comic Sans MS" panose="030F0702030302020204" pitchFamily="66" charset="0"/>
              </a:rPr>
              <a:t>Autosomal Recessive</a:t>
            </a:r>
          </a:p>
        </p:txBody>
      </p:sp>
      <p:sp>
        <p:nvSpPr>
          <p:cNvPr id="98308" name="Rectangle 3"/>
          <p:cNvSpPr>
            <a:spLocks noGrp="1" noChangeArrowheads="1"/>
          </p:cNvSpPr>
          <p:nvPr>
            <p:ph type="body" idx="4294967295"/>
          </p:nvPr>
        </p:nvSpPr>
        <p:spPr>
          <a:xfrm>
            <a:off x="4302125" y="1447800"/>
            <a:ext cx="4449763" cy="5029200"/>
          </a:xfrm>
        </p:spPr>
        <p:txBody>
          <a:bodyPr/>
          <a:lstStyle/>
          <a:p>
            <a:pPr>
              <a:lnSpc>
                <a:spcPct val="90000"/>
              </a:lnSpc>
              <a:spcBef>
                <a:spcPct val="0"/>
              </a:spcBef>
              <a:spcAft>
                <a:spcPct val="40000"/>
              </a:spcAft>
            </a:pPr>
            <a:r>
              <a:rPr lang="en-US" altLang="en-US" sz="2400" b="1">
                <a:latin typeface="Arial" panose="020B0604020202020204" pitchFamily="34" charset="0"/>
              </a:rPr>
              <a:t>Phenotype expressed in homozygote</a:t>
            </a:r>
          </a:p>
          <a:p>
            <a:pPr>
              <a:lnSpc>
                <a:spcPct val="90000"/>
              </a:lnSpc>
              <a:spcBef>
                <a:spcPct val="0"/>
              </a:spcBef>
              <a:spcAft>
                <a:spcPct val="40000"/>
              </a:spcAft>
            </a:pPr>
            <a:r>
              <a:rPr lang="en-US" altLang="en-US" sz="2400" b="1">
                <a:latin typeface="Arial" panose="020B0604020202020204" pitchFamily="34" charset="0"/>
              </a:rPr>
              <a:t>Parents are heterozygous and </a:t>
            </a:r>
            <a:r>
              <a:rPr lang="en-US" altLang="en-US" sz="2400" b="1"/>
              <a:t>“</a:t>
            </a:r>
            <a:r>
              <a:rPr lang="en-US" altLang="en-US" sz="2400" b="1">
                <a:latin typeface="Arial" panose="020B0604020202020204" pitchFamily="34" charset="0"/>
              </a:rPr>
              <a:t>normal</a:t>
            </a:r>
            <a:r>
              <a:rPr lang="en-US" altLang="en-US" sz="2400" b="1"/>
              <a:t>”</a:t>
            </a:r>
            <a:endParaRPr lang="en-US" altLang="en-US" sz="2400" b="1">
              <a:latin typeface="Arial" panose="020B0604020202020204" pitchFamily="34" charset="0"/>
            </a:endParaRPr>
          </a:p>
          <a:p>
            <a:pPr>
              <a:lnSpc>
                <a:spcPct val="90000"/>
              </a:lnSpc>
              <a:spcBef>
                <a:spcPct val="0"/>
              </a:spcBef>
              <a:spcAft>
                <a:spcPct val="40000"/>
              </a:spcAft>
            </a:pPr>
            <a:r>
              <a:rPr lang="en-US" altLang="en-US" sz="2400" b="1">
                <a:latin typeface="Arial" panose="020B0604020202020204" pitchFamily="34" charset="0"/>
              </a:rPr>
              <a:t>Males and females equally at risk</a:t>
            </a:r>
          </a:p>
          <a:p>
            <a:pPr>
              <a:lnSpc>
                <a:spcPct val="90000"/>
              </a:lnSpc>
              <a:spcBef>
                <a:spcPct val="0"/>
              </a:spcBef>
              <a:spcAft>
                <a:spcPct val="40000"/>
              </a:spcAft>
            </a:pPr>
            <a:r>
              <a:rPr lang="en-US" altLang="en-US" sz="2400" b="1">
                <a:latin typeface="Arial" panose="020B0604020202020204" pitchFamily="34" charset="0"/>
              </a:rPr>
              <a:t>Two carriers have a 25% risk of producing an affected child</a:t>
            </a:r>
          </a:p>
          <a:p>
            <a:pPr>
              <a:lnSpc>
                <a:spcPct val="90000"/>
              </a:lnSpc>
              <a:spcBef>
                <a:spcPct val="0"/>
              </a:spcBef>
              <a:spcAft>
                <a:spcPct val="40000"/>
              </a:spcAft>
            </a:pPr>
            <a:r>
              <a:rPr lang="en-US" altLang="en-US" sz="2400" b="1">
                <a:latin typeface="Arial" panose="020B0604020202020204" pitchFamily="34" charset="0"/>
              </a:rPr>
              <a:t>Many ethnic groups have clusters of disease</a:t>
            </a:r>
          </a:p>
          <a:p>
            <a:pPr>
              <a:lnSpc>
                <a:spcPct val="90000"/>
              </a:lnSpc>
              <a:spcBef>
                <a:spcPct val="0"/>
              </a:spcBef>
              <a:spcAft>
                <a:spcPct val="40000"/>
              </a:spcAft>
            </a:pPr>
            <a:r>
              <a:rPr lang="en-US" altLang="en-US" sz="2400" b="1">
                <a:latin typeface="Arial" panose="020B0604020202020204" pitchFamily="34" charset="0"/>
              </a:rPr>
              <a:t>New mutations very unusual</a:t>
            </a:r>
          </a:p>
        </p:txBody>
      </p:sp>
      <p:sp>
        <p:nvSpPr>
          <p:cNvPr id="98309" name="Line 4"/>
          <p:cNvSpPr>
            <a:spLocks noChangeShapeType="1"/>
          </p:cNvSpPr>
          <p:nvPr/>
        </p:nvSpPr>
        <p:spPr bwMode="auto">
          <a:xfrm>
            <a:off x="271463" y="1042988"/>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8310" name="Rectangle 5"/>
          <p:cNvSpPr>
            <a:spLocks noChangeArrowheads="1"/>
          </p:cNvSpPr>
          <p:nvPr/>
        </p:nvSpPr>
        <p:spPr bwMode="auto">
          <a:xfrm>
            <a:off x="2655888" y="2209800"/>
            <a:ext cx="647700" cy="765175"/>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tx1"/>
              </a:solidFill>
              <a:latin typeface="Arial" panose="020B0604020202020204" pitchFamily="34" charset="0"/>
            </a:endParaRPr>
          </a:p>
        </p:txBody>
      </p:sp>
      <p:sp>
        <p:nvSpPr>
          <p:cNvPr id="98311" name="Line 6"/>
          <p:cNvSpPr>
            <a:spLocks noChangeShapeType="1"/>
          </p:cNvSpPr>
          <p:nvPr/>
        </p:nvSpPr>
        <p:spPr bwMode="auto">
          <a:xfrm>
            <a:off x="1738313" y="2592388"/>
            <a:ext cx="917575"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8312" name="Line 7"/>
          <p:cNvSpPr>
            <a:spLocks noChangeShapeType="1"/>
          </p:cNvSpPr>
          <p:nvPr/>
        </p:nvSpPr>
        <p:spPr bwMode="auto">
          <a:xfrm>
            <a:off x="2170113" y="2592388"/>
            <a:ext cx="0" cy="102076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8313" name="Line 8"/>
          <p:cNvSpPr>
            <a:spLocks noChangeShapeType="1"/>
          </p:cNvSpPr>
          <p:nvPr/>
        </p:nvSpPr>
        <p:spPr bwMode="auto">
          <a:xfrm>
            <a:off x="822325" y="3613150"/>
            <a:ext cx="2857500"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8314" name="Oval 9"/>
          <p:cNvSpPr>
            <a:spLocks noChangeArrowheads="1"/>
          </p:cNvSpPr>
          <p:nvPr/>
        </p:nvSpPr>
        <p:spPr bwMode="auto">
          <a:xfrm>
            <a:off x="498475" y="4059238"/>
            <a:ext cx="647700" cy="765175"/>
          </a:xfrm>
          <a:prstGeom prst="ellipse">
            <a:avLst/>
          </a:prstGeom>
          <a:solidFill>
            <a:schemeClr val="bg2"/>
          </a:solidFill>
          <a:ln w="12700">
            <a:solidFill>
              <a:schemeClr val="bg2"/>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tx1"/>
              </a:solidFill>
              <a:latin typeface="Arial" panose="020B0604020202020204" pitchFamily="34" charset="0"/>
            </a:endParaRPr>
          </a:p>
        </p:txBody>
      </p:sp>
      <p:sp>
        <p:nvSpPr>
          <p:cNvPr id="98315" name="Rectangle 10"/>
          <p:cNvSpPr>
            <a:spLocks noChangeArrowheads="1"/>
          </p:cNvSpPr>
          <p:nvPr/>
        </p:nvSpPr>
        <p:spPr bwMode="auto">
          <a:xfrm>
            <a:off x="1522413" y="4059238"/>
            <a:ext cx="647700" cy="765175"/>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tx1"/>
              </a:solidFill>
              <a:latin typeface="Arial" panose="020B0604020202020204" pitchFamily="34" charset="0"/>
            </a:endParaRPr>
          </a:p>
        </p:txBody>
      </p:sp>
      <p:sp>
        <p:nvSpPr>
          <p:cNvPr id="98316" name="Rectangle 11"/>
          <p:cNvSpPr>
            <a:spLocks noChangeArrowheads="1"/>
          </p:cNvSpPr>
          <p:nvPr/>
        </p:nvSpPr>
        <p:spPr bwMode="auto">
          <a:xfrm>
            <a:off x="3357563" y="4059238"/>
            <a:ext cx="646112" cy="765175"/>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tx1"/>
              </a:solidFill>
              <a:latin typeface="Arial" panose="020B0604020202020204" pitchFamily="34" charset="0"/>
            </a:endParaRPr>
          </a:p>
        </p:txBody>
      </p:sp>
      <p:sp>
        <p:nvSpPr>
          <p:cNvPr id="98317" name="Line 12"/>
          <p:cNvSpPr>
            <a:spLocks noChangeShapeType="1"/>
          </p:cNvSpPr>
          <p:nvPr/>
        </p:nvSpPr>
        <p:spPr bwMode="auto">
          <a:xfrm>
            <a:off x="822325" y="3613150"/>
            <a:ext cx="0" cy="446088"/>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8318" name="Line 13"/>
          <p:cNvSpPr>
            <a:spLocks noChangeShapeType="1"/>
          </p:cNvSpPr>
          <p:nvPr/>
        </p:nvSpPr>
        <p:spPr bwMode="auto">
          <a:xfrm>
            <a:off x="1846263" y="3613150"/>
            <a:ext cx="0" cy="44608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8319" name="Line 14"/>
          <p:cNvSpPr>
            <a:spLocks noChangeShapeType="1"/>
          </p:cNvSpPr>
          <p:nvPr/>
        </p:nvSpPr>
        <p:spPr bwMode="auto">
          <a:xfrm>
            <a:off x="2817813" y="3613150"/>
            <a:ext cx="0" cy="446088"/>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8320" name="Line 15"/>
          <p:cNvSpPr>
            <a:spLocks noChangeShapeType="1"/>
          </p:cNvSpPr>
          <p:nvPr/>
        </p:nvSpPr>
        <p:spPr bwMode="auto">
          <a:xfrm>
            <a:off x="3679825" y="3613150"/>
            <a:ext cx="0" cy="446088"/>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98321" name="Text Box 16"/>
          <p:cNvSpPr txBox="1">
            <a:spLocks noChangeArrowheads="1"/>
          </p:cNvSpPr>
          <p:nvPr/>
        </p:nvSpPr>
        <p:spPr bwMode="auto">
          <a:xfrm>
            <a:off x="2708275" y="2895600"/>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b="0">
                <a:solidFill>
                  <a:schemeClr val="bg2"/>
                </a:solidFill>
                <a:latin typeface="Arial" panose="020B0604020202020204" pitchFamily="34" charset="0"/>
              </a:rPr>
              <a:t>Aa</a:t>
            </a:r>
          </a:p>
        </p:txBody>
      </p:sp>
      <p:sp>
        <p:nvSpPr>
          <p:cNvPr id="98322" name="Text Box 17"/>
          <p:cNvSpPr txBox="1">
            <a:spLocks noChangeArrowheads="1"/>
          </p:cNvSpPr>
          <p:nvPr/>
        </p:nvSpPr>
        <p:spPr bwMode="auto">
          <a:xfrm>
            <a:off x="1160463" y="2895600"/>
            <a:ext cx="5572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b="0">
                <a:solidFill>
                  <a:schemeClr val="bg2"/>
                </a:solidFill>
                <a:latin typeface="Arial" panose="020B0604020202020204" pitchFamily="34" charset="0"/>
              </a:rPr>
              <a:t>Aa</a:t>
            </a:r>
          </a:p>
        </p:txBody>
      </p:sp>
      <p:sp>
        <p:nvSpPr>
          <p:cNvPr id="98323" name="Text Box 18"/>
          <p:cNvSpPr txBox="1">
            <a:spLocks noChangeArrowheads="1"/>
          </p:cNvSpPr>
          <p:nvPr/>
        </p:nvSpPr>
        <p:spPr bwMode="auto">
          <a:xfrm>
            <a:off x="584200" y="4800600"/>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b="0">
                <a:solidFill>
                  <a:schemeClr val="bg2"/>
                </a:solidFill>
                <a:latin typeface="Arial" panose="020B0604020202020204" pitchFamily="34" charset="0"/>
              </a:rPr>
              <a:t>aa</a:t>
            </a:r>
          </a:p>
        </p:txBody>
      </p:sp>
      <p:sp>
        <p:nvSpPr>
          <p:cNvPr id="98324" name="Text Box 19"/>
          <p:cNvSpPr txBox="1">
            <a:spLocks noChangeArrowheads="1"/>
          </p:cNvSpPr>
          <p:nvPr/>
        </p:nvSpPr>
        <p:spPr bwMode="auto">
          <a:xfrm>
            <a:off x="1565275" y="4800600"/>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b="0">
                <a:solidFill>
                  <a:schemeClr val="bg2"/>
                </a:solidFill>
                <a:latin typeface="Arial" panose="020B0604020202020204" pitchFamily="34" charset="0"/>
              </a:rPr>
              <a:t>Aa</a:t>
            </a:r>
          </a:p>
        </p:txBody>
      </p:sp>
      <p:sp>
        <p:nvSpPr>
          <p:cNvPr id="98325" name="Text Box 20"/>
          <p:cNvSpPr txBox="1">
            <a:spLocks noChangeArrowheads="1"/>
          </p:cNvSpPr>
          <p:nvPr/>
        </p:nvSpPr>
        <p:spPr bwMode="auto">
          <a:xfrm>
            <a:off x="2555875" y="4800600"/>
            <a:ext cx="557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b="0">
                <a:solidFill>
                  <a:schemeClr val="bg2"/>
                </a:solidFill>
                <a:latin typeface="Arial" panose="020B0604020202020204" pitchFamily="34" charset="0"/>
              </a:rPr>
              <a:t>Aa</a:t>
            </a:r>
          </a:p>
        </p:txBody>
      </p:sp>
      <p:sp>
        <p:nvSpPr>
          <p:cNvPr id="98326" name="Text Box 21"/>
          <p:cNvSpPr txBox="1">
            <a:spLocks noChangeArrowheads="1"/>
          </p:cNvSpPr>
          <p:nvPr/>
        </p:nvSpPr>
        <p:spPr bwMode="auto">
          <a:xfrm>
            <a:off x="3394075" y="480060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b="0">
                <a:solidFill>
                  <a:schemeClr val="bg2"/>
                </a:solidFill>
                <a:latin typeface="Arial" panose="020B0604020202020204" pitchFamily="34" charset="0"/>
              </a:rPr>
              <a:t>AA</a:t>
            </a:r>
          </a:p>
        </p:txBody>
      </p:sp>
      <p:sp>
        <p:nvSpPr>
          <p:cNvPr id="98327" name="Oval 22"/>
          <p:cNvSpPr>
            <a:spLocks noChangeArrowheads="1"/>
          </p:cNvSpPr>
          <p:nvPr/>
        </p:nvSpPr>
        <p:spPr bwMode="auto">
          <a:xfrm>
            <a:off x="2492375" y="4090988"/>
            <a:ext cx="647700" cy="673100"/>
          </a:xfrm>
          <a:prstGeom prst="ellipse">
            <a:avLst/>
          </a:prstGeom>
          <a:noFill/>
          <a:ln w="12700">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tx1"/>
              </a:solidFill>
              <a:latin typeface="Arial" panose="020B0604020202020204" pitchFamily="34" charset="0"/>
            </a:endParaRPr>
          </a:p>
        </p:txBody>
      </p:sp>
      <p:sp>
        <p:nvSpPr>
          <p:cNvPr id="98328" name="Oval 23"/>
          <p:cNvSpPr>
            <a:spLocks noChangeArrowheads="1"/>
          </p:cNvSpPr>
          <p:nvPr/>
        </p:nvSpPr>
        <p:spPr bwMode="auto">
          <a:xfrm>
            <a:off x="1041400" y="2262188"/>
            <a:ext cx="647700" cy="673100"/>
          </a:xfrm>
          <a:prstGeom prst="ellipse">
            <a:avLst/>
          </a:prstGeom>
          <a:noFill/>
          <a:ln w="12700">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tx1"/>
              </a:solidFill>
              <a:latin typeface="Arial" panose="020B0604020202020204" pitchFamily="34"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pic>
        <p:nvPicPr>
          <p:cNvPr id="99331" name="Picture 2" descr="north0003"/>
          <p:cNvPicPr>
            <a:picLocks noChangeAspect="1" noChangeArrowheads="1"/>
          </p:cNvPicPr>
          <p:nvPr/>
        </p:nvPicPr>
        <p:blipFill>
          <a:blip r:embed="rId2">
            <a:extLst>
              <a:ext uri="{28A0092B-C50C-407E-A947-70E740481C1C}">
                <a14:useLocalDpi xmlns:a14="http://schemas.microsoft.com/office/drawing/2010/main" val="0"/>
              </a:ext>
            </a:extLst>
          </a:blip>
          <a:srcRect l="4561" t="72314" r="26367"/>
          <a:stretch>
            <a:fillRect/>
          </a:stretch>
        </p:blipFill>
        <p:spPr bwMode="auto">
          <a:xfrm>
            <a:off x="1262063" y="2039938"/>
            <a:ext cx="6491287"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2" name="Rectangle 3"/>
          <p:cNvSpPr>
            <a:spLocks noGrp="1" noChangeArrowheads="1"/>
          </p:cNvSpPr>
          <p:nvPr>
            <p:ph type="title" idx="4294967295"/>
          </p:nvPr>
        </p:nvSpPr>
        <p:spPr>
          <a:xfrm>
            <a:off x="685800" y="-38100"/>
            <a:ext cx="7772400" cy="1143000"/>
          </a:xfrm>
          <a:noFill/>
        </p:spPr>
        <p:txBody>
          <a:bodyPr/>
          <a:lstStyle/>
          <a:p>
            <a:r>
              <a:rPr lang="en-US" altLang="en-US" sz="4000" b="1">
                <a:latin typeface="Comic Sans MS" panose="030F0702030302020204" pitchFamily="66" charset="0"/>
              </a:rPr>
              <a:t>Autosomal Recessive</a:t>
            </a:r>
          </a:p>
        </p:txBody>
      </p:sp>
      <p:sp>
        <p:nvSpPr>
          <p:cNvPr id="99333" name="Line 4"/>
          <p:cNvSpPr>
            <a:spLocks noChangeShapeType="1"/>
          </p:cNvSpPr>
          <p:nvPr/>
        </p:nvSpPr>
        <p:spPr bwMode="auto">
          <a:xfrm>
            <a:off x="271463" y="1042988"/>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9334" name="Line 5"/>
          <p:cNvSpPr>
            <a:spLocks noChangeShapeType="1"/>
          </p:cNvSpPr>
          <p:nvPr/>
        </p:nvSpPr>
        <p:spPr bwMode="auto">
          <a:xfrm>
            <a:off x="1738313" y="2592388"/>
            <a:ext cx="9175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Line 2"/>
          <p:cNvSpPr>
            <a:spLocks noChangeShapeType="1"/>
          </p:cNvSpPr>
          <p:nvPr/>
        </p:nvSpPr>
        <p:spPr bwMode="auto">
          <a:xfrm>
            <a:off x="271463" y="12192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0355" name="Rectangle 3"/>
          <p:cNvSpPr>
            <a:spLocks noChangeArrowheads="1"/>
          </p:cNvSpPr>
          <p:nvPr/>
        </p:nvSpPr>
        <p:spPr bwMode="auto">
          <a:xfrm>
            <a:off x="812800" y="1524000"/>
            <a:ext cx="3987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endParaRPr lang="en-US" altLang="en-US" sz="2800">
              <a:solidFill>
                <a:schemeClr val="bg2"/>
              </a:solidFill>
              <a:latin typeface="Arial" panose="020B0604020202020204" pitchFamily="34" charset="0"/>
              <a:cs typeface="Times New Roman" panose="02020603050405020304" pitchFamily="18" charset="0"/>
            </a:endParaRPr>
          </a:p>
          <a:p>
            <a:pPr>
              <a:buFontTx/>
              <a:buNone/>
            </a:pPr>
            <a:endParaRPr lang="en-US" altLang="en-US" sz="2800">
              <a:solidFill>
                <a:schemeClr val="bg2"/>
              </a:solidFill>
              <a:latin typeface="Arial" panose="020B0604020202020204" pitchFamily="34" charset="0"/>
              <a:cs typeface="Times New Roman" panose="02020603050405020304" pitchFamily="18" charset="0"/>
            </a:endParaRPr>
          </a:p>
          <a:p>
            <a:endParaRPr lang="en-US" altLang="en-US" sz="2800" b="0">
              <a:solidFill>
                <a:schemeClr val="bg2"/>
              </a:solidFill>
              <a:latin typeface="Arial" panose="020B0604020202020204" pitchFamily="34" charset="0"/>
            </a:endParaRPr>
          </a:p>
        </p:txBody>
      </p:sp>
      <p:sp>
        <p:nvSpPr>
          <p:cNvPr id="100356" name="Text Box 4"/>
          <p:cNvSpPr txBox="1">
            <a:spLocks noChangeArrowheads="1"/>
          </p:cNvSpPr>
          <p:nvPr/>
        </p:nvSpPr>
        <p:spPr bwMode="auto">
          <a:xfrm>
            <a:off x="60325" y="95250"/>
            <a:ext cx="9002713" cy="868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150000"/>
              </a:lnSpc>
              <a:spcBef>
                <a:spcPct val="50000"/>
              </a:spcBef>
              <a:spcAft>
                <a:spcPts val="600"/>
              </a:spcAft>
              <a:buClrTx/>
              <a:buFontTx/>
              <a:buNone/>
            </a:pPr>
            <a:r>
              <a:rPr lang="en-US" altLang="en-US" sz="3400">
                <a:solidFill>
                  <a:schemeClr val="bg2"/>
                </a:solidFill>
                <a:latin typeface="Comic Sans MS" panose="030F0702030302020204" pitchFamily="66" charset="0"/>
              </a:rPr>
              <a:t>Example: Oculocutaneous Albinism (OCA)</a:t>
            </a:r>
          </a:p>
        </p:txBody>
      </p:sp>
      <p:sp>
        <p:nvSpPr>
          <p:cNvPr id="100357" name="Rectangle 5"/>
          <p:cNvSpPr>
            <a:spLocks noChangeArrowheads="1"/>
          </p:cNvSpPr>
          <p:nvPr/>
        </p:nvSpPr>
        <p:spPr bwMode="auto">
          <a:xfrm>
            <a:off x="485775" y="1466850"/>
            <a:ext cx="8601075"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ts val="2800"/>
              </a:lnSpc>
              <a:spcBef>
                <a:spcPct val="40000"/>
              </a:spcBef>
              <a:spcAft>
                <a:spcPct val="40000"/>
              </a:spcAft>
            </a:pPr>
            <a:r>
              <a:rPr lang="en-US" altLang="en-US" sz="2800">
                <a:solidFill>
                  <a:schemeClr val="bg2"/>
                </a:solidFill>
                <a:latin typeface="Arial" panose="020B0604020202020204" pitchFamily="34" charset="0"/>
                <a:cs typeface="Times New Roman" panose="02020603050405020304" pitchFamily="18" charset="0"/>
              </a:rPr>
              <a:t>A child affected with OCA Type 1 is usually homozygous for a mutation in the gene encoding tyrosinase, which is an enzyme necessary for the production of melanin</a:t>
            </a:r>
            <a:endParaRPr lang="en-US" altLang="en-US" sz="2800" b="0">
              <a:solidFill>
                <a:schemeClr val="bg2"/>
              </a:solidFill>
              <a:latin typeface="Arial" panose="020B0604020202020204" pitchFamily="34" charset="0"/>
            </a:endParaRPr>
          </a:p>
          <a:p>
            <a:pPr>
              <a:lnSpc>
                <a:spcPts val="2800"/>
              </a:lnSpc>
              <a:spcBef>
                <a:spcPct val="40000"/>
              </a:spcBef>
              <a:spcAft>
                <a:spcPct val="40000"/>
              </a:spcAft>
            </a:pPr>
            <a:r>
              <a:rPr lang="en-US" altLang="en-US" sz="2800">
                <a:solidFill>
                  <a:schemeClr val="bg2"/>
                </a:solidFill>
                <a:latin typeface="Arial" panose="020B0604020202020204" pitchFamily="34" charset="0"/>
                <a:cs typeface="Times New Roman" panose="02020603050405020304" pitchFamily="18" charset="0"/>
              </a:rPr>
              <a:t>Characterized by total or nearly total absence of cutaneous and ocular pigmentation</a:t>
            </a:r>
          </a:p>
          <a:p>
            <a:endParaRPr lang="en-US" altLang="en-US" sz="2800">
              <a:solidFill>
                <a:schemeClr val="bg2"/>
              </a:solidFill>
              <a:latin typeface="Arial" panose="020B0604020202020204" pitchFamily="34" charset="0"/>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sp>
        <p:nvSpPr>
          <p:cNvPr id="101379" name="Line 2"/>
          <p:cNvSpPr>
            <a:spLocks noChangeShapeType="1"/>
          </p:cNvSpPr>
          <p:nvPr/>
        </p:nvSpPr>
        <p:spPr bwMode="auto">
          <a:xfrm>
            <a:off x="203200" y="142875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pic>
        <p:nvPicPr>
          <p:cNvPr id="101380" name="Picture 3" descr="Fig 1"/>
          <p:cNvPicPr>
            <a:picLocks noChangeAspect="1" noChangeArrowheads="1"/>
          </p:cNvPicPr>
          <p:nvPr/>
        </p:nvPicPr>
        <p:blipFill>
          <a:blip r:embed="rId2">
            <a:extLst>
              <a:ext uri="{28A0092B-C50C-407E-A947-70E740481C1C}">
                <a14:useLocalDpi xmlns:a14="http://schemas.microsoft.com/office/drawing/2010/main" val="0"/>
              </a:ext>
            </a:extLst>
          </a:blip>
          <a:srcRect b="3175"/>
          <a:stretch>
            <a:fillRect/>
          </a:stretch>
        </p:blipFill>
        <p:spPr bwMode="auto">
          <a:xfrm>
            <a:off x="493713" y="1898650"/>
            <a:ext cx="4924425" cy="410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1" name="Text Box 4"/>
          <p:cNvSpPr txBox="1">
            <a:spLocks noChangeArrowheads="1"/>
          </p:cNvSpPr>
          <p:nvPr/>
        </p:nvSpPr>
        <p:spPr bwMode="auto">
          <a:xfrm>
            <a:off x="542925" y="209550"/>
            <a:ext cx="812641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80000"/>
              </a:lnSpc>
              <a:spcBef>
                <a:spcPct val="0"/>
              </a:spcBef>
              <a:buClrTx/>
              <a:buFontTx/>
              <a:buNone/>
            </a:pPr>
            <a:r>
              <a:rPr lang="en-US" altLang="en-US" sz="3600">
                <a:solidFill>
                  <a:schemeClr val="bg2"/>
                </a:solidFill>
                <a:latin typeface="Comic Sans MS" panose="030F0702030302020204" pitchFamily="66" charset="0"/>
              </a:rPr>
              <a:t>Pleiotropic effects resulting from tyrosinase deficiency in albinism</a:t>
            </a:r>
          </a:p>
        </p:txBody>
      </p:sp>
      <p:sp>
        <p:nvSpPr>
          <p:cNvPr id="101382" name="Rectangle 5"/>
          <p:cNvSpPr>
            <a:spLocks noChangeArrowheads="1"/>
          </p:cNvSpPr>
          <p:nvPr/>
        </p:nvSpPr>
        <p:spPr bwMode="auto">
          <a:xfrm>
            <a:off x="5495925" y="2800350"/>
            <a:ext cx="3402013"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ts val="3200"/>
              </a:lnSpc>
              <a:spcBef>
                <a:spcPct val="35000"/>
              </a:spcBef>
              <a:spcAft>
                <a:spcPct val="35000"/>
              </a:spcAft>
              <a:buFontTx/>
              <a:buNone/>
            </a:pPr>
            <a:r>
              <a:rPr lang="en-US" altLang="en-US" sz="2800">
                <a:solidFill>
                  <a:schemeClr val="bg2"/>
                </a:solidFill>
                <a:latin typeface="Arial" panose="020B0604020202020204" pitchFamily="34" charset="0"/>
                <a:cs typeface="Times New Roman" panose="02020603050405020304" pitchFamily="18" charset="0"/>
              </a:rPr>
              <a:t>Pleiotropic gene- </a:t>
            </a:r>
            <a:br>
              <a:rPr lang="en-US" altLang="en-US" sz="2800">
                <a:solidFill>
                  <a:schemeClr val="bg2"/>
                </a:solidFill>
                <a:latin typeface="Arial" panose="020B0604020202020204" pitchFamily="34" charset="0"/>
                <a:cs typeface="Times New Roman" panose="02020603050405020304" pitchFamily="18" charset="0"/>
              </a:rPr>
            </a:br>
            <a:r>
              <a:rPr lang="en-US" altLang="en-US" sz="2800">
                <a:solidFill>
                  <a:schemeClr val="bg2"/>
                </a:solidFill>
                <a:latin typeface="Arial" panose="020B0604020202020204" pitchFamily="34" charset="0"/>
                <a:cs typeface="Times New Roman" panose="02020603050405020304" pitchFamily="18" charset="0"/>
              </a:rPr>
              <a:t>A gene that causes a number of distinct phenotypic effects </a:t>
            </a:r>
          </a:p>
          <a:p>
            <a:pPr>
              <a:lnSpc>
                <a:spcPct val="85000"/>
              </a:lnSpc>
              <a:spcBef>
                <a:spcPct val="35000"/>
              </a:spcBef>
              <a:spcAft>
                <a:spcPct val="35000"/>
              </a:spcAft>
            </a:pPr>
            <a:endParaRPr lang="en-US" altLang="en-US" sz="2800">
              <a:solidFill>
                <a:schemeClr val="bg2"/>
              </a:solidFill>
              <a:latin typeface="Arial" panose="020B0604020202020204" pitchFamily="34" charset="0"/>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sp>
        <p:nvSpPr>
          <p:cNvPr id="102403" name="Rectangle 2"/>
          <p:cNvSpPr>
            <a:spLocks noGrp="1" noChangeArrowheads="1"/>
          </p:cNvSpPr>
          <p:nvPr>
            <p:ph type="title" idx="4294967295"/>
          </p:nvPr>
        </p:nvSpPr>
        <p:spPr>
          <a:xfrm>
            <a:off x="19050" y="52388"/>
            <a:ext cx="9144000" cy="1143000"/>
          </a:xfrm>
        </p:spPr>
        <p:txBody>
          <a:bodyPr/>
          <a:lstStyle/>
          <a:p>
            <a:pPr>
              <a:lnSpc>
                <a:spcPct val="90000"/>
              </a:lnSpc>
            </a:pPr>
            <a:r>
              <a:rPr lang="en-US" altLang="en-US" sz="3200" b="1">
                <a:latin typeface="Comic Sans MS" panose="030F0702030302020204" pitchFamily="66" charset="0"/>
              </a:rPr>
              <a:t>Other Common Autosomal Recessive Diseases</a:t>
            </a:r>
          </a:p>
        </p:txBody>
      </p:sp>
      <p:sp>
        <p:nvSpPr>
          <p:cNvPr id="102404" name="Rectangle 3"/>
          <p:cNvSpPr>
            <a:spLocks noGrp="1" noChangeArrowheads="1"/>
          </p:cNvSpPr>
          <p:nvPr>
            <p:ph type="body" idx="4294967295"/>
          </p:nvPr>
        </p:nvSpPr>
        <p:spPr>
          <a:xfrm>
            <a:off x="387350" y="1438275"/>
            <a:ext cx="8518525" cy="5334000"/>
          </a:xfrm>
        </p:spPr>
        <p:txBody>
          <a:bodyPr/>
          <a:lstStyle/>
          <a:p>
            <a:pPr>
              <a:lnSpc>
                <a:spcPct val="90000"/>
              </a:lnSpc>
              <a:spcBef>
                <a:spcPct val="30000"/>
              </a:spcBef>
              <a:spcAft>
                <a:spcPct val="30000"/>
              </a:spcAft>
            </a:pPr>
            <a:r>
              <a:rPr lang="en-US" altLang="en-US" sz="2800" b="1">
                <a:latin typeface="Arial" panose="020B0604020202020204" pitchFamily="34" charset="0"/>
              </a:rPr>
              <a:t>Cystic fibrosis -- ~1/3,600 Whites</a:t>
            </a:r>
            <a:r>
              <a:rPr lang="en-US" altLang="en-US" b="1">
                <a:latin typeface="Arial" panose="020B0604020202020204" pitchFamily="34" charset="0"/>
              </a:rPr>
              <a:t> </a:t>
            </a:r>
          </a:p>
          <a:p>
            <a:pPr lvl="1">
              <a:lnSpc>
                <a:spcPct val="90000"/>
              </a:lnSpc>
              <a:spcBef>
                <a:spcPct val="30000"/>
              </a:spcBef>
              <a:spcAft>
                <a:spcPct val="30000"/>
              </a:spcAft>
            </a:pPr>
            <a:r>
              <a:rPr lang="en-US" altLang="en-US" sz="2000" b="1">
                <a:latin typeface="Arial" panose="020B0604020202020204" pitchFamily="34" charset="0"/>
              </a:rPr>
              <a:t>Condition causing abnormally thick, sticky secretions in the glands that produce mucus, tears, sweat, saliva and digestive juices</a:t>
            </a:r>
          </a:p>
          <a:p>
            <a:pPr>
              <a:lnSpc>
                <a:spcPct val="90000"/>
              </a:lnSpc>
              <a:spcBef>
                <a:spcPct val="30000"/>
              </a:spcBef>
              <a:spcAft>
                <a:spcPct val="30000"/>
              </a:spcAft>
            </a:pPr>
            <a:r>
              <a:rPr lang="en-US" altLang="en-US" sz="2800" b="1">
                <a:latin typeface="Arial" panose="020B0604020202020204" pitchFamily="34" charset="0"/>
              </a:rPr>
              <a:t>Gaucher</a:t>
            </a:r>
            <a:r>
              <a:rPr lang="en-US" altLang="en-US" sz="2800" b="1"/>
              <a:t>’</a:t>
            </a:r>
            <a:r>
              <a:rPr lang="en-US" altLang="en-US" sz="2800" b="1">
                <a:latin typeface="Arial" panose="020B0604020202020204" pitchFamily="34" charset="0"/>
              </a:rPr>
              <a:t>s disease -- 1/1,000 (Ashkenazi Jews) 1/50,000</a:t>
            </a:r>
          </a:p>
          <a:p>
            <a:pPr lvl="1">
              <a:lnSpc>
                <a:spcPct val="90000"/>
              </a:lnSpc>
              <a:spcBef>
                <a:spcPct val="30000"/>
              </a:spcBef>
              <a:spcAft>
                <a:spcPct val="30000"/>
              </a:spcAft>
            </a:pPr>
            <a:r>
              <a:rPr lang="en-US" altLang="en-US" sz="2000" b="1">
                <a:latin typeface="Arial" panose="020B0604020202020204" pitchFamily="34" charset="0"/>
              </a:rPr>
              <a:t>Associated with hematological abnormalitie with hypersplenism, bone lesions, and skin pigmentation</a:t>
            </a:r>
          </a:p>
          <a:p>
            <a:pPr>
              <a:lnSpc>
                <a:spcPct val="90000"/>
              </a:lnSpc>
              <a:spcBef>
                <a:spcPct val="30000"/>
              </a:spcBef>
              <a:spcAft>
                <a:spcPct val="30000"/>
              </a:spcAft>
            </a:pPr>
            <a:r>
              <a:rPr lang="en-US" altLang="en-US" b="1">
                <a:latin typeface="Arial" panose="020B0604020202020204" pitchFamily="34" charset="0"/>
              </a:rPr>
              <a:t> </a:t>
            </a:r>
            <a:r>
              <a:rPr lang="en-US" altLang="en-US" sz="2800" b="1">
                <a:latin typeface="Arial" panose="020B0604020202020204" pitchFamily="34" charset="0"/>
              </a:rPr>
              <a:t>PKU (Maternal PKU) -- 1/20,000</a:t>
            </a:r>
          </a:p>
          <a:p>
            <a:pPr lvl="1">
              <a:lnSpc>
                <a:spcPct val="90000"/>
              </a:lnSpc>
              <a:spcBef>
                <a:spcPct val="30000"/>
              </a:spcBef>
              <a:spcAft>
                <a:spcPct val="30000"/>
              </a:spcAft>
            </a:pPr>
            <a:r>
              <a:rPr lang="en-US" altLang="en-US" sz="2000" b="1">
                <a:latin typeface="Arial" panose="020B0604020202020204" pitchFamily="34" charset="0"/>
              </a:rPr>
              <a:t>Resulting from a deficiency of phenylalanine hydroxylase and characterized by mental retardation</a:t>
            </a:r>
          </a:p>
          <a:p>
            <a:pPr lvl="1">
              <a:buFontTx/>
              <a:buNone/>
            </a:pPr>
            <a:endParaRPr lang="en-US" altLang="en-US" sz="2000" b="1">
              <a:latin typeface="Arial" panose="020B0604020202020204" pitchFamily="34" charset="0"/>
            </a:endParaRPr>
          </a:p>
        </p:txBody>
      </p:sp>
      <p:sp>
        <p:nvSpPr>
          <p:cNvPr id="102405" name="Line 4"/>
          <p:cNvSpPr>
            <a:spLocks noChangeShapeType="1"/>
          </p:cNvSpPr>
          <p:nvPr/>
        </p:nvSpPr>
        <p:spPr bwMode="auto">
          <a:xfrm>
            <a:off x="271463" y="11049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bg2"/>
              </a:solidFill>
              <a:latin typeface="Arial" panose="020B0604020202020204" pitchFamily="34" charset="0"/>
            </a:endParaRPr>
          </a:p>
          <a:p>
            <a:pPr algn="ctr">
              <a:spcBef>
                <a:spcPct val="0"/>
              </a:spcBef>
              <a:buClrTx/>
              <a:buFontTx/>
              <a:buNone/>
            </a:pPr>
            <a:r>
              <a:rPr lang="en-US" altLang="en-US" sz="1200">
                <a:solidFill>
                  <a:schemeClr val="bg2"/>
                </a:solidFill>
                <a:latin typeface="Arial" panose="020B0604020202020204" pitchFamily="34" charset="0"/>
              </a:rPr>
              <a:t>EPI 743, 01/17/2008</a:t>
            </a:r>
          </a:p>
          <a:p>
            <a:pPr algn="ctr">
              <a:spcBef>
                <a:spcPct val="0"/>
              </a:spcBef>
              <a:buClrTx/>
              <a:buFontTx/>
              <a:buNone/>
            </a:pPr>
            <a:endParaRPr lang="en-US" altLang="en-US" sz="1200">
              <a:solidFill>
                <a:schemeClr val="bg2"/>
              </a:solidFill>
              <a:latin typeface="Arial" panose="020B0604020202020204" pitchFamily="34" charset="0"/>
            </a:endParaRPr>
          </a:p>
        </p:txBody>
      </p:sp>
      <p:sp>
        <p:nvSpPr>
          <p:cNvPr id="104451" name="Text Box 2"/>
          <p:cNvSpPr txBox="1">
            <a:spLocks noChangeArrowheads="1"/>
          </p:cNvSpPr>
          <p:nvPr/>
        </p:nvSpPr>
        <p:spPr bwMode="auto">
          <a:xfrm>
            <a:off x="258763" y="-68263"/>
            <a:ext cx="8602662"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150000"/>
              </a:lnSpc>
              <a:spcBef>
                <a:spcPct val="50000"/>
              </a:spcBef>
              <a:spcAft>
                <a:spcPts val="600"/>
              </a:spcAft>
              <a:buClrTx/>
              <a:buFontTx/>
              <a:buNone/>
            </a:pPr>
            <a:r>
              <a:rPr lang="en-US" altLang="en-US" sz="3600">
                <a:solidFill>
                  <a:schemeClr val="bg2"/>
                </a:solidFill>
                <a:latin typeface="Comic Sans MS" panose="030F0702030302020204" pitchFamily="66" charset="0"/>
              </a:rPr>
              <a:t>X-Linked Recessive Inheritance</a:t>
            </a:r>
          </a:p>
        </p:txBody>
      </p:sp>
      <p:sp>
        <p:nvSpPr>
          <p:cNvPr id="104452" name="Line 3"/>
          <p:cNvSpPr>
            <a:spLocks noChangeShapeType="1"/>
          </p:cNvSpPr>
          <p:nvPr/>
        </p:nvSpPr>
        <p:spPr bwMode="auto">
          <a:xfrm>
            <a:off x="271463" y="835025"/>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53" name="Rectangle 4"/>
          <p:cNvSpPr>
            <a:spLocks noChangeArrowheads="1"/>
          </p:cNvSpPr>
          <p:nvPr/>
        </p:nvSpPr>
        <p:spPr bwMode="auto">
          <a:xfrm>
            <a:off x="5340350" y="806450"/>
            <a:ext cx="4003675"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ts val="2800"/>
              </a:lnSpc>
              <a:spcBef>
                <a:spcPts val="700"/>
              </a:spcBef>
              <a:spcAft>
                <a:spcPts val="700"/>
              </a:spcAft>
            </a:pPr>
            <a:r>
              <a:rPr lang="en-US" altLang="en-US" sz="2400">
                <a:solidFill>
                  <a:schemeClr val="bg2"/>
                </a:solidFill>
                <a:latin typeface="Arial" panose="020B0604020202020204" pitchFamily="34" charset="0"/>
                <a:cs typeface="Times New Roman" panose="02020603050405020304" pitchFamily="18" charset="0"/>
              </a:rPr>
              <a:t>Primarily affects males</a:t>
            </a:r>
          </a:p>
          <a:p>
            <a:pPr>
              <a:lnSpc>
                <a:spcPts val="2800"/>
              </a:lnSpc>
              <a:spcBef>
                <a:spcPts val="700"/>
              </a:spcBef>
              <a:spcAft>
                <a:spcPts val="700"/>
              </a:spcAft>
            </a:pPr>
            <a:r>
              <a:rPr lang="en-US" altLang="en-US" sz="2400">
                <a:solidFill>
                  <a:schemeClr val="bg2"/>
                </a:solidFill>
                <a:latin typeface="Arial" panose="020B0604020202020204" pitchFamily="34" charset="0"/>
                <a:cs typeface="Times New Roman" panose="02020603050405020304" pitchFamily="18" charset="0"/>
              </a:rPr>
              <a:t>Carrier females pass trait to half their sons and carrier status to half their daughters </a:t>
            </a:r>
          </a:p>
          <a:p>
            <a:pPr>
              <a:lnSpc>
                <a:spcPts val="2800"/>
              </a:lnSpc>
              <a:spcBef>
                <a:spcPts val="700"/>
              </a:spcBef>
              <a:spcAft>
                <a:spcPts val="700"/>
              </a:spcAft>
            </a:pPr>
            <a:r>
              <a:rPr lang="en-US" altLang="en-US" sz="2400">
                <a:solidFill>
                  <a:schemeClr val="bg2"/>
                </a:solidFill>
                <a:latin typeface="Arial" panose="020B0604020202020204" pitchFamily="34" charset="0"/>
              </a:rPr>
              <a:t>Phenotype generally expressed in hemizygous individuals </a:t>
            </a:r>
            <a:r>
              <a:rPr lang="en-US" altLang="en-US">
                <a:solidFill>
                  <a:schemeClr val="bg2"/>
                </a:solidFill>
              </a:rPr>
              <a:t> </a:t>
            </a:r>
          </a:p>
          <a:p>
            <a:pPr>
              <a:lnSpc>
                <a:spcPts val="2800"/>
              </a:lnSpc>
              <a:spcBef>
                <a:spcPts val="700"/>
              </a:spcBef>
              <a:spcAft>
                <a:spcPts val="700"/>
              </a:spcAft>
            </a:pPr>
            <a:r>
              <a:rPr lang="en-US" altLang="en-US" sz="2400">
                <a:solidFill>
                  <a:schemeClr val="bg2"/>
                </a:solidFill>
                <a:latin typeface="Arial" panose="020B0604020202020204" pitchFamily="34" charset="0"/>
              </a:rPr>
              <a:t>Affected males are at risk of transmitting the disorder to their grandsons through their obligate carrier daughters</a:t>
            </a:r>
            <a:endParaRPr lang="en-US" altLang="en-US" sz="2400">
              <a:solidFill>
                <a:schemeClr val="bg2"/>
              </a:solidFill>
              <a:latin typeface="Arial" panose="020B0604020202020204" pitchFamily="34" charset="0"/>
              <a:cs typeface="Times New Roman" panose="02020603050405020304" pitchFamily="18" charset="0"/>
            </a:endParaRPr>
          </a:p>
          <a:p>
            <a:endParaRPr lang="en-US" altLang="en-US" sz="2400" b="0">
              <a:solidFill>
                <a:schemeClr val="bg2"/>
              </a:solidFill>
              <a:latin typeface="Arial" panose="020B0604020202020204" pitchFamily="34" charset="0"/>
            </a:endParaRPr>
          </a:p>
        </p:txBody>
      </p:sp>
      <p:sp>
        <p:nvSpPr>
          <p:cNvPr id="104454" name="Text Box 5"/>
          <p:cNvSpPr txBox="1">
            <a:spLocks noChangeArrowheads="1"/>
          </p:cNvSpPr>
          <p:nvPr/>
        </p:nvSpPr>
        <p:spPr bwMode="auto">
          <a:xfrm>
            <a:off x="3848100" y="1993900"/>
            <a:ext cx="1855788"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90000"/>
              </a:lnSpc>
              <a:spcBef>
                <a:spcPct val="0"/>
              </a:spcBef>
              <a:buClrTx/>
              <a:buFontTx/>
              <a:buNone/>
            </a:pPr>
            <a:r>
              <a:rPr lang="en-US" altLang="en-US" sz="2000">
                <a:solidFill>
                  <a:schemeClr val="bg2"/>
                </a:solidFill>
                <a:latin typeface="Arial" panose="020B0604020202020204" pitchFamily="34" charset="0"/>
              </a:rPr>
              <a:t>No male </a:t>
            </a:r>
            <a:br>
              <a:rPr lang="en-US" altLang="en-US" sz="2000">
                <a:solidFill>
                  <a:schemeClr val="bg2"/>
                </a:solidFill>
                <a:latin typeface="Arial" panose="020B0604020202020204" pitchFamily="34" charset="0"/>
              </a:rPr>
            </a:br>
            <a:r>
              <a:rPr lang="en-US" altLang="en-US" sz="2000">
                <a:solidFill>
                  <a:schemeClr val="bg2"/>
                </a:solidFill>
                <a:latin typeface="Arial" panose="020B0604020202020204" pitchFamily="34" charset="0"/>
              </a:rPr>
              <a:t>to male transmission</a:t>
            </a:r>
          </a:p>
        </p:txBody>
      </p:sp>
      <p:sp>
        <p:nvSpPr>
          <p:cNvPr id="104455" name="Oval 6"/>
          <p:cNvSpPr>
            <a:spLocks noChangeArrowheads="1"/>
          </p:cNvSpPr>
          <p:nvPr/>
        </p:nvSpPr>
        <p:spPr bwMode="auto">
          <a:xfrm>
            <a:off x="1882775" y="2133600"/>
            <a:ext cx="546100" cy="958850"/>
          </a:xfrm>
          <a:prstGeom prst="ellipse">
            <a:avLst/>
          </a:prstGeom>
          <a:noFill/>
          <a:ln w="12700">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04456" name="Rectangle 7"/>
          <p:cNvSpPr>
            <a:spLocks noChangeArrowheads="1"/>
          </p:cNvSpPr>
          <p:nvPr/>
        </p:nvSpPr>
        <p:spPr bwMode="auto">
          <a:xfrm>
            <a:off x="3203575" y="2133600"/>
            <a:ext cx="546100" cy="958850"/>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04457" name="Line 8"/>
          <p:cNvSpPr>
            <a:spLocks noChangeShapeType="1"/>
          </p:cNvSpPr>
          <p:nvPr/>
        </p:nvSpPr>
        <p:spPr bwMode="auto">
          <a:xfrm>
            <a:off x="2428875" y="2613025"/>
            <a:ext cx="774700"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4458" name="Line 9"/>
          <p:cNvSpPr>
            <a:spLocks noChangeShapeType="1"/>
          </p:cNvSpPr>
          <p:nvPr/>
        </p:nvSpPr>
        <p:spPr bwMode="auto">
          <a:xfrm>
            <a:off x="2882900" y="2613025"/>
            <a:ext cx="0" cy="127952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4459" name="Line 10"/>
          <p:cNvSpPr>
            <a:spLocks noChangeShapeType="1"/>
          </p:cNvSpPr>
          <p:nvPr/>
        </p:nvSpPr>
        <p:spPr bwMode="auto">
          <a:xfrm>
            <a:off x="1654175" y="3892550"/>
            <a:ext cx="2413000"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4460" name="Oval 11"/>
          <p:cNvSpPr>
            <a:spLocks noChangeArrowheads="1"/>
          </p:cNvSpPr>
          <p:nvPr/>
        </p:nvSpPr>
        <p:spPr bwMode="auto">
          <a:xfrm>
            <a:off x="1381125" y="4451350"/>
            <a:ext cx="546100" cy="958850"/>
          </a:xfrm>
          <a:prstGeom prst="ellipse">
            <a:avLst/>
          </a:prstGeom>
          <a:noFill/>
          <a:ln w="12700">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04461" name="Oval 12"/>
          <p:cNvSpPr>
            <a:spLocks noChangeArrowheads="1"/>
          </p:cNvSpPr>
          <p:nvPr/>
        </p:nvSpPr>
        <p:spPr bwMode="auto">
          <a:xfrm>
            <a:off x="3067050" y="4451350"/>
            <a:ext cx="546100" cy="958850"/>
          </a:xfrm>
          <a:prstGeom prst="ellipse">
            <a:avLst/>
          </a:prstGeom>
          <a:noFill/>
          <a:ln w="12700">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04462" name="Rectangle 13"/>
          <p:cNvSpPr>
            <a:spLocks noChangeArrowheads="1"/>
          </p:cNvSpPr>
          <p:nvPr/>
        </p:nvSpPr>
        <p:spPr bwMode="auto">
          <a:xfrm>
            <a:off x="2246313" y="4451350"/>
            <a:ext cx="546100" cy="958850"/>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04463" name="Rectangle 14"/>
          <p:cNvSpPr>
            <a:spLocks noChangeArrowheads="1"/>
          </p:cNvSpPr>
          <p:nvPr/>
        </p:nvSpPr>
        <p:spPr bwMode="auto">
          <a:xfrm>
            <a:off x="3794125" y="4451350"/>
            <a:ext cx="547688" cy="958850"/>
          </a:xfrm>
          <a:prstGeom prst="rect">
            <a:avLst/>
          </a:prstGeom>
          <a:solidFill>
            <a:schemeClr val="tx1"/>
          </a:solidFill>
          <a:ln w="12700">
            <a:solidFill>
              <a:schemeClr val="bg2"/>
            </a:solidFill>
            <a:miter lim="800000"/>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04464" name="Line 15"/>
          <p:cNvSpPr>
            <a:spLocks noChangeShapeType="1"/>
          </p:cNvSpPr>
          <p:nvPr/>
        </p:nvSpPr>
        <p:spPr bwMode="auto">
          <a:xfrm>
            <a:off x="1654175" y="3892550"/>
            <a:ext cx="0" cy="55880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4465" name="Line 16"/>
          <p:cNvSpPr>
            <a:spLocks noChangeShapeType="1"/>
          </p:cNvSpPr>
          <p:nvPr/>
        </p:nvSpPr>
        <p:spPr bwMode="auto">
          <a:xfrm>
            <a:off x="2519363" y="3892550"/>
            <a:ext cx="0" cy="55880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4466" name="Line 17"/>
          <p:cNvSpPr>
            <a:spLocks noChangeShapeType="1"/>
          </p:cNvSpPr>
          <p:nvPr/>
        </p:nvSpPr>
        <p:spPr bwMode="auto">
          <a:xfrm>
            <a:off x="3338513" y="3892550"/>
            <a:ext cx="0" cy="55880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4467" name="Line 18"/>
          <p:cNvSpPr>
            <a:spLocks noChangeShapeType="1"/>
          </p:cNvSpPr>
          <p:nvPr/>
        </p:nvSpPr>
        <p:spPr bwMode="auto">
          <a:xfrm>
            <a:off x="4067175" y="3892550"/>
            <a:ext cx="0" cy="55880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04468" name="Oval 19"/>
          <p:cNvSpPr>
            <a:spLocks noChangeArrowheads="1"/>
          </p:cNvSpPr>
          <p:nvPr/>
        </p:nvSpPr>
        <p:spPr bwMode="auto">
          <a:xfrm>
            <a:off x="3976688" y="4770438"/>
            <a:ext cx="182562" cy="320675"/>
          </a:xfrm>
          <a:prstGeom prst="ellipse">
            <a:avLst/>
          </a:prstGeom>
          <a:solidFill>
            <a:schemeClr val="tx1"/>
          </a:solidFill>
          <a:ln w="12700">
            <a:solidFill>
              <a:schemeClr val="tx1"/>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04469" name="Oval 20"/>
          <p:cNvSpPr>
            <a:spLocks noChangeArrowheads="1"/>
          </p:cNvSpPr>
          <p:nvPr/>
        </p:nvSpPr>
        <p:spPr bwMode="auto">
          <a:xfrm>
            <a:off x="3248025" y="4770438"/>
            <a:ext cx="182563" cy="320675"/>
          </a:xfrm>
          <a:prstGeom prst="ellipse">
            <a:avLst/>
          </a:prstGeom>
          <a:solidFill>
            <a:schemeClr val="tx1"/>
          </a:solidFill>
          <a:ln w="12700">
            <a:solidFill>
              <a:schemeClr val="bg2"/>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04470" name="Text Box 21"/>
          <p:cNvSpPr txBox="1">
            <a:spLocks noChangeArrowheads="1"/>
          </p:cNvSpPr>
          <p:nvPr/>
        </p:nvSpPr>
        <p:spPr bwMode="auto">
          <a:xfrm>
            <a:off x="1927225" y="3170238"/>
            <a:ext cx="703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XX</a:t>
            </a:r>
            <a:r>
              <a:rPr lang="en-US" altLang="en-US" sz="2400" baseline="-25000">
                <a:solidFill>
                  <a:schemeClr val="bg2"/>
                </a:solidFill>
                <a:latin typeface="Arial" panose="020B0604020202020204" pitchFamily="34" charset="0"/>
              </a:rPr>
              <a:t>c</a:t>
            </a:r>
            <a:endParaRPr lang="en-US" altLang="en-US" sz="2400">
              <a:solidFill>
                <a:schemeClr val="bg2"/>
              </a:solidFill>
              <a:latin typeface="Arial" panose="020B0604020202020204" pitchFamily="34" charset="0"/>
            </a:endParaRPr>
          </a:p>
        </p:txBody>
      </p:sp>
      <p:sp>
        <p:nvSpPr>
          <p:cNvPr id="104471" name="Oval 22"/>
          <p:cNvSpPr>
            <a:spLocks noChangeArrowheads="1"/>
          </p:cNvSpPr>
          <p:nvPr/>
        </p:nvSpPr>
        <p:spPr bwMode="auto">
          <a:xfrm>
            <a:off x="2063750" y="2452688"/>
            <a:ext cx="182563" cy="320675"/>
          </a:xfrm>
          <a:prstGeom prst="ellipse">
            <a:avLst/>
          </a:prstGeom>
          <a:solidFill>
            <a:schemeClr val="tx1"/>
          </a:solidFill>
          <a:ln w="12700">
            <a:solidFill>
              <a:schemeClr val="bg2"/>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04472" name="Text Box 23"/>
          <p:cNvSpPr txBox="1">
            <a:spLocks noChangeArrowheads="1"/>
          </p:cNvSpPr>
          <p:nvPr/>
        </p:nvSpPr>
        <p:spPr bwMode="auto">
          <a:xfrm>
            <a:off x="3292475" y="3170238"/>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XY</a:t>
            </a:r>
          </a:p>
        </p:txBody>
      </p:sp>
      <p:sp>
        <p:nvSpPr>
          <p:cNvPr id="104473" name="Text Box 24"/>
          <p:cNvSpPr txBox="1">
            <a:spLocks noChangeArrowheads="1"/>
          </p:cNvSpPr>
          <p:nvPr/>
        </p:nvSpPr>
        <p:spPr bwMode="auto">
          <a:xfrm>
            <a:off x="1393825" y="5567363"/>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XX</a:t>
            </a:r>
          </a:p>
        </p:txBody>
      </p:sp>
      <p:sp>
        <p:nvSpPr>
          <p:cNvPr id="104474" name="Text Box 25"/>
          <p:cNvSpPr txBox="1">
            <a:spLocks noChangeArrowheads="1"/>
          </p:cNvSpPr>
          <p:nvPr/>
        </p:nvSpPr>
        <p:spPr bwMode="auto">
          <a:xfrm>
            <a:off x="2282825" y="5567363"/>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XY</a:t>
            </a:r>
          </a:p>
        </p:txBody>
      </p:sp>
      <p:sp>
        <p:nvSpPr>
          <p:cNvPr id="104475" name="Text Box 26"/>
          <p:cNvSpPr txBox="1">
            <a:spLocks noChangeArrowheads="1"/>
          </p:cNvSpPr>
          <p:nvPr/>
        </p:nvSpPr>
        <p:spPr bwMode="auto">
          <a:xfrm>
            <a:off x="3810000" y="5567363"/>
            <a:ext cx="703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a:t>
            </a:r>
            <a:r>
              <a:rPr lang="en-US" altLang="en-US" sz="2400" baseline="-25000">
                <a:solidFill>
                  <a:schemeClr val="bg2"/>
                </a:solidFill>
                <a:latin typeface="Arial" panose="020B0604020202020204" pitchFamily="34" charset="0"/>
              </a:rPr>
              <a:t>c</a:t>
            </a:r>
            <a:r>
              <a:rPr lang="en-US" altLang="en-US" sz="2400">
                <a:solidFill>
                  <a:schemeClr val="bg2"/>
                </a:solidFill>
                <a:latin typeface="Arial" panose="020B0604020202020204" pitchFamily="34" charset="0"/>
              </a:rPr>
              <a:t>Y</a:t>
            </a:r>
          </a:p>
        </p:txBody>
      </p:sp>
      <p:sp>
        <p:nvSpPr>
          <p:cNvPr id="104476" name="Text Box 27"/>
          <p:cNvSpPr txBox="1">
            <a:spLocks noChangeArrowheads="1"/>
          </p:cNvSpPr>
          <p:nvPr/>
        </p:nvSpPr>
        <p:spPr bwMode="auto">
          <a:xfrm>
            <a:off x="3078163" y="5568950"/>
            <a:ext cx="703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XX</a:t>
            </a:r>
            <a:r>
              <a:rPr lang="en-US" altLang="en-US" sz="2400" baseline="-25000">
                <a:solidFill>
                  <a:schemeClr val="bg2"/>
                </a:solidFill>
                <a:latin typeface="Arial" panose="020B0604020202020204" pitchFamily="34" charset="0"/>
              </a:rPr>
              <a:t>c</a:t>
            </a:r>
            <a:endParaRPr lang="en-US" altLang="en-US" sz="2400">
              <a:solidFill>
                <a:schemeClr val="bg2"/>
              </a:solidFill>
              <a:latin typeface="Arial" panose="020B0604020202020204" pitchFamily="34" charset="0"/>
            </a:endParaRPr>
          </a:p>
        </p:txBody>
      </p:sp>
      <p:sp>
        <p:nvSpPr>
          <p:cNvPr id="104477" name="AutoShape 28"/>
          <p:cNvSpPr>
            <a:spLocks noChangeArrowheads="1"/>
          </p:cNvSpPr>
          <p:nvPr/>
        </p:nvSpPr>
        <p:spPr bwMode="auto">
          <a:xfrm rot="-2548954">
            <a:off x="3806825" y="2889250"/>
            <a:ext cx="501650" cy="479425"/>
          </a:xfrm>
          <a:prstGeom prst="leftArrow">
            <a:avLst>
              <a:gd name="adj1" fmla="val 50000"/>
              <a:gd name="adj2" fmla="val 26159"/>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04478" name="Text Box 29"/>
          <p:cNvSpPr txBox="1">
            <a:spLocks noChangeArrowheads="1"/>
          </p:cNvSpPr>
          <p:nvPr/>
        </p:nvSpPr>
        <p:spPr bwMode="auto">
          <a:xfrm>
            <a:off x="-101600" y="1600200"/>
            <a:ext cx="1941513"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r>
              <a:rPr lang="en-US" altLang="en-US" sz="2000">
                <a:solidFill>
                  <a:schemeClr val="bg2"/>
                </a:solidFill>
                <a:latin typeface="Arial" panose="020B0604020202020204" pitchFamily="34" charset="0"/>
              </a:rPr>
              <a:t>Mothers of affected males are heterozygous</a:t>
            </a:r>
          </a:p>
        </p:txBody>
      </p:sp>
      <p:sp>
        <p:nvSpPr>
          <p:cNvPr id="104479" name="AutoShape 30"/>
          <p:cNvSpPr>
            <a:spLocks noChangeArrowheads="1"/>
          </p:cNvSpPr>
          <p:nvPr/>
        </p:nvSpPr>
        <p:spPr bwMode="auto">
          <a:xfrm rot="-9028100">
            <a:off x="1495425" y="2932113"/>
            <a:ext cx="455613" cy="479425"/>
          </a:xfrm>
          <a:prstGeom prst="leftArrow">
            <a:avLst>
              <a:gd name="adj1" fmla="val 50000"/>
              <a:gd name="adj2" fmla="val 25000"/>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bg2"/>
              </a:solidFill>
              <a:latin typeface="Arial" panose="020B0604020202020204" pitchFamily="34" charset="0"/>
            </a:endParaRPr>
          </a:p>
          <a:p>
            <a:pPr algn="ctr">
              <a:spcBef>
                <a:spcPct val="0"/>
              </a:spcBef>
              <a:buClrTx/>
              <a:buFontTx/>
              <a:buNone/>
            </a:pPr>
            <a:r>
              <a:rPr lang="en-US" altLang="en-US" sz="1200">
                <a:solidFill>
                  <a:schemeClr val="bg2"/>
                </a:solidFill>
                <a:latin typeface="Arial" panose="020B0604020202020204" pitchFamily="34" charset="0"/>
              </a:rPr>
              <a:t>EPI 743, 01/17/2008</a:t>
            </a:r>
          </a:p>
          <a:p>
            <a:pPr algn="ctr">
              <a:spcBef>
                <a:spcPct val="0"/>
              </a:spcBef>
              <a:buClrTx/>
              <a:buFontTx/>
              <a:buNone/>
            </a:pPr>
            <a:endParaRPr lang="en-US" altLang="en-US" sz="1200">
              <a:solidFill>
                <a:schemeClr val="bg2"/>
              </a:solidFill>
              <a:latin typeface="Arial" panose="020B0604020202020204" pitchFamily="34" charset="0"/>
            </a:endParaRPr>
          </a:p>
        </p:txBody>
      </p:sp>
      <p:sp>
        <p:nvSpPr>
          <p:cNvPr id="106499" name="Line 2"/>
          <p:cNvSpPr>
            <a:spLocks noChangeShapeType="1"/>
          </p:cNvSpPr>
          <p:nvPr/>
        </p:nvSpPr>
        <p:spPr bwMode="auto">
          <a:xfrm>
            <a:off x="271463" y="9144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00" name="Text Box 3"/>
          <p:cNvSpPr txBox="1">
            <a:spLocks noChangeArrowheads="1"/>
          </p:cNvSpPr>
          <p:nvPr/>
        </p:nvSpPr>
        <p:spPr bwMode="auto">
          <a:xfrm>
            <a:off x="-333375" y="17463"/>
            <a:ext cx="9686925" cy="823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150000"/>
              </a:lnSpc>
              <a:spcBef>
                <a:spcPct val="50000"/>
              </a:spcBef>
              <a:spcAft>
                <a:spcPts val="600"/>
              </a:spcAft>
              <a:buClrTx/>
              <a:buFontTx/>
              <a:buNone/>
            </a:pPr>
            <a:r>
              <a:rPr lang="en-US" altLang="en-US">
                <a:solidFill>
                  <a:schemeClr val="bg2"/>
                </a:solidFill>
                <a:latin typeface="Comic Sans MS" panose="030F0702030302020204" pitchFamily="66" charset="0"/>
              </a:rPr>
              <a:t>Example:  Duchenne Muscular Dystrophy  </a:t>
            </a:r>
          </a:p>
        </p:txBody>
      </p:sp>
      <p:sp>
        <p:nvSpPr>
          <p:cNvPr id="106501" name="Rectangle 4"/>
          <p:cNvSpPr>
            <a:spLocks noChangeArrowheads="1"/>
          </p:cNvSpPr>
          <p:nvPr/>
        </p:nvSpPr>
        <p:spPr bwMode="auto">
          <a:xfrm>
            <a:off x="4200525" y="1219200"/>
            <a:ext cx="398621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85000"/>
              </a:lnSpc>
              <a:spcBef>
                <a:spcPct val="30000"/>
              </a:spcBef>
              <a:spcAft>
                <a:spcPct val="30000"/>
              </a:spcAft>
            </a:pPr>
            <a:endParaRPr lang="en-US" altLang="en-US" sz="2800" b="0">
              <a:solidFill>
                <a:schemeClr val="bg2"/>
              </a:solidFill>
              <a:latin typeface="Arial" panose="020B0604020202020204" pitchFamily="34" charset="0"/>
            </a:endParaRPr>
          </a:p>
        </p:txBody>
      </p:sp>
      <p:sp>
        <p:nvSpPr>
          <p:cNvPr id="106502" name="Rectangle 5"/>
          <p:cNvSpPr>
            <a:spLocks noChangeArrowheads="1"/>
          </p:cNvSpPr>
          <p:nvPr/>
        </p:nvSpPr>
        <p:spPr bwMode="auto">
          <a:xfrm>
            <a:off x="5181600" y="1071563"/>
            <a:ext cx="3943350"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ts val="2700"/>
              </a:lnSpc>
              <a:spcBef>
                <a:spcPts val="300"/>
              </a:spcBef>
              <a:spcAft>
                <a:spcPts val="500"/>
              </a:spcAft>
            </a:pPr>
            <a:r>
              <a:rPr lang="en-US" altLang="en-US" sz="2400">
                <a:solidFill>
                  <a:schemeClr val="bg2"/>
                </a:solidFill>
                <a:latin typeface="Arial" panose="020B0604020202020204" pitchFamily="34" charset="0"/>
                <a:cs typeface="Times New Roman" panose="02020603050405020304" pitchFamily="18" charset="0"/>
              </a:rPr>
              <a:t>Characterized by progressive loss of muscle strength</a:t>
            </a:r>
          </a:p>
          <a:p>
            <a:pPr>
              <a:lnSpc>
                <a:spcPts val="2700"/>
              </a:lnSpc>
              <a:spcBef>
                <a:spcPts val="300"/>
              </a:spcBef>
              <a:spcAft>
                <a:spcPts val="500"/>
              </a:spcAft>
            </a:pPr>
            <a:r>
              <a:rPr lang="en-US" altLang="en-US" sz="2400">
                <a:solidFill>
                  <a:schemeClr val="bg2"/>
                </a:solidFill>
                <a:latin typeface="Arial" panose="020B0604020202020204" pitchFamily="34" charset="0"/>
                <a:cs typeface="Times New Roman" panose="02020603050405020304" pitchFamily="18" charset="0"/>
              </a:rPr>
              <a:t>Caused by a mutation in the gene that produces an important muscle protein, dystrophin</a:t>
            </a:r>
          </a:p>
          <a:p>
            <a:pPr>
              <a:lnSpc>
                <a:spcPts val="2700"/>
              </a:lnSpc>
              <a:spcBef>
                <a:spcPts val="300"/>
              </a:spcBef>
              <a:spcAft>
                <a:spcPts val="500"/>
              </a:spcAft>
            </a:pPr>
            <a:r>
              <a:rPr lang="en-US" altLang="en-US" sz="2400">
                <a:solidFill>
                  <a:schemeClr val="bg2"/>
                </a:solidFill>
                <a:latin typeface="Arial" panose="020B0604020202020204" pitchFamily="34" charset="0"/>
                <a:cs typeface="Times New Roman" panose="02020603050405020304" pitchFamily="18" charset="0"/>
              </a:rPr>
              <a:t>Affected males are </a:t>
            </a:r>
            <a:r>
              <a:rPr lang="en-US" altLang="en-US" sz="2400" u="sng">
                <a:solidFill>
                  <a:schemeClr val="bg2"/>
                </a:solidFill>
                <a:latin typeface="Arial" panose="020B0604020202020204" pitchFamily="34" charset="0"/>
                <a:cs typeface="Times New Roman" panose="02020603050405020304" pitchFamily="18" charset="0"/>
              </a:rPr>
              <a:t>hemizygous </a:t>
            </a:r>
            <a:r>
              <a:rPr lang="en-US" altLang="en-US" sz="2400">
                <a:solidFill>
                  <a:schemeClr val="bg2"/>
                </a:solidFill>
                <a:latin typeface="Arial" panose="020B0604020202020204" pitchFamily="34" charset="0"/>
                <a:cs typeface="Times New Roman" panose="02020603050405020304" pitchFamily="18" charset="0"/>
              </a:rPr>
              <a:t>for the mutation</a:t>
            </a:r>
          </a:p>
          <a:p>
            <a:pPr>
              <a:lnSpc>
                <a:spcPts val="2700"/>
              </a:lnSpc>
              <a:spcBef>
                <a:spcPts val="300"/>
              </a:spcBef>
              <a:spcAft>
                <a:spcPts val="500"/>
              </a:spcAft>
            </a:pPr>
            <a:r>
              <a:rPr lang="en-US" altLang="en-US" sz="2400">
                <a:solidFill>
                  <a:schemeClr val="bg2"/>
                </a:solidFill>
                <a:latin typeface="Arial" panose="020B0604020202020204" pitchFamily="34" charset="0"/>
                <a:cs typeface="Times New Roman" panose="02020603050405020304" pitchFamily="18" charset="0"/>
              </a:rPr>
              <a:t>Affected females are</a:t>
            </a:r>
            <a:r>
              <a:rPr lang="en-US" altLang="en-US" sz="2400" u="sng">
                <a:solidFill>
                  <a:schemeClr val="bg2"/>
                </a:solidFill>
                <a:latin typeface="Arial" panose="020B0604020202020204" pitchFamily="34" charset="0"/>
                <a:cs typeface="Times New Roman" panose="02020603050405020304" pitchFamily="18" charset="0"/>
              </a:rPr>
              <a:t> homozygous (affected) </a:t>
            </a:r>
            <a:r>
              <a:rPr lang="en-US" altLang="en-US" sz="2400">
                <a:solidFill>
                  <a:schemeClr val="bg2"/>
                </a:solidFill>
                <a:latin typeface="Arial" panose="020B0604020202020204" pitchFamily="34" charset="0"/>
                <a:cs typeface="Times New Roman" panose="02020603050405020304" pitchFamily="18" charset="0"/>
              </a:rPr>
              <a:t>for the mutation</a:t>
            </a:r>
            <a:endParaRPr lang="en-US" altLang="en-US" sz="2400" b="0">
              <a:solidFill>
                <a:schemeClr val="bg2"/>
              </a:solidFill>
              <a:latin typeface="Arial" panose="020B0604020202020204" pitchFamily="34" charset="0"/>
            </a:endParaRPr>
          </a:p>
        </p:txBody>
      </p:sp>
      <p:sp>
        <p:nvSpPr>
          <p:cNvPr id="106503" name="Rectangle 8"/>
          <p:cNvSpPr>
            <a:spLocks noChangeArrowheads="1"/>
          </p:cNvSpPr>
          <p:nvPr/>
        </p:nvSpPr>
        <p:spPr bwMode="auto">
          <a:xfrm>
            <a:off x="1016000" y="3713163"/>
            <a:ext cx="7112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buFontTx/>
              <a:buNone/>
            </a:pPr>
            <a:endParaRPr lang="en-US" altLang="en-US" sz="2800">
              <a:solidFill>
                <a:schemeClr val="bg2"/>
              </a:solidFill>
              <a:latin typeface="Arial" panose="020B0604020202020204" pitchFamily="34" charset="0"/>
            </a:endParaRPr>
          </a:p>
        </p:txBody>
      </p:sp>
      <p:sp>
        <p:nvSpPr>
          <p:cNvPr id="106504" name="Rectangle 9"/>
          <p:cNvSpPr>
            <a:spLocks noChangeArrowheads="1"/>
          </p:cNvSpPr>
          <p:nvPr/>
        </p:nvSpPr>
        <p:spPr bwMode="auto">
          <a:xfrm>
            <a:off x="1727200" y="3713163"/>
            <a:ext cx="1471613"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X</a:t>
            </a:r>
            <a:endParaRPr lang="en-US" altLang="en-US" sz="2800" baseline="-25000">
              <a:solidFill>
                <a:schemeClr val="bg2"/>
              </a:solidFill>
              <a:latin typeface="Arial" panose="020B0604020202020204" pitchFamily="34" charset="0"/>
            </a:endParaRPr>
          </a:p>
        </p:txBody>
      </p:sp>
      <p:sp>
        <p:nvSpPr>
          <p:cNvPr id="106505" name="Rectangle 10"/>
          <p:cNvSpPr>
            <a:spLocks noChangeArrowheads="1"/>
          </p:cNvSpPr>
          <p:nvPr/>
        </p:nvSpPr>
        <p:spPr bwMode="auto">
          <a:xfrm>
            <a:off x="3198813" y="3713163"/>
            <a:ext cx="17399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X</a:t>
            </a:r>
            <a:r>
              <a:rPr lang="en-US" altLang="en-US" sz="2800" baseline="-25000">
                <a:solidFill>
                  <a:schemeClr val="bg2"/>
                </a:solidFill>
                <a:latin typeface="Arial" panose="020B0604020202020204" pitchFamily="34" charset="0"/>
              </a:rPr>
              <a:t>c</a:t>
            </a:r>
          </a:p>
        </p:txBody>
      </p:sp>
      <p:sp>
        <p:nvSpPr>
          <p:cNvPr id="106506" name="Rectangle 11"/>
          <p:cNvSpPr>
            <a:spLocks noChangeArrowheads="1"/>
          </p:cNvSpPr>
          <p:nvPr/>
        </p:nvSpPr>
        <p:spPr bwMode="auto">
          <a:xfrm>
            <a:off x="1016000" y="4551363"/>
            <a:ext cx="711200"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X</a:t>
            </a:r>
            <a:r>
              <a:rPr lang="en-US" altLang="en-US" sz="2800" baseline="-25000">
                <a:solidFill>
                  <a:schemeClr val="bg2"/>
                </a:solidFill>
                <a:latin typeface="Arial" panose="020B0604020202020204" pitchFamily="34" charset="0"/>
              </a:rPr>
              <a:t>c</a:t>
            </a:r>
          </a:p>
          <a:p>
            <a:pPr algn="ctr">
              <a:buFontTx/>
              <a:buNone/>
            </a:pPr>
            <a:endParaRPr lang="en-US" altLang="en-US" sz="2800">
              <a:solidFill>
                <a:schemeClr val="bg2"/>
              </a:solidFill>
              <a:latin typeface="Arial" panose="020B0604020202020204" pitchFamily="34" charset="0"/>
            </a:endParaRPr>
          </a:p>
        </p:txBody>
      </p:sp>
      <p:sp>
        <p:nvSpPr>
          <p:cNvPr id="106507" name="Rectangle 12"/>
          <p:cNvSpPr>
            <a:spLocks noChangeArrowheads="1"/>
          </p:cNvSpPr>
          <p:nvPr/>
        </p:nvSpPr>
        <p:spPr bwMode="auto">
          <a:xfrm>
            <a:off x="1727200" y="4551363"/>
            <a:ext cx="1471613"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X</a:t>
            </a:r>
            <a:r>
              <a:rPr lang="en-US" altLang="en-US" sz="2800" baseline="-25000">
                <a:solidFill>
                  <a:schemeClr val="bg2"/>
                </a:solidFill>
                <a:latin typeface="Arial" panose="020B0604020202020204" pitchFamily="34" charset="0"/>
              </a:rPr>
              <a:t>c</a:t>
            </a:r>
            <a:r>
              <a:rPr lang="en-US" altLang="en-US" sz="2800">
                <a:solidFill>
                  <a:schemeClr val="bg2"/>
                </a:solidFill>
                <a:latin typeface="Arial" panose="020B0604020202020204" pitchFamily="34" charset="0"/>
              </a:rPr>
              <a:t>X</a:t>
            </a:r>
          </a:p>
        </p:txBody>
      </p:sp>
      <p:sp>
        <p:nvSpPr>
          <p:cNvPr id="106508" name="Rectangle 13"/>
          <p:cNvSpPr>
            <a:spLocks noChangeArrowheads="1"/>
          </p:cNvSpPr>
          <p:nvPr/>
        </p:nvSpPr>
        <p:spPr bwMode="auto">
          <a:xfrm>
            <a:off x="3198813" y="4551363"/>
            <a:ext cx="1739900"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X</a:t>
            </a:r>
            <a:r>
              <a:rPr lang="en-US" altLang="en-US" sz="2800" baseline="-25000">
                <a:solidFill>
                  <a:schemeClr val="bg2"/>
                </a:solidFill>
                <a:latin typeface="Arial" panose="020B0604020202020204" pitchFamily="34" charset="0"/>
              </a:rPr>
              <a:t>c</a:t>
            </a:r>
            <a:r>
              <a:rPr lang="en-US" altLang="en-US" sz="2800">
                <a:solidFill>
                  <a:schemeClr val="bg2"/>
                </a:solidFill>
                <a:latin typeface="Arial" panose="020B0604020202020204" pitchFamily="34" charset="0"/>
              </a:rPr>
              <a:t>X</a:t>
            </a:r>
            <a:r>
              <a:rPr lang="en-US" altLang="en-US" sz="2800" baseline="-25000">
                <a:solidFill>
                  <a:schemeClr val="bg2"/>
                </a:solidFill>
                <a:latin typeface="Arial" panose="020B0604020202020204" pitchFamily="34" charset="0"/>
              </a:rPr>
              <a:t>c</a:t>
            </a:r>
          </a:p>
          <a:p>
            <a:pPr algn="ctr">
              <a:buFontTx/>
              <a:buNone/>
            </a:pPr>
            <a:endParaRPr lang="en-US" altLang="en-US" sz="2800" baseline="-25000">
              <a:solidFill>
                <a:schemeClr val="bg2"/>
              </a:solidFill>
              <a:latin typeface="Arial" panose="020B0604020202020204" pitchFamily="34" charset="0"/>
            </a:endParaRPr>
          </a:p>
        </p:txBody>
      </p:sp>
      <p:sp>
        <p:nvSpPr>
          <p:cNvPr id="106509" name="Rectangle 14"/>
          <p:cNvSpPr>
            <a:spLocks noChangeArrowheads="1"/>
          </p:cNvSpPr>
          <p:nvPr/>
        </p:nvSpPr>
        <p:spPr bwMode="auto">
          <a:xfrm>
            <a:off x="1016000" y="5581650"/>
            <a:ext cx="71120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 Y</a:t>
            </a:r>
          </a:p>
        </p:txBody>
      </p:sp>
      <p:sp>
        <p:nvSpPr>
          <p:cNvPr id="106510" name="Rectangle 15"/>
          <p:cNvSpPr>
            <a:spLocks noChangeArrowheads="1"/>
          </p:cNvSpPr>
          <p:nvPr/>
        </p:nvSpPr>
        <p:spPr bwMode="auto">
          <a:xfrm>
            <a:off x="1727200" y="5581650"/>
            <a:ext cx="1471613"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  X Y</a:t>
            </a:r>
          </a:p>
        </p:txBody>
      </p:sp>
      <p:sp>
        <p:nvSpPr>
          <p:cNvPr id="106511" name="Rectangle 16"/>
          <p:cNvSpPr>
            <a:spLocks noChangeArrowheads="1"/>
          </p:cNvSpPr>
          <p:nvPr/>
        </p:nvSpPr>
        <p:spPr bwMode="auto">
          <a:xfrm>
            <a:off x="3198813" y="5581650"/>
            <a:ext cx="173990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buFontTx/>
              <a:buNone/>
            </a:pPr>
            <a:r>
              <a:rPr lang="en-US" altLang="en-US" sz="2800">
                <a:solidFill>
                  <a:schemeClr val="bg2"/>
                </a:solidFill>
                <a:latin typeface="Arial" panose="020B0604020202020204" pitchFamily="34" charset="0"/>
              </a:rPr>
              <a:t>X</a:t>
            </a:r>
            <a:r>
              <a:rPr lang="en-US" altLang="en-US" sz="2800" baseline="-25000">
                <a:solidFill>
                  <a:schemeClr val="bg2"/>
                </a:solidFill>
                <a:latin typeface="Arial" panose="020B0604020202020204" pitchFamily="34" charset="0"/>
              </a:rPr>
              <a:t>c</a:t>
            </a:r>
            <a:r>
              <a:rPr lang="en-US" altLang="en-US" sz="2800">
                <a:solidFill>
                  <a:schemeClr val="bg2"/>
                </a:solidFill>
                <a:latin typeface="Arial" panose="020B0604020202020204" pitchFamily="34" charset="0"/>
              </a:rPr>
              <a:t>Y</a:t>
            </a:r>
          </a:p>
        </p:txBody>
      </p:sp>
      <p:sp>
        <p:nvSpPr>
          <p:cNvPr id="106512" name="Line 17"/>
          <p:cNvSpPr>
            <a:spLocks noChangeShapeType="1"/>
          </p:cNvSpPr>
          <p:nvPr/>
        </p:nvSpPr>
        <p:spPr bwMode="auto">
          <a:xfrm>
            <a:off x="1727200" y="3713163"/>
            <a:ext cx="0" cy="2593975"/>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3" name="Line 18"/>
          <p:cNvSpPr>
            <a:spLocks noChangeShapeType="1"/>
          </p:cNvSpPr>
          <p:nvPr/>
        </p:nvSpPr>
        <p:spPr bwMode="auto">
          <a:xfrm>
            <a:off x="3198813" y="3713163"/>
            <a:ext cx="0" cy="2593975"/>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4" name="Line 19"/>
          <p:cNvSpPr>
            <a:spLocks noChangeShapeType="1"/>
          </p:cNvSpPr>
          <p:nvPr/>
        </p:nvSpPr>
        <p:spPr bwMode="auto">
          <a:xfrm>
            <a:off x="1016000" y="4551363"/>
            <a:ext cx="3922713" cy="0"/>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5" name="Line 20"/>
          <p:cNvSpPr>
            <a:spLocks noChangeShapeType="1"/>
          </p:cNvSpPr>
          <p:nvPr/>
        </p:nvSpPr>
        <p:spPr bwMode="auto">
          <a:xfrm>
            <a:off x="1016000" y="5581650"/>
            <a:ext cx="3922713" cy="0"/>
          </a:xfrm>
          <a:prstGeom prst="line">
            <a:avLst/>
          </a:prstGeom>
          <a:noFill/>
          <a:ln w="12700" algn="ctr">
            <a:solidFill>
              <a:schemeClr val="bg2"/>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106516" name="Picture 30" descr="fig 4"/>
          <p:cNvPicPr>
            <a:picLocks noChangeAspect="1" noChangeArrowheads="1"/>
          </p:cNvPicPr>
          <p:nvPr/>
        </p:nvPicPr>
        <p:blipFill>
          <a:blip r:embed="rId2">
            <a:extLst>
              <a:ext uri="{28A0092B-C50C-407E-A947-70E740481C1C}">
                <a14:useLocalDpi xmlns:a14="http://schemas.microsoft.com/office/drawing/2010/main" val="0"/>
              </a:ext>
            </a:extLst>
          </a:blip>
          <a:srcRect l="59758" r="15265" b="56650"/>
          <a:stretch>
            <a:fillRect/>
          </a:stretch>
        </p:blipFill>
        <p:spPr bwMode="auto">
          <a:xfrm>
            <a:off x="3121025" y="1514475"/>
            <a:ext cx="744538"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17" name="Picture 31" descr="fig 4"/>
          <p:cNvPicPr>
            <a:picLocks noChangeAspect="1" noChangeArrowheads="1"/>
          </p:cNvPicPr>
          <p:nvPr/>
        </p:nvPicPr>
        <p:blipFill>
          <a:blip r:embed="rId2">
            <a:extLst>
              <a:ext uri="{28A0092B-C50C-407E-A947-70E740481C1C}">
                <a14:useLocalDpi xmlns:a14="http://schemas.microsoft.com/office/drawing/2010/main" val="0"/>
              </a:ext>
            </a:extLst>
          </a:blip>
          <a:srcRect t="53023" r="80486" b="4144"/>
          <a:stretch>
            <a:fillRect/>
          </a:stretch>
        </p:blipFill>
        <p:spPr bwMode="auto">
          <a:xfrm>
            <a:off x="142875" y="3952875"/>
            <a:ext cx="817563"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18" name="Text Box 32"/>
          <p:cNvSpPr txBox="1">
            <a:spLocks noChangeArrowheads="1"/>
          </p:cNvSpPr>
          <p:nvPr/>
        </p:nvSpPr>
        <p:spPr bwMode="auto">
          <a:xfrm>
            <a:off x="3106738" y="2946400"/>
            <a:ext cx="7778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eggs</a:t>
            </a:r>
          </a:p>
        </p:txBody>
      </p:sp>
      <p:sp>
        <p:nvSpPr>
          <p:cNvPr id="106519" name="Text Box 33"/>
          <p:cNvSpPr txBox="1">
            <a:spLocks noChangeArrowheads="1"/>
          </p:cNvSpPr>
          <p:nvPr/>
        </p:nvSpPr>
        <p:spPr bwMode="auto">
          <a:xfrm>
            <a:off x="57150" y="5568950"/>
            <a:ext cx="9461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r>
              <a:rPr lang="en-US" altLang="en-US" sz="2000">
                <a:solidFill>
                  <a:schemeClr val="bg2"/>
                </a:solidFill>
                <a:latin typeface="Arial" panose="020B0604020202020204" pitchFamily="34" charset="0"/>
              </a:rPr>
              <a:t>sperm</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sp>
        <p:nvSpPr>
          <p:cNvPr id="107523" name="Rectangle 2"/>
          <p:cNvSpPr>
            <a:spLocks noGrp="1" noChangeArrowheads="1"/>
          </p:cNvSpPr>
          <p:nvPr>
            <p:ph type="title" idx="4294967295"/>
          </p:nvPr>
        </p:nvSpPr>
        <p:spPr>
          <a:xfrm>
            <a:off x="0" y="0"/>
            <a:ext cx="9144000" cy="1143000"/>
          </a:xfrm>
        </p:spPr>
        <p:txBody>
          <a:bodyPr/>
          <a:lstStyle/>
          <a:p>
            <a:r>
              <a:rPr lang="en-US" altLang="en-US" sz="3200" b="1">
                <a:latin typeface="Comic Sans MS" panose="030F0702030302020204" pitchFamily="66" charset="0"/>
              </a:rPr>
              <a:t>Other Common X-linked Recessive Diseases</a:t>
            </a:r>
          </a:p>
        </p:txBody>
      </p:sp>
      <p:sp>
        <p:nvSpPr>
          <p:cNvPr id="107524" name="Rectangle 3"/>
          <p:cNvSpPr>
            <a:spLocks noGrp="1" noChangeArrowheads="1"/>
          </p:cNvSpPr>
          <p:nvPr>
            <p:ph type="body" idx="4294967295"/>
          </p:nvPr>
        </p:nvSpPr>
        <p:spPr>
          <a:xfrm>
            <a:off x="588963" y="1238250"/>
            <a:ext cx="8088312" cy="5276850"/>
          </a:xfrm>
        </p:spPr>
        <p:txBody>
          <a:bodyPr/>
          <a:lstStyle/>
          <a:p>
            <a:pPr>
              <a:lnSpc>
                <a:spcPct val="80000"/>
              </a:lnSpc>
              <a:spcAft>
                <a:spcPct val="25000"/>
              </a:spcAft>
            </a:pPr>
            <a:r>
              <a:rPr lang="en-US" altLang="en-US" sz="2800" b="1">
                <a:latin typeface="Arial" panose="020B0604020202020204" pitchFamily="34" charset="0"/>
              </a:rPr>
              <a:t>Hemophilia A and B ~1/10,000</a:t>
            </a:r>
          </a:p>
          <a:p>
            <a:pPr lvl="1">
              <a:lnSpc>
                <a:spcPct val="80000"/>
              </a:lnSpc>
              <a:spcAft>
                <a:spcPct val="25000"/>
              </a:spcAft>
            </a:pPr>
            <a:r>
              <a:rPr lang="en-US" altLang="en-US" sz="2400" b="1">
                <a:latin typeface="Arial" panose="020B0604020202020204" pitchFamily="34" charset="0"/>
              </a:rPr>
              <a:t>Bleeding disorder caused by a deficiency in the activity of coagulation factor VIII or IX </a:t>
            </a:r>
          </a:p>
          <a:p>
            <a:pPr lvl="1">
              <a:lnSpc>
                <a:spcPct val="80000"/>
              </a:lnSpc>
              <a:spcAft>
                <a:spcPct val="25000"/>
              </a:spcAft>
            </a:pPr>
            <a:r>
              <a:rPr lang="en-US" altLang="en-US" sz="2400" b="1">
                <a:latin typeface="Arial" panose="020B0604020202020204" pitchFamily="34" charset="0"/>
              </a:rPr>
              <a:t>Some carriers bleed, frequency 1/10,000</a:t>
            </a:r>
          </a:p>
          <a:p>
            <a:pPr>
              <a:lnSpc>
                <a:spcPct val="80000"/>
              </a:lnSpc>
              <a:spcAft>
                <a:spcPct val="25000"/>
              </a:spcAft>
            </a:pPr>
            <a:r>
              <a:rPr lang="en-US" altLang="en-US" sz="2800" b="1">
                <a:latin typeface="Arial" panose="020B0604020202020204" pitchFamily="34" charset="0"/>
              </a:rPr>
              <a:t>G-6-PD deficiency -- ~1/500 African Americans</a:t>
            </a:r>
          </a:p>
          <a:p>
            <a:pPr lvl="1">
              <a:lnSpc>
                <a:spcPct val="80000"/>
              </a:lnSpc>
              <a:spcAft>
                <a:spcPct val="25000"/>
              </a:spcAft>
            </a:pPr>
            <a:r>
              <a:rPr lang="en-US" altLang="en-US" sz="2400" b="1">
                <a:latin typeface="Arial" panose="020B0604020202020204" pitchFamily="34" charset="0"/>
                <a:cs typeface="Arial" panose="020B0604020202020204" pitchFamily="34" charset="0"/>
              </a:rPr>
              <a:t>An enzyme deficiency of the red blood cells leading to hemolytic anemia </a:t>
            </a:r>
            <a:endParaRPr lang="en-US" altLang="en-US" sz="2400" b="1">
              <a:latin typeface="Arial" panose="020B0604020202020204" pitchFamily="34" charset="0"/>
            </a:endParaRPr>
          </a:p>
          <a:p>
            <a:pPr>
              <a:lnSpc>
                <a:spcPct val="80000"/>
              </a:lnSpc>
              <a:spcAft>
                <a:spcPct val="25000"/>
              </a:spcAft>
            </a:pPr>
            <a:r>
              <a:rPr lang="en-US" altLang="en-US" sz="2800" b="1">
                <a:latin typeface="Arial" panose="020B0604020202020204" pitchFamily="34" charset="0"/>
              </a:rPr>
              <a:t>Ocular Albinism -- ~ 1/180,000</a:t>
            </a:r>
          </a:p>
          <a:p>
            <a:pPr lvl="1">
              <a:lnSpc>
                <a:spcPct val="80000"/>
              </a:lnSpc>
              <a:spcAft>
                <a:spcPct val="25000"/>
              </a:spcAft>
            </a:pPr>
            <a:r>
              <a:rPr lang="en-US" altLang="en-US" sz="2400" b="1">
                <a:latin typeface="Arial" panose="020B0604020202020204" pitchFamily="34" charset="0"/>
              </a:rPr>
              <a:t>Ethnicity dependent ?</a:t>
            </a:r>
          </a:p>
          <a:p>
            <a:pPr lvl="1">
              <a:lnSpc>
                <a:spcPct val="80000"/>
              </a:lnSpc>
              <a:spcAft>
                <a:spcPct val="25000"/>
              </a:spcAft>
            </a:pPr>
            <a:r>
              <a:rPr lang="en-US" altLang="en-US" sz="2400" b="1">
                <a:latin typeface="Arial" panose="020B0604020202020204" pitchFamily="34" charset="0"/>
              </a:rPr>
              <a:t>Eyes lack melanin pigment, while the skin and hair show normal or near-normal coloration</a:t>
            </a:r>
          </a:p>
        </p:txBody>
      </p:sp>
      <p:sp>
        <p:nvSpPr>
          <p:cNvPr id="107525" name="Line 4"/>
          <p:cNvSpPr>
            <a:spLocks noChangeShapeType="1"/>
          </p:cNvSpPr>
          <p:nvPr/>
        </p:nvSpPr>
        <p:spPr bwMode="auto">
          <a:xfrm>
            <a:off x="271463" y="1057275"/>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sp>
        <p:nvSpPr>
          <p:cNvPr id="108547" name="Rectangle 2"/>
          <p:cNvSpPr>
            <a:spLocks noGrp="1" noChangeArrowheads="1"/>
          </p:cNvSpPr>
          <p:nvPr>
            <p:ph type="title" idx="4294967295"/>
          </p:nvPr>
        </p:nvSpPr>
        <p:spPr>
          <a:xfrm>
            <a:off x="1527175" y="404813"/>
            <a:ext cx="7318375" cy="1143000"/>
          </a:xfrm>
        </p:spPr>
        <p:txBody>
          <a:bodyPr/>
          <a:lstStyle/>
          <a:p>
            <a:pPr>
              <a:lnSpc>
                <a:spcPct val="90000"/>
              </a:lnSpc>
            </a:pPr>
            <a:r>
              <a:rPr lang="en-US" altLang="en-US" sz="3200" b="1">
                <a:latin typeface="Comic Sans MS" panose="030F0702030302020204" pitchFamily="66" charset="0"/>
              </a:rPr>
              <a:t>Pedigree of the Royal Family (Queen Victoria): Hemophilia</a:t>
            </a:r>
          </a:p>
        </p:txBody>
      </p:sp>
      <p:pic>
        <p:nvPicPr>
          <p:cNvPr id="108548" name="Picture 3" descr="family tre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838" y="2133600"/>
            <a:ext cx="8553450" cy="411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49" name="Picture 4" descr="Picture of Queen Victoria's Famil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113" y="357188"/>
            <a:ext cx="11842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50" name="Line 5"/>
          <p:cNvSpPr>
            <a:spLocks noChangeShapeType="1"/>
          </p:cNvSpPr>
          <p:nvPr/>
        </p:nvSpPr>
        <p:spPr bwMode="auto">
          <a:xfrm>
            <a:off x="271463" y="17907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bg2"/>
              </a:solidFill>
              <a:latin typeface="Arial" panose="020B0604020202020204" pitchFamily="34" charset="0"/>
            </a:endParaRPr>
          </a:p>
          <a:p>
            <a:pPr algn="ctr">
              <a:spcBef>
                <a:spcPct val="0"/>
              </a:spcBef>
              <a:buClrTx/>
              <a:buFontTx/>
              <a:buNone/>
            </a:pPr>
            <a:r>
              <a:rPr lang="en-US" altLang="en-US" sz="1200">
                <a:solidFill>
                  <a:schemeClr val="bg2"/>
                </a:solidFill>
                <a:latin typeface="Arial" panose="020B0604020202020204" pitchFamily="34" charset="0"/>
              </a:rPr>
              <a:t>EPI 743, 01/17/2008</a:t>
            </a:r>
          </a:p>
          <a:p>
            <a:pPr algn="ctr">
              <a:spcBef>
                <a:spcPct val="0"/>
              </a:spcBef>
              <a:buClrTx/>
              <a:buFontTx/>
              <a:buNone/>
            </a:pPr>
            <a:endParaRPr lang="en-US" altLang="en-US" sz="1200">
              <a:solidFill>
                <a:schemeClr val="bg2"/>
              </a:solidFill>
              <a:latin typeface="Arial" panose="020B0604020202020204" pitchFamily="34" charset="0"/>
            </a:endParaRPr>
          </a:p>
        </p:txBody>
      </p:sp>
      <p:sp>
        <p:nvSpPr>
          <p:cNvPr id="110595" name="Line 2"/>
          <p:cNvSpPr>
            <a:spLocks noChangeShapeType="1"/>
          </p:cNvSpPr>
          <p:nvPr/>
        </p:nvSpPr>
        <p:spPr bwMode="auto">
          <a:xfrm>
            <a:off x="271463" y="114300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0596" name="Oval 3"/>
          <p:cNvSpPr>
            <a:spLocks noChangeArrowheads="1"/>
          </p:cNvSpPr>
          <p:nvPr/>
        </p:nvSpPr>
        <p:spPr bwMode="auto">
          <a:xfrm>
            <a:off x="3084513" y="2038350"/>
            <a:ext cx="360362" cy="417513"/>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597" name="Rectangle 4"/>
          <p:cNvSpPr>
            <a:spLocks noChangeArrowheads="1"/>
          </p:cNvSpPr>
          <p:nvPr/>
        </p:nvSpPr>
        <p:spPr bwMode="auto">
          <a:xfrm>
            <a:off x="2365375" y="2038350"/>
            <a:ext cx="360363" cy="417513"/>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598" name="Rectangle 5"/>
          <p:cNvSpPr>
            <a:spLocks noChangeArrowheads="1"/>
          </p:cNvSpPr>
          <p:nvPr/>
        </p:nvSpPr>
        <p:spPr bwMode="auto">
          <a:xfrm>
            <a:off x="3948113" y="3206750"/>
            <a:ext cx="358775" cy="417513"/>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599" name="Oval 6"/>
          <p:cNvSpPr>
            <a:spLocks noChangeArrowheads="1"/>
          </p:cNvSpPr>
          <p:nvPr/>
        </p:nvSpPr>
        <p:spPr bwMode="auto">
          <a:xfrm>
            <a:off x="3302000" y="3206750"/>
            <a:ext cx="358775" cy="417513"/>
          </a:xfrm>
          <a:prstGeom prst="ellipse">
            <a:avLst/>
          </a:prstGeom>
          <a:solidFill>
            <a:schemeClr val="accent1"/>
          </a:solidFill>
          <a:ln w="12700">
            <a:solidFill>
              <a:schemeClr val="bg2"/>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00" name="Oval 7"/>
          <p:cNvSpPr>
            <a:spLocks noChangeArrowheads="1"/>
          </p:cNvSpPr>
          <p:nvPr/>
        </p:nvSpPr>
        <p:spPr bwMode="auto">
          <a:xfrm>
            <a:off x="3013075" y="4294188"/>
            <a:ext cx="360363" cy="417512"/>
          </a:xfrm>
          <a:prstGeom prst="ellipse">
            <a:avLst/>
          </a:prstGeom>
          <a:solidFill>
            <a:schemeClr val="accent1"/>
          </a:solidFill>
          <a:ln w="12700">
            <a:solidFill>
              <a:schemeClr val="bg2"/>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01" name="Oval 8"/>
          <p:cNvSpPr>
            <a:spLocks noChangeArrowheads="1"/>
          </p:cNvSpPr>
          <p:nvPr/>
        </p:nvSpPr>
        <p:spPr bwMode="auto">
          <a:xfrm>
            <a:off x="4279900" y="4294188"/>
            <a:ext cx="358775" cy="417512"/>
          </a:xfrm>
          <a:prstGeom prst="ellipse">
            <a:avLst/>
          </a:prstGeom>
          <a:noFill/>
          <a:ln w="12700">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02" name="Line 9"/>
          <p:cNvSpPr>
            <a:spLocks noChangeShapeType="1"/>
          </p:cNvSpPr>
          <p:nvPr/>
        </p:nvSpPr>
        <p:spPr bwMode="auto">
          <a:xfrm>
            <a:off x="2725738" y="2205038"/>
            <a:ext cx="358775"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03" name="Line 10"/>
          <p:cNvSpPr>
            <a:spLocks noChangeShapeType="1"/>
          </p:cNvSpPr>
          <p:nvPr/>
        </p:nvSpPr>
        <p:spPr bwMode="auto">
          <a:xfrm>
            <a:off x="2870200" y="2205038"/>
            <a:ext cx="0" cy="750887"/>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04" name="Line 11"/>
          <p:cNvSpPr>
            <a:spLocks noChangeShapeType="1"/>
          </p:cNvSpPr>
          <p:nvPr/>
        </p:nvSpPr>
        <p:spPr bwMode="auto">
          <a:xfrm>
            <a:off x="1576388" y="2873375"/>
            <a:ext cx="1868487"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05" name="Line 12"/>
          <p:cNvSpPr>
            <a:spLocks noChangeShapeType="1"/>
          </p:cNvSpPr>
          <p:nvPr/>
        </p:nvSpPr>
        <p:spPr bwMode="auto">
          <a:xfrm>
            <a:off x="2870200" y="2873375"/>
            <a:ext cx="0" cy="33337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06" name="Line 13"/>
          <p:cNvSpPr>
            <a:spLocks noChangeShapeType="1"/>
          </p:cNvSpPr>
          <p:nvPr/>
        </p:nvSpPr>
        <p:spPr bwMode="auto">
          <a:xfrm>
            <a:off x="3444875" y="2873375"/>
            <a:ext cx="0" cy="33337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07" name="Line 14"/>
          <p:cNvSpPr>
            <a:spLocks noChangeShapeType="1"/>
          </p:cNvSpPr>
          <p:nvPr/>
        </p:nvSpPr>
        <p:spPr bwMode="auto">
          <a:xfrm>
            <a:off x="3487738" y="3619500"/>
            <a:ext cx="0" cy="50641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08" name="Rectangle 15"/>
          <p:cNvSpPr>
            <a:spLocks noChangeArrowheads="1"/>
          </p:cNvSpPr>
          <p:nvPr/>
        </p:nvSpPr>
        <p:spPr bwMode="auto">
          <a:xfrm>
            <a:off x="3622675" y="4294188"/>
            <a:ext cx="358775" cy="417512"/>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09" name="Oval 16"/>
          <p:cNvSpPr>
            <a:spLocks noChangeArrowheads="1"/>
          </p:cNvSpPr>
          <p:nvPr/>
        </p:nvSpPr>
        <p:spPr bwMode="auto">
          <a:xfrm>
            <a:off x="2989263" y="5380038"/>
            <a:ext cx="361950" cy="417512"/>
          </a:xfrm>
          <a:prstGeom prst="ellipse">
            <a:avLst/>
          </a:prstGeom>
          <a:solidFill>
            <a:schemeClr val="accent1"/>
          </a:solidFill>
          <a:ln w="12700">
            <a:solidFill>
              <a:schemeClr val="bg2"/>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10" name="Rectangle 17"/>
          <p:cNvSpPr>
            <a:spLocks noChangeArrowheads="1"/>
          </p:cNvSpPr>
          <p:nvPr/>
        </p:nvSpPr>
        <p:spPr bwMode="auto">
          <a:xfrm>
            <a:off x="2246313" y="5380038"/>
            <a:ext cx="360362" cy="417512"/>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11" name="Oval 18"/>
          <p:cNvSpPr>
            <a:spLocks noChangeArrowheads="1"/>
          </p:cNvSpPr>
          <p:nvPr/>
        </p:nvSpPr>
        <p:spPr bwMode="auto">
          <a:xfrm>
            <a:off x="2684463" y="3206750"/>
            <a:ext cx="358775" cy="417513"/>
          </a:xfrm>
          <a:prstGeom prst="ellipse">
            <a:avLst/>
          </a:prstGeom>
          <a:noFill/>
          <a:ln w="12700">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12" name="Line 19"/>
          <p:cNvSpPr>
            <a:spLocks noChangeShapeType="1"/>
          </p:cNvSpPr>
          <p:nvPr/>
        </p:nvSpPr>
        <p:spPr bwMode="auto">
          <a:xfrm flipV="1">
            <a:off x="3157538" y="4125913"/>
            <a:ext cx="0" cy="16827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13" name="Line 20"/>
          <p:cNvSpPr>
            <a:spLocks noChangeShapeType="1"/>
          </p:cNvSpPr>
          <p:nvPr/>
        </p:nvSpPr>
        <p:spPr bwMode="auto">
          <a:xfrm>
            <a:off x="3157538" y="4125913"/>
            <a:ext cx="647700"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14" name="Line 21"/>
          <p:cNvSpPr>
            <a:spLocks noChangeShapeType="1"/>
          </p:cNvSpPr>
          <p:nvPr/>
        </p:nvSpPr>
        <p:spPr bwMode="auto">
          <a:xfrm>
            <a:off x="3805238" y="4125913"/>
            <a:ext cx="0" cy="16827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15" name="Line 22"/>
          <p:cNvSpPr>
            <a:spLocks noChangeShapeType="1"/>
          </p:cNvSpPr>
          <p:nvPr/>
        </p:nvSpPr>
        <p:spPr bwMode="auto">
          <a:xfrm>
            <a:off x="3805238" y="4125913"/>
            <a:ext cx="1222375"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16" name="Line 23"/>
          <p:cNvSpPr>
            <a:spLocks noChangeShapeType="1"/>
          </p:cNvSpPr>
          <p:nvPr/>
        </p:nvSpPr>
        <p:spPr bwMode="auto">
          <a:xfrm>
            <a:off x="4452938" y="4125913"/>
            <a:ext cx="0" cy="16827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17" name="Line 24"/>
          <p:cNvSpPr>
            <a:spLocks noChangeShapeType="1"/>
          </p:cNvSpPr>
          <p:nvPr/>
        </p:nvSpPr>
        <p:spPr bwMode="auto">
          <a:xfrm>
            <a:off x="2436813" y="5211763"/>
            <a:ext cx="1368425"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18" name="Line 25"/>
          <p:cNvSpPr>
            <a:spLocks noChangeShapeType="1"/>
          </p:cNvSpPr>
          <p:nvPr/>
        </p:nvSpPr>
        <p:spPr bwMode="auto">
          <a:xfrm>
            <a:off x="2436813" y="5211763"/>
            <a:ext cx="0" cy="16827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19" name="Line 26"/>
          <p:cNvSpPr>
            <a:spLocks noChangeShapeType="1"/>
          </p:cNvSpPr>
          <p:nvPr/>
        </p:nvSpPr>
        <p:spPr bwMode="auto">
          <a:xfrm>
            <a:off x="3176588" y="5211763"/>
            <a:ext cx="0" cy="16827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20" name="Line 27"/>
          <p:cNvSpPr>
            <a:spLocks noChangeShapeType="1"/>
          </p:cNvSpPr>
          <p:nvPr/>
        </p:nvSpPr>
        <p:spPr bwMode="auto">
          <a:xfrm>
            <a:off x="3805238" y="5211763"/>
            <a:ext cx="0" cy="16827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21" name="Line 28"/>
          <p:cNvSpPr>
            <a:spLocks noChangeShapeType="1"/>
          </p:cNvSpPr>
          <p:nvPr/>
        </p:nvSpPr>
        <p:spPr bwMode="auto">
          <a:xfrm>
            <a:off x="3660775" y="3459163"/>
            <a:ext cx="287338"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22" name="Line 29"/>
          <p:cNvSpPr>
            <a:spLocks noChangeShapeType="1"/>
          </p:cNvSpPr>
          <p:nvPr/>
        </p:nvSpPr>
        <p:spPr bwMode="auto">
          <a:xfrm flipV="1">
            <a:off x="5027613" y="4125913"/>
            <a:ext cx="0" cy="33337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23" name="Rectangle 30"/>
          <p:cNvSpPr>
            <a:spLocks noChangeArrowheads="1"/>
          </p:cNvSpPr>
          <p:nvPr/>
        </p:nvSpPr>
        <p:spPr bwMode="auto">
          <a:xfrm>
            <a:off x="1431925" y="3124200"/>
            <a:ext cx="358775" cy="417513"/>
          </a:xfrm>
          <a:prstGeom prst="rect">
            <a:avLst/>
          </a:prstGeom>
          <a:solidFill>
            <a:schemeClr val="accent1"/>
          </a:solidFill>
          <a:ln w="12700">
            <a:solidFill>
              <a:schemeClr val="bg2"/>
            </a:solidFill>
            <a:miter lim="800000"/>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24" name="Line 31"/>
          <p:cNvSpPr>
            <a:spLocks noChangeShapeType="1"/>
          </p:cNvSpPr>
          <p:nvPr/>
        </p:nvSpPr>
        <p:spPr bwMode="auto">
          <a:xfrm>
            <a:off x="1576388" y="2873375"/>
            <a:ext cx="0" cy="250825"/>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25" name="Oval 32"/>
          <p:cNvSpPr>
            <a:spLocks noChangeArrowheads="1"/>
          </p:cNvSpPr>
          <p:nvPr/>
        </p:nvSpPr>
        <p:spPr bwMode="auto">
          <a:xfrm>
            <a:off x="1431925" y="4294188"/>
            <a:ext cx="358775" cy="417512"/>
          </a:xfrm>
          <a:prstGeom prst="ellipse">
            <a:avLst/>
          </a:prstGeom>
          <a:solidFill>
            <a:schemeClr val="accent1"/>
          </a:solidFill>
          <a:ln w="12700">
            <a:solidFill>
              <a:schemeClr val="bg2"/>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26" name="Oval 33"/>
          <p:cNvSpPr>
            <a:spLocks noChangeArrowheads="1"/>
          </p:cNvSpPr>
          <p:nvPr/>
        </p:nvSpPr>
        <p:spPr bwMode="auto">
          <a:xfrm>
            <a:off x="855663" y="4294188"/>
            <a:ext cx="360362" cy="417512"/>
          </a:xfrm>
          <a:prstGeom prst="ellipse">
            <a:avLst/>
          </a:prstGeom>
          <a:solidFill>
            <a:schemeClr val="accent1"/>
          </a:solidFill>
          <a:ln w="12700">
            <a:solidFill>
              <a:schemeClr val="bg2"/>
            </a:solidFill>
            <a:round/>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27" name="Rectangle 34"/>
          <p:cNvSpPr>
            <a:spLocks noChangeArrowheads="1"/>
          </p:cNvSpPr>
          <p:nvPr/>
        </p:nvSpPr>
        <p:spPr bwMode="auto">
          <a:xfrm>
            <a:off x="2006600" y="4294188"/>
            <a:ext cx="358775" cy="417512"/>
          </a:xfrm>
          <a:prstGeom prst="rect">
            <a:avLst/>
          </a:prstGeom>
          <a:noFill/>
          <a:ln w="12700">
            <a:solidFill>
              <a:schemeClr val="bg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28" name="Line 35"/>
          <p:cNvSpPr>
            <a:spLocks noChangeShapeType="1"/>
          </p:cNvSpPr>
          <p:nvPr/>
        </p:nvSpPr>
        <p:spPr bwMode="auto">
          <a:xfrm>
            <a:off x="1576388" y="3541713"/>
            <a:ext cx="0" cy="500062"/>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29" name="Line 36"/>
          <p:cNvSpPr>
            <a:spLocks noChangeShapeType="1"/>
          </p:cNvSpPr>
          <p:nvPr/>
        </p:nvSpPr>
        <p:spPr bwMode="auto">
          <a:xfrm>
            <a:off x="1027113" y="4041775"/>
            <a:ext cx="1163637" cy="0"/>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30" name="Line 37"/>
          <p:cNvSpPr>
            <a:spLocks noChangeShapeType="1"/>
          </p:cNvSpPr>
          <p:nvPr/>
        </p:nvSpPr>
        <p:spPr bwMode="auto">
          <a:xfrm>
            <a:off x="1576388" y="4041775"/>
            <a:ext cx="0" cy="25241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31" name="Rectangle 38"/>
          <p:cNvSpPr>
            <a:spLocks noChangeArrowheads="1"/>
          </p:cNvSpPr>
          <p:nvPr/>
        </p:nvSpPr>
        <p:spPr bwMode="auto">
          <a:xfrm>
            <a:off x="4811713" y="4294188"/>
            <a:ext cx="358775" cy="417512"/>
          </a:xfrm>
          <a:prstGeom prst="rect">
            <a:avLst/>
          </a:prstGeom>
          <a:solidFill>
            <a:schemeClr val="accent1"/>
          </a:solidFill>
          <a:ln w="12700">
            <a:solidFill>
              <a:schemeClr val="bg2"/>
            </a:solidFill>
            <a:miter lim="800000"/>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32" name="Line 39"/>
          <p:cNvSpPr>
            <a:spLocks noChangeShapeType="1"/>
          </p:cNvSpPr>
          <p:nvPr/>
        </p:nvSpPr>
        <p:spPr bwMode="auto">
          <a:xfrm flipH="1">
            <a:off x="4740275" y="4210050"/>
            <a:ext cx="501650" cy="584200"/>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10633" name="Rectangle 40"/>
          <p:cNvSpPr>
            <a:spLocks noChangeArrowheads="1"/>
          </p:cNvSpPr>
          <p:nvPr/>
        </p:nvSpPr>
        <p:spPr bwMode="auto">
          <a:xfrm>
            <a:off x="3587750" y="5380038"/>
            <a:ext cx="360363" cy="417512"/>
          </a:xfrm>
          <a:prstGeom prst="rect">
            <a:avLst/>
          </a:prstGeom>
          <a:solidFill>
            <a:schemeClr val="accent1"/>
          </a:solidFill>
          <a:ln w="12700">
            <a:solidFill>
              <a:schemeClr val="bg2"/>
            </a:solidFill>
            <a:miter lim="800000"/>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34" name="Line 41"/>
          <p:cNvSpPr>
            <a:spLocks noChangeShapeType="1"/>
          </p:cNvSpPr>
          <p:nvPr/>
        </p:nvSpPr>
        <p:spPr bwMode="auto">
          <a:xfrm flipH="1">
            <a:off x="3516313" y="5295900"/>
            <a:ext cx="503237" cy="584200"/>
          </a:xfrm>
          <a:prstGeom prst="line">
            <a:avLst/>
          </a:prstGeom>
          <a:noFill/>
          <a:ln w="254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10635" name="Line 42"/>
          <p:cNvSpPr>
            <a:spLocks noChangeShapeType="1"/>
          </p:cNvSpPr>
          <p:nvPr/>
        </p:nvSpPr>
        <p:spPr bwMode="auto">
          <a:xfrm>
            <a:off x="2192338" y="4041775"/>
            <a:ext cx="0" cy="25241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36" name="Line 43"/>
          <p:cNvSpPr>
            <a:spLocks noChangeShapeType="1"/>
          </p:cNvSpPr>
          <p:nvPr/>
        </p:nvSpPr>
        <p:spPr bwMode="auto">
          <a:xfrm>
            <a:off x="1035050" y="4041775"/>
            <a:ext cx="0" cy="25241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37" name="Text Box 44"/>
          <p:cNvSpPr txBox="1">
            <a:spLocks noChangeArrowheads="1"/>
          </p:cNvSpPr>
          <p:nvPr/>
        </p:nvSpPr>
        <p:spPr bwMode="auto">
          <a:xfrm>
            <a:off x="-120650" y="1527175"/>
            <a:ext cx="155575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90000"/>
              </a:lnSpc>
              <a:spcBef>
                <a:spcPct val="0"/>
              </a:spcBef>
              <a:buClrTx/>
              <a:buFontTx/>
              <a:buNone/>
            </a:pPr>
            <a:r>
              <a:rPr lang="en-US" altLang="en-US" sz="2000">
                <a:solidFill>
                  <a:schemeClr val="bg2"/>
                </a:solidFill>
                <a:latin typeface="Arial" panose="020B0604020202020204" pitchFamily="34" charset="0"/>
              </a:rPr>
              <a:t>All daughters from affected males are affected</a:t>
            </a:r>
          </a:p>
        </p:txBody>
      </p:sp>
      <p:sp>
        <p:nvSpPr>
          <p:cNvPr id="110638" name="AutoShape 45"/>
          <p:cNvSpPr>
            <a:spLocks noChangeArrowheads="1"/>
          </p:cNvSpPr>
          <p:nvPr/>
        </p:nvSpPr>
        <p:spPr bwMode="auto">
          <a:xfrm rot="2059341">
            <a:off x="377825" y="3524250"/>
            <a:ext cx="603250" cy="349250"/>
          </a:xfrm>
          <a:prstGeom prst="rightArrow">
            <a:avLst>
              <a:gd name="adj1" fmla="val 50000"/>
              <a:gd name="adj2" fmla="val 43182"/>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39" name="Text Box 46"/>
          <p:cNvSpPr txBox="1">
            <a:spLocks noChangeArrowheads="1"/>
          </p:cNvSpPr>
          <p:nvPr/>
        </p:nvSpPr>
        <p:spPr bwMode="auto">
          <a:xfrm>
            <a:off x="4500563" y="1344613"/>
            <a:ext cx="1603375"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lnSpc>
                <a:spcPct val="90000"/>
              </a:lnSpc>
              <a:spcBef>
                <a:spcPct val="0"/>
              </a:spcBef>
              <a:buClrTx/>
              <a:buFontTx/>
              <a:buNone/>
            </a:pPr>
            <a:r>
              <a:rPr lang="en-US" altLang="en-US" sz="2000">
                <a:solidFill>
                  <a:schemeClr val="bg2"/>
                </a:solidFill>
                <a:latin typeface="Arial" panose="020B0604020202020204" pitchFamily="34" charset="0"/>
              </a:rPr>
              <a:t>Affected mothers have a 50% chance of producing affected children</a:t>
            </a:r>
          </a:p>
        </p:txBody>
      </p:sp>
      <p:sp>
        <p:nvSpPr>
          <p:cNvPr id="110640" name="AutoShape 47"/>
          <p:cNvSpPr>
            <a:spLocks noChangeArrowheads="1"/>
          </p:cNvSpPr>
          <p:nvPr/>
        </p:nvSpPr>
        <p:spPr bwMode="auto">
          <a:xfrm rot="-2098713">
            <a:off x="4416425" y="3505200"/>
            <a:ext cx="765175" cy="419100"/>
          </a:xfrm>
          <a:prstGeom prst="leftArrow">
            <a:avLst>
              <a:gd name="adj1" fmla="val 50000"/>
              <a:gd name="adj2" fmla="val 45644"/>
            </a:avLst>
          </a:prstGeom>
          <a:solidFill>
            <a:srgbClr val="FFFF00"/>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0641" name="Line 48"/>
          <p:cNvSpPr>
            <a:spLocks noChangeShapeType="1"/>
          </p:cNvSpPr>
          <p:nvPr/>
        </p:nvSpPr>
        <p:spPr bwMode="auto">
          <a:xfrm>
            <a:off x="3181350" y="4702175"/>
            <a:ext cx="0" cy="506413"/>
          </a:xfrm>
          <a:prstGeom prst="line">
            <a:avLst/>
          </a:prstGeom>
          <a:noFill/>
          <a:ln w="127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0642" name="Rectangle 49"/>
          <p:cNvSpPr>
            <a:spLocks noGrp="1" noChangeArrowheads="1"/>
          </p:cNvSpPr>
          <p:nvPr>
            <p:ph type="body" idx="4294967295"/>
          </p:nvPr>
        </p:nvSpPr>
        <p:spPr>
          <a:xfrm>
            <a:off x="5910263" y="1655763"/>
            <a:ext cx="3233737" cy="5378450"/>
          </a:xfrm>
          <a:noFill/>
        </p:spPr>
        <p:txBody>
          <a:bodyPr/>
          <a:lstStyle/>
          <a:p>
            <a:pPr>
              <a:lnSpc>
                <a:spcPct val="80000"/>
              </a:lnSpc>
              <a:spcBef>
                <a:spcPct val="0"/>
              </a:spcBef>
              <a:spcAft>
                <a:spcPct val="40000"/>
              </a:spcAft>
            </a:pPr>
            <a:r>
              <a:rPr lang="en-US" altLang="en-US" sz="2000" b="1" dirty="0">
                <a:solidFill>
                  <a:schemeClr val="bg2"/>
                </a:solidFill>
                <a:latin typeface="Arial" panose="020B0604020202020204" pitchFamily="34" charset="0"/>
              </a:rPr>
              <a:t>Affects either sex, but far more females than males</a:t>
            </a:r>
          </a:p>
          <a:p>
            <a:pPr>
              <a:lnSpc>
                <a:spcPct val="80000"/>
              </a:lnSpc>
              <a:spcBef>
                <a:spcPct val="0"/>
              </a:spcBef>
              <a:spcAft>
                <a:spcPct val="40000"/>
              </a:spcAft>
            </a:pPr>
            <a:r>
              <a:rPr lang="en-US" altLang="en-US" sz="2000" b="1" dirty="0">
                <a:solidFill>
                  <a:schemeClr val="bg2"/>
                </a:solidFill>
                <a:latin typeface="Arial" panose="020B0604020202020204" pitchFamily="34" charset="0"/>
              </a:rPr>
              <a:t>There are frequently an excess of live born females (affected male mortality)</a:t>
            </a:r>
          </a:p>
          <a:p>
            <a:pPr>
              <a:lnSpc>
                <a:spcPct val="80000"/>
              </a:lnSpc>
              <a:spcBef>
                <a:spcPct val="0"/>
              </a:spcBef>
              <a:spcAft>
                <a:spcPct val="40000"/>
              </a:spcAft>
            </a:pPr>
            <a:r>
              <a:rPr lang="en-US" altLang="en-US" sz="2000" b="1" dirty="0">
                <a:solidFill>
                  <a:schemeClr val="bg2"/>
                </a:solidFill>
              </a:rPr>
              <a:t> </a:t>
            </a:r>
            <a:r>
              <a:rPr lang="en-US" altLang="en-US" sz="2000" b="1" dirty="0">
                <a:solidFill>
                  <a:schemeClr val="bg2"/>
                </a:solidFill>
                <a:latin typeface="Arial" panose="020B0604020202020204" pitchFamily="34" charset="0"/>
              </a:rPr>
              <a:t>Sons of affected males never inherit the disorder</a:t>
            </a:r>
            <a:r>
              <a:rPr lang="en-US" altLang="en-US" sz="2000" b="1" dirty="0">
                <a:solidFill>
                  <a:schemeClr val="bg2"/>
                </a:solidFill>
              </a:rPr>
              <a:t>  </a:t>
            </a:r>
            <a:endParaRPr lang="en-US" altLang="en-US" sz="2000" b="1" dirty="0">
              <a:solidFill>
                <a:schemeClr val="bg2"/>
              </a:solidFill>
              <a:latin typeface="Arial" panose="020B0604020202020204" pitchFamily="34" charset="0"/>
            </a:endParaRPr>
          </a:p>
          <a:p>
            <a:pPr>
              <a:lnSpc>
                <a:spcPct val="80000"/>
              </a:lnSpc>
              <a:spcBef>
                <a:spcPct val="0"/>
              </a:spcBef>
              <a:spcAft>
                <a:spcPct val="40000"/>
              </a:spcAft>
            </a:pPr>
            <a:r>
              <a:rPr lang="en-US" altLang="en-US" sz="2000" b="1" dirty="0">
                <a:solidFill>
                  <a:schemeClr val="bg2"/>
                </a:solidFill>
              </a:rPr>
              <a:t> </a:t>
            </a:r>
            <a:r>
              <a:rPr lang="en-US" altLang="en-US" sz="2000" b="1" dirty="0">
                <a:solidFill>
                  <a:schemeClr val="bg2"/>
                </a:solidFill>
                <a:latin typeface="Arial" panose="020B0604020202020204" pitchFamily="34" charset="0"/>
              </a:rPr>
              <a:t>Affected females can transmit the disorder to offspring of both sexes</a:t>
            </a:r>
            <a:r>
              <a:rPr lang="en-US" altLang="en-US" sz="2000" b="1" dirty="0">
                <a:solidFill>
                  <a:schemeClr val="bg2"/>
                </a:solidFill>
              </a:rPr>
              <a:t> </a:t>
            </a:r>
            <a:r>
              <a:rPr lang="en-US" altLang="en-US" sz="1800" b="1" dirty="0">
                <a:solidFill>
                  <a:schemeClr val="bg2"/>
                </a:solidFill>
              </a:rPr>
              <a:t>  </a:t>
            </a:r>
          </a:p>
        </p:txBody>
      </p:sp>
      <p:sp>
        <p:nvSpPr>
          <p:cNvPr id="110643" name="Rectangle 50"/>
          <p:cNvSpPr>
            <a:spLocks noGrp="1" noChangeArrowheads="1"/>
          </p:cNvSpPr>
          <p:nvPr>
            <p:ph type="title" idx="4294967295"/>
          </p:nvPr>
        </p:nvSpPr>
        <p:spPr>
          <a:xfrm>
            <a:off x="685800" y="19050"/>
            <a:ext cx="7772400" cy="1143000"/>
          </a:xfrm>
          <a:noFill/>
        </p:spPr>
        <p:txBody>
          <a:bodyPr/>
          <a:lstStyle/>
          <a:p>
            <a:r>
              <a:rPr lang="en-US" altLang="en-US" sz="3600" b="1">
                <a:latin typeface="Comic Sans MS" panose="030F0702030302020204" pitchFamily="66" charset="0"/>
              </a:rPr>
              <a:t>X-linked Dominant Inheritance</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sp>
        <p:nvSpPr>
          <p:cNvPr id="112643" name="Rectangle 2"/>
          <p:cNvSpPr>
            <a:spLocks noGrp="1" noChangeArrowheads="1"/>
          </p:cNvSpPr>
          <p:nvPr>
            <p:ph type="title" idx="4294967295"/>
          </p:nvPr>
        </p:nvSpPr>
        <p:spPr>
          <a:xfrm>
            <a:off x="685800" y="9525"/>
            <a:ext cx="7772400" cy="1143000"/>
          </a:xfrm>
        </p:spPr>
        <p:txBody>
          <a:bodyPr/>
          <a:lstStyle/>
          <a:p>
            <a:r>
              <a:rPr lang="en-US" altLang="en-US" sz="3600" b="1">
                <a:latin typeface="Comic Sans MS" panose="030F0702030302020204" pitchFamily="66" charset="0"/>
              </a:rPr>
              <a:t>X-linked Dominant Diseases</a:t>
            </a:r>
          </a:p>
        </p:txBody>
      </p:sp>
      <p:sp>
        <p:nvSpPr>
          <p:cNvPr id="112644" name="Rectangle 3"/>
          <p:cNvSpPr>
            <a:spLocks noGrp="1" noChangeArrowheads="1"/>
          </p:cNvSpPr>
          <p:nvPr>
            <p:ph type="body" idx="4294967295"/>
          </p:nvPr>
        </p:nvSpPr>
        <p:spPr>
          <a:xfrm>
            <a:off x="762000" y="1600200"/>
            <a:ext cx="7848600" cy="4800600"/>
          </a:xfrm>
        </p:spPr>
        <p:txBody>
          <a:bodyPr/>
          <a:lstStyle/>
          <a:p>
            <a:r>
              <a:rPr lang="en-US" altLang="en-US" sz="2800" b="1" dirty="0">
                <a:latin typeface="Arial" panose="020B0604020202020204" pitchFamily="34" charset="0"/>
              </a:rPr>
              <a:t>Charcot-Marie-Tooth Disease (CMT)</a:t>
            </a:r>
          </a:p>
          <a:p>
            <a:pPr lvl="1"/>
            <a:r>
              <a:rPr lang="en-US" altLang="en-US" sz="2400" b="1" dirty="0">
                <a:latin typeface="Arial" panose="020B0604020202020204" pitchFamily="34" charset="0"/>
                <a:cs typeface="Arial" panose="020B0604020202020204" pitchFamily="34" charset="0"/>
              </a:rPr>
              <a:t>Associated with weakness and atrophy of muscles of hands and lower legs, with foot deformities and some loss of sensation in feet</a:t>
            </a:r>
          </a:p>
          <a:p>
            <a:r>
              <a:rPr lang="en-US" altLang="en-US" sz="2800" b="1" dirty="0">
                <a:latin typeface="Arial" panose="020B0604020202020204" pitchFamily="34" charset="0"/>
                <a:cs typeface="Arial" panose="020B0604020202020204" pitchFamily="34" charset="0"/>
              </a:rPr>
              <a:t>Coffin-Lowry Syndrome</a:t>
            </a:r>
          </a:p>
          <a:p>
            <a:pPr lvl="1"/>
            <a:r>
              <a:rPr lang="en-US" altLang="en-US" sz="2400" b="1" dirty="0">
                <a:latin typeface="Arial" panose="020B0604020202020204" pitchFamily="34" charset="0"/>
                <a:cs typeface="Arial" panose="020B0604020202020204" pitchFamily="34" charset="0"/>
              </a:rPr>
              <a:t>(Soft hand syndrome) associated with mental and somatic retardation &amp; large soft hands, and various bone abnormalities</a:t>
            </a:r>
          </a:p>
          <a:p>
            <a:r>
              <a:rPr lang="en-US" altLang="en-US" sz="2800" b="1" dirty="0">
                <a:latin typeface="Arial" panose="020B0604020202020204" pitchFamily="34" charset="0"/>
                <a:cs typeface="Arial" panose="020B0604020202020204" pitchFamily="34" charset="0"/>
              </a:rPr>
              <a:t>Hypophosphatemia -- ~1 in 20,000 people</a:t>
            </a:r>
          </a:p>
          <a:p>
            <a:pPr lvl="1"/>
            <a:r>
              <a:rPr lang="en-US" altLang="en-US" sz="2400" b="1" dirty="0">
                <a:latin typeface="Arial" panose="020B0604020202020204" pitchFamily="34" charset="0"/>
                <a:cs typeface="Arial" panose="020B0604020202020204" pitchFamily="34" charset="0"/>
              </a:rPr>
              <a:t>Associated with Vitamin D Resistant Rickets</a:t>
            </a:r>
            <a:endParaRPr lang="en-US" altLang="en-US" b="1" dirty="0"/>
          </a:p>
        </p:txBody>
      </p:sp>
      <p:sp>
        <p:nvSpPr>
          <p:cNvPr id="112645" name="Line 4"/>
          <p:cNvSpPr>
            <a:spLocks noChangeShapeType="1"/>
          </p:cNvSpPr>
          <p:nvPr/>
        </p:nvSpPr>
        <p:spPr bwMode="auto">
          <a:xfrm>
            <a:off x="271463" y="1100138"/>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pic>
        <p:nvPicPr>
          <p:cNvPr id="114691" name="Picture 2" descr="Slide9"/>
          <p:cNvPicPr>
            <a:picLocks noChangeAspect="1" noChangeArrowheads="1"/>
          </p:cNvPicPr>
          <p:nvPr/>
        </p:nvPicPr>
        <p:blipFill>
          <a:blip r:embed="rId2">
            <a:extLst>
              <a:ext uri="{28A0092B-C50C-407E-A947-70E740481C1C}">
                <a14:useLocalDpi xmlns:a14="http://schemas.microsoft.com/office/drawing/2010/main" val="0"/>
              </a:ext>
            </a:extLst>
          </a:blip>
          <a:srcRect l="3960" t="16135" r="3961" b="17036"/>
          <a:stretch>
            <a:fillRect/>
          </a:stretch>
        </p:blipFill>
        <p:spPr bwMode="auto">
          <a:xfrm>
            <a:off x="990600" y="2162175"/>
            <a:ext cx="7086600"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2" name="Text Box 3"/>
          <p:cNvSpPr txBox="1">
            <a:spLocks noChangeArrowheads="1"/>
          </p:cNvSpPr>
          <p:nvPr/>
        </p:nvSpPr>
        <p:spPr bwMode="auto">
          <a:xfrm>
            <a:off x="0" y="295275"/>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eaLnBrk="1" hangingPunct="1">
              <a:lnSpc>
                <a:spcPct val="90000"/>
              </a:lnSpc>
              <a:spcBef>
                <a:spcPct val="0"/>
              </a:spcBef>
              <a:buClrTx/>
              <a:buFontTx/>
              <a:buNone/>
            </a:pPr>
            <a:r>
              <a:rPr lang="en-US" altLang="en-US">
                <a:solidFill>
                  <a:schemeClr val="bg2"/>
                </a:solidFill>
                <a:latin typeface="Comic Sans MS" panose="030F0702030302020204" pitchFamily="66" charset="0"/>
              </a:rPr>
              <a:t>Hypophosphatemia: X-linked</a:t>
            </a:r>
            <a:r>
              <a:rPr lang="en-US" altLang="en-US" sz="4000">
                <a:solidFill>
                  <a:schemeClr val="bg2"/>
                </a:solidFill>
                <a:latin typeface="Comic Sans MS" panose="030F0702030302020204" pitchFamily="66" charset="0"/>
              </a:rPr>
              <a:t> </a:t>
            </a:r>
            <a:r>
              <a:rPr lang="en-US" altLang="en-US">
                <a:solidFill>
                  <a:schemeClr val="bg2"/>
                </a:solidFill>
                <a:latin typeface="Comic Sans MS" panose="030F0702030302020204" pitchFamily="66" charset="0"/>
              </a:rPr>
              <a:t>Dominant Trait</a:t>
            </a:r>
          </a:p>
        </p:txBody>
      </p:sp>
      <p:sp>
        <p:nvSpPr>
          <p:cNvPr id="114693" name="Line 4"/>
          <p:cNvSpPr>
            <a:spLocks noChangeShapeType="1"/>
          </p:cNvSpPr>
          <p:nvPr/>
        </p:nvSpPr>
        <p:spPr bwMode="auto">
          <a:xfrm>
            <a:off x="271463" y="1428750"/>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sp>
        <p:nvSpPr>
          <p:cNvPr id="115715" name="Rectangle 2"/>
          <p:cNvSpPr>
            <a:spLocks noGrp="1" noChangeArrowheads="1"/>
          </p:cNvSpPr>
          <p:nvPr>
            <p:ph type="title" idx="4294967295"/>
          </p:nvPr>
        </p:nvSpPr>
        <p:spPr>
          <a:xfrm>
            <a:off x="685800" y="-19050"/>
            <a:ext cx="7772400" cy="1143000"/>
          </a:xfrm>
        </p:spPr>
        <p:txBody>
          <a:bodyPr/>
          <a:lstStyle/>
          <a:p>
            <a:r>
              <a:rPr lang="en-US" altLang="en-US" sz="4000" b="1">
                <a:latin typeface="Comic Sans MS" panose="030F0702030302020204" pitchFamily="66" charset="0"/>
              </a:rPr>
              <a:t>Y-Linked Traits</a:t>
            </a:r>
          </a:p>
        </p:txBody>
      </p:sp>
      <p:sp>
        <p:nvSpPr>
          <p:cNvPr id="115716" name="Rectangle 3"/>
          <p:cNvSpPr>
            <a:spLocks noGrp="1" noChangeArrowheads="1"/>
          </p:cNvSpPr>
          <p:nvPr>
            <p:ph type="body" idx="4294967295"/>
          </p:nvPr>
        </p:nvSpPr>
        <p:spPr>
          <a:xfrm>
            <a:off x="3525838" y="1543050"/>
            <a:ext cx="5484812" cy="4838700"/>
          </a:xfrm>
        </p:spPr>
        <p:txBody>
          <a:bodyPr/>
          <a:lstStyle/>
          <a:p>
            <a:pPr>
              <a:lnSpc>
                <a:spcPct val="90000"/>
              </a:lnSpc>
              <a:spcBef>
                <a:spcPct val="0"/>
              </a:spcBef>
              <a:spcAft>
                <a:spcPct val="40000"/>
              </a:spcAft>
            </a:pPr>
            <a:r>
              <a:rPr lang="en-US" altLang="en-US" sz="2400" b="1">
                <a:latin typeface="Arial" panose="020B0604020202020204" pitchFamily="34" charset="0"/>
                <a:cs typeface="Times New Roman" panose="02020603050405020304" pitchFamily="18" charset="0"/>
              </a:rPr>
              <a:t>Hemizygous – always expressed</a:t>
            </a:r>
            <a:endParaRPr lang="en-US" altLang="en-US" sz="2400" b="1">
              <a:latin typeface="Arial" panose="020B0604020202020204" pitchFamily="34" charset="0"/>
            </a:endParaRPr>
          </a:p>
          <a:p>
            <a:pPr>
              <a:lnSpc>
                <a:spcPct val="90000"/>
              </a:lnSpc>
              <a:spcBef>
                <a:spcPct val="0"/>
              </a:spcBef>
              <a:spcAft>
                <a:spcPct val="40000"/>
              </a:spcAft>
            </a:pPr>
            <a:r>
              <a:rPr lang="en-US" altLang="en-US" sz="2400" b="1">
                <a:latin typeface="Arial" panose="020B0604020202020204" pitchFamily="34" charset="0"/>
              </a:rPr>
              <a:t>Phenotype expressed in males </a:t>
            </a:r>
            <a:r>
              <a:rPr lang="en-US" altLang="en-US" sz="2400" b="1">
                <a:latin typeface="Arial" panose="020B0604020202020204" pitchFamily="34" charset="0"/>
                <a:cs typeface="Times New Roman" panose="02020603050405020304" pitchFamily="18" charset="0"/>
              </a:rPr>
              <a:t>(no affected females)</a:t>
            </a:r>
          </a:p>
          <a:p>
            <a:pPr lvl="1">
              <a:lnSpc>
                <a:spcPct val="90000"/>
              </a:lnSpc>
              <a:spcBef>
                <a:spcPct val="0"/>
              </a:spcBef>
              <a:spcAft>
                <a:spcPct val="40000"/>
              </a:spcAft>
            </a:pPr>
            <a:r>
              <a:rPr lang="en-US" altLang="en-US" sz="2000" b="1">
                <a:latin typeface="Arial" panose="020B0604020202020204" pitchFamily="34" charset="0"/>
              </a:rPr>
              <a:t>NO daughters of affected father affected</a:t>
            </a:r>
          </a:p>
          <a:p>
            <a:pPr>
              <a:lnSpc>
                <a:spcPct val="90000"/>
              </a:lnSpc>
              <a:spcBef>
                <a:spcPct val="0"/>
              </a:spcBef>
              <a:spcAft>
                <a:spcPct val="40000"/>
              </a:spcAft>
            </a:pPr>
            <a:r>
              <a:rPr lang="en-US" altLang="en-US" sz="2400" b="1">
                <a:latin typeface="Arial" panose="020B0604020202020204" pitchFamily="34" charset="0"/>
              </a:rPr>
              <a:t>Affected sons have affected fathers</a:t>
            </a:r>
          </a:p>
          <a:p>
            <a:pPr>
              <a:lnSpc>
                <a:spcPct val="90000"/>
              </a:lnSpc>
              <a:spcBef>
                <a:spcPct val="0"/>
              </a:spcBef>
              <a:spcAft>
                <a:spcPct val="40000"/>
              </a:spcAft>
            </a:pPr>
            <a:r>
              <a:rPr lang="en-US" altLang="en-US" sz="2400" b="1">
                <a:latin typeface="Arial" panose="020B0604020202020204" pitchFamily="34" charset="0"/>
              </a:rPr>
              <a:t>ALL sons of affected father will be affected</a:t>
            </a:r>
          </a:p>
          <a:p>
            <a:pPr lvl="1">
              <a:lnSpc>
                <a:spcPct val="90000"/>
              </a:lnSpc>
              <a:spcBef>
                <a:spcPct val="0"/>
              </a:spcBef>
              <a:spcAft>
                <a:spcPct val="40000"/>
              </a:spcAft>
            </a:pPr>
            <a:r>
              <a:rPr lang="en-US" altLang="en-US" sz="2000" b="1">
                <a:latin typeface="Arial" panose="020B0604020202020204" pitchFamily="34" charset="0"/>
              </a:rPr>
              <a:t>If you have it and your “son” doesn’t, then he isn’t yours! </a:t>
            </a:r>
          </a:p>
          <a:p>
            <a:pPr>
              <a:lnSpc>
                <a:spcPct val="90000"/>
              </a:lnSpc>
              <a:spcBef>
                <a:spcPct val="0"/>
              </a:spcBef>
              <a:spcAft>
                <a:spcPct val="40000"/>
              </a:spcAft>
            </a:pPr>
            <a:r>
              <a:rPr lang="en-US" altLang="en-US" sz="2400" b="1">
                <a:latin typeface="Arial" panose="020B0604020202020204" pitchFamily="34" charset="0"/>
                <a:cs typeface="Times New Roman" panose="02020603050405020304" pitchFamily="18" charset="0"/>
              </a:rPr>
              <a:t>Very rare - only ~ 3 dozen known</a:t>
            </a:r>
          </a:p>
        </p:txBody>
      </p:sp>
      <p:pic>
        <p:nvPicPr>
          <p:cNvPr id="115717" name="Picture 4" descr="Slide8"/>
          <p:cNvPicPr>
            <a:picLocks noChangeAspect="1" noChangeArrowheads="1"/>
          </p:cNvPicPr>
          <p:nvPr/>
        </p:nvPicPr>
        <p:blipFill>
          <a:blip r:embed="rId2">
            <a:extLst>
              <a:ext uri="{28A0092B-C50C-407E-A947-70E740481C1C}">
                <a14:useLocalDpi xmlns:a14="http://schemas.microsoft.com/office/drawing/2010/main" val="0"/>
              </a:ext>
            </a:extLst>
          </a:blip>
          <a:srcRect l="14323" t="2475" r="26265" b="5116"/>
          <a:stretch>
            <a:fillRect/>
          </a:stretch>
        </p:blipFill>
        <p:spPr bwMode="auto">
          <a:xfrm>
            <a:off x="307975" y="1905000"/>
            <a:ext cx="307022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8" name="Line 5"/>
          <p:cNvSpPr>
            <a:spLocks noChangeShapeType="1"/>
          </p:cNvSpPr>
          <p:nvPr/>
        </p:nvSpPr>
        <p:spPr bwMode="auto">
          <a:xfrm>
            <a:off x="271463" y="1052513"/>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Footer Placeholder 3"/>
          <p:cNvSpPr txBox="1">
            <a:spLocks noGrp="1"/>
          </p:cNvSpPr>
          <p:nvPr/>
        </p:nvSpPr>
        <p:spPr bwMode="auto">
          <a:xfrm>
            <a:off x="7042150" y="6343650"/>
            <a:ext cx="241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gn="ctr">
              <a:spcBef>
                <a:spcPct val="0"/>
              </a:spcBef>
              <a:buClrTx/>
              <a:buFontTx/>
              <a:buNone/>
            </a:pPr>
            <a:endParaRPr lang="en-US" altLang="en-US" sz="1200">
              <a:solidFill>
                <a:schemeClr val="tx1"/>
              </a:solidFill>
              <a:latin typeface="Arial" panose="020B0604020202020204" pitchFamily="34" charset="0"/>
            </a:endParaRPr>
          </a:p>
          <a:p>
            <a:pPr algn="ctr">
              <a:spcBef>
                <a:spcPct val="0"/>
              </a:spcBef>
              <a:buClrTx/>
              <a:buFontTx/>
              <a:buNone/>
            </a:pPr>
            <a:r>
              <a:rPr lang="en-US" altLang="en-US" sz="1200">
                <a:solidFill>
                  <a:schemeClr val="tx1"/>
                </a:solidFill>
                <a:latin typeface="Arial" panose="020B0604020202020204" pitchFamily="34" charset="0"/>
              </a:rPr>
              <a:t>EPI 743, 01/17/2008</a:t>
            </a:r>
          </a:p>
          <a:p>
            <a:pPr algn="ctr">
              <a:spcBef>
                <a:spcPct val="0"/>
              </a:spcBef>
              <a:buClrTx/>
              <a:buFontTx/>
              <a:buNone/>
            </a:pPr>
            <a:endParaRPr lang="en-US" altLang="en-US" sz="1200">
              <a:solidFill>
                <a:schemeClr val="tx1"/>
              </a:solidFill>
              <a:latin typeface="Arial" panose="020B0604020202020204" pitchFamily="34" charset="0"/>
            </a:endParaRPr>
          </a:p>
        </p:txBody>
      </p:sp>
      <p:sp>
        <p:nvSpPr>
          <p:cNvPr id="116739" name="Rectangle 2"/>
          <p:cNvSpPr>
            <a:spLocks noGrp="1" noChangeArrowheads="1"/>
          </p:cNvSpPr>
          <p:nvPr>
            <p:ph type="title" idx="4294967295"/>
          </p:nvPr>
        </p:nvSpPr>
        <p:spPr>
          <a:xfrm>
            <a:off x="685800" y="247650"/>
            <a:ext cx="7772400" cy="1143000"/>
          </a:xfrm>
        </p:spPr>
        <p:txBody>
          <a:bodyPr/>
          <a:lstStyle/>
          <a:p>
            <a:r>
              <a:rPr lang="en-US" altLang="en-US" sz="3600" b="1">
                <a:latin typeface="Comic Sans MS" panose="030F0702030302020204" pitchFamily="66" charset="0"/>
              </a:rPr>
              <a:t>Idealized Y-Linked Pedigree</a:t>
            </a:r>
          </a:p>
        </p:txBody>
      </p:sp>
      <p:sp>
        <p:nvSpPr>
          <p:cNvPr id="116740" name="Line 3"/>
          <p:cNvSpPr>
            <a:spLocks noChangeShapeType="1"/>
          </p:cNvSpPr>
          <p:nvPr/>
        </p:nvSpPr>
        <p:spPr bwMode="auto">
          <a:xfrm>
            <a:off x="3890963" y="2667000"/>
            <a:ext cx="1214437" cy="0"/>
          </a:xfrm>
          <a:prstGeom prst="line">
            <a:avLst/>
          </a:prstGeom>
          <a:noFill/>
          <a:ln w="28575">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6741" name="Oval 4"/>
          <p:cNvSpPr>
            <a:spLocks noChangeArrowheads="1"/>
          </p:cNvSpPr>
          <p:nvPr/>
        </p:nvSpPr>
        <p:spPr bwMode="auto">
          <a:xfrm>
            <a:off x="2971800" y="2209800"/>
            <a:ext cx="914400" cy="914400"/>
          </a:xfrm>
          <a:prstGeom prst="ellipse">
            <a:avLst/>
          </a:prstGeom>
          <a:noFill/>
          <a:ln w="28575">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6742" name="Rectangle 5"/>
          <p:cNvSpPr>
            <a:spLocks noChangeArrowheads="1"/>
          </p:cNvSpPr>
          <p:nvPr/>
        </p:nvSpPr>
        <p:spPr bwMode="auto">
          <a:xfrm>
            <a:off x="5105400" y="2209800"/>
            <a:ext cx="914400" cy="914400"/>
          </a:xfrm>
          <a:prstGeom prst="rect">
            <a:avLst/>
          </a:prstGeom>
          <a:solidFill>
            <a:schemeClr val="accent1"/>
          </a:solidFill>
          <a:ln w="28575">
            <a:solidFill>
              <a:schemeClr val="bg2"/>
            </a:solidFill>
            <a:miter lim="800000"/>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6743" name="Line 6"/>
          <p:cNvSpPr>
            <a:spLocks noChangeShapeType="1"/>
          </p:cNvSpPr>
          <p:nvPr/>
        </p:nvSpPr>
        <p:spPr bwMode="auto">
          <a:xfrm>
            <a:off x="4572000" y="2667000"/>
            <a:ext cx="0" cy="1219200"/>
          </a:xfrm>
          <a:prstGeom prst="line">
            <a:avLst/>
          </a:prstGeom>
          <a:noFill/>
          <a:ln w="28575">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6744" name="Line 7"/>
          <p:cNvSpPr>
            <a:spLocks noChangeShapeType="1"/>
          </p:cNvSpPr>
          <p:nvPr/>
        </p:nvSpPr>
        <p:spPr bwMode="auto">
          <a:xfrm>
            <a:off x="2438400" y="3886200"/>
            <a:ext cx="4038600" cy="0"/>
          </a:xfrm>
          <a:prstGeom prst="line">
            <a:avLst/>
          </a:prstGeom>
          <a:noFill/>
          <a:ln w="28575">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6745" name="Oval 8"/>
          <p:cNvSpPr>
            <a:spLocks noChangeArrowheads="1"/>
          </p:cNvSpPr>
          <p:nvPr/>
        </p:nvSpPr>
        <p:spPr bwMode="auto">
          <a:xfrm>
            <a:off x="1981200" y="4419600"/>
            <a:ext cx="914400" cy="914400"/>
          </a:xfrm>
          <a:prstGeom prst="ellipse">
            <a:avLst/>
          </a:prstGeom>
          <a:noFill/>
          <a:ln w="28575">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6746" name="Oval 9"/>
          <p:cNvSpPr>
            <a:spLocks noChangeArrowheads="1"/>
          </p:cNvSpPr>
          <p:nvPr/>
        </p:nvSpPr>
        <p:spPr bwMode="auto">
          <a:xfrm>
            <a:off x="4800600" y="4419600"/>
            <a:ext cx="914400" cy="914400"/>
          </a:xfrm>
          <a:prstGeom prst="ellipse">
            <a:avLst/>
          </a:prstGeom>
          <a:noFill/>
          <a:ln w="28575">
            <a:solidFill>
              <a:schemeClr val="bg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6747" name="Rectangle 10"/>
          <p:cNvSpPr>
            <a:spLocks noChangeArrowheads="1"/>
          </p:cNvSpPr>
          <p:nvPr/>
        </p:nvSpPr>
        <p:spPr bwMode="auto">
          <a:xfrm>
            <a:off x="3429000" y="4419600"/>
            <a:ext cx="914400" cy="914400"/>
          </a:xfrm>
          <a:prstGeom prst="rect">
            <a:avLst/>
          </a:prstGeom>
          <a:solidFill>
            <a:schemeClr val="accent1"/>
          </a:solidFill>
          <a:ln w="28575">
            <a:solidFill>
              <a:schemeClr val="bg2"/>
            </a:solidFill>
            <a:miter lim="800000"/>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6748" name="Rectangle 11"/>
          <p:cNvSpPr>
            <a:spLocks noChangeArrowheads="1"/>
          </p:cNvSpPr>
          <p:nvPr/>
        </p:nvSpPr>
        <p:spPr bwMode="auto">
          <a:xfrm>
            <a:off x="6019800" y="4419600"/>
            <a:ext cx="914400" cy="914400"/>
          </a:xfrm>
          <a:prstGeom prst="rect">
            <a:avLst/>
          </a:prstGeom>
          <a:solidFill>
            <a:schemeClr val="accent1"/>
          </a:solidFill>
          <a:ln w="28575">
            <a:solidFill>
              <a:schemeClr val="bg2"/>
            </a:solidFill>
            <a:miter lim="800000"/>
            <a:headEnd type="none" w="sm" len="sm"/>
            <a:tailEnd type="none" w="sm" len="sm"/>
          </a:ln>
        </p:spPr>
        <p:txBody>
          <a:bodyPr wrap="none" anchor="ct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lnSpc>
                <a:spcPct val="150000"/>
              </a:lnSpc>
              <a:spcBef>
                <a:spcPct val="50000"/>
              </a:spcBef>
              <a:spcAft>
                <a:spcPts val="600"/>
              </a:spcAft>
              <a:buClrTx/>
              <a:buFontTx/>
              <a:buNone/>
            </a:pPr>
            <a:endParaRPr lang="en-US" altLang="en-US" sz="1000">
              <a:solidFill>
                <a:schemeClr val="bg2"/>
              </a:solidFill>
              <a:latin typeface="Arial" panose="020B0604020202020204" pitchFamily="34" charset="0"/>
            </a:endParaRPr>
          </a:p>
        </p:txBody>
      </p:sp>
      <p:sp>
        <p:nvSpPr>
          <p:cNvPr id="116749" name="Line 12"/>
          <p:cNvSpPr>
            <a:spLocks noChangeShapeType="1"/>
          </p:cNvSpPr>
          <p:nvPr/>
        </p:nvSpPr>
        <p:spPr bwMode="auto">
          <a:xfrm>
            <a:off x="2438400" y="3886200"/>
            <a:ext cx="0" cy="533400"/>
          </a:xfrm>
          <a:prstGeom prst="line">
            <a:avLst/>
          </a:prstGeom>
          <a:noFill/>
          <a:ln w="28575">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6750" name="Line 13"/>
          <p:cNvSpPr>
            <a:spLocks noChangeShapeType="1"/>
          </p:cNvSpPr>
          <p:nvPr/>
        </p:nvSpPr>
        <p:spPr bwMode="auto">
          <a:xfrm>
            <a:off x="3886200" y="3886200"/>
            <a:ext cx="0" cy="533400"/>
          </a:xfrm>
          <a:prstGeom prst="line">
            <a:avLst/>
          </a:prstGeom>
          <a:noFill/>
          <a:ln w="28575">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6751" name="Line 14"/>
          <p:cNvSpPr>
            <a:spLocks noChangeShapeType="1"/>
          </p:cNvSpPr>
          <p:nvPr/>
        </p:nvSpPr>
        <p:spPr bwMode="auto">
          <a:xfrm>
            <a:off x="5257800" y="3886200"/>
            <a:ext cx="0" cy="533400"/>
          </a:xfrm>
          <a:prstGeom prst="line">
            <a:avLst/>
          </a:prstGeom>
          <a:noFill/>
          <a:ln w="28575">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6752" name="Line 15"/>
          <p:cNvSpPr>
            <a:spLocks noChangeShapeType="1"/>
          </p:cNvSpPr>
          <p:nvPr/>
        </p:nvSpPr>
        <p:spPr bwMode="auto">
          <a:xfrm>
            <a:off x="6477000" y="3886200"/>
            <a:ext cx="0" cy="533400"/>
          </a:xfrm>
          <a:prstGeom prst="line">
            <a:avLst/>
          </a:prstGeom>
          <a:noFill/>
          <a:ln w="28575">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16753" name="Text Box 16"/>
          <p:cNvSpPr txBox="1">
            <a:spLocks noChangeArrowheads="1"/>
          </p:cNvSpPr>
          <p:nvPr/>
        </p:nvSpPr>
        <p:spPr bwMode="auto">
          <a:xfrm>
            <a:off x="3124200" y="2436813"/>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XX</a:t>
            </a:r>
          </a:p>
        </p:txBody>
      </p:sp>
      <p:sp>
        <p:nvSpPr>
          <p:cNvPr id="116754" name="Text Box 17"/>
          <p:cNvSpPr txBox="1">
            <a:spLocks noChangeArrowheads="1"/>
          </p:cNvSpPr>
          <p:nvPr/>
        </p:nvSpPr>
        <p:spPr bwMode="auto">
          <a:xfrm>
            <a:off x="5181600" y="2436813"/>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XY</a:t>
            </a:r>
          </a:p>
        </p:txBody>
      </p:sp>
      <p:sp>
        <p:nvSpPr>
          <p:cNvPr id="116755" name="Text Box 18"/>
          <p:cNvSpPr txBox="1">
            <a:spLocks noChangeArrowheads="1"/>
          </p:cNvSpPr>
          <p:nvPr/>
        </p:nvSpPr>
        <p:spPr bwMode="auto">
          <a:xfrm>
            <a:off x="2133600" y="4646613"/>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XX</a:t>
            </a:r>
          </a:p>
        </p:txBody>
      </p:sp>
      <p:sp>
        <p:nvSpPr>
          <p:cNvPr id="116756" name="Text Box 19"/>
          <p:cNvSpPr txBox="1">
            <a:spLocks noChangeArrowheads="1"/>
          </p:cNvSpPr>
          <p:nvPr/>
        </p:nvSpPr>
        <p:spPr bwMode="auto">
          <a:xfrm>
            <a:off x="3581400" y="4646613"/>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XY</a:t>
            </a:r>
          </a:p>
        </p:txBody>
      </p:sp>
      <p:sp>
        <p:nvSpPr>
          <p:cNvPr id="116757" name="Text Box 20"/>
          <p:cNvSpPr txBox="1">
            <a:spLocks noChangeArrowheads="1"/>
          </p:cNvSpPr>
          <p:nvPr/>
        </p:nvSpPr>
        <p:spPr bwMode="auto">
          <a:xfrm>
            <a:off x="4953000" y="4646613"/>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XX</a:t>
            </a:r>
          </a:p>
        </p:txBody>
      </p:sp>
      <p:sp>
        <p:nvSpPr>
          <p:cNvPr id="116758" name="Text Box 21"/>
          <p:cNvSpPr txBox="1">
            <a:spLocks noChangeArrowheads="1"/>
          </p:cNvSpPr>
          <p:nvPr/>
        </p:nvSpPr>
        <p:spPr bwMode="auto">
          <a:xfrm>
            <a:off x="6172200" y="4646613"/>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a:spAutoFit/>
          </a:bodyPr>
          <a:lstStyle>
            <a:lvl1pPr>
              <a:spcBef>
                <a:spcPct val="20000"/>
              </a:spcBef>
              <a:buClr>
                <a:schemeClr val="accent2"/>
              </a:buClr>
              <a:buChar char="•"/>
              <a:defRPr sz="3200">
                <a:solidFill>
                  <a:srgbClr val="006600"/>
                </a:solidFill>
                <a:latin typeface="Times New Roman" panose="02020603050405020304" pitchFamily="18" charset="0"/>
              </a:defRPr>
            </a:lvl1pPr>
            <a:lvl2pPr marL="742950" indent="-285750">
              <a:spcBef>
                <a:spcPct val="20000"/>
              </a:spcBef>
              <a:buClr>
                <a:schemeClr val="accent2"/>
              </a:buClr>
              <a:buChar char="•"/>
              <a:defRPr sz="2800">
                <a:solidFill>
                  <a:srgbClr val="006600"/>
                </a:solidFill>
                <a:latin typeface="Times New Roman" panose="02020603050405020304" pitchFamily="18" charset="0"/>
              </a:defRPr>
            </a:lvl2pPr>
            <a:lvl3pPr marL="1143000" indent="-228600">
              <a:spcBef>
                <a:spcPct val="20000"/>
              </a:spcBef>
              <a:buClr>
                <a:schemeClr val="accent2"/>
              </a:buClr>
              <a:buChar char="•"/>
              <a:defRPr sz="2400">
                <a:solidFill>
                  <a:srgbClr val="006600"/>
                </a:solidFill>
                <a:latin typeface="Times New Roman" panose="02020603050405020304" pitchFamily="18" charset="0"/>
              </a:defRPr>
            </a:lvl3pPr>
            <a:lvl4pPr marL="1600200" indent="-228600">
              <a:spcBef>
                <a:spcPct val="20000"/>
              </a:spcBef>
              <a:buClr>
                <a:schemeClr val="accent2"/>
              </a:buClr>
              <a:buChar char="•"/>
              <a:defRPr sz="2000">
                <a:solidFill>
                  <a:srgbClr val="006600"/>
                </a:solidFill>
                <a:latin typeface="Times New Roman" panose="02020603050405020304" pitchFamily="18" charset="0"/>
              </a:defRPr>
            </a:lvl4pPr>
            <a:lvl5pPr marL="2057400" indent="-228600">
              <a:spcBef>
                <a:spcPct val="20000"/>
              </a:spcBef>
              <a:buClr>
                <a:schemeClr val="accent2"/>
              </a:buClr>
              <a:buChar char="•"/>
              <a:defRPr sz="2000">
                <a:solidFill>
                  <a:srgbClr val="006600"/>
                </a:solidFill>
                <a:latin typeface="Times New Roman" panose="02020603050405020304" pitchFamily="18" charset="0"/>
              </a:defRPr>
            </a:lvl5pPr>
            <a:lvl6pPr marL="25146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6pPr>
            <a:lvl7pPr marL="29718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7pPr>
            <a:lvl8pPr marL="34290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8pPr>
            <a:lvl9pPr marL="3886200" indent="-228600" eaLnBrk="0" fontAlgn="base" hangingPunct="0">
              <a:spcBef>
                <a:spcPct val="20000"/>
              </a:spcBef>
              <a:spcAft>
                <a:spcPct val="0"/>
              </a:spcAft>
              <a:buClr>
                <a:schemeClr val="accent2"/>
              </a:buClr>
              <a:buChar char="•"/>
              <a:defRPr sz="2000">
                <a:solidFill>
                  <a:srgbClr val="006600"/>
                </a:solidFill>
                <a:latin typeface="Times New Roman" panose="02020603050405020304" pitchFamily="18" charset="0"/>
              </a:defRPr>
            </a:lvl9pPr>
          </a:lstStyle>
          <a:p>
            <a:pPr>
              <a:spcBef>
                <a:spcPct val="0"/>
              </a:spcBef>
              <a:buClrTx/>
              <a:buFontTx/>
              <a:buNone/>
            </a:pPr>
            <a:r>
              <a:rPr lang="en-US" altLang="en-US" sz="2400">
                <a:solidFill>
                  <a:schemeClr val="bg2"/>
                </a:solidFill>
                <a:latin typeface="Arial" panose="020B0604020202020204" pitchFamily="34" charset="0"/>
              </a:rPr>
              <a:t>XY</a:t>
            </a:r>
          </a:p>
        </p:txBody>
      </p:sp>
      <p:sp>
        <p:nvSpPr>
          <p:cNvPr id="116759" name="Line 22"/>
          <p:cNvSpPr>
            <a:spLocks noChangeShapeType="1"/>
          </p:cNvSpPr>
          <p:nvPr/>
        </p:nvSpPr>
        <p:spPr bwMode="auto">
          <a:xfrm>
            <a:off x="271463" y="1471613"/>
            <a:ext cx="8534400" cy="0"/>
          </a:xfrm>
          <a:prstGeom prst="line">
            <a:avLst/>
          </a:prstGeom>
          <a:noFill/>
          <a:ln w="38100" cmpd="dbl">
            <a:solidFill>
              <a:srgbClr val="00FF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447800" y="76200"/>
            <a:ext cx="6820989"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gn="ct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Genetic Association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AD224133-9504-45C3-90BD-DC9D66B4DB19}"/>
              </a:ext>
            </a:extLst>
          </p:cNvPr>
          <p:cNvSpPr>
            <a:spLocks noGrp="1"/>
          </p:cNvSpPr>
          <p:nvPr>
            <p:ph idx="1"/>
          </p:nvPr>
        </p:nvSpPr>
        <p:spPr>
          <a:xfrm>
            <a:off x="838200" y="998921"/>
            <a:ext cx="7899400" cy="1757530"/>
          </a:xfrm>
        </p:spPr>
        <p:txBody>
          <a:bodyPr/>
          <a:lstStyle/>
          <a:p>
            <a:r>
              <a:rPr lang="en-ZA" sz="2000" b="1" dirty="0">
                <a:solidFill>
                  <a:schemeClr val="bg2"/>
                </a:solidFill>
                <a:latin typeface="Arial" panose="020B0604020202020204" pitchFamily="34" charset="0"/>
              </a:rPr>
              <a:t>Genetic association can be defined as the association between an allele at a particular genetic marker (locus) and a phenotype (disease).</a:t>
            </a:r>
          </a:p>
          <a:p>
            <a:r>
              <a:rPr lang="en-ZA" sz="2000" b="1" dirty="0">
                <a:solidFill>
                  <a:schemeClr val="bg2"/>
                </a:solidFill>
                <a:latin typeface="Arial" panose="020B0604020202020204" pitchFamily="34" charset="0"/>
              </a:rPr>
              <a:t>The association is observed between an allele and a disease, can be shown and interpreted in the following figure</a:t>
            </a:r>
          </a:p>
        </p:txBody>
      </p:sp>
      <p:pic>
        <p:nvPicPr>
          <p:cNvPr id="3" name="Picture 2" descr="Diagram&#10;&#10;Description automatically generated">
            <a:extLst>
              <a:ext uri="{FF2B5EF4-FFF2-40B4-BE49-F238E27FC236}">
                <a16:creationId xmlns:a16="http://schemas.microsoft.com/office/drawing/2014/main" id="{B049C6EB-112A-48BA-BAE4-5F9F5C9932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0096" y="2781101"/>
            <a:ext cx="4420607" cy="3137615"/>
          </a:xfrm>
          <a:prstGeom prst="rect">
            <a:avLst/>
          </a:prstGeom>
        </p:spPr>
      </p:pic>
      <p:sp>
        <p:nvSpPr>
          <p:cNvPr id="8" name="TextBox 7">
            <a:extLst>
              <a:ext uri="{FF2B5EF4-FFF2-40B4-BE49-F238E27FC236}">
                <a16:creationId xmlns:a16="http://schemas.microsoft.com/office/drawing/2014/main" id="{13029FC0-D1BE-4427-8794-D80B36CC7F1E}"/>
              </a:ext>
            </a:extLst>
          </p:cNvPr>
          <p:cNvSpPr txBox="1"/>
          <p:nvPr/>
        </p:nvSpPr>
        <p:spPr>
          <a:xfrm>
            <a:off x="1267097" y="6049382"/>
            <a:ext cx="6831874" cy="646331"/>
          </a:xfrm>
          <a:prstGeom prst="rect">
            <a:avLst/>
          </a:prstGeom>
          <a:noFill/>
        </p:spPr>
        <p:txBody>
          <a:bodyPr wrap="square">
            <a:spAutoFit/>
          </a:bodyPr>
          <a:lstStyle/>
          <a:p>
            <a:r>
              <a:rPr lang="en-ZA" sz="1200" dirty="0"/>
              <a:t>Fig. 1: Causal models for genetic association. In direct association (A), the marker locus is identical to the disease locus. In indirect association (B), the marker locus is in linkage disequilibrium with the disease locus. </a:t>
            </a:r>
          </a:p>
        </p:txBody>
      </p:sp>
    </p:spTree>
    <p:extLst>
      <p:ext uri="{BB962C8B-B14F-4D97-AF65-F5344CB8AC3E}">
        <p14:creationId xmlns:p14="http://schemas.microsoft.com/office/powerpoint/2010/main" val="16067502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447800" y="76200"/>
            <a:ext cx="693010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Study Designs for Association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Content Placeholder 2">
            <a:extLst>
              <a:ext uri="{FF2B5EF4-FFF2-40B4-BE49-F238E27FC236}">
                <a16:creationId xmlns:a16="http://schemas.microsoft.com/office/drawing/2014/main" id="{D44E1031-AF99-4F01-AA0A-E2C1F3CB9C0B}"/>
              </a:ext>
            </a:extLst>
          </p:cNvPr>
          <p:cNvSpPr>
            <a:spLocks noGrp="1"/>
          </p:cNvSpPr>
          <p:nvPr>
            <p:ph idx="1"/>
          </p:nvPr>
        </p:nvSpPr>
        <p:spPr>
          <a:xfrm>
            <a:off x="649357" y="998922"/>
            <a:ext cx="8088243" cy="1996061"/>
          </a:xfrm>
        </p:spPr>
        <p:txBody>
          <a:bodyPr/>
          <a:lstStyle/>
          <a:p>
            <a:r>
              <a:rPr lang="en-ZA" sz="2000" b="1" dirty="0">
                <a:solidFill>
                  <a:schemeClr val="bg2"/>
                </a:solidFill>
                <a:latin typeface="Arial" panose="020B0604020202020204" pitchFamily="34" charset="0"/>
              </a:rPr>
              <a:t>To study genetic association, a broad distinction can be made between studies utilizing data from unrelated individuals and those based on family data. If unrelated individuals are recruited for the study, it will strongly resemble classical epidemiological studies. Hence, similar study designs can be employed, two of which are depicted in the figure below. </a:t>
            </a:r>
          </a:p>
        </p:txBody>
      </p:sp>
      <p:pic>
        <p:nvPicPr>
          <p:cNvPr id="4" name="Picture 3" descr="Diagram&#10;&#10;Description automatically generated with medium confidence">
            <a:extLst>
              <a:ext uri="{FF2B5EF4-FFF2-40B4-BE49-F238E27FC236}">
                <a16:creationId xmlns:a16="http://schemas.microsoft.com/office/drawing/2014/main" id="{E1B6E037-C19D-454F-9E3F-79B4BC2AA4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016" y="2998524"/>
            <a:ext cx="8637968" cy="2921666"/>
          </a:xfrm>
          <a:prstGeom prst="rect">
            <a:avLst/>
          </a:prstGeom>
        </p:spPr>
      </p:pic>
      <p:sp>
        <p:nvSpPr>
          <p:cNvPr id="11" name="TextBox 10">
            <a:extLst>
              <a:ext uri="{FF2B5EF4-FFF2-40B4-BE49-F238E27FC236}">
                <a16:creationId xmlns:a16="http://schemas.microsoft.com/office/drawing/2014/main" id="{016C94F1-4769-4B87-BCE2-6447A3AEF116}"/>
              </a:ext>
            </a:extLst>
          </p:cNvPr>
          <p:cNvSpPr txBox="1"/>
          <p:nvPr/>
        </p:nvSpPr>
        <p:spPr>
          <a:xfrm>
            <a:off x="1084216" y="5999198"/>
            <a:ext cx="7653383" cy="646331"/>
          </a:xfrm>
          <a:prstGeom prst="rect">
            <a:avLst/>
          </a:prstGeom>
          <a:noFill/>
        </p:spPr>
        <p:txBody>
          <a:bodyPr wrap="square">
            <a:spAutoFit/>
          </a:bodyPr>
          <a:lstStyle/>
          <a:p>
            <a:r>
              <a:rPr lang="en-ZA" sz="1200" dirty="0"/>
              <a:t>Fig. 2: Study designs for association analysis with unrelated individuals. (A) Cohort study recruiting probands without knowledge of their disease status. (B) Case-control study recruiting probands according to their disease status.</a:t>
            </a:r>
          </a:p>
        </p:txBody>
      </p:sp>
    </p:spTree>
    <p:extLst>
      <p:ext uri="{BB962C8B-B14F-4D97-AF65-F5344CB8AC3E}">
        <p14:creationId xmlns:p14="http://schemas.microsoft.com/office/powerpoint/2010/main" val="369335860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447800" y="76200"/>
            <a:ext cx="693010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Study Designs for Association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4C90447E-7D36-4F60-8B2C-EA10D1EF0E08}"/>
              </a:ext>
            </a:extLst>
          </p:cNvPr>
          <p:cNvSpPr>
            <a:spLocks noGrp="1"/>
          </p:cNvSpPr>
          <p:nvPr>
            <p:ph idx="1"/>
          </p:nvPr>
        </p:nvSpPr>
        <p:spPr>
          <a:xfrm>
            <a:off x="838200" y="998921"/>
            <a:ext cx="7899400" cy="1333459"/>
          </a:xfrm>
        </p:spPr>
        <p:txBody>
          <a:bodyPr/>
          <a:lstStyle/>
          <a:p>
            <a:r>
              <a:rPr lang="en-ZA" sz="2400" b="1" dirty="0">
                <a:solidFill>
                  <a:schemeClr val="bg2"/>
                </a:solidFill>
                <a:latin typeface="Arial" panose="020B0604020202020204" pitchFamily="34" charset="0"/>
              </a:rPr>
              <a:t>Cohort Study: </a:t>
            </a:r>
            <a:r>
              <a:rPr lang="en-ZA" sz="2000" b="1" dirty="0">
                <a:solidFill>
                  <a:schemeClr val="bg2"/>
                </a:solidFill>
                <a:latin typeface="Arial" panose="020B0604020202020204" pitchFamily="34" charset="0"/>
              </a:rPr>
              <a:t>a sample of probands - a cohort - is recruited without knowledge of their disease status, ideally prior to anyone developing the disease.</a:t>
            </a:r>
          </a:p>
        </p:txBody>
      </p:sp>
      <p:pic>
        <p:nvPicPr>
          <p:cNvPr id="3" name="Picture 2" descr="A picture containing diagram&#10;&#10;Description automatically generated">
            <a:extLst>
              <a:ext uri="{FF2B5EF4-FFF2-40B4-BE49-F238E27FC236}">
                <a16:creationId xmlns:a16="http://schemas.microsoft.com/office/drawing/2014/main" id="{229655FC-CFDA-42D8-B36C-BB0F60F532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1421" y="2165779"/>
            <a:ext cx="5081158" cy="3480593"/>
          </a:xfrm>
          <a:prstGeom prst="rect">
            <a:avLst/>
          </a:prstGeom>
        </p:spPr>
      </p:pic>
      <p:sp>
        <p:nvSpPr>
          <p:cNvPr id="7" name="TextBox 6">
            <a:extLst>
              <a:ext uri="{FF2B5EF4-FFF2-40B4-BE49-F238E27FC236}">
                <a16:creationId xmlns:a16="http://schemas.microsoft.com/office/drawing/2014/main" id="{30976638-9880-4BEA-B584-FD5920538996}"/>
              </a:ext>
            </a:extLst>
          </p:cNvPr>
          <p:cNvSpPr txBox="1"/>
          <p:nvPr/>
        </p:nvSpPr>
        <p:spPr>
          <a:xfrm>
            <a:off x="1097280" y="5707653"/>
            <a:ext cx="7132320" cy="461665"/>
          </a:xfrm>
          <a:prstGeom prst="rect">
            <a:avLst/>
          </a:prstGeom>
          <a:noFill/>
        </p:spPr>
        <p:txBody>
          <a:bodyPr wrap="square">
            <a:spAutoFit/>
          </a:bodyPr>
          <a:lstStyle/>
          <a:p>
            <a:r>
              <a:rPr lang="en-ZA" sz="1200" dirty="0"/>
              <a:t>Fig. 3: Study design (A) for association analysis with unrelated individuals: Cohort study recruiting probands without knowledge of their disease status.</a:t>
            </a:r>
          </a:p>
        </p:txBody>
      </p:sp>
    </p:spTree>
    <p:extLst>
      <p:ext uri="{BB962C8B-B14F-4D97-AF65-F5344CB8AC3E}">
        <p14:creationId xmlns:p14="http://schemas.microsoft.com/office/powerpoint/2010/main" val="9700011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447800" y="76200"/>
            <a:ext cx="6930102" cy="5909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sz="1000" b="1">
                <a:solidFill>
                  <a:schemeClr val="bg2"/>
                </a:solidFill>
                <a:latin typeface="Arial" panose="020B0604020202020204" pitchFamily="34" charset="0"/>
                <a:cs typeface="Arial" panose="020B0604020202020204" pitchFamily="34" charset="0"/>
              </a:defRPr>
            </a:lvl1pPr>
            <a:lvl2pPr marL="742950" indent="-285750">
              <a:defRPr sz="1000" b="1">
                <a:solidFill>
                  <a:schemeClr val="bg2"/>
                </a:solidFill>
                <a:latin typeface="Arial" panose="020B0604020202020204" pitchFamily="34" charset="0"/>
                <a:cs typeface="Arial" panose="020B0604020202020204" pitchFamily="34" charset="0"/>
              </a:defRPr>
            </a:lvl2pPr>
            <a:lvl3pPr marL="1143000" indent="-228600">
              <a:defRPr sz="1000" b="1">
                <a:solidFill>
                  <a:schemeClr val="bg2"/>
                </a:solidFill>
                <a:latin typeface="Arial" panose="020B0604020202020204" pitchFamily="34" charset="0"/>
                <a:cs typeface="Arial" panose="020B0604020202020204" pitchFamily="34" charset="0"/>
              </a:defRPr>
            </a:lvl3pPr>
            <a:lvl4pPr marL="1600200" indent="-228600">
              <a:defRPr sz="1000" b="1">
                <a:solidFill>
                  <a:schemeClr val="bg2"/>
                </a:solidFill>
                <a:latin typeface="Arial" panose="020B0604020202020204" pitchFamily="34" charset="0"/>
                <a:cs typeface="Arial" panose="020B0604020202020204" pitchFamily="34" charset="0"/>
              </a:defRPr>
            </a:lvl4pPr>
            <a:lvl5pPr marL="2057400" indent="-228600">
              <a:defRPr sz="1000" b="1">
                <a:solidFill>
                  <a:schemeClr val="bg2"/>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1000" b="1">
                <a:solidFill>
                  <a:schemeClr val="bg2"/>
                </a:solidFill>
                <a:latin typeface="Arial" panose="020B0604020202020204" pitchFamily="34" charset="0"/>
                <a:cs typeface="Arial" panose="020B0604020202020204" pitchFamily="34" charset="0"/>
              </a:defRPr>
            </a:lvl9pPr>
          </a:lstStyle>
          <a:p>
            <a:pPr>
              <a:lnSpc>
                <a:spcPct val="90000"/>
              </a:lnSpc>
              <a:spcBef>
                <a:spcPct val="55000"/>
              </a:spcBef>
              <a:spcAft>
                <a:spcPct val="45000"/>
              </a:spcAft>
            </a:pPr>
            <a:r>
              <a:rPr lang="en-US" altLang="en-US" sz="3600" dirty="0">
                <a:latin typeface="Comic Sans MS" panose="030F0702030302020204" pitchFamily="66" charset="0"/>
                <a:cs typeface="Times New Roman" panose="02020603050405020304" pitchFamily="18" charset="0"/>
              </a:rPr>
              <a:t>Study Designs for Association</a:t>
            </a:r>
          </a:p>
        </p:txBody>
      </p:sp>
      <p:sp>
        <p:nvSpPr>
          <p:cNvPr id="16388" name="Line 4"/>
          <p:cNvSpPr>
            <a:spLocks noChangeShapeType="1"/>
          </p:cNvSpPr>
          <p:nvPr/>
        </p:nvSpPr>
        <p:spPr bwMode="auto">
          <a:xfrm>
            <a:off x="203200" y="676275"/>
            <a:ext cx="8534400" cy="0"/>
          </a:xfrm>
          <a:prstGeom prst="line">
            <a:avLst/>
          </a:prstGeom>
          <a:noFill/>
          <a:ln w="38100" cmpd="dbl">
            <a:solidFill>
              <a:srgbClr val="00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 name="Content Placeholder 2">
            <a:extLst>
              <a:ext uri="{FF2B5EF4-FFF2-40B4-BE49-F238E27FC236}">
                <a16:creationId xmlns:a16="http://schemas.microsoft.com/office/drawing/2014/main" id="{6001E688-BB8C-4479-A39E-C011FD3C9444}"/>
              </a:ext>
            </a:extLst>
          </p:cNvPr>
          <p:cNvSpPr>
            <a:spLocks noGrp="1"/>
          </p:cNvSpPr>
          <p:nvPr>
            <p:ph idx="1"/>
          </p:nvPr>
        </p:nvSpPr>
        <p:spPr>
          <a:xfrm>
            <a:off x="838200" y="998921"/>
            <a:ext cx="7899400" cy="1333459"/>
          </a:xfrm>
        </p:spPr>
        <p:txBody>
          <a:bodyPr/>
          <a:lstStyle/>
          <a:p>
            <a:r>
              <a:rPr lang="en-ZA" sz="2400" b="1" dirty="0">
                <a:solidFill>
                  <a:schemeClr val="bg2"/>
                </a:solidFill>
                <a:latin typeface="Arial" panose="020B0604020202020204" pitchFamily="34" charset="0"/>
              </a:rPr>
              <a:t>Case-Control Study:</a:t>
            </a:r>
            <a:r>
              <a:rPr lang="en-ZA" sz="2000" b="1" dirty="0">
                <a:solidFill>
                  <a:schemeClr val="bg2"/>
                </a:solidFill>
                <a:latin typeface="Arial" panose="020B0604020202020204" pitchFamily="34" charset="0"/>
              </a:rPr>
              <a:t> a sample of affected and unaffected individuals, the cases and the controls, are recruited. These are then </a:t>
            </a:r>
            <a:r>
              <a:rPr lang="en-ZA" sz="2000" b="1" dirty="0" err="1">
                <a:solidFill>
                  <a:schemeClr val="bg2"/>
                </a:solidFill>
                <a:latin typeface="Arial" panose="020B0604020202020204" pitchFamily="34" charset="0"/>
              </a:rPr>
              <a:t>analyzed</a:t>
            </a:r>
            <a:r>
              <a:rPr lang="en-ZA" sz="2000" b="1" dirty="0">
                <a:solidFill>
                  <a:schemeClr val="bg2"/>
                </a:solidFill>
                <a:latin typeface="Arial" panose="020B0604020202020204" pitchFamily="34" charset="0"/>
              </a:rPr>
              <a:t> with respect to their genetic status.</a:t>
            </a:r>
          </a:p>
        </p:txBody>
      </p:sp>
      <p:pic>
        <p:nvPicPr>
          <p:cNvPr id="3" name="Picture 2" descr="Diagram&#10;&#10;Description automatically generated">
            <a:extLst>
              <a:ext uri="{FF2B5EF4-FFF2-40B4-BE49-F238E27FC236}">
                <a16:creationId xmlns:a16="http://schemas.microsoft.com/office/drawing/2014/main" id="{43F5F1F0-6FCF-4599-B909-D345152582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1421" y="2139275"/>
            <a:ext cx="5081158" cy="3480593"/>
          </a:xfrm>
          <a:prstGeom prst="rect">
            <a:avLst/>
          </a:prstGeom>
        </p:spPr>
      </p:pic>
      <p:sp>
        <p:nvSpPr>
          <p:cNvPr id="7" name="TextBox 6">
            <a:extLst>
              <a:ext uri="{FF2B5EF4-FFF2-40B4-BE49-F238E27FC236}">
                <a16:creationId xmlns:a16="http://schemas.microsoft.com/office/drawing/2014/main" id="{9F495F7D-76AB-47E3-A46A-B4EA0D7B6877}"/>
              </a:ext>
            </a:extLst>
          </p:cNvPr>
          <p:cNvSpPr txBox="1"/>
          <p:nvPr/>
        </p:nvSpPr>
        <p:spPr>
          <a:xfrm>
            <a:off x="1240970" y="5707653"/>
            <a:ext cx="6740435" cy="461665"/>
          </a:xfrm>
          <a:prstGeom prst="rect">
            <a:avLst/>
          </a:prstGeom>
          <a:noFill/>
        </p:spPr>
        <p:txBody>
          <a:bodyPr wrap="square">
            <a:spAutoFit/>
          </a:bodyPr>
          <a:lstStyle/>
          <a:p>
            <a:r>
              <a:rPr lang="en-ZA" sz="1200" dirty="0"/>
              <a:t>Fig. 4: Study design (B) for association analysis with unrelated individuals: Case-control study recruiting probands according to their disease status.</a:t>
            </a:r>
          </a:p>
        </p:txBody>
      </p:sp>
    </p:spTree>
    <p:extLst>
      <p:ext uri="{BB962C8B-B14F-4D97-AF65-F5344CB8AC3E}">
        <p14:creationId xmlns:p14="http://schemas.microsoft.com/office/powerpoint/2010/main" val="1594583194"/>
      </p:ext>
    </p:extLst>
  </p:cSld>
  <p:clrMapOvr>
    <a:masterClrMapping/>
  </p:clrMapOvr>
</p:sld>
</file>

<file path=ppt/theme/theme1.xml><?xml version="1.0" encoding="utf-8"?>
<a:theme xmlns:a="http://schemas.openxmlformats.org/drawingml/2006/main" name="Blank Presentation">
  <a:themeElements>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25400" cap="flat" cmpd="sng" algn="ctr">
          <a:solidFill>
            <a:schemeClr val="accent2"/>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50000"/>
          </a:lnSpc>
          <a:spcBef>
            <a:spcPct val="50000"/>
          </a:spcBef>
          <a:spcAft>
            <a:spcPts val="600"/>
          </a:spcAft>
          <a:buClrTx/>
          <a:buSzTx/>
          <a:buFontTx/>
          <a:buNone/>
          <a:tabLst/>
          <a:defRPr kumimoji="0" lang="en-US" sz="1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25400" cap="flat" cmpd="sng" algn="ctr">
          <a:solidFill>
            <a:schemeClr val="accent2"/>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0" fontAlgn="base" latinLnBrk="0" hangingPunct="0">
          <a:lnSpc>
            <a:spcPct val="150000"/>
          </a:lnSpc>
          <a:spcBef>
            <a:spcPct val="50000"/>
          </a:spcBef>
          <a:spcAft>
            <a:spcPts val="600"/>
          </a:spcAft>
          <a:buClrTx/>
          <a:buSzTx/>
          <a:buFontTx/>
          <a:buNone/>
          <a:tabLst/>
          <a:defRPr kumimoji="0" lang="en-US" sz="1000" b="1"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59543</TotalTime>
  <Words>6513</Words>
  <Application>Microsoft Office PowerPoint</Application>
  <PresentationFormat>On-screen Show (4:3)</PresentationFormat>
  <Paragraphs>780</Paragraphs>
  <Slides>72</Slides>
  <Notes>42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72</vt:i4>
      </vt:variant>
    </vt:vector>
  </HeadingPairs>
  <TitlesOfParts>
    <vt:vector size="82" baseType="lpstr">
      <vt:lpstr>PMingLiU</vt:lpstr>
      <vt:lpstr>Arial</vt:lpstr>
      <vt:lpstr>Comic Sans MS</vt:lpstr>
      <vt:lpstr>Courier New</vt:lpstr>
      <vt:lpstr>Palatino</vt:lpstr>
      <vt:lpstr>Tahoma</vt:lpstr>
      <vt:lpstr>Times New Roman</vt:lpstr>
      <vt:lpstr>Wingdings</vt:lpstr>
      <vt:lpstr>Blank Presentation</vt:lpstr>
      <vt:lpstr>Photo House</vt:lpstr>
      <vt:lpstr>Statistical Genetics</vt:lpstr>
      <vt:lpstr>Lecture 1 Readings</vt:lpstr>
      <vt:lpstr>PowerPoint Presentation</vt:lpstr>
      <vt:lpstr>PowerPoint Presentation</vt:lpstr>
      <vt:lpstr>DNA – Deoxyribonucleic Acid </vt:lpstr>
      <vt:lpstr>PowerPoint Presentation</vt:lpstr>
      <vt:lpstr>PowerPoint Presentation</vt:lpstr>
      <vt:lpstr>        Table 1: Total Number of Chromosomes in the Cells</vt:lpstr>
      <vt:lpstr>PowerPoint Presentation</vt:lpstr>
      <vt:lpstr>PowerPoint Presentation</vt:lpstr>
      <vt:lpstr>Phenotype and Genotype</vt:lpstr>
      <vt:lpstr>PowerPoint Presentation</vt:lpstr>
      <vt:lpstr>PowerPoint Presentation</vt:lpstr>
      <vt:lpstr>Human Genetic Variation</vt:lpstr>
      <vt:lpstr>PowerPoint Presentation</vt:lpstr>
      <vt:lpstr>PowerPoint Presentation</vt:lpstr>
      <vt:lpstr>Single Nucleotide Polymorphisms (SNPs)</vt:lpstr>
      <vt:lpstr>SNPs and Mutations</vt:lpstr>
      <vt:lpstr>Tandem Repeat Polymorphisms</vt:lpstr>
      <vt:lpstr>Short Tandem Repeats (STRs)</vt:lpstr>
      <vt:lpstr>STR /  Microsatellite</vt:lpstr>
      <vt:lpstr>STR /  Microsatellite, cont.</vt:lpstr>
      <vt:lpstr>PowerPoint Presentation</vt:lpstr>
      <vt:lpstr>PowerPoint Presentation</vt:lpstr>
      <vt:lpstr>        Human genomes vary at multi-kilobase as well as single-nucleotide scales (Lafrate et al., Nature Genetics 2004; Sebat et al., Science 2004)   Defined as variation in copy number of genomic segments 1-500 kb in size </vt:lpstr>
      <vt:lpstr>Common misconceptions about copy number variation</vt:lpstr>
      <vt:lpstr>Common misconceptions about copy number variation- McCarroll et al.</vt:lpstr>
      <vt:lpstr>PowerPoint Presentation</vt:lpstr>
      <vt:lpstr>PowerPoint Presentation</vt:lpstr>
      <vt:lpstr>PowerPoint Presentation</vt:lpstr>
      <vt:lpstr>PowerPoint Presentation</vt:lpstr>
      <vt:lpstr>Pedigree Construction: Symbols</vt:lpstr>
      <vt:lpstr>PowerPoint Presentation</vt:lpstr>
      <vt:lpstr>PowerPoint Presentation</vt:lpstr>
      <vt:lpstr>Example – ABO Blood Group</vt:lpstr>
      <vt:lpstr>PowerPoint Presentation</vt:lpstr>
      <vt:lpstr>Mendel’s Law Continued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Mendel’s Law Continued</vt:lpstr>
      <vt:lpstr>PowerPoint Presentation</vt:lpstr>
      <vt:lpstr>Autosomal Dominant Inheritance</vt:lpstr>
      <vt:lpstr>PowerPoint Presentation</vt:lpstr>
      <vt:lpstr>Other Examples of “Common” Autosomal Dominant Traits</vt:lpstr>
      <vt:lpstr>Autosomal Recessive</vt:lpstr>
      <vt:lpstr>Autosomal Recessive</vt:lpstr>
      <vt:lpstr>PowerPoint Presentation</vt:lpstr>
      <vt:lpstr>PowerPoint Presentation</vt:lpstr>
      <vt:lpstr>Other Common Autosomal Recessive Diseases</vt:lpstr>
      <vt:lpstr>PowerPoint Presentation</vt:lpstr>
      <vt:lpstr>PowerPoint Presentation</vt:lpstr>
      <vt:lpstr>Other Common X-linked Recessive Diseases</vt:lpstr>
      <vt:lpstr>Pedigree of the Royal Family (Queen Victoria): Hemophilia</vt:lpstr>
      <vt:lpstr>X-linked Dominant Inheritance</vt:lpstr>
      <vt:lpstr>X-linked Dominant Diseases</vt:lpstr>
      <vt:lpstr>PowerPoint Presentation</vt:lpstr>
      <vt:lpstr>Y-Linked Traits</vt:lpstr>
      <vt:lpstr>Idealized Y-Linked Pedigree</vt:lpstr>
      <vt:lpstr>PowerPoint Presentation</vt:lpstr>
      <vt:lpstr>PowerPoint Presentation</vt:lpstr>
      <vt:lpstr>PowerPoint Presentation</vt:lpstr>
      <vt:lpstr>PowerPoint Presentation</vt:lpstr>
    </vt:vector>
  </TitlesOfParts>
  <Company>SFBR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omolo, bernard</dc:creator>
  <cp:lastModifiedBy>OMOLO, BERNARD</cp:lastModifiedBy>
  <cp:revision>1378</cp:revision>
  <cp:lastPrinted>2002-03-25T19:52:15Z</cp:lastPrinted>
  <dcterms:created xsi:type="dcterms:W3CDTF">1999-10-20T21:41:02Z</dcterms:created>
  <dcterms:modified xsi:type="dcterms:W3CDTF">2021-02-22T06:41:54Z</dcterms:modified>
</cp:coreProperties>
</file>