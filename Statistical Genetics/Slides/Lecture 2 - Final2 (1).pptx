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1"/>
  </p:notesMasterIdLst>
  <p:handoutMasterIdLst>
    <p:handoutMasterId r:id="rId52"/>
  </p:handoutMasterIdLst>
  <p:sldIdLst>
    <p:sldId id="1114" r:id="rId2"/>
    <p:sldId id="1115" r:id="rId3"/>
    <p:sldId id="1298" r:id="rId4"/>
    <p:sldId id="1299" r:id="rId5"/>
    <p:sldId id="1300" r:id="rId6"/>
    <p:sldId id="1302" r:id="rId7"/>
    <p:sldId id="1314" r:id="rId8"/>
    <p:sldId id="1303" r:id="rId9"/>
    <p:sldId id="1305" r:id="rId10"/>
    <p:sldId id="1306" r:id="rId11"/>
    <p:sldId id="1307" r:id="rId12"/>
    <p:sldId id="1308" r:id="rId13"/>
    <p:sldId id="1304" r:id="rId14"/>
    <p:sldId id="1335" r:id="rId15"/>
    <p:sldId id="1336" r:id="rId16"/>
    <p:sldId id="1309" r:id="rId17"/>
    <p:sldId id="1310" r:id="rId18"/>
    <p:sldId id="1312" r:id="rId19"/>
    <p:sldId id="1313" r:id="rId20"/>
    <p:sldId id="1329" r:id="rId21"/>
    <p:sldId id="1330" r:id="rId22"/>
    <p:sldId id="1332" r:id="rId23"/>
    <p:sldId id="1331" r:id="rId24"/>
    <p:sldId id="1311" r:id="rId25"/>
    <p:sldId id="1333" r:id="rId26"/>
    <p:sldId id="1334" r:id="rId27"/>
    <p:sldId id="1346" r:id="rId28"/>
    <p:sldId id="1315" r:id="rId29"/>
    <p:sldId id="1316" r:id="rId30"/>
    <p:sldId id="1317" r:id="rId31"/>
    <p:sldId id="1318" r:id="rId32"/>
    <p:sldId id="1319" r:id="rId33"/>
    <p:sldId id="1320" r:id="rId34"/>
    <p:sldId id="1321" r:id="rId35"/>
    <p:sldId id="1322" r:id="rId36"/>
    <p:sldId id="1323" r:id="rId37"/>
    <p:sldId id="1324" r:id="rId38"/>
    <p:sldId id="1325" r:id="rId39"/>
    <p:sldId id="1326" r:id="rId40"/>
    <p:sldId id="1345" r:id="rId41"/>
    <p:sldId id="1327" r:id="rId42"/>
    <p:sldId id="1337" r:id="rId43"/>
    <p:sldId id="1338" r:id="rId44"/>
    <p:sldId id="1339" r:id="rId45"/>
    <p:sldId id="1340" r:id="rId46"/>
    <p:sldId id="1341" r:id="rId47"/>
    <p:sldId id="1342" r:id="rId48"/>
    <p:sldId id="1343" r:id="rId49"/>
    <p:sldId id="1344" r:id="rId50"/>
  </p:sldIdLst>
  <p:sldSz cx="9144000" cy="6858000" type="screen4x3"/>
  <p:notesSz cx="6985000" cy="9283700"/>
  <p:defaultTextStyle>
    <a:defPPr>
      <a:defRPr lang="en-US"/>
    </a:defPPr>
    <a:lvl1pPr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5pPr>
    <a:lvl6pPr marL="22860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6pPr>
    <a:lvl7pPr marL="27432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7pPr>
    <a:lvl8pPr marL="32004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8pPr>
    <a:lvl9pPr marL="36576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99">
          <p15:clr>
            <a:srgbClr val="A4A3A4"/>
          </p15:clr>
        </p15:guide>
        <p15:guide id="2" pos="2865">
          <p15:clr>
            <a:srgbClr val="A4A3A4"/>
          </p15:clr>
        </p15:guide>
      </p15:sldGuideLst>
    </p:ext>
    <p:ext uri="{2D200454-40CA-4A62-9FC3-DE9A4176ACB9}">
      <p15:notesGuideLst xmlns:p15="http://schemas.microsoft.com/office/powerpoint/2012/main">
        <p15:guide id="1" orient="horz" pos="2178">
          <p15:clr>
            <a:srgbClr val="A4A3A4"/>
          </p15:clr>
        </p15:guide>
        <p15:guide id="2" pos="214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3399"/>
    <a:srgbClr val="BCFCFE"/>
    <a:srgbClr val="0000CC"/>
    <a:srgbClr val="000099"/>
    <a:srgbClr val="FF99FF"/>
    <a:srgbClr val="FF00FF"/>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9042" autoAdjust="0"/>
  </p:normalViewPr>
  <p:slideViewPr>
    <p:cSldViewPr snapToGrid="0">
      <p:cViewPr>
        <p:scale>
          <a:sx n="78" d="100"/>
          <a:sy n="78" d="100"/>
        </p:scale>
        <p:origin x="1116" y="48"/>
      </p:cViewPr>
      <p:guideLst>
        <p:guide orient="horz" pos="2199"/>
        <p:guide pos="2865"/>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66" d="100"/>
          <a:sy n="66" d="100"/>
        </p:scale>
        <p:origin x="-2280" y="-84"/>
      </p:cViewPr>
      <p:guideLst>
        <p:guide orient="horz" pos="2178"/>
        <p:guide pos="214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_rels/viewProps.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7506" name="Rectangle 2"/>
          <p:cNvSpPr>
            <a:spLocks noGrp="1" noChangeArrowheads="1"/>
          </p:cNvSpPr>
          <p:nvPr>
            <p:ph type="hdr" sz="quarter"/>
          </p:nvPr>
        </p:nvSpPr>
        <p:spPr bwMode="auto">
          <a:xfrm>
            <a:off x="0" y="0"/>
            <a:ext cx="3027363" cy="461963"/>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7" name="Rectangle 3"/>
          <p:cNvSpPr>
            <a:spLocks noGrp="1" noChangeArrowheads="1"/>
          </p:cNvSpPr>
          <p:nvPr>
            <p:ph type="dt" sz="quarter" idx="1"/>
          </p:nvPr>
        </p:nvSpPr>
        <p:spPr bwMode="auto">
          <a:xfrm>
            <a:off x="3957638" y="0"/>
            <a:ext cx="3027362" cy="461963"/>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algn="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8" name="Rectangle 4"/>
          <p:cNvSpPr>
            <a:spLocks noGrp="1" noChangeArrowheads="1"/>
          </p:cNvSpPr>
          <p:nvPr>
            <p:ph type="ftr" sz="quarter" idx="2"/>
          </p:nvPr>
        </p:nvSpPr>
        <p:spPr bwMode="auto">
          <a:xfrm>
            <a:off x="0" y="8851900"/>
            <a:ext cx="3027363" cy="461963"/>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9" name="Rectangle 5"/>
          <p:cNvSpPr>
            <a:spLocks noGrp="1" noChangeArrowheads="1"/>
          </p:cNvSpPr>
          <p:nvPr>
            <p:ph type="sldNum" sz="quarter" idx="3"/>
          </p:nvPr>
        </p:nvSpPr>
        <p:spPr bwMode="auto">
          <a:xfrm>
            <a:off x="3957638" y="8851900"/>
            <a:ext cx="3027362" cy="461963"/>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algn="r" defTabSz="912813" eaLnBrk="0" hangingPunct="0">
              <a:spcBef>
                <a:spcPct val="50000"/>
              </a:spcBef>
              <a:buFontTx/>
              <a:buChar char="•"/>
              <a:defRPr sz="1100" b="0">
                <a:solidFill>
                  <a:schemeClr val="tx1"/>
                </a:solidFill>
              </a:defRPr>
            </a:lvl1pPr>
          </a:lstStyle>
          <a:p>
            <a:pPr>
              <a:defRPr/>
            </a:pPr>
            <a:fld id="{9E35780E-E841-4FD2-AA93-F0177551EB7E}"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027363" cy="46355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7171" name="Rectangle 3"/>
          <p:cNvSpPr>
            <a:spLocks noGrp="1" noChangeArrowheads="1"/>
          </p:cNvSpPr>
          <p:nvPr>
            <p:ph type="dt" idx="1"/>
          </p:nvPr>
        </p:nvSpPr>
        <p:spPr bwMode="auto">
          <a:xfrm>
            <a:off x="3957638" y="0"/>
            <a:ext cx="3027362" cy="46355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algn="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9220" name="Rectangle 4"/>
          <p:cNvSpPr>
            <a:spLocks noGrp="1" noRot="1" noChangeAspect="1" noChangeArrowheads="1" noTextEdit="1"/>
          </p:cNvSpPr>
          <p:nvPr>
            <p:ph type="sldImg" idx="2"/>
          </p:nvPr>
        </p:nvSpPr>
        <p:spPr bwMode="auto">
          <a:xfrm>
            <a:off x="1173163" y="695325"/>
            <a:ext cx="4641850" cy="3481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p:cNvSpPr>
            <a:spLocks noGrp="1" noChangeArrowheads="1"/>
          </p:cNvSpPr>
          <p:nvPr>
            <p:ph type="body" sz="quarter" idx="3"/>
          </p:nvPr>
        </p:nvSpPr>
        <p:spPr bwMode="auto">
          <a:xfrm>
            <a:off x="933450" y="4410075"/>
            <a:ext cx="5118100" cy="417830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74" name="Rectangle 6"/>
          <p:cNvSpPr>
            <a:spLocks noGrp="1" noChangeArrowheads="1"/>
          </p:cNvSpPr>
          <p:nvPr>
            <p:ph type="ftr" sz="quarter" idx="4"/>
          </p:nvPr>
        </p:nvSpPr>
        <p:spPr bwMode="auto">
          <a:xfrm>
            <a:off x="0" y="8820150"/>
            <a:ext cx="3027363" cy="463550"/>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7175" name="Rectangle 7"/>
          <p:cNvSpPr>
            <a:spLocks noGrp="1" noChangeArrowheads="1"/>
          </p:cNvSpPr>
          <p:nvPr>
            <p:ph type="sldNum" sz="quarter" idx="5"/>
          </p:nvPr>
        </p:nvSpPr>
        <p:spPr bwMode="auto">
          <a:xfrm>
            <a:off x="3957638" y="8820150"/>
            <a:ext cx="3027362" cy="463550"/>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algn="r" defTabSz="912813" eaLnBrk="0" hangingPunct="0">
              <a:defRPr sz="1100" b="0">
                <a:solidFill>
                  <a:schemeClr val="tx1"/>
                </a:solidFill>
                <a:latin typeface="Times New Roman" panose="02020603050405020304" pitchFamily="18" charset="0"/>
              </a:defRPr>
            </a:lvl1pPr>
          </a:lstStyle>
          <a:p>
            <a:pPr>
              <a:defRPr/>
            </a:pPr>
            <a:fld id="{289E0FCE-7403-4D6C-BE8B-CB857C024AC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71575" y="695325"/>
            <a:ext cx="4641850" cy="3481388"/>
          </a:xfrm>
          <a:ln/>
        </p:spPr>
      </p:sp>
      <p:sp>
        <p:nvSpPr>
          <p:cNvPr id="13315"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709778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507450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408963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68659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79936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61092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54667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000044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994357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369922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050689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79855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9109201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748114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4205698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37522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429587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041381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31495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7237054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9332972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8472031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40312320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40345105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40267224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540803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5812183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8954319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718592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499342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5234322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4585071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238420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6385540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5629495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42627496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3791576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5892600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6175865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0010305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3590379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6214620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9554482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1898836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4654456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4605835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706197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6724650" y="6199188"/>
            <a:ext cx="2419350" cy="457200"/>
          </a:xfrm>
        </p:spPr>
        <p:txBody>
          <a:bodyPr/>
          <a:lstStyle>
            <a:lvl1pPr>
              <a:defRPr sz="1200">
                <a:solidFill>
                  <a:schemeClr val="bg2"/>
                </a:solidFill>
              </a:defRPr>
            </a:lvl1pPr>
          </a:lstStyle>
          <a:p>
            <a:pPr>
              <a:defRPr/>
            </a:pPr>
            <a:endParaRPr lang="en-US"/>
          </a:p>
          <a:p>
            <a:pPr>
              <a:defRPr/>
            </a:pPr>
            <a:r>
              <a:rPr lang="en-US"/>
              <a:t>EPI 743, 01/29/2008</a:t>
            </a:r>
          </a:p>
          <a:p>
            <a:pPr>
              <a:defRPr/>
            </a:pPr>
            <a:endParaRPr lang="en-US"/>
          </a:p>
        </p:txBody>
      </p:sp>
    </p:spTree>
    <p:extLst>
      <p:ext uri="{BB962C8B-B14F-4D97-AF65-F5344CB8AC3E}">
        <p14:creationId xmlns:p14="http://schemas.microsoft.com/office/powerpoint/2010/main" val="1952310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1819818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20530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2848025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323698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343371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3543389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p:cNvSpPr>
            <a:spLocks noGrp="1" noChangeArrowheads="1"/>
          </p:cNvSpPr>
          <p:nvPr>
            <p:ph type="ftr" sz="quarter" idx="3"/>
          </p:nvPr>
        </p:nvSpPr>
        <p:spPr bwMode="auto">
          <a:xfrm>
            <a:off x="7042150" y="6343650"/>
            <a:ext cx="241935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200">
                <a:solidFill>
                  <a:schemeClr val="tx1"/>
                </a:solidFill>
                <a:latin typeface="Arial" charset="0"/>
                <a:cs typeface="Arial" charset="0"/>
              </a:defRPr>
            </a:lvl1pPr>
          </a:lstStyle>
          <a:p>
            <a:pPr>
              <a:defRPr/>
            </a:pPr>
            <a:endParaRPr lang="en-US"/>
          </a:p>
          <a:p>
            <a:pPr>
              <a:defRPr/>
            </a:pPr>
            <a:r>
              <a:rPr lang="en-US" sz="1300"/>
              <a:t>EPI 743, 01/29/2008</a:t>
            </a:r>
          </a:p>
          <a:p>
            <a:pPr>
              <a:defRPr/>
            </a:pPr>
            <a:endParaRPr lang="en-US" sz="1300"/>
          </a:p>
        </p:txBody>
      </p:sp>
    </p:spTree>
  </p:cSld>
  <p:clrMap bg1="dk2" tx1="lt1" bg2="dk1"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Lst>
  <p:hf sldNum="0" hdr="0" dt="0"/>
  <p:txStyles>
    <p:titleStyle>
      <a:lvl1pPr algn="ctr" rtl="0" eaLnBrk="0" fontAlgn="base" hangingPunct="0">
        <a:spcBef>
          <a:spcPct val="0"/>
        </a:spcBef>
        <a:spcAft>
          <a:spcPct val="0"/>
        </a:spcAft>
        <a:defRPr sz="4400">
          <a:solidFill>
            <a:schemeClr val="bg2"/>
          </a:solidFill>
          <a:latin typeface="+mj-lt"/>
          <a:ea typeface="+mj-ea"/>
          <a:cs typeface="+mj-cs"/>
        </a:defRPr>
      </a:lvl1pPr>
      <a:lvl2pPr algn="ctr" rtl="0" eaLnBrk="0" fontAlgn="base" hangingPunct="0">
        <a:spcBef>
          <a:spcPct val="0"/>
        </a:spcBef>
        <a:spcAft>
          <a:spcPct val="0"/>
        </a:spcAft>
        <a:defRPr sz="4400">
          <a:solidFill>
            <a:schemeClr val="bg2"/>
          </a:solidFill>
          <a:latin typeface="Times New Roman" pitchFamily="18" charset="0"/>
        </a:defRPr>
      </a:lvl2pPr>
      <a:lvl3pPr algn="ctr" rtl="0" eaLnBrk="0" fontAlgn="base" hangingPunct="0">
        <a:spcBef>
          <a:spcPct val="0"/>
        </a:spcBef>
        <a:spcAft>
          <a:spcPct val="0"/>
        </a:spcAft>
        <a:defRPr sz="4400">
          <a:solidFill>
            <a:schemeClr val="bg2"/>
          </a:solidFill>
          <a:latin typeface="Times New Roman" pitchFamily="18" charset="0"/>
        </a:defRPr>
      </a:lvl3pPr>
      <a:lvl4pPr algn="ctr" rtl="0" eaLnBrk="0" fontAlgn="base" hangingPunct="0">
        <a:spcBef>
          <a:spcPct val="0"/>
        </a:spcBef>
        <a:spcAft>
          <a:spcPct val="0"/>
        </a:spcAft>
        <a:defRPr sz="4400">
          <a:solidFill>
            <a:schemeClr val="bg2"/>
          </a:solidFill>
          <a:latin typeface="Times New Roman" pitchFamily="18" charset="0"/>
        </a:defRPr>
      </a:lvl4pPr>
      <a:lvl5pPr algn="ctr" rtl="0" eaLnBrk="0" fontAlgn="base" hangingPunct="0">
        <a:spcBef>
          <a:spcPct val="0"/>
        </a:spcBef>
        <a:spcAft>
          <a:spcPct val="0"/>
        </a:spcAft>
        <a:defRPr sz="4400">
          <a:solidFill>
            <a:schemeClr val="bg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accent2"/>
        </a:buClr>
        <a:buChar char="•"/>
        <a:defRPr sz="3200">
          <a:solidFill>
            <a:srgbClr val="006600"/>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rgbClr val="006600"/>
          </a:solidFill>
          <a:latin typeface="+mn-lt"/>
        </a:defRPr>
      </a:lvl2pPr>
      <a:lvl3pPr marL="1143000" indent="-228600" algn="l" rtl="0" eaLnBrk="0" fontAlgn="base" hangingPunct="0">
        <a:spcBef>
          <a:spcPct val="20000"/>
        </a:spcBef>
        <a:spcAft>
          <a:spcPct val="0"/>
        </a:spcAft>
        <a:buClr>
          <a:schemeClr val="accent2"/>
        </a:buClr>
        <a:buChar char="•"/>
        <a:defRPr sz="2400">
          <a:solidFill>
            <a:srgbClr val="006600"/>
          </a:solidFill>
          <a:latin typeface="+mn-lt"/>
        </a:defRPr>
      </a:lvl3pPr>
      <a:lvl4pPr marL="1600200" indent="-228600" algn="l" rtl="0" eaLnBrk="0" fontAlgn="base" hangingPunct="0">
        <a:spcBef>
          <a:spcPct val="20000"/>
        </a:spcBef>
        <a:spcAft>
          <a:spcPct val="0"/>
        </a:spcAft>
        <a:buClr>
          <a:schemeClr val="accent2"/>
        </a:buClr>
        <a:buChar char="•"/>
        <a:defRPr sz="2000">
          <a:solidFill>
            <a:srgbClr val="006600"/>
          </a:solidFill>
          <a:latin typeface="+mn-lt"/>
        </a:defRPr>
      </a:lvl4pPr>
      <a:lvl5pPr marL="2057400" indent="-228600" algn="l" rtl="0" eaLnBrk="0" fontAlgn="base" hangingPunct="0">
        <a:spcBef>
          <a:spcPct val="20000"/>
        </a:spcBef>
        <a:spcAft>
          <a:spcPct val="0"/>
        </a:spcAft>
        <a:buClr>
          <a:schemeClr val="accent2"/>
        </a:buClr>
        <a:buChar char="•"/>
        <a:defRPr sz="2000">
          <a:solidFill>
            <a:srgbClr val="006600"/>
          </a:solidFill>
          <a:latin typeface="+mn-lt"/>
        </a:defRPr>
      </a:lvl5pPr>
      <a:lvl6pPr marL="2514600" indent="-228600" algn="l" rtl="0" eaLnBrk="0" fontAlgn="base" hangingPunct="0">
        <a:spcBef>
          <a:spcPct val="20000"/>
        </a:spcBef>
        <a:spcAft>
          <a:spcPct val="0"/>
        </a:spcAft>
        <a:buClr>
          <a:schemeClr val="accent2"/>
        </a:buClr>
        <a:buChar char="•"/>
        <a:defRPr sz="2000">
          <a:solidFill>
            <a:schemeClr val="tx1"/>
          </a:solidFill>
          <a:latin typeface="+mn-lt"/>
        </a:defRPr>
      </a:lvl6pPr>
      <a:lvl7pPr marL="2971800" indent="-228600" algn="l" rtl="0" eaLnBrk="0" fontAlgn="base" hangingPunct="0">
        <a:spcBef>
          <a:spcPct val="20000"/>
        </a:spcBef>
        <a:spcAft>
          <a:spcPct val="0"/>
        </a:spcAft>
        <a:buClr>
          <a:schemeClr val="accent2"/>
        </a:buClr>
        <a:buChar char="•"/>
        <a:defRPr sz="2000">
          <a:solidFill>
            <a:schemeClr val="tx1"/>
          </a:solidFill>
          <a:latin typeface="+mn-lt"/>
        </a:defRPr>
      </a:lvl7pPr>
      <a:lvl8pPr marL="3429000" indent="-228600" algn="l" rtl="0" eaLnBrk="0" fontAlgn="base" hangingPunct="0">
        <a:spcBef>
          <a:spcPct val="20000"/>
        </a:spcBef>
        <a:spcAft>
          <a:spcPct val="0"/>
        </a:spcAft>
        <a:buClr>
          <a:schemeClr val="accent2"/>
        </a:buClr>
        <a:buChar char="•"/>
        <a:defRPr sz="2000">
          <a:solidFill>
            <a:schemeClr val="tx1"/>
          </a:solidFill>
          <a:latin typeface="+mn-lt"/>
        </a:defRPr>
      </a:lvl8pPr>
      <a:lvl9pPr marL="3886200" indent="-228600" algn="l" rtl="0" eaLnBrk="0" fontAlgn="base" hangingPunct="0">
        <a:spcBef>
          <a:spcPct val="20000"/>
        </a:spcBef>
        <a:spcAft>
          <a:spcPct val="0"/>
        </a:spcAft>
        <a:buClr>
          <a:schemeClr val="accent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wiley-vch.de/home/geneticepidemiology"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application.wiley-vch.de/books/geneticepidemiology/IMS_LO/onCampusBook/65270/literature.html?id=Reich2002"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application.wiley-vch.de/books/geneticepidemiology/IMS_LO/onCampusBook/65270/literature.html?id=Reich2002"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application.wiley-vch.de/books/geneticepidemiology/IMS_LO/onCampusBook/65270/literature.html?id=Armitage1955"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idx="4294967295"/>
          </p:nvPr>
        </p:nvSpPr>
        <p:spPr>
          <a:xfrm>
            <a:off x="822325" y="114300"/>
            <a:ext cx="7788275" cy="1143000"/>
          </a:xfrm>
        </p:spPr>
        <p:txBody>
          <a:bodyPr/>
          <a:lstStyle/>
          <a:p>
            <a:r>
              <a:rPr lang="en-US" altLang="en-US" sz="5400" b="1">
                <a:latin typeface="Comic Sans MS" panose="030F0702030302020204" pitchFamily="66" charset="0"/>
              </a:rPr>
              <a:t>Statistical Genetics</a:t>
            </a:r>
          </a:p>
        </p:txBody>
      </p:sp>
      <p:sp>
        <p:nvSpPr>
          <p:cNvPr id="11267" name="Rectangle 3"/>
          <p:cNvSpPr>
            <a:spLocks noChangeArrowheads="1"/>
          </p:cNvSpPr>
          <p:nvPr/>
        </p:nvSpPr>
        <p:spPr bwMode="auto">
          <a:xfrm>
            <a:off x="2554288" y="19764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11268" name="Rectangle 4"/>
          <p:cNvSpPr>
            <a:spLocks noChangeArrowheads="1"/>
          </p:cNvSpPr>
          <p:nvPr/>
        </p:nvSpPr>
        <p:spPr bwMode="auto">
          <a:xfrm>
            <a:off x="690563" y="2074863"/>
            <a:ext cx="8021637" cy="2019300"/>
          </a:xfrm>
          <a:prstGeom prst="rect">
            <a:avLst/>
          </a:prstGeom>
          <a:noFill/>
          <a:ln w="25400">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11269" name="Text Box 5"/>
          <p:cNvSpPr txBox="1">
            <a:spLocks noChangeArrowheads="1"/>
          </p:cNvSpPr>
          <p:nvPr/>
        </p:nvSpPr>
        <p:spPr bwMode="auto">
          <a:xfrm>
            <a:off x="980661" y="2463800"/>
            <a:ext cx="7472776" cy="214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80000"/>
              </a:lnSpc>
              <a:spcAft>
                <a:spcPct val="20000"/>
              </a:spcAft>
              <a:buClrTx/>
              <a:buFontTx/>
              <a:buNone/>
            </a:pPr>
            <a:r>
              <a:rPr lang="en-US" altLang="en-US" sz="3600" dirty="0">
                <a:solidFill>
                  <a:schemeClr val="bg2"/>
                </a:solidFill>
                <a:latin typeface="Arial" panose="020B0604020202020204" pitchFamily="34" charset="0"/>
              </a:rPr>
              <a:t>Lecture 2</a:t>
            </a:r>
          </a:p>
          <a:p>
            <a:pPr algn="ctr">
              <a:lnSpc>
                <a:spcPct val="90000"/>
              </a:lnSpc>
              <a:spcBef>
                <a:spcPct val="0"/>
              </a:spcBef>
              <a:buClrTx/>
              <a:buFontTx/>
              <a:buNone/>
            </a:pPr>
            <a:r>
              <a:rPr lang="en-US" altLang="en-US" sz="3600" dirty="0" smtClean="0">
                <a:solidFill>
                  <a:schemeClr val="bg2"/>
                </a:solidFill>
                <a:latin typeface="Arial" panose="020B0604020202020204" pitchFamily="34" charset="0"/>
              </a:rPr>
              <a:t>Measures </a:t>
            </a:r>
            <a:r>
              <a:rPr lang="en-US" altLang="en-US" sz="3600" dirty="0">
                <a:solidFill>
                  <a:schemeClr val="bg2"/>
                </a:solidFill>
                <a:latin typeface="Arial" panose="020B0604020202020204" pitchFamily="34" charset="0"/>
              </a:rPr>
              <a:t>and </a:t>
            </a:r>
            <a:r>
              <a:rPr lang="en-US" altLang="en-US" sz="3600" dirty="0" smtClean="0">
                <a:solidFill>
                  <a:schemeClr val="bg2"/>
                </a:solidFill>
                <a:latin typeface="Arial" panose="020B0604020202020204" pitchFamily="34" charset="0"/>
              </a:rPr>
              <a:t>Tests </a:t>
            </a:r>
            <a:r>
              <a:rPr lang="en-US" altLang="en-US" sz="3600" dirty="0">
                <a:solidFill>
                  <a:schemeClr val="bg2"/>
                </a:solidFill>
                <a:latin typeface="Arial" panose="020B0604020202020204" pitchFamily="34" charset="0"/>
              </a:rPr>
              <a:t>of Association</a:t>
            </a:r>
          </a:p>
          <a:p>
            <a:pPr algn="ctr">
              <a:lnSpc>
                <a:spcPct val="90000"/>
              </a:lnSpc>
              <a:spcBef>
                <a:spcPct val="0"/>
              </a:spcBef>
              <a:buClrTx/>
              <a:buFontTx/>
              <a:buNone/>
            </a:pPr>
            <a:endParaRPr lang="en-US" altLang="en-US" sz="3600" dirty="0">
              <a:solidFill>
                <a:schemeClr val="bg2"/>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body" idx="4294967295"/>
          </p:nvPr>
        </p:nvSpPr>
        <p:spPr>
          <a:xfrm>
            <a:off x="685800" y="1600200"/>
            <a:ext cx="7983538" cy="4114800"/>
          </a:xfrm>
        </p:spPr>
        <p:txBody>
          <a:bodyPr/>
          <a:lstStyle/>
          <a:p>
            <a:pPr>
              <a:spcBef>
                <a:spcPct val="40000"/>
              </a:spcBef>
              <a:spcAft>
                <a:spcPct val="40000"/>
              </a:spcAft>
              <a:defRPr/>
            </a:pPr>
            <a:r>
              <a:rPr lang="en-US" altLang="en-US" sz="2400" b="1" dirty="0">
                <a:latin typeface="Arial" panose="020B0604020202020204" pitchFamily="34" charset="0"/>
              </a:rPr>
              <a:t>Foulkes, A.S. (2009). Applied Statistical Genetics with R: Chapter </a:t>
            </a:r>
            <a:r>
              <a:rPr lang="en-US" altLang="en-US" sz="2400" b="1" dirty="0" smtClean="0">
                <a:latin typeface="Arial" panose="020B0604020202020204" pitchFamily="34" charset="0"/>
              </a:rPr>
              <a:t>1, 2 </a:t>
            </a:r>
            <a:r>
              <a:rPr lang="en-US" altLang="en-US" sz="2400" b="1" dirty="0">
                <a:latin typeface="Arial" panose="020B0604020202020204" pitchFamily="34" charset="0"/>
              </a:rPr>
              <a:t>&amp; 3</a:t>
            </a:r>
          </a:p>
          <a:p>
            <a:pPr>
              <a:spcBef>
                <a:spcPct val="40000"/>
              </a:spcBef>
              <a:spcAft>
                <a:spcPct val="40000"/>
              </a:spcAft>
              <a:defRPr/>
            </a:pPr>
            <a:r>
              <a:rPr lang="en-US" altLang="en-US" sz="2400" b="1" dirty="0" err="1">
                <a:latin typeface="Arial" panose="020B0604020202020204" pitchFamily="34" charset="0"/>
              </a:rPr>
              <a:t>Pahlke</a:t>
            </a:r>
            <a:r>
              <a:rPr lang="en-US" altLang="en-US" sz="2400" b="1" dirty="0">
                <a:latin typeface="Arial" panose="020B0604020202020204" pitchFamily="34" charset="0"/>
              </a:rPr>
              <a:t>, F. (2010). Training in Genetic Epidemiology (</a:t>
            </a:r>
            <a:r>
              <a:rPr lang="en-US" altLang="en-US" sz="2400" b="1" dirty="0">
                <a:latin typeface="Arial" panose="020B0604020202020204" pitchFamily="34" charset="0"/>
                <a:hlinkClick r:id="rId3"/>
              </a:rPr>
              <a:t>www.wiley-vch.de/home/geneticepidemiology</a:t>
            </a:r>
            <a:r>
              <a:rPr lang="en-US" altLang="en-US" sz="2400" b="1" dirty="0">
                <a:latin typeface="Arial" panose="020B0604020202020204" pitchFamily="34" charset="0"/>
              </a:rPr>
              <a:t>): Chapter </a:t>
            </a:r>
            <a:r>
              <a:rPr lang="en-US" altLang="en-US" sz="2400" b="1" dirty="0" smtClean="0">
                <a:latin typeface="Arial" panose="020B0604020202020204" pitchFamily="34" charset="0"/>
              </a:rPr>
              <a:t>7</a:t>
            </a:r>
            <a:r>
              <a:rPr lang="en-US" altLang="en-US" sz="2400" dirty="0" smtClean="0"/>
              <a:t> </a:t>
            </a:r>
            <a:endParaRPr lang="en-US" altLang="en-US" sz="2400" dirty="0"/>
          </a:p>
          <a:p>
            <a:pPr>
              <a:spcBef>
                <a:spcPct val="40000"/>
              </a:spcBef>
              <a:spcAft>
                <a:spcPct val="40000"/>
              </a:spcAft>
              <a:defRPr/>
            </a:pPr>
            <a:r>
              <a:rPr lang="en-US" altLang="en-US" sz="2400" b="1" dirty="0" err="1">
                <a:latin typeface="Arial" panose="020B0604020202020204" pitchFamily="34" charset="0"/>
              </a:rPr>
              <a:t>Zieger</a:t>
            </a:r>
            <a:r>
              <a:rPr lang="en-US" altLang="en-US" sz="2400" b="1" dirty="0">
                <a:latin typeface="Arial" panose="020B0604020202020204" pitchFamily="34" charset="0"/>
              </a:rPr>
              <a:t>, A. &amp; </a:t>
            </a:r>
            <a:r>
              <a:rPr lang="en-US" altLang="en-US" sz="2400" b="1" dirty="0" err="1">
                <a:latin typeface="Arial" panose="020B0604020202020204" pitchFamily="34" charset="0"/>
              </a:rPr>
              <a:t>Konig</a:t>
            </a:r>
            <a:r>
              <a:rPr lang="en-US" altLang="en-US" sz="2400" b="1" dirty="0">
                <a:latin typeface="Arial" panose="020B0604020202020204" pitchFamily="34" charset="0"/>
              </a:rPr>
              <a:t>, I.R. (2010). A Statistical Approach to Genetic Epidemiology: Chapter </a:t>
            </a:r>
            <a:r>
              <a:rPr lang="en-US" altLang="en-US" sz="2400" b="1" dirty="0" smtClean="0">
                <a:latin typeface="Arial" panose="020B0604020202020204" pitchFamily="34" charset="0"/>
              </a:rPr>
              <a:t>10 </a:t>
            </a:r>
            <a:r>
              <a:rPr lang="en-US" altLang="en-US" sz="2400" b="1" dirty="0">
                <a:latin typeface="Arial" panose="020B0604020202020204" pitchFamily="34" charset="0"/>
              </a:rPr>
              <a:t>&amp; </a:t>
            </a:r>
            <a:r>
              <a:rPr lang="en-US" altLang="en-US" sz="2400" b="1" dirty="0" smtClean="0">
                <a:latin typeface="Arial" panose="020B0604020202020204" pitchFamily="34" charset="0"/>
              </a:rPr>
              <a:t>11</a:t>
            </a:r>
            <a:endParaRPr lang="en-US" altLang="en-US" sz="2400" b="1" dirty="0">
              <a:latin typeface="Arial" panose="020B0604020202020204" pitchFamily="34" charset="0"/>
            </a:endParaRPr>
          </a:p>
          <a:p>
            <a:pPr>
              <a:spcBef>
                <a:spcPct val="40000"/>
              </a:spcBef>
              <a:spcAft>
                <a:spcPct val="40000"/>
              </a:spcAft>
              <a:defRPr/>
            </a:pPr>
            <a:endParaRPr lang="en-US" altLang="en-US" sz="2400" dirty="0"/>
          </a:p>
        </p:txBody>
      </p:sp>
      <p:sp>
        <p:nvSpPr>
          <p:cNvPr id="12291" name="Rectangle 3"/>
          <p:cNvSpPr>
            <a:spLocks noGrp="1" noChangeArrowheads="1"/>
          </p:cNvSpPr>
          <p:nvPr>
            <p:ph type="title" idx="4294967295"/>
          </p:nvPr>
        </p:nvSpPr>
        <p:spPr>
          <a:xfrm>
            <a:off x="685800" y="0"/>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600" b="1" dirty="0">
                <a:latin typeface="Comic Sans MS" panose="030F0702030302020204" pitchFamily="66" charset="0"/>
              </a:rPr>
              <a:t>Lecture 2 Readings</a:t>
            </a:r>
          </a:p>
        </p:txBody>
      </p:sp>
      <p:sp>
        <p:nvSpPr>
          <p:cNvPr id="12292" name="Line 4"/>
          <p:cNvSpPr>
            <a:spLocks noChangeShapeType="1"/>
          </p:cNvSpPr>
          <p:nvPr/>
        </p:nvSpPr>
        <p:spPr bwMode="auto">
          <a:xfrm>
            <a:off x="271463" y="1219200"/>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940701" y="85344"/>
            <a:ext cx="505939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Linkage Disequilibrium</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Content Placeholder 2">
            <a:extLst>
              <a:ext uri="{FF2B5EF4-FFF2-40B4-BE49-F238E27FC236}">
                <a16:creationId xmlns:a16="http://schemas.microsoft.com/office/drawing/2014/main" id="{9016598E-09DB-4ECE-B366-BC91ED4B3328}"/>
              </a:ext>
            </a:extLst>
          </p:cNvPr>
          <p:cNvSpPr>
            <a:spLocks noGrp="1"/>
          </p:cNvSpPr>
          <p:nvPr>
            <p:ph idx="1"/>
          </p:nvPr>
        </p:nvSpPr>
        <p:spPr>
          <a:xfrm>
            <a:off x="371061" y="998921"/>
            <a:ext cx="8366539" cy="3692346"/>
          </a:xfrm>
        </p:spPr>
        <p:txBody>
          <a:bodyPr/>
          <a:lstStyle/>
          <a:p>
            <a:pPr>
              <a:spcBef>
                <a:spcPct val="25000"/>
              </a:spcBef>
              <a:spcAft>
                <a:spcPct val="25000"/>
              </a:spcAft>
              <a:buClrTx/>
            </a:pPr>
            <a:r>
              <a:rPr lang="en-ZA" sz="2400" b="1" dirty="0">
                <a:solidFill>
                  <a:schemeClr val="bg2"/>
                </a:solidFill>
                <a:latin typeface="Arial" panose="020B0604020202020204" pitchFamily="34" charset="0"/>
                <a:cs typeface="Arial" panose="020B0604020202020204" pitchFamily="34" charset="0"/>
              </a:rPr>
              <a:t>Linkage disequilibrium (LD): </a:t>
            </a:r>
            <a:r>
              <a:rPr lang="en-ZA" sz="1800" b="1" kern="1200" dirty="0">
                <a:solidFill>
                  <a:schemeClr val="bg2"/>
                </a:solidFill>
                <a:latin typeface="Arial" panose="020B0604020202020204" pitchFamily="34" charset="0"/>
                <a:cs typeface="Times New Roman" panose="02020603050405020304" pitchFamily="18" charset="0"/>
              </a:rPr>
              <a:t>defined as the association between two alleles.</a:t>
            </a:r>
          </a:p>
          <a:p>
            <a:pPr>
              <a:spcBef>
                <a:spcPct val="25000"/>
              </a:spcBef>
              <a:spcAft>
                <a:spcPct val="25000"/>
              </a:spcAft>
              <a:buClrTx/>
            </a:pPr>
            <a:r>
              <a:rPr lang="en-ZA" sz="1800" b="1" kern="1200" dirty="0">
                <a:solidFill>
                  <a:schemeClr val="bg2"/>
                </a:solidFill>
                <a:latin typeface="Arial" panose="020B0604020202020204" pitchFamily="34" charset="0"/>
                <a:cs typeface="Times New Roman" panose="02020603050405020304" pitchFamily="18" charset="0"/>
              </a:rPr>
              <a:t>LD can be measured in different ways, consider the following example</a:t>
            </a:r>
          </a:p>
          <a:p>
            <a:pPr>
              <a:spcBef>
                <a:spcPct val="25000"/>
              </a:spcBef>
              <a:spcAft>
                <a:spcPct val="25000"/>
              </a:spcAft>
              <a:buClrTx/>
            </a:pPr>
            <a:r>
              <a:rPr lang="en-ZA" sz="1800" b="1" kern="1200" dirty="0">
                <a:solidFill>
                  <a:schemeClr val="bg2"/>
                </a:solidFill>
                <a:latin typeface="Arial" panose="020B0604020202020204" pitchFamily="34" charset="0"/>
                <a:cs typeface="Times New Roman" panose="02020603050405020304" pitchFamily="18" charset="0"/>
              </a:rPr>
              <a:t>The case of two diallelic markers M1 and M2 with the alleles </a:t>
            </a:r>
            <a:r>
              <a:rPr lang="en-ZA" sz="1800" b="1" i="1" kern="1200" dirty="0">
                <a:solidFill>
                  <a:schemeClr val="bg2"/>
                </a:solidFill>
                <a:latin typeface="Arial" panose="020B0604020202020204" pitchFamily="34" charset="0"/>
                <a:cs typeface="Times New Roman" panose="02020603050405020304" pitchFamily="18" charset="0"/>
              </a:rPr>
              <a:t>A</a:t>
            </a:r>
            <a:r>
              <a:rPr lang="en-ZA" sz="1800" b="1" kern="1200" dirty="0">
                <a:solidFill>
                  <a:schemeClr val="bg2"/>
                </a:solidFill>
                <a:latin typeface="Arial" panose="020B0604020202020204" pitchFamily="34" charset="0"/>
                <a:cs typeface="Times New Roman" panose="02020603050405020304" pitchFamily="18" charset="0"/>
              </a:rPr>
              <a:t> and </a:t>
            </a:r>
            <a:r>
              <a:rPr lang="en-ZA" sz="1800" b="1" i="1" kern="1200" dirty="0">
                <a:solidFill>
                  <a:schemeClr val="bg2"/>
                </a:solidFill>
                <a:latin typeface="Arial" panose="020B0604020202020204" pitchFamily="34" charset="0"/>
                <a:cs typeface="Times New Roman" panose="02020603050405020304" pitchFamily="18" charset="0"/>
              </a:rPr>
              <a:t>a</a:t>
            </a:r>
            <a:r>
              <a:rPr lang="en-ZA" sz="1800" b="1" kern="1200" dirty="0">
                <a:solidFill>
                  <a:schemeClr val="bg2"/>
                </a:solidFill>
                <a:latin typeface="Arial" panose="020B0604020202020204" pitchFamily="34" charset="0"/>
                <a:cs typeface="Times New Roman" panose="02020603050405020304" pitchFamily="18" charset="0"/>
              </a:rPr>
              <a:t> at marker locus M1 and </a:t>
            </a:r>
            <a:r>
              <a:rPr lang="en-ZA" sz="1800" b="1" i="1" kern="1200" dirty="0">
                <a:solidFill>
                  <a:schemeClr val="bg2"/>
                </a:solidFill>
                <a:latin typeface="Arial" panose="020B0604020202020204" pitchFamily="34" charset="0"/>
                <a:cs typeface="Times New Roman" panose="02020603050405020304" pitchFamily="18" charset="0"/>
              </a:rPr>
              <a:t>B</a:t>
            </a:r>
            <a:r>
              <a:rPr lang="en-ZA" sz="1800" b="1" kern="1200" dirty="0">
                <a:solidFill>
                  <a:schemeClr val="bg2"/>
                </a:solidFill>
                <a:latin typeface="Arial" panose="020B0604020202020204" pitchFamily="34" charset="0"/>
                <a:cs typeface="Times New Roman" panose="02020603050405020304" pitchFamily="18" charset="0"/>
              </a:rPr>
              <a:t> and </a:t>
            </a:r>
            <a:r>
              <a:rPr lang="en-ZA" sz="1800" b="1" i="1" kern="1200" dirty="0">
                <a:solidFill>
                  <a:schemeClr val="bg2"/>
                </a:solidFill>
                <a:latin typeface="Arial" panose="020B0604020202020204" pitchFamily="34" charset="0"/>
                <a:cs typeface="Times New Roman" panose="02020603050405020304" pitchFamily="18" charset="0"/>
              </a:rPr>
              <a:t>b</a:t>
            </a:r>
            <a:r>
              <a:rPr lang="en-ZA" sz="1800" b="1" kern="1200" dirty="0">
                <a:solidFill>
                  <a:schemeClr val="bg2"/>
                </a:solidFill>
                <a:latin typeface="Arial" panose="020B0604020202020204" pitchFamily="34" charset="0"/>
                <a:cs typeface="Times New Roman" panose="02020603050405020304" pitchFamily="18" charset="0"/>
              </a:rPr>
              <a:t> at marker locus M2 having been genotyped in sample of n subjects (see the table below).</a:t>
            </a:r>
          </a:p>
        </p:txBody>
      </p:sp>
      <p:graphicFrame>
        <p:nvGraphicFramePr>
          <p:cNvPr id="5" name="Table 6">
            <a:extLst>
              <a:ext uri="{FF2B5EF4-FFF2-40B4-BE49-F238E27FC236}">
                <a16:creationId xmlns:a16="http://schemas.microsoft.com/office/drawing/2014/main" id="{F34399C7-9E0F-45D4-897D-C2D663B12B99}"/>
              </a:ext>
            </a:extLst>
          </p:cNvPr>
          <p:cNvGraphicFramePr>
            <a:graphicFrameLocks noGrp="1"/>
          </p:cNvGraphicFramePr>
          <p:nvPr/>
        </p:nvGraphicFramePr>
        <p:xfrm>
          <a:off x="543337" y="3604591"/>
          <a:ext cx="8057322" cy="2219960"/>
        </p:xfrm>
        <a:graphic>
          <a:graphicData uri="http://schemas.openxmlformats.org/drawingml/2006/table">
            <a:tbl>
              <a:tblPr firstRow="1" bandRow="1">
                <a:tableStyleId>{5C22544A-7EE6-4342-B048-85BDC9FD1C3A}</a:tableStyleId>
              </a:tblPr>
              <a:tblGrid>
                <a:gridCol w="1577011">
                  <a:extLst>
                    <a:ext uri="{9D8B030D-6E8A-4147-A177-3AD203B41FA5}">
                      <a16:colId xmlns:a16="http://schemas.microsoft.com/office/drawing/2014/main" val="3999458057"/>
                    </a:ext>
                  </a:extLst>
                </a:gridCol>
                <a:gridCol w="1108763">
                  <a:extLst>
                    <a:ext uri="{9D8B030D-6E8A-4147-A177-3AD203B41FA5}">
                      <a16:colId xmlns:a16="http://schemas.microsoft.com/office/drawing/2014/main" val="77967366"/>
                    </a:ext>
                  </a:extLst>
                </a:gridCol>
                <a:gridCol w="1342887">
                  <a:extLst>
                    <a:ext uri="{9D8B030D-6E8A-4147-A177-3AD203B41FA5}">
                      <a16:colId xmlns:a16="http://schemas.microsoft.com/office/drawing/2014/main" val="3344187309"/>
                    </a:ext>
                  </a:extLst>
                </a:gridCol>
                <a:gridCol w="1342887">
                  <a:extLst>
                    <a:ext uri="{9D8B030D-6E8A-4147-A177-3AD203B41FA5}">
                      <a16:colId xmlns:a16="http://schemas.microsoft.com/office/drawing/2014/main" val="3303899795"/>
                    </a:ext>
                  </a:extLst>
                </a:gridCol>
                <a:gridCol w="1342887">
                  <a:extLst>
                    <a:ext uri="{9D8B030D-6E8A-4147-A177-3AD203B41FA5}">
                      <a16:colId xmlns:a16="http://schemas.microsoft.com/office/drawing/2014/main" val="1344747965"/>
                    </a:ext>
                  </a:extLst>
                </a:gridCol>
                <a:gridCol w="1342887">
                  <a:extLst>
                    <a:ext uri="{9D8B030D-6E8A-4147-A177-3AD203B41FA5}">
                      <a16:colId xmlns:a16="http://schemas.microsoft.com/office/drawing/2014/main" val="1746338877"/>
                    </a:ext>
                  </a:extLst>
                </a:gridCol>
              </a:tblGrid>
              <a:tr h="195249">
                <a:tc rowSpan="2" gridSpan="2">
                  <a:txBody>
                    <a:bodyPr/>
                    <a:lstStyle/>
                    <a:p>
                      <a:endParaRPr lang="en-ZA" dirty="0"/>
                    </a:p>
                  </a:txBody>
                  <a:tcPr/>
                </a:tc>
                <a:tc rowSpan="2" hMerge="1">
                  <a:txBody>
                    <a:bodyPr/>
                    <a:lstStyle/>
                    <a:p>
                      <a:endParaRPr lang="en-ZA" dirty="0"/>
                    </a:p>
                  </a:txBody>
                  <a:tcPr/>
                </a:tc>
                <a:tc gridSpan="3">
                  <a:txBody>
                    <a:bodyPr/>
                    <a:lstStyle/>
                    <a:p>
                      <a:pPr algn="ctr"/>
                      <a:r>
                        <a:rPr lang="en-ZA" dirty="0"/>
                        <a:t>Marker </a:t>
                      </a:r>
                      <a:r>
                        <a:rPr lang="en-ZA" sz="1800" kern="1200" dirty="0">
                          <a:solidFill>
                            <a:schemeClr val="tx1"/>
                          </a:solidFill>
                          <a:effectLst/>
                          <a:latin typeface="+mn-lt"/>
                          <a:ea typeface="+mn-ea"/>
                          <a:cs typeface="+mn-cs"/>
                        </a:rPr>
                        <a:t>M</a:t>
                      </a:r>
                      <a:r>
                        <a:rPr lang="en-ZA" sz="1800" kern="1200" baseline="-25000" dirty="0">
                          <a:solidFill>
                            <a:schemeClr val="tx1"/>
                          </a:solidFill>
                          <a:effectLst/>
                          <a:latin typeface="+mn-lt"/>
                          <a:ea typeface="+mn-ea"/>
                          <a:cs typeface="+mn-cs"/>
                        </a:rPr>
                        <a:t>2</a:t>
                      </a:r>
                      <a:endParaRPr lang="en-ZA" dirty="0">
                        <a:solidFill>
                          <a:schemeClr val="tx1"/>
                        </a:solidFill>
                      </a:endParaRPr>
                    </a:p>
                  </a:txBody>
                  <a:tcPr/>
                </a:tc>
                <a:tc hMerge="1">
                  <a:txBody>
                    <a:bodyPr/>
                    <a:lstStyle/>
                    <a:p>
                      <a:endParaRPr lang="en-ZA" dirty="0"/>
                    </a:p>
                  </a:txBody>
                  <a:tcPr/>
                </a:tc>
                <a:tc hMerge="1">
                  <a:txBody>
                    <a:bodyPr/>
                    <a:lstStyle/>
                    <a:p>
                      <a:endParaRPr lang="en-ZA" dirty="0"/>
                    </a:p>
                  </a:txBody>
                  <a:tcPr/>
                </a:tc>
                <a:tc rowSpan="2">
                  <a:txBody>
                    <a:bodyPr/>
                    <a:lstStyle/>
                    <a:p>
                      <a:endParaRPr lang="en-ZA" dirty="0"/>
                    </a:p>
                  </a:txBody>
                  <a:tcPr/>
                </a:tc>
                <a:extLst>
                  <a:ext uri="{0D108BD9-81ED-4DB2-BD59-A6C34878D82A}">
                    <a16:rowId xmlns:a16="http://schemas.microsoft.com/office/drawing/2014/main" val="169969443"/>
                  </a:ext>
                </a:extLst>
              </a:tr>
              <a:tr h="370840">
                <a:tc gridSpan="2" vMerge="1">
                  <a:txBody>
                    <a:bodyPr/>
                    <a:lstStyle/>
                    <a:p>
                      <a:endParaRPr lang="en-ZA"/>
                    </a:p>
                  </a:txBody>
                  <a:tcPr/>
                </a:tc>
                <a:tc hMerge="1" vMerge="1">
                  <a:txBody>
                    <a:bodyPr/>
                    <a:lstStyle/>
                    <a:p>
                      <a:endParaRPr lang="en-ZA" dirty="0"/>
                    </a:p>
                  </a:txBody>
                  <a:tcPr/>
                </a:tc>
                <a:tc>
                  <a:txBody>
                    <a:bodyPr/>
                    <a:lstStyle/>
                    <a:p>
                      <a:pPr algn="ctr"/>
                      <a:r>
                        <a:rPr lang="en-ZA" dirty="0"/>
                        <a:t>BB</a:t>
                      </a:r>
                    </a:p>
                  </a:txBody>
                  <a:tcPr/>
                </a:tc>
                <a:tc>
                  <a:txBody>
                    <a:bodyPr/>
                    <a:lstStyle/>
                    <a:p>
                      <a:pPr algn="ctr"/>
                      <a:r>
                        <a:rPr lang="en-ZA" dirty="0"/>
                        <a:t>Bb</a:t>
                      </a:r>
                    </a:p>
                  </a:txBody>
                  <a:tcPr/>
                </a:tc>
                <a:tc>
                  <a:txBody>
                    <a:bodyPr/>
                    <a:lstStyle/>
                    <a:p>
                      <a:pPr algn="ctr"/>
                      <a:r>
                        <a:rPr lang="en-ZA" dirty="0"/>
                        <a:t>bb</a:t>
                      </a:r>
                    </a:p>
                  </a:txBody>
                  <a:tcPr/>
                </a:tc>
                <a:tc vMerge="1">
                  <a:txBody>
                    <a:bodyPr/>
                    <a:lstStyle/>
                    <a:p>
                      <a:endParaRPr lang="en-ZA" dirty="0"/>
                    </a:p>
                  </a:txBody>
                  <a:tcPr/>
                </a:tc>
                <a:extLst>
                  <a:ext uri="{0D108BD9-81ED-4DB2-BD59-A6C34878D82A}">
                    <a16:rowId xmlns:a16="http://schemas.microsoft.com/office/drawing/2014/main" val="1036248650"/>
                  </a:ext>
                </a:extLst>
              </a:tr>
              <a:tr h="370840">
                <a:tc rowSpan="3">
                  <a:txBody>
                    <a:bodyPr/>
                    <a:lstStyle/>
                    <a:p>
                      <a:pPr algn="ctr"/>
                      <a:r>
                        <a:rPr lang="en-ZA" dirty="0"/>
                        <a:t>Marker </a:t>
                      </a:r>
                      <a:r>
                        <a:rPr lang="en-ZA" sz="1800" kern="1200" dirty="0">
                          <a:solidFill>
                            <a:schemeClr val="dk1"/>
                          </a:solidFill>
                          <a:effectLst/>
                          <a:latin typeface="+mn-lt"/>
                          <a:ea typeface="+mn-ea"/>
                          <a:cs typeface="+mn-cs"/>
                        </a:rPr>
                        <a:t>M</a:t>
                      </a:r>
                      <a:r>
                        <a:rPr lang="en-ZA" sz="1800" kern="1200" baseline="-25000" dirty="0">
                          <a:solidFill>
                            <a:schemeClr val="dk1"/>
                          </a:solidFill>
                          <a:effectLst/>
                          <a:latin typeface="+mn-lt"/>
                          <a:ea typeface="+mn-ea"/>
                          <a:cs typeface="+mn-cs"/>
                        </a:rPr>
                        <a:t>1</a:t>
                      </a:r>
                      <a:endParaRPr lang="en-ZA" dirty="0"/>
                    </a:p>
                  </a:txBody>
                  <a:tcPr/>
                </a:tc>
                <a:tc>
                  <a:txBody>
                    <a:bodyPr/>
                    <a:lstStyle/>
                    <a:p>
                      <a:pPr algn="ctr"/>
                      <a:r>
                        <a:rPr lang="en-ZA" dirty="0"/>
                        <a:t>AA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AA,BB</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AA,Bb</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AA,bb</a:t>
                      </a:r>
                      <a:endParaRPr lang="en-ZA" sz="1800" kern="1200" dirty="0">
                        <a:solidFill>
                          <a:schemeClr val="dk1"/>
                        </a:solidFill>
                        <a:effectLst/>
                        <a:latin typeface="+mn-lt"/>
                        <a:ea typeface="+mn-ea"/>
                        <a:cs typeface="+mn-cs"/>
                      </a:endParaRPr>
                    </a:p>
                  </a:txBody>
                  <a:tcPr/>
                </a:tc>
                <a:tc>
                  <a:txBody>
                    <a:bodyPr/>
                    <a:lstStyle/>
                    <a:p>
                      <a:pPr algn="ct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a:t>
                      </a:r>
                      <a:endParaRPr lang="en-ZA" dirty="0"/>
                    </a:p>
                  </a:txBody>
                  <a:tcPr/>
                </a:tc>
                <a:extLst>
                  <a:ext uri="{0D108BD9-81ED-4DB2-BD59-A6C34878D82A}">
                    <a16:rowId xmlns:a16="http://schemas.microsoft.com/office/drawing/2014/main" val="1864923372"/>
                  </a:ext>
                </a:extLst>
              </a:tr>
              <a:tr h="370840">
                <a:tc vMerge="1">
                  <a:txBody>
                    <a:bodyPr/>
                    <a:lstStyle/>
                    <a:p>
                      <a:endParaRPr lang="en-ZA" dirty="0"/>
                    </a:p>
                  </a:txBody>
                  <a:tcPr/>
                </a:tc>
                <a:tc>
                  <a:txBody>
                    <a:bodyPr/>
                    <a:lstStyle/>
                    <a:p>
                      <a:pPr algn="ctr"/>
                      <a:r>
                        <a:rPr lang="en-ZA" dirty="0"/>
                        <a:t>Aa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Aa,BB</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Aa,Bb</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Aa,bb</a:t>
                      </a:r>
                      <a:endParaRPr lang="en-ZA" sz="1800" kern="1200" dirty="0">
                        <a:solidFill>
                          <a:schemeClr val="dk1"/>
                        </a:solidFill>
                        <a:effectLst/>
                        <a:latin typeface="+mn-lt"/>
                        <a:ea typeface="+mn-ea"/>
                        <a:cs typeface="+mn-cs"/>
                      </a:endParaRPr>
                    </a:p>
                  </a:txBody>
                  <a:tcPr/>
                </a:tc>
                <a:tc>
                  <a:txBody>
                    <a:bodyPr/>
                    <a:lstStyle/>
                    <a:p>
                      <a:pPr algn="ct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a:t>
                      </a:r>
                      <a:endParaRPr lang="en-ZA" dirty="0"/>
                    </a:p>
                  </a:txBody>
                  <a:tcPr/>
                </a:tc>
                <a:extLst>
                  <a:ext uri="{0D108BD9-81ED-4DB2-BD59-A6C34878D82A}">
                    <a16:rowId xmlns:a16="http://schemas.microsoft.com/office/drawing/2014/main" val="3054256220"/>
                  </a:ext>
                </a:extLst>
              </a:tr>
              <a:tr h="370840">
                <a:tc vMerge="1">
                  <a:txBody>
                    <a:bodyPr/>
                    <a:lstStyle/>
                    <a:p>
                      <a:endParaRPr lang="en-ZA" dirty="0"/>
                    </a:p>
                  </a:txBody>
                  <a:tcPr/>
                </a:tc>
                <a:tc>
                  <a:txBody>
                    <a:bodyPr/>
                    <a:lstStyle/>
                    <a:p>
                      <a:pPr algn="ctr"/>
                      <a:r>
                        <a:rPr lang="en-ZA" dirty="0"/>
                        <a:t>aa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aa,BB</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aa,Bb</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aa,bb</a:t>
                      </a:r>
                      <a:endParaRPr lang="en-ZA" sz="1800" kern="1200" dirty="0">
                        <a:solidFill>
                          <a:schemeClr val="dk1"/>
                        </a:solidFill>
                        <a:effectLst/>
                        <a:latin typeface="+mn-lt"/>
                        <a:ea typeface="+mn-ea"/>
                        <a:cs typeface="+mn-cs"/>
                      </a:endParaRPr>
                    </a:p>
                  </a:txBody>
                  <a:tcPr/>
                </a:tc>
                <a:tc>
                  <a:txBody>
                    <a:bodyPr/>
                    <a:lstStyle/>
                    <a:p>
                      <a:pPr algn="ct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aa</a:t>
                      </a:r>
                      <a:endParaRPr lang="en-ZA" dirty="0"/>
                    </a:p>
                  </a:txBody>
                  <a:tcPr/>
                </a:tc>
                <a:extLst>
                  <a:ext uri="{0D108BD9-81ED-4DB2-BD59-A6C34878D82A}">
                    <a16:rowId xmlns:a16="http://schemas.microsoft.com/office/drawing/2014/main" val="2664266506"/>
                  </a:ext>
                </a:extLst>
              </a:tr>
              <a:tr h="370840">
                <a:tc gridSpan="2">
                  <a:txBody>
                    <a:bodyPr/>
                    <a:lstStyle/>
                    <a:p>
                      <a:pPr algn="ctr"/>
                      <a:endParaRPr lang="en-ZA" dirty="0"/>
                    </a:p>
                  </a:txBody>
                  <a:tcPr/>
                </a:tc>
                <a:tc hMerge="1">
                  <a:txBody>
                    <a:bodyPr/>
                    <a:lstStyle/>
                    <a:p>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BB</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Bb</a:t>
                      </a:r>
                      <a:endParaRPr lang="en-ZA" sz="1800" kern="1200" dirty="0">
                        <a:solidFill>
                          <a:schemeClr val="dk1"/>
                        </a:solidFill>
                        <a:effectLst/>
                        <a:latin typeface="+mn-lt"/>
                        <a:ea typeface="+mn-ea"/>
                        <a:cs typeface="+mn-cs"/>
                      </a:endParaRPr>
                    </a:p>
                  </a:txBody>
                  <a:tcPr/>
                </a:tc>
                <a:tc>
                  <a:txBody>
                    <a:bodyPr/>
                    <a:lstStyle/>
                    <a:p>
                      <a:pPr algn="ctr"/>
                      <a:r>
                        <a:rPr lang="en-ZA" sz="1800" kern="1200" dirty="0" err="1">
                          <a:solidFill>
                            <a:schemeClr val="dk1"/>
                          </a:solidFill>
                          <a:effectLst/>
                          <a:latin typeface="+mn-lt"/>
                          <a:ea typeface="+mn-ea"/>
                          <a:cs typeface="+mn-cs"/>
                        </a:rPr>
                        <a:t>n</a:t>
                      </a:r>
                      <a:r>
                        <a:rPr lang="en-ZA" sz="1800" kern="1200" baseline="-25000" dirty="0" err="1">
                          <a:solidFill>
                            <a:schemeClr val="dk1"/>
                          </a:solidFill>
                          <a:effectLst/>
                          <a:latin typeface="+mn-lt"/>
                          <a:ea typeface="+mn-ea"/>
                          <a:cs typeface="+mn-cs"/>
                        </a:rPr>
                        <a:t>bb</a:t>
                      </a:r>
                      <a:endParaRPr lang="en-ZA" dirty="0"/>
                    </a:p>
                  </a:txBody>
                  <a:tcPr/>
                </a:tc>
                <a:tc>
                  <a:txBody>
                    <a:bodyPr/>
                    <a:lstStyle/>
                    <a:p>
                      <a:pPr algn="ctr"/>
                      <a:r>
                        <a:rPr lang="en-ZA" dirty="0"/>
                        <a:t>n</a:t>
                      </a:r>
                    </a:p>
                  </a:txBody>
                  <a:tcPr/>
                </a:tc>
                <a:extLst>
                  <a:ext uri="{0D108BD9-81ED-4DB2-BD59-A6C34878D82A}">
                    <a16:rowId xmlns:a16="http://schemas.microsoft.com/office/drawing/2014/main" val="3870565534"/>
                  </a:ext>
                </a:extLst>
              </a:tr>
            </a:tbl>
          </a:graphicData>
        </a:graphic>
      </p:graphicFrame>
      <p:sp>
        <p:nvSpPr>
          <p:cNvPr id="13" name="TextBox 12">
            <a:extLst>
              <a:ext uri="{FF2B5EF4-FFF2-40B4-BE49-F238E27FC236}">
                <a16:creationId xmlns:a16="http://schemas.microsoft.com/office/drawing/2014/main" id="{D937EE47-07FD-4615-92D8-6A7F9BAD357D}"/>
              </a:ext>
            </a:extLst>
          </p:cNvPr>
          <p:cNvSpPr txBox="1"/>
          <p:nvPr/>
        </p:nvSpPr>
        <p:spPr>
          <a:xfrm>
            <a:off x="2501900" y="6058614"/>
            <a:ext cx="4572000" cy="276999"/>
          </a:xfrm>
          <a:prstGeom prst="rect">
            <a:avLst/>
          </a:prstGeom>
          <a:noFill/>
        </p:spPr>
        <p:txBody>
          <a:bodyPr wrap="square">
            <a:spAutoFit/>
          </a:bodyPr>
          <a:lstStyle/>
          <a:p>
            <a:r>
              <a:rPr lang="en-ZA" sz="1200" dirty="0"/>
              <a:t>Tab. 1: Genotype frequencies at loci M1 and M2.</a:t>
            </a:r>
          </a:p>
        </p:txBody>
      </p:sp>
    </p:spTree>
    <p:extLst>
      <p:ext uri="{BB962C8B-B14F-4D97-AF65-F5344CB8AC3E}">
        <p14:creationId xmlns:p14="http://schemas.microsoft.com/office/powerpoint/2010/main" val="8479157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447800" y="76200"/>
            <a:ext cx="6183103"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Example Association Study</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203199" y="998921"/>
                <a:ext cx="8848035" cy="3692346"/>
              </a:xfrm>
            </p:spPr>
            <p:txBody>
              <a:bodyPr/>
              <a:lstStyle/>
              <a:p>
                <a:pPr>
                  <a:spcBef>
                    <a:spcPct val="25000"/>
                  </a:spcBef>
                  <a:spcAft>
                    <a:spcPct val="25000"/>
                  </a:spcAft>
                  <a:buClrTx/>
                </a:pPr>
                <a:r>
                  <a:rPr lang="en-ZA" sz="1800" b="1" kern="1200" dirty="0">
                    <a:solidFill>
                      <a:schemeClr val="bg2"/>
                    </a:solidFill>
                    <a:latin typeface="Arial" panose="020B0604020202020204" pitchFamily="34" charset="0"/>
                    <a:cs typeface="Times New Roman" panose="02020603050405020304" pitchFamily="18" charset="0"/>
                  </a:rPr>
                  <a:t>In the association study by Reich and colleagues [</a:t>
                </a:r>
                <a:r>
                  <a:rPr lang="en-ZA" sz="1800" b="1" kern="1200" dirty="0">
                    <a:solidFill>
                      <a:schemeClr val="bg2"/>
                    </a:solidFill>
                    <a:latin typeface="Arial" panose="020B0604020202020204" pitchFamily="34" charset="0"/>
                    <a:cs typeface="Times New Roman" panose="02020603050405020304" pitchFamily="18" charset="0"/>
                    <a:hlinkClick r:id="rId3">
                      <a:extLst>
                        <a:ext uri="{A12FA001-AC4F-418D-AE19-62706E023703}">
                          <ahyp:hlinkClr xmlns:ahyp="http://schemas.microsoft.com/office/drawing/2018/hyperlinkcolor" xmlns="" val="tx"/>
                        </a:ext>
                      </a:extLst>
                    </a:hlinkClick>
                  </a:rPr>
                  <a:t>Reich2002</a:t>
                </a:r>
                <a:r>
                  <a:rPr lang="en-ZA" sz="1800" b="1" kern="1200" dirty="0">
                    <a:solidFill>
                      <a:schemeClr val="bg2"/>
                    </a:solidFill>
                    <a:latin typeface="Arial" panose="020B0604020202020204" pitchFamily="34" charset="0"/>
                    <a:cs typeface="Times New Roman" panose="02020603050405020304" pitchFamily="18" charset="0"/>
                  </a:rPr>
                  <a:t>], 231 patients suffering from psoriasis were compared with 345 healthy controls. All probands were genotyped on a number of SNPs in the genes encoding for </a:t>
                </a:r>
                <a:r>
                  <a:rPr lang="en-ZA" sz="1800" b="1" kern="1200" dirty="0" err="1">
                    <a:solidFill>
                      <a:schemeClr val="bg2"/>
                    </a:solidFill>
                    <a:latin typeface="Arial" panose="020B0604020202020204" pitchFamily="34" charset="0"/>
                    <a:cs typeface="Times New Roman" panose="02020603050405020304" pitchFamily="18" charset="0"/>
                  </a:rPr>
                  <a:t>tumor</a:t>
                </a:r>
                <a:r>
                  <a:rPr lang="en-ZA" sz="1800" b="1" kern="1200" dirty="0">
                    <a:solidFill>
                      <a:schemeClr val="bg2"/>
                    </a:solidFill>
                    <a:latin typeface="Arial" panose="020B0604020202020204" pitchFamily="34" charset="0"/>
                    <a:cs typeface="Times New Roman" panose="02020603050405020304" pitchFamily="18" charset="0"/>
                  </a:rPr>
                  <a:t> necrosis factor </a:t>
                </a:r>
                <a14:m>
                  <m:oMath xmlns:m="http://schemas.openxmlformats.org/officeDocument/2006/math">
                    <m:r>
                      <a:rPr lang="en-ZA" sz="1800" b="1" kern="1200">
                        <a:solidFill>
                          <a:schemeClr val="bg2"/>
                        </a:solidFill>
                        <a:latin typeface="Cambria Math" panose="02040503050406030204" pitchFamily="18" charset="0"/>
                        <a:cs typeface="Times New Roman" panose="02020603050405020304" pitchFamily="18" charset="0"/>
                      </a:rPr>
                      <m:t>−∝</m:t>
                    </m:r>
                  </m:oMath>
                </a14:m>
                <a:r>
                  <a:rPr lang="en-ZA" sz="1800" b="1" kern="1200" dirty="0">
                    <a:solidFill>
                      <a:schemeClr val="bg2"/>
                    </a:solidFill>
                    <a:latin typeface="Arial" panose="020B0604020202020204" pitchFamily="34" charset="0"/>
                    <a:cs typeface="Times New Roman" panose="02020603050405020304" pitchFamily="18" charset="0"/>
                  </a:rPr>
                  <a:t> (TNFA) and interleukin </a:t>
                </a:r>
                <a14:m>
                  <m:oMath xmlns:m="http://schemas.openxmlformats.org/officeDocument/2006/math">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r>
                          <a:rPr lang="en-ZA" sz="1800" b="1" kern="1200">
                            <a:solidFill>
                              <a:schemeClr val="bg2"/>
                            </a:solidFill>
                            <a:latin typeface="Cambria Math" panose="02040503050406030204" pitchFamily="18" charset="0"/>
                            <a:cs typeface="Times New Roman" panose="02020603050405020304" pitchFamily="18" charset="0"/>
                          </a:rPr>
                          <m:t>−1</m:t>
                        </m:r>
                      </m:e>
                      <m:sup>
                        <m:r>
                          <a:rPr lang="en-ZA" sz="1800" b="1" kern="1200">
                            <a:solidFill>
                              <a:schemeClr val="bg2"/>
                            </a:solidFill>
                            <a:latin typeface="Cambria Math" panose="02040503050406030204" pitchFamily="18" charset="0"/>
                            <a:cs typeface="Times New Roman" panose="02020603050405020304" pitchFamily="18" charset="0"/>
                          </a:rPr>
                          <m:t>𝛽</m:t>
                        </m:r>
                      </m:sup>
                    </m:sSup>
                  </m:oMath>
                </a14:m>
                <a:r>
                  <a:rPr lang="en-ZA" sz="1800" b="1" kern="1200" dirty="0">
                    <a:solidFill>
                      <a:schemeClr val="bg2"/>
                    </a:solidFill>
                    <a:latin typeface="Arial" panose="020B0604020202020204" pitchFamily="34" charset="0"/>
                    <a:cs typeface="Times New Roman" panose="02020603050405020304" pitchFamily="18" charset="0"/>
                  </a:rPr>
                  <a:t> (IL1B). For two SNPs, TNFA-238 and IL1B-511, the genotypes of the healthy controls' </a:t>
                </a:r>
                <a:r>
                  <a:rPr lang="en-ZA" sz="1800" b="1" kern="1200" dirty="0" err="1">
                    <a:solidFill>
                      <a:schemeClr val="bg2"/>
                    </a:solidFill>
                    <a:latin typeface="Arial" panose="020B0604020202020204" pitchFamily="34" charset="0"/>
                    <a:cs typeface="Times New Roman" panose="02020603050405020304" pitchFamily="18" charset="0"/>
                  </a:rPr>
                  <a:t>typings</a:t>
                </a:r>
                <a:r>
                  <a:rPr lang="en-ZA" sz="1800" b="1" kern="1200" dirty="0">
                    <a:solidFill>
                      <a:schemeClr val="bg2"/>
                    </a:solidFill>
                    <a:latin typeface="Arial" panose="020B0604020202020204" pitchFamily="34" charset="0"/>
                    <a:cs typeface="Times New Roman" panose="02020603050405020304" pitchFamily="18" charset="0"/>
                  </a:rPr>
                  <a:t> are displayed in the table below. Note that at TNFA-238, no proband was homozygous for the A allele.</a:t>
                </a:r>
              </a:p>
            </p:txBody>
          </p:sp>
        </mc:Choice>
        <mc:Fallback xmlns="">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203199" y="998921"/>
                <a:ext cx="8848035" cy="3692346"/>
              </a:xfrm>
              <a:blipFill>
                <a:blip r:embed="rId4"/>
                <a:stretch>
                  <a:fillRect l="-413" t="-990"/>
                </a:stretch>
              </a:blipFill>
            </p:spPr>
            <p:txBody>
              <a:bodyPr/>
              <a:lstStyle/>
              <a:p>
                <a:r>
                  <a:rPr lang="en-ZA">
                    <a:noFill/>
                  </a:rPr>
                  <a:t> </a:t>
                </a:r>
              </a:p>
            </p:txBody>
          </p:sp>
        </mc:Fallback>
      </mc:AlternateContent>
      <p:graphicFrame>
        <p:nvGraphicFramePr>
          <p:cNvPr id="8" name="Table 6">
            <a:extLst>
              <a:ext uri="{FF2B5EF4-FFF2-40B4-BE49-F238E27FC236}">
                <a16:creationId xmlns:a16="http://schemas.microsoft.com/office/drawing/2014/main" id="{00BA6AEC-63AB-4BC4-AA12-D8FD73C48F0E}"/>
              </a:ext>
            </a:extLst>
          </p:cNvPr>
          <p:cNvGraphicFramePr>
            <a:graphicFrameLocks noGrp="1"/>
          </p:cNvGraphicFramePr>
          <p:nvPr/>
        </p:nvGraphicFramePr>
        <p:xfrm>
          <a:off x="543337" y="3604591"/>
          <a:ext cx="8057322" cy="1849120"/>
        </p:xfrm>
        <a:graphic>
          <a:graphicData uri="http://schemas.openxmlformats.org/drawingml/2006/table">
            <a:tbl>
              <a:tblPr firstRow="1" bandRow="1">
                <a:tableStyleId>{5C22544A-7EE6-4342-B048-85BDC9FD1C3A}</a:tableStyleId>
              </a:tblPr>
              <a:tblGrid>
                <a:gridCol w="1577011">
                  <a:extLst>
                    <a:ext uri="{9D8B030D-6E8A-4147-A177-3AD203B41FA5}">
                      <a16:colId xmlns:a16="http://schemas.microsoft.com/office/drawing/2014/main" val="3999458057"/>
                    </a:ext>
                  </a:extLst>
                </a:gridCol>
                <a:gridCol w="1108763">
                  <a:extLst>
                    <a:ext uri="{9D8B030D-6E8A-4147-A177-3AD203B41FA5}">
                      <a16:colId xmlns:a16="http://schemas.microsoft.com/office/drawing/2014/main" val="77967366"/>
                    </a:ext>
                  </a:extLst>
                </a:gridCol>
                <a:gridCol w="1342887">
                  <a:extLst>
                    <a:ext uri="{9D8B030D-6E8A-4147-A177-3AD203B41FA5}">
                      <a16:colId xmlns:a16="http://schemas.microsoft.com/office/drawing/2014/main" val="3344187309"/>
                    </a:ext>
                  </a:extLst>
                </a:gridCol>
                <a:gridCol w="1342887">
                  <a:extLst>
                    <a:ext uri="{9D8B030D-6E8A-4147-A177-3AD203B41FA5}">
                      <a16:colId xmlns:a16="http://schemas.microsoft.com/office/drawing/2014/main" val="3303899795"/>
                    </a:ext>
                  </a:extLst>
                </a:gridCol>
                <a:gridCol w="1342887">
                  <a:extLst>
                    <a:ext uri="{9D8B030D-6E8A-4147-A177-3AD203B41FA5}">
                      <a16:colId xmlns:a16="http://schemas.microsoft.com/office/drawing/2014/main" val="1344747965"/>
                    </a:ext>
                  </a:extLst>
                </a:gridCol>
                <a:gridCol w="1342887">
                  <a:extLst>
                    <a:ext uri="{9D8B030D-6E8A-4147-A177-3AD203B41FA5}">
                      <a16:colId xmlns:a16="http://schemas.microsoft.com/office/drawing/2014/main" val="1746338877"/>
                    </a:ext>
                  </a:extLst>
                </a:gridCol>
              </a:tblGrid>
              <a:tr h="195249">
                <a:tc rowSpan="2" gridSpan="2">
                  <a:txBody>
                    <a:bodyPr/>
                    <a:lstStyle/>
                    <a:p>
                      <a:endParaRPr lang="en-ZA" dirty="0"/>
                    </a:p>
                  </a:txBody>
                  <a:tcPr/>
                </a:tc>
                <a:tc rowSpan="2" hMerge="1">
                  <a:txBody>
                    <a:bodyPr/>
                    <a:lstStyle/>
                    <a:p>
                      <a:endParaRPr lang="en-ZA" dirty="0"/>
                    </a:p>
                  </a:txBody>
                  <a:tcPr/>
                </a:tc>
                <a:tc gridSpan="3">
                  <a:txBody>
                    <a:bodyPr/>
                    <a:lstStyle/>
                    <a:p>
                      <a:pPr algn="ctr"/>
                      <a:r>
                        <a:rPr lang="en-ZA" dirty="0"/>
                        <a:t>TNFA-308</a:t>
                      </a:r>
                      <a:endParaRPr lang="en-ZA" dirty="0">
                        <a:solidFill>
                          <a:schemeClr val="tx1"/>
                        </a:solidFill>
                      </a:endParaRPr>
                    </a:p>
                  </a:txBody>
                  <a:tcPr/>
                </a:tc>
                <a:tc hMerge="1">
                  <a:txBody>
                    <a:bodyPr/>
                    <a:lstStyle/>
                    <a:p>
                      <a:endParaRPr lang="en-ZA" dirty="0"/>
                    </a:p>
                  </a:txBody>
                  <a:tcPr/>
                </a:tc>
                <a:tc hMerge="1">
                  <a:txBody>
                    <a:bodyPr/>
                    <a:lstStyle/>
                    <a:p>
                      <a:endParaRPr lang="en-ZA" dirty="0"/>
                    </a:p>
                  </a:txBody>
                  <a:tcPr/>
                </a:tc>
                <a:tc rowSpan="2">
                  <a:txBody>
                    <a:bodyPr/>
                    <a:lstStyle/>
                    <a:p>
                      <a:r>
                        <a:rPr lang="en-ZA" dirty="0"/>
                        <a:t>Total</a:t>
                      </a:r>
                    </a:p>
                  </a:txBody>
                  <a:tcPr/>
                </a:tc>
                <a:extLst>
                  <a:ext uri="{0D108BD9-81ED-4DB2-BD59-A6C34878D82A}">
                    <a16:rowId xmlns:a16="http://schemas.microsoft.com/office/drawing/2014/main" val="169969443"/>
                  </a:ext>
                </a:extLst>
              </a:tr>
              <a:tr h="370840">
                <a:tc gridSpan="2" vMerge="1">
                  <a:txBody>
                    <a:bodyPr/>
                    <a:lstStyle/>
                    <a:p>
                      <a:endParaRPr lang="en-ZA"/>
                    </a:p>
                  </a:txBody>
                  <a:tcPr/>
                </a:tc>
                <a:tc hMerge="1" vMerge="1">
                  <a:txBody>
                    <a:bodyPr/>
                    <a:lstStyle/>
                    <a:p>
                      <a:endParaRPr lang="en-ZA" dirty="0"/>
                    </a:p>
                  </a:txBody>
                  <a:tcPr/>
                </a:tc>
                <a:tc>
                  <a:txBody>
                    <a:bodyPr/>
                    <a:lstStyle/>
                    <a:p>
                      <a:pPr algn="ctr"/>
                      <a:r>
                        <a:rPr lang="en-ZA" dirty="0"/>
                        <a:t>GG</a:t>
                      </a:r>
                    </a:p>
                  </a:txBody>
                  <a:tcPr/>
                </a:tc>
                <a:tc>
                  <a:txBody>
                    <a:bodyPr/>
                    <a:lstStyle/>
                    <a:p>
                      <a:pPr algn="ctr"/>
                      <a:r>
                        <a:rPr lang="en-ZA" dirty="0"/>
                        <a:t>GA</a:t>
                      </a:r>
                    </a:p>
                  </a:txBody>
                  <a:tcPr/>
                </a:tc>
                <a:tc>
                  <a:txBody>
                    <a:bodyPr/>
                    <a:lstStyle/>
                    <a:p>
                      <a:pPr algn="ctr"/>
                      <a:r>
                        <a:rPr lang="en-ZA" dirty="0"/>
                        <a:t>AA</a:t>
                      </a:r>
                    </a:p>
                  </a:txBody>
                  <a:tcPr/>
                </a:tc>
                <a:tc vMerge="1">
                  <a:txBody>
                    <a:bodyPr/>
                    <a:lstStyle/>
                    <a:p>
                      <a:endParaRPr lang="en-ZA" dirty="0"/>
                    </a:p>
                  </a:txBody>
                  <a:tcPr/>
                </a:tc>
                <a:extLst>
                  <a:ext uri="{0D108BD9-81ED-4DB2-BD59-A6C34878D82A}">
                    <a16:rowId xmlns:a16="http://schemas.microsoft.com/office/drawing/2014/main" val="1036248650"/>
                  </a:ext>
                </a:extLst>
              </a:tr>
              <a:tr h="370840">
                <a:tc rowSpan="3">
                  <a:txBody>
                    <a:bodyPr/>
                    <a:lstStyle/>
                    <a:p>
                      <a:pPr algn="ctr"/>
                      <a:r>
                        <a:rPr lang="en-ZA" dirty="0"/>
                        <a:t>TNFA-238</a:t>
                      </a:r>
                    </a:p>
                  </a:txBody>
                  <a:tcPr/>
                </a:tc>
                <a:tc>
                  <a:txBody>
                    <a:bodyPr/>
                    <a:lstStyle/>
                    <a:p>
                      <a:pPr algn="ctr"/>
                      <a:r>
                        <a:rPr lang="en-ZA" dirty="0"/>
                        <a:t>GG</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213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99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4</a:t>
                      </a:r>
                    </a:p>
                  </a:txBody>
                  <a:tcPr/>
                </a:tc>
                <a:tc>
                  <a:txBody>
                    <a:bodyPr/>
                    <a:lstStyle/>
                    <a:p>
                      <a:pPr algn="ctr"/>
                      <a:r>
                        <a:rPr lang="en-ZA" dirty="0"/>
                        <a:t>316</a:t>
                      </a:r>
                    </a:p>
                  </a:txBody>
                  <a:tcPr/>
                </a:tc>
                <a:extLst>
                  <a:ext uri="{0D108BD9-81ED-4DB2-BD59-A6C34878D82A}">
                    <a16:rowId xmlns:a16="http://schemas.microsoft.com/office/drawing/2014/main" val="1864923372"/>
                  </a:ext>
                </a:extLst>
              </a:tr>
              <a:tr h="370840">
                <a:tc vMerge="1">
                  <a:txBody>
                    <a:bodyPr/>
                    <a:lstStyle/>
                    <a:p>
                      <a:endParaRPr lang="en-ZA" dirty="0"/>
                    </a:p>
                  </a:txBody>
                  <a:tcPr/>
                </a:tc>
                <a:tc>
                  <a:txBody>
                    <a:bodyPr/>
                    <a:lstStyle/>
                    <a:p>
                      <a:pPr algn="ctr"/>
                      <a:r>
                        <a:rPr lang="en-ZA" dirty="0"/>
                        <a:t>GA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25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0</a:t>
                      </a:r>
                    </a:p>
                  </a:txBody>
                  <a:tcPr/>
                </a:tc>
                <a:tc>
                  <a:txBody>
                    <a:bodyPr/>
                    <a:lstStyle/>
                    <a:p>
                      <a:pPr algn="ctr"/>
                      <a:r>
                        <a:rPr lang="en-ZA" dirty="0"/>
                        <a:t>29</a:t>
                      </a:r>
                    </a:p>
                  </a:txBody>
                  <a:tcPr/>
                </a:tc>
                <a:extLst>
                  <a:ext uri="{0D108BD9-81ED-4DB2-BD59-A6C34878D82A}">
                    <a16:rowId xmlns:a16="http://schemas.microsoft.com/office/drawing/2014/main" val="3054256220"/>
                  </a:ext>
                </a:extLst>
              </a:tr>
              <a:tr h="370840">
                <a:tc vMerge="1">
                  <a:txBody>
                    <a:bodyPr/>
                    <a:lstStyle/>
                    <a:p>
                      <a:endParaRPr lang="en-ZA" dirty="0"/>
                    </a:p>
                  </a:txBody>
                  <a:tcPr/>
                </a:tc>
                <a:tc>
                  <a:txBody>
                    <a:bodyPr/>
                    <a:lstStyle/>
                    <a:p>
                      <a:pPr algn="ctr"/>
                      <a:r>
                        <a:rPr lang="en-ZA" dirty="0"/>
                        <a:t>Total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238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103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4</a:t>
                      </a:r>
                    </a:p>
                  </a:txBody>
                  <a:tcPr/>
                </a:tc>
                <a:tc>
                  <a:txBody>
                    <a:bodyPr/>
                    <a:lstStyle/>
                    <a:p>
                      <a:pPr algn="ctr"/>
                      <a:r>
                        <a:rPr lang="en-ZA" dirty="0"/>
                        <a:t>345</a:t>
                      </a:r>
                    </a:p>
                  </a:txBody>
                  <a:tcPr/>
                </a:tc>
                <a:extLst>
                  <a:ext uri="{0D108BD9-81ED-4DB2-BD59-A6C34878D82A}">
                    <a16:rowId xmlns:a16="http://schemas.microsoft.com/office/drawing/2014/main" val="2664266506"/>
                  </a:ext>
                </a:extLst>
              </a:tr>
            </a:tbl>
          </a:graphicData>
        </a:graphic>
      </p:graphicFrame>
    </p:spTree>
    <p:extLst>
      <p:ext uri="{BB962C8B-B14F-4D97-AF65-F5344CB8AC3E}">
        <p14:creationId xmlns:p14="http://schemas.microsoft.com/office/powerpoint/2010/main" val="17406513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447800" y="76200"/>
            <a:ext cx="6183103"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Example Association Study</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A3C3DFEA-8EC1-40AC-9D3B-8477B1EADDF2}"/>
                  </a:ext>
                </a:extLst>
              </p:cNvPr>
              <p:cNvSpPr>
                <a:spLocks noGrp="1"/>
              </p:cNvSpPr>
              <p:nvPr>
                <p:ph idx="1"/>
              </p:nvPr>
            </p:nvSpPr>
            <p:spPr>
              <a:xfrm>
                <a:off x="203199" y="998921"/>
                <a:ext cx="8689009" cy="3652588"/>
              </a:xfrm>
            </p:spPr>
            <p:txBody>
              <a:bodyPr/>
              <a:lstStyle/>
              <a:p>
                <a:r>
                  <a:rPr lang="en-ZA" sz="1800" b="1" kern="1200" dirty="0" smtClean="0">
                    <a:solidFill>
                      <a:schemeClr val="bg2"/>
                    </a:solidFill>
                    <a:latin typeface="Arial" panose="020B0604020202020204" pitchFamily="34" charset="0"/>
                    <a:cs typeface="Times New Roman" panose="02020603050405020304" pitchFamily="18" charset="0"/>
                  </a:rPr>
                  <a:t>To establish the LD between the two SNPs, the allele frequencies </a:t>
                </a:r>
                <a:r>
                  <a:rPr lang="en-ZA" sz="1800" b="1" kern="1200" dirty="0" err="1">
                    <a:solidFill>
                      <a:schemeClr val="bg2"/>
                    </a:solidFill>
                    <a:latin typeface="Arial" panose="020B0604020202020204" pitchFamily="34" charset="0"/>
                    <a:cs typeface="Times New Roman" panose="02020603050405020304" pitchFamily="18" charset="0"/>
                  </a:rPr>
                  <a:t>pG</a:t>
                </a:r>
                <a:r>
                  <a:rPr lang="en-ZA" sz="1800" b="1" kern="1200" dirty="0">
                    <a:solidFill>
                      <a:schemeClr val="bg2"/>
                    </a:solidFill>
                    <a:latin typeface="Arial" panose="020B0604020202020204" pitchFamily="34" charset="0"/>
                    <a:cs typeface="Times New Roman" panose="02020603050405020304" pitchFamily="18" charset="0"/>
                  </a:rPr>
                  <a:t> at TNFA-238 and </a:t>
                </a:r>
                <a:r>
                  <a:rPr lang="en-ZA" sz="1800" b="1" kern="1200" dirty="0" err="1" smtClean="0">
                    <a:solidFill>
                      <a:schemeClr val="bg2"/>
                    </a:solidFill>
                    <a:latin typeface="Arial" panose="020B0604020202020204" pitchFamily="34" charset="0"/>
                    <a:cs typeface="Times New Roman" panose="02020603050405020304" pitchFamily="18" charset="0"/>
                  </a:rPr>
                  <a:t>pA</a:t>
                </a:r>
                <a:r>
                  <a:rPr lang="en-ZA" sz="1800" b="1" kern="1200" dirty="0" smtClean="0">
                    <a:solidFill>
                      <a:schemeClr val="bg2"/>
                    </a:solidFill>
                    <a:latin typeface="Arial" panose="020B0604020202020204" pitchFamily="34" charset="0"/>
                    <a:cs typeface="Times New Roman" panose="02020603050405020304" pitchFamily="18" charset="0"/>
                  </a:rPr>
                  <a:t> </a:t>
                </a:r>
                <a:r>
                  <a:rPr lang="en-ZA" sz="1800" b="1" kern="1200" dirty="0">
                    <a:solidFill>
                      <a:schemeClr val="bg2"/>
                    </a:solidFill>
                    <a:latin typeface="Arial" panose="020B0604020202020204" pitchFamily="34" charset="0"/>
                    <a:cs typeface="Times New Roman" panose="02020603050405020304" pitchFamily="18" charset="0"/>
                  </a:rPr>
                  <a:t>at IL1B-511, which are the allele frequencies of the G allele and the </a:t>
                </a:r>
                <a:r>
                  <a:rPr lang="en-ZA" sz="1800" b="1" kern="1200" dirty="0">
                    <a:solidFill>
                      <a:schemeClr val="bg2"/>
                    </a:solidFill>
                    <a:latin typeface="Arial" panose="020B0604020202020204" pitchFamily="34" charset="0"/>
                    <a:cs typeface="Times New Roman" panose="02020603050405020304" pitchFamily="18" charset="0"/>
                  </a:rPr>
                  <a:t>C</a:t>
                </a:r>
                <a:r>
                  <a:rPr lang="en-ZA" sz="1800" b="1" kern="1200" dirty="0" smtClean="0">
                    <a:solidFill>
                      <a:schemeClr val="bg2"/>
                    </a:solidFill>
                    <a:latin typeface="Arial" panose="020B0604020202020204" pitchFamily="34" charset="0"/>
                    <a:cs typeface="Times New Roman" panose="02020603050405020304" pitchFamily="18" charset="0"/>
                  </a:rPr>
                  <a:t> </a:t>
                </a:r>
                <a:r>
                  <a:rPr lang="en-ZA" sz="1800" b="1" kern="1200" dirty="0">
                    <a:solidFill>
                      <a:schemeClr val="bg2"/>
                    </a:solidFill>
                    <a:latin typeface="Arial" panose="020B0604020202020204" pitchFamily="34" charset="0"/>
                    <a:cs typeface="Times New Roman" panose="02020603050405020304" pitchFamily="18" charset="0"/>
                  </a:rPr>
                  <a:t>allele, respectively, as well as the haplotype frequencies need to be estimated. Given Hardy-Weinberg equilibrium, the allele frequencies can be calculated easily from the given genotype frequencies and are given by</a:t>
                </a:r>
              </a:p>
              <a:p>
                <a:pPr marL="0" indent="0">
                  <a:buNone/>
                </a:pPr>
                <a14:m>
                  <m:oMathPara xmlns:m="http://schemas.openxmlformats.org/officeDocument/2006/math">
                    <m:oMathParaPr>
                      <m:jc m:val="centerGroup"/>
                    </m:oMathParaPr>
                    <m:oMath xmlns:m="http://schemas.openxmlformats.org/officeDocument/2006/math">
                      <m:acc>
                        <m:accPr>
                          <m:chr m:val="̂"/>
                          <m:ctrlPr>
                            <a:rPr lang="en-ZA" sz="1800" b="1" i="1" kern="1200">
                              <a:solidFill>
                                <a:schemeClr val="bg2"/>
                              </a:solidFill>
                              <a:latin typeface="Cambria Math" panose="02040503050406030204" pitchFamily="18" charset="0"/>
                            </a:rPr>
                          </m:ctrlPr>
                        </m:accPr>
                        <m:e>
                          <m:r>
                            <a:rPr lang="en-ZA" sz="1800" b="1" kern="1200">
                              <a:solidFill>
                                <a:schemeClr val="bg2"/>
                              </a:solidFill>
                              <a:latin typeface="Cambria Math" panose="02040503050406030204" pitchFamily="18" charset="0"/>
                            </a:rPr>
                            <m:t>𝑝</m:t>
                          </m:r>
                        </m:e>
                      </m:acc>
                      <m:r>
                        <a:rPr lang="en-US" sz="1800" b="1" i="0" kern="1200" smtClean="0">
                          <a:solidFill>
                            <a:schemeClr val="bg2"/>
                          </a:solidFill>
                          <a:latin typeface="Cambria Math" panose="02040503050406030204" pitchFamily="18" charset="0"/>
                        </a:rPr>
                        <m:t>𝐆</m:t>
                      </m:r>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2 .  316+1 .  29</m:t>
                          </m:r>
                        </m:num>
                        <m:den>
                          <m:r>
                            <a:rPr lang="en-ZA" sz="1800" b="1" kern="1200">
                              <a:solidFill>
                                <a:schemeClr val="bg2"/>
                              </a:solidFill>
                              <a:latin typeface="Cambria Math" panose="02040503050406030204" pitchFamily="18" charset="0"/>
                            </a:rPr>
                            <m:t>2 . 345</m:t>
                          </m:r>
                        </m:den>
                      </m:f>
                      <m:r>
                        <a:rPr lang="en-ZA" sz="1800" b="1" kern="1200">
                          <a:solidFill>
                            <a:schemeClr val="bg2"/>
                          </a:solidFill>
                          <a:latin typeface="Cambria Math" panose="02040503050406030204" pitchFamily="18" charset="0"/>
                        </a:rPr>
                        <m:t>≈0.9580</m:t>
                      </m:r>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ZA" sz="1800" b="1" i="1" kern="1200">
                              <a:solidFill>
                                <a:schemeClr val="bg2"/>
                              </a:solidFill>
                              <a:latin typeface="Cambria Math" panose="02040503050406030204" pitchFamily="18" charset="0"/>
                            </a:rPr>
                          </m:ctrlPr>
                        </m:accPr>
                        <m:e>
                          <m:r>
                            <a:rPr lang="en-ZA" sz="1800" b="1" kern="1200">
                              <a:solidFill>
                                <a:schemeClr val="bg2"/>
                              </a:solidFill>
                              <a:latin typeface="Cambria Math" panose="02040503050406030204" pitchFamily="18" charset="0"/>
                            </a:rPr>
                            <m:t>𝑞</m:t>
                          </m:r>
                        </m:e>
                      </m:acc>
                      <m:r>
                        <a:rPr lang="en-US" sz="1800" b="1" i="0" kern="1200" smtClean="0">
                          <a:solidFill>
                            <a:schemeClr val="bg2"/>
                          </a:solidFill>
                          <a:latin typeface="Cambria Math" panose="02040503050406030204" pitchFamily="18" charset="0"/>
                        </a:rPr>
                        <m:t>𝐆</m:t>
                      </m:r>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2 .  0 + 1 .  29</m:t>
                          </m:r>
                        </m:num>
                        <m:den>
                          <m:r>
                            <a:rPr lang="en-ZA" sz="1800" b="1" kern="1200">
                              <a:solidFill>
                                <a:schemeClr val="bg2"/>
                              </a:solidFill>
                              <a:latin typeface="Cambria Math" panose="02040503050406030204" pitchFamily="18" charset="0"/>
                            </a:rPr>
                            <m:t>2 . 345</m:t>
                          </m:r>
                        </m:den>
                      </m:f>
                      <m:r>
                        <a:rPr lang="en-ZA" sz="1800" b="1" kern="1200">
                          <a:solidFill>
                            <a:schemeClr val="bg2"/>
                          </a:solidFill>
                          <a:latin typeface="Cambria Math" panose="02040503050406030204" pitchFamily="18" charset="0"/>
                        </a:rPr>
                        <m:t>≈0.0420</m:t>
                      </m:r>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ZA" sz="1800" b="1" i="1" kern="1200">
                              <a:solidFill>
                                <a:schemeClr val="bg2"/>
                              </a:solidFill>
                              <a:latin typeface="Cambria Math" panose="02040503050406030204" pitchFamily="18" charset="0"/>
                            </a:rPr>
                          </m:ctrlPr>
                        </m:accPr>
                        <m:e>
                          <m:r>
                            <a:rPr lang="en-ZA" sz="1800" b="1" kern="1200">
                              <a:solidFill>
                                <a:schemeClr val="bg2"/>
                              </a:solidFill>
                              <a:latin typeface="Cambria Math" panose="02040503050406030204" pitchFamily="18" charset="0"/>
                            </a:rPr>
                            <m:t>𝑝</m:t>
                          </m:r>
                        </m:e>
                      </m:acc>
                      <m:r>
                        <a:rPr lang="en-US" sz="1800" b="1" i="0" kern="1200" smtClean="0">
                          <a:solidFill>
                            <a:schemeClr val="bg2"/>
                          </a:solidFill>
                          <a:latin typeface="Cambria Math" panose="02040503050406030204" pitchFamily="18" charset="0"/>
                        </a:rPr>
                        <m:t>𝐂</m:t>
                      </m:r>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2 .   151 + 1 .  162</m:t>
                          </m:r>
                        </m:num>
                        <m:den>
                          <m:r>
                            <a:rPr lang="en-ZA" sz="1800" b="1" kern="1200">
                              <a:solidFill>
                                <a:schemeClr val="bg2"/>
                              </a:solidFill>
                              <a:latin typeface="Cambria Math" panose="02040503050406030204" pitchFamily="18" charset="0"/>
                            </a:rPr>
                            <m:t>2 . 345</m:t>
                          </m:r>
                        </m:den>
                      </m:f>
                      <m:r>
                        <a:rPr lang="en-ZA" sz="1800" b="1" kern="1200">
                          <a:solidFill>
                            <a:schemeClr val="bg2"/>
                          </a:solidFill>
                          <a:latin typeface="Cambria Math" panose="02040503050406030204" pitchFamily="18" charset="0"/>
                        </a:rPr>
                        <m:t>≈0.6725</m:t>
                      </m:r>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ZA" sz="1800" b="1" i="1" kern="1200">
                              <a:solidFill>
                                <a:schemeClr val="bg2"/>
                              </a:solidFill>
                              <a:latin typeface="Cambria Math" panose="02040503050406030204" pitchFamily="18" charset="0"/>
                            </a:rPr>
                          </m:ctrlPr>
                        </m:accPr>
                        <m:e>
                          <m:r>
                            <a:rPr lang="en-ZA" sz="1800" b="1" kern="1200">
                              <a:solidFill>
                                <a:schemeClr val="bg2"/>
                              </a:solidFill>
                              <a:latin typeface="Cambria Math" panose="02040503050406030204" pitchFamily="18" charset="0"/>
                            </a:rPr>
                            <m:t>𝑞</m:t>
                          </m:r>
                        </m:e>
                      </m:acc>
                      <m:r>
                        <a:rPr lang="en-US" sz="1800" b="1" i="0" kern="1200" smtClean="0">
                          <a:solidFill>
                            <a:schemeClr val="bg2"/>
                          </a:solidFill>
                          <a:latin typeface="Cambria Math" panose="02040503050406030204" pitchFamily="18" charset="0"/>
                        </a:rPr>
                        <m:t>𝐂</m:t>
                      </m:r>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2 .  32 + 1 .  162</m:t>
                          </m:r>
                        </m:num>
                        <m:den>
                          <m:r>
                            <a:rPr lang="en-ZA" sz="1800" b="1" kern="1200">
                              <a:solidFill>
                                <a:schemeClr val="bg2"/>
                              </a:solidFill>
                              <a:latin typeface="Cambria Math" panose="02040503050406030204" pitchFamily="18" charset="0"/>
                            </a:rPr>
                            <m:t>2 . 345</m:t>
                          </m:r>
                        </m:den>
                      </m:f>
                      <m:r>
                        <a:rPr lang="en-ZA" sz="1800" b="1" kern="1200">
                          <a:solidFill>
                            <a:schemeClr val="bg2"/>
                          </a:solidFill>
                          <a:latin typeface="Cambria Math" panose="02040503050406030204" pitchFamily="18" charset="0"/>
                        </a:rPr>
                        <m:t>≈0.3275</m:t>
                      </m:r>
                    </m:oMath>
                  </m:oMathPara>
                </a14:m>
                <a:endParaRPr lang="en-ZA" sz="1800" b="1" kern="1200" dirty="0">
                  <a:solidFill>
                    <a:schemeClr val="bg2"/>
                  </a:solidFill>
                  <a:latin typeface="Arial" panose="020B0604020202020204" pitchFamily="34" charset="0"/>
                  <a:cs typeface="Times New Roman" panose="02020603050405020304" pitchFamily="18" charset="0"/>
                </a:endParaRPr>
              </a:p>
            </p:txBody>
          </p:sp>
        </mc:Choice>
        <mc:Fallback>
          <p:sp>
            <p:nvSpPr>
              <p:cNvPr id="4" name="Content Placeholder 2">
                <a:extLst>
                  <a:ext uri="{FF2B5EF4-FFF2-40B4-BE49-F238E27FC236}">
                    <a16:creationId xmlns:a16="http://schemas.microsoft.com/office/drawing/2014/main" id="{A3C3DFEA-8EC1-40AC-9D3B-8477B1EADDF2}"/>
                  </a:ext>
                </a:extLst>
              </p:cNvPr>
              <p:cNvSpPr>
                <a:spLocks noGrp="1" noRot="1" noChangeAspect="1" noMove="1" noResize="1" noEditPoints="1" noAdjustHandles="1" noChangeArrowheads="1" noChangeShapeType="1" noTextEdit="1"/>
              </p:cNvSpPr>
              <p:nvPr>
                <p:ph idx="1"/>
              </p:nvPr>
            </p:nvSpPr>
            <p:spPr>
              <a:xfrm>
                <a:off x="203199" y="998921"/>
                <a:ext cx="8689009" cy="3652588"/>
              </a:xfrm>
              <a:blipFill>
                <a:blip r:embed="rId3"/>
                <a:stretch>
                  <a:fillRect l="-421" t="-1002" b="-3005"/>
                </a:stretch>
              </a:blipFill>
            </p:spPr>
            <p:txBody>
              <a:bodyPr/>
              <a:lstStyle/>
              <a:p>
                <a:r>
                  <a:rPr lang="en-US">
                    <a:noFill/>
                  </a:rPr>
                  <a:t> </a:t>
                </a:r>
              </a:p>
            </p:txBody>
          </p:sp>
        </mc:Fallback>
      </mc:AlternateContent>
    </p:spTree>
    <p:extLst>
      <p:ext uri="{BB962C8B-B14F-4D97-AF65-F5344CB8AC3E}">
        <p14:creationId xmlns:p14="http://schemas.microsoft.com/office/powerpoint/2010/main" val="21276478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54038" y="85344"/>
            <a:ext cx="898996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How to use R to estimate LD measures</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61E1DDD1-11FE-44F1-9C30-27C5FA34E6BB}"/>
                  </a:ext>
                </a:extLst>
              </p:cNvPr>
              <p:cNvSpPr>
                <a:spLocks noGrp="1"/>
              </p:cNvSpPr>
              <p:nvPr>
                <p:ph idx="1"/>
              </p:nvPr>
            </p:nvSpPr>
            <p:spPr>
              <a:xfrm>
                <a:off x="203200" y="773633"/>
                <a:ext cx="8781774" cy="5999023"/>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Measures of LD are important for biomedical research and are useful in a wide range of applications. Population geneticists calculate LD to assess population structure and population history and LD analysis can be employed to detect natural selection and estimate allelic age </a:t>
                </a:r>
              </a:p>
              <a:p>
                <a:r>
                  <a:rPr lang="en-ZA" sz="1800" i="1" kern="1200" dirty="0">
                    <a:solidFill>
                      <a:schemeClr val="bg2"/>
                    </a:solidFill>
                    <a:latin typeface="Arial" panose="020B0604020202020204" pitchFamily="34" charset="0"/>
                    <a:cs typeface="Times New Roman" panose="02020603050405020304" pitchFamily="18" charset="0"/>
                  </a:rPr>
                  <a:t>g</a:t>
                </a:r>
                <a:r>
                  <a:rPr lang="en-ZA" sz="1800" i="1" kern="1200" dirty="0" smtClean="0">
                    <a:solidFill>
                      <a:schemeClr val="bg2"/>
                    </a:solidFill>
                    <a:latin typeface="Arial" panose="020B0604020202020204" pitchFamily="34" charset="0"/>
                    <a:cs typeface="Times New Roman" panose="02020603050405020304" pitchFamily="18" charset="0"/>
                  </a:rPr>
                  <a:t>enetics</a:t>
                </a:r>
                <a:r>
                  <a:rPr lang="en-ZA" sz="1800" b="1" kern="1200" dirty="0" smtClean="0">
                    <a:solidFill>
                      <a:schemeClr val="bg2"/>
                    </a:solidFill>
                    <a:latin typeface="Arial" panose="020B0604020202020204" pitchFamily="34" charset="0"/>
                    <a:cs typeface="Times New Roman" panose="02020603050405020304" pitchFamily="18" charset="0"/>
                  </a:rPr>
                  <a:t> </a:t>
                </a:r>
                <a:r>
                  <a:rPr lang="en-ZA" sz="1800" b="1" kern="1200" dirty="0">
                    <a:solidFill>
                      <a:schemeClr val="bg2"/>
                    </a:solidFill>
                    <a:latin typeface="Arial" panose="020B0604020202020204" pitchFamily="34" charset="0"/>
                    <a:cs typeface="Times New Roman" panose="02020603050405020304" pitchFamily="18" charset="0"/>
                  </a:rPr>
                  <a:t>is an R package can be use to estimate the LD measures.</a:t>
                </a:r>
              </a:p>
              <a:p>
                <a:r>
                  <a:rPr lang="en-ZA" sz="1800" b="1" kern="1200" dirty="0">
                    <a:solidFill>
                      <a:schemeClr val="bg2"/>
                    </a:solidFill>
                    <a:latin typeface="Arial" panose="020B0604020202020204" pitchFamily="34" charset="0"/>
                    <a:cs typeface="Times New Roman" panose="02020603050405020304" pitchFamily="18" charset="0"/>
                  </a:rPr>
                  <a:t>Three estimators of LD are computed:</a:t>
                </a:r>
              </a:p>
              <a:p>
                <a:r>
                  <a:rPr lang="en-ZA" sz="1800" b="1" kern="1200" dirty="0">
                    <a:solidFill>
                      <a:schemeClr val="bg2"/>
                    </a:solidFill>
                    <a:latin typeface="Arial" panose="020B0604020202020204" pitchFamily="34" charset="0"/>
                    <a:cs typeface="Times New Roman" panose="02020603050405020304" pitchFamily="18" charset="0"/>
                  </a:rPr>
                  <a:t>D = raw difference in frequency between the observed number of AB pairs and the expected number:</a:t>
                </a:r>
              </a:p>
              <a:p>
                <a:pPr marL="0" indent="0">
                  <a:buNone/>
                </a:pPr>
                <a14:m>
                  <m:oMathPara xmlns:m="http://schemas.openxmlformats.org/officeDocument/2006/math">
                    <m:oMathParaPr>
                      <m:jc m:val="centerGroup"/>
                    </m:oMathParaPr>
                    <m:oMath xmlns:m="http://schemas.openxmlformats.org/officeDocument/2006/math">
                      <m:r>
                        <a:rPr lang="en-ZA" sz="1800" b="1" kern="1200">
                          <a:solidFill>
                            <a:schemeClr val="bg2"/>
                          </a:solidFill>
                          <a:latin typeface="Cambria Math" panose="02040503050406030204" pitchFamily="18" charset="0"/>
                        </a:rPr>
                        <m:t>𝐷</m:t>
                      </m:r>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𝐴𝐵</m:t>
                          </m:r>
                        </m:sub>
                      </m:sSub>
                      <m:r>
                        <a:rPr lang="en-ZA" sz="1800" b="1" kern="1200">
                          <a:solidFill>
                            <a:schemeClr val="bg2"/>
                          </a:solidFill>
                          <a:latin typeface="Cambria Math" panose="02040503050406030204" pitchFamily="18" charset="0"/>
                        </a:rPr>
                        <m:t> −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sub>
                      </m:sSub>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𝐵</m:t>
                          </m:r>
                        </m:sub>
                      </m:sSub>
                    </m:oMath>
                  </m:oMathPara>
                </a14:m>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D’ = scaled D spanning the range [-1,1]</a:t>
                </a:r>
              </a:p>
              <a:p>
                <a:pPr marL="0" indent="0">
                  <a:buNone/>
                </a:pPr>
                <a14:m>
                  <m:oMathPara xmlns:m="http://schemas.openxmlformats.org/officeDocument/2006/math">
                    <m:oMathParaPr>
                      <m:jc m:val="centerGroup"/>
                    </m:oMathParaPr>
                    <m:oMath xmlns:m="http://schemas.openxmlformats.org/officeDocument/2006/math">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𝐷</m:t>
                          </m:r>
                        </m:e>
                        <m:sup>
                          <m:r>
                            <a:rPr lang="en-ZA" sz="1800" b="1" kern="1200">
                              <a:solidFill>
                                <a:schemeClr val="bg2"/>
                              </a:solidFill>
                              <a:latin typeface="Cambria Math" panose="02040503050406030204" pitchFamily="18" charset="0"/>
                            </a:rPr>
                            <m:t>′</m:t>
                          </m:r>
                        </m:sup>
                      </m:sSup>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𝐷</m:t>
                          </m:r>
                        </m:num>
                        <m:den>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𝐷</m:t>
                              </m:r>
                            </m:e>
                            <m:sub>
                              <m:r>
                                <a:rPr lang="en-ZA" sz="1800" b="1" kern="1200">
                                  <a:solidFill>
                                    <a:schemeClr val="bg2"/>
                                  </a:solidFill>
                                  <a:latin typeface="Cambria Math" panose="02040503050406030204" pitchFamily="18" charset="0"/>
                                </a:rPr>
                                <m:t>𝑚𝑎𝑥</m:t>
                              </m:r>
                            </m:sub>
                          </m:sSub>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r>
                  <a:rPr lang="en-ZA" sz="1800" b="1" kern="1200" dirty="0">
                    <a:solidFill>
                      <a:schemeClr val="bg2"/>
                    </a:solidFill>
                    <a:latin typeface="Arial" panose="020B0604020202020204" pitchFamily="34" charset="0"/>
                    <a:cs typeface="Times New Roman" panose="02020603050405020304" pitchFamily="18" charset="0"/>
                  </a:rPr>
                  <a:t>where, if D &gt; 0 :</a:t>
                </a:r>
              </a:p>
              <a:p>
                <a:pPr marL="0" indent="0">
                  <a:buNone/>
                </a:pPr>
                <a14:m>
                  <m:oMathPara xmlns:m="http://schemas.openxmlformats.org/officeDocument/2006/math">
                    <m:oMathParaPr>
                      <m:jc m:val="centerGroup"/>
                    </m:oMathParaPr>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𝐷</m:t>
                          </m:r>
                        </m:e>
                        <m:sub>
                          <m:r>
                            <a:rPr lang="en-ZA" sz="1800" b="1" kern="1200">
                              <a:solidFill>
                                <a:schemeClr val="bg2"/>
                              </a:solidFill>
                              <a:latin typeface="Cambria Math" panose="02040503050406030204" pitchFamily="18" charset="0"/>
                            </a:rPr>
                            <m:t>𝑚𝑎𝑥</m:t>
                          </m:r>
                        </m:sub>
                      </m:sSub>
                      <m:r>
                        <a:rPr lang="en-ZA" sz="1800" b="1" kern="1200">
                          <a:solidFill>
                            <a:schemeClr val="bg2"/>
                          </a:solidFill>
                          <a:latin typeface="Cambria Math" panose="02040503050406030204" pitchFamily="18" charset="0"/>
                        </a:rPr>
                        <m:t>=</m:t>
                      </m:r>
                      <m:func>
                        <m:funcPr>
                          <m:ctrlPr>
                            <a:rPr lang="en-ZA" sz="1800" b="1" i="1" kern="1200">
                              <a:solidFill>
                                <a:schemeClr val="bg2"/>
                              </a:solidFill>
                              <a:latin typeface="Cambria Math" panose="02040503050406030204" pitchFamily="18" charset="0"/>
                            </a:rPr>
                          </m:ctrlPr>
                        </m:funcPr>
                        <m:fName>
                          <m:r>
                            <m:rPr>
                              <m:sty m:val="p"/>
                            </m:rPr>
                            <a:rPr lang="en-ZA" sz="1800" b="1" kern="1200">
                              <a:solidFill>
                                <a:schemeClr val="bg2"/>
                              </a:solidFill>
                              <a:latin typeface="Cambria Math" panose="02040503050406030204" pitchFamily="18" charset="0"/>
                            </a:rPr>
                            <m:t>min</m:t>
                          </m:r>
                        </m:fName>
                        <m:e>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sub>
                          </m:sSub>
                        </m:e>
                      </m:func>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𝑏</m:t>
                          </m:r>
                        </m:sub>
                      </m:sSub>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𝑎</m:t>
                          </m:r>
                        </m:sub>
                      </m:sSub>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𝐵</m:t>
                          </m:r>
                        </m:sub>
                      </m:sSub>
                      <m:r>
                        <a:rPr lang="en-ZA" sz="1800" b="1" kern="1200">
                          <a:solidFill>
                            <a:schemeClr val="bg2"/>
                          </a:solidFill>
                          <a:latin typeface="Cambria Math" panose="02040503050406030204" pitchFamily="18" charset="0"/>
                        </a:rPr>
                        <m:t>)</m:t>
                      </m:r>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r>
                  <a:rPr lang="en-ZA" sz="1800" b="1" kern="1200" dirty="0">
                    <a:solidFill>
                      <a:schemeClr val="bg2"/>
                    </a:solidFill>
                    <a:latin typeface="Arial" panose="020B0604020202020204" pitchFamily="34" charset="0"/>
                    <a:cs typeface="Times New Roman" panose="02020603050405020304" pitchFamily="18" charset="0"/>
                  </a:rPr>
                  <a:t>      or if D &lt; 0 : </a:t>
                </a:r>
              </a:p>
              <a:p>
                <a:pPr marL="0" indent="0">
                  <a:buNone/>
                </a:pPr>
                <a14:m>
                  <m:oMathPara xmlns:m="http://schemas.openxmlformats.org/officeDocument/2006/math">
                    <m:oMathParaPr>
                      <m:jc m:val="centerGroup"/>
                    </m:oMathParaPr>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𝐷</m:t>
                          </m:r>
                        </m:e>
                        <m:sub>
                          <m:r>
                            <a:rPr lang="en-ZA" sz="1800" b="1" kern="1200">
                              <a:solidFill>
                                <a:schemeClr val="bg2"/>
                              </a:solidFill>
                              <a:latin typeface="Cambria Math" panose="02040503050406030204" pitchFamily="18" charset="0"/>
                            </a:rPr>
                            <m:t>𝑚𝑎𝑥</m:t>
                          </m:r>
                        </m:sub>
                      </m:sSub>
                      <m:r>
                        <a:rPr lang="en-ZA" sz="1800" b="1" kern="1200">
                          <a:solidFill>
                            <a:schemeClr val="bg2"/>
                          </a:solidFill>
                          <a:latin typeface="Cambria Math" panose="02040503050406030204" pitchFamily="18" charset="0"/>
                        </a:rPr>
                        <m:t>=</m:t>
                      </m:r>
                      <m:func>
                        <m:funcPr>
                          <m:ctrlPr>
                            <a:rPr lang="en-ZA" sz="1800" b="1" i="1" kern="1200">
                              <a:solidFill>
                                <a:schemeClr val="bg2"/>
                              </a:solidFill>
                              <a:latin typeface="Cambria Math" panose="02040503050406030204" pitchFamily="18" charset="0"/>
                            </a:rPr>
                          </m:ctrlPr>
                        </m:funcPr>
                        <m:fName>
                          <m:r>
                            <m:rPr>
                              <m:sty m:val="p"/>
                            </m:rPr>
                            <a:rPr lang="en-ZA" sz="1800" b="1" kern="1200">
                              <a:solidFill>
                                <a:schemeClr val="bg2"/>
                              </a:solidFill>
                              <a:latin typeface="Cambria Math" panose="02040503050406030204" pitchFamily="18" charset="0"/>
                            </a:rPr>
                            <m:t>max</m:t>
                          </m:r>
                        </m:fName>
                        <m:e>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sub>
                          </m:sSub>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𝐵</m:t>
                              </m:r>
                            </m:sub>
                          </m:sSub>
                          <m:r>
                            <a:rPr lang="en-ZA" sz="1800" b="1" kern="1200">
                              <a:solidFill>
                                <a:schemeClr val="bg2"/>
                              </a:solidFill>
                              <a:latin typeface="Cambria Math" panose="02040503050406030204" pitchFamily="18" charset="0"/>
                            </a:rPr>
                            <m:t> ,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𝑎</m:t>
                              </m:r>
                            </m:sub>
                          </m:sSub>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𝑏</m:t>
                              </m:r>
                            </m:sub>
                          </m:sSub>
                          <m:r>
                            <a:rPr lang="en-ZA" sz="1800" b="1" kern="1200">
                              <a:solidFill>
                                <a:schemeClr val="bg2"/>
                              </a:solidFill>
                              <a:latin typeface="Cambria Math" panose="02040503050406030204" pitchFamily="18" charset="0"/>
                            </a:rPr>
                            <m:t>)</m:t>
                          </m:r>
                        </m:e>
                      </m:func>
                    </m:oMath>
                  </m:oMathPara>
                </a14:m>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r correlation coefficient between the markers</a:t>
                </a:r>
              </a:p>
              <a:p>
                <a:pPr marL="0" indent="0">
                  <a:buNone/>
                </a:pPr>
                <a14:m>
                  <m:oMathPara xmlns:m="http://schemas.openxmlformats.org/officeDocument/2006/math">
                    <m:oMathParaPr>
                      <m:jc m:val="centerGroup"/>
                    </m:oMathParaPr>
                    <m:oMath xmlns:m="http://schemas.openxmlformats.org/officeDocument/2006/math">
                      <m:r>
                        <a:rPr lang="en-ZA" sz="1800" b="1" kern="1200">
                          <a:solidFill>
                            <a:schemeClr val="bg2"/>
                          </a:solidFill>
                          <a:latin typeface="Cambria Math" panose="02040503050406030204" pitchFamily="18" charset="0"/>
                        </a:rPr>
                        <m:t>𝑟</m:t>
                      </m:r>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𝐷</m:t>
                          </m:r>
                        </m:num>
                        <m:den>
                          <m:rad>
                            <m:radPr>
                              <m:degHide m:val="on"/>
                              <m:ctrlPr>
                                <a:rPr lang="en-ZA" sz="1800" b="1" i="1" kern="1200">
                                  <a:solidFill>
                                    <a:schemeClr val="bg2"/>
                                  </a:solidFill>
                                  <a:latin typeface="Cambria Math" panose="02040503050406030204" pitchFamily="18" charset="0"/>
                                </a:rPr>
                              </m:ctrlPr>
                            </m:radPr>
                            <m:deg/>
                            <m:e>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sub>
                              </m:sSub>
                              <m:r>
                                <a:rPr lang="en-ZA" sz="1800" b="1" kern="1200">
                                  <a:solidFill>
                                    <a:schemeClr val="bg2"/>
                                  </a:solidFill>
                                  <a:latin typeface="Cambria Math" panose="02040503050406030204" pitchFamily="18" charset="0"/>
                                </a:rPr>
                                <m:t> ∗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𝑎</m:t>
                                  </m:r>
                                </m:sub>
                              </m:sSub>
                              <m:r>
                                <a:rPr lang="en-ZA" sz="1800" b="1" kern="1200">
                                  <a:solidFill>
                                    <a:schemeClr val="bg2"/>
                                  </a:solidFill>
                                  <a:latin typeface="Cambria Math" panose="02040503050406030204" pitchFamily="18" charset="0"/>
                                </a:rPr>
                                <m:t> ∗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𝐵</m:t>
                                  </m:r>
                                </m:sub>
                              </m:sSub>
                              <m:r>
                                <a:rPr lang="en-ZA" sz="1800" b="1" kern="1200">
                                  <a:solidFill>
                                    <a:schemeClr val="bg2"/>
                                  </a:solidFill>
                                  <a:latin typeface="Cambria Math" panose="02040503050406030204" pitchFamily="18" charset="0"/>
                                </a:rPr>
                                <m:t> ∗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𝑏</m:t>
                                  </m:r>
                                </m:sub>
                              </m:sSub>
                              <m:r>
                                <a:rPr lang="en-ZA" sz="1800" b="1" kern="1200">
                                  <a:solidFill>
                                    <a:schemeClr val="bg2"/>
                                  </a:solidFill>
                                  <a:latin typeface="Cambria Math" panose="02040503050406030204" pitchFamily="18" charset="0"/>
                                </a:rPr>
                                <m:t>)</m:t>
                              </m:r>
                            </m:e>
                          </m:rad>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p:txBody>
          </p:sp>
        </mc:Choice>
        <mc:Fallback xmlns="">
          <p:sp>
            <p:nvSpPr>
              <p:cNvPr id="6" name="Content Placeholder 2">
                <a:extLst>
                  <a:ext uri="{FF2B5EF4-FFF2-40B4-BE49-F238E27FC236}">
                    <a16:creationId xmlns:a16="http://schemas.microsoft.com/office/drawing/2014/main" id="{61E1DDD1-11FE-44F1-9C30-27C5FA34E6BB}"/>
                  </a:ext>
                </a:extLst>
              </p:cNvPr>
              <p:cNvSpPr>
                <a:spLocks noGrp="1" noRot="1" noChangeAspect="1" noMove="1" noResize="1" noEditPoints="1" noAdjustHandles="1" noChangeArrowheads="1" noChangeShapeType="1" noTextEdit="1"/>
              </p:cNvSpPr>
              <p:nvPr>
                <p:ph idx="1"/>
              </p:nvPr>
            </p:nvSpPr>
            <p:spPr>
              <a:xfrm>
                <a:off x="203200" y="773633"/>
                <a:ext cx="8781774" cy="5999023"/>
              </a:xfrm>
              <a:blipFill>
                <a:blip r:embed="rId3"/>
                <a:stretch>
                  <a:fillRect l="-555" t="-610"/>
                </a:stretch>
              </a:blipFill>
            </p:spPr>
            <p:txBody>
              <a:bodyPr/>
              <a:lstStyle/>
              <a:p>
                <a:r>
                  <a:rPr lang="en-US">
                    <a:noFill/>
                  </a:rPr>
                  <a:t> </a:t>
                </a:r>
              </a:p>
            </p:txBody>
          </p:sp>
        </mc:Fallback>
      </mc:AlternateContent>
    </p:spTree>
    <p:extLst>
      <p:ext uri="{BB962C8B-B14F-4D97-AF65-F5344CB8AC3E}">
        <p14:creationId xmlns:p14="http://schemas.microsoft.com/office/powerpoint/2010/main" val="18390281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54038" y="85344"/>
            <a:ext cx="8874545"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Example to estimate LD measures in R</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Content Placeholder 2">
            <a:extLst>
              <a:ext uri="{FF2B5EF4-FFF2-40B4-BE49-F238E27FC236}">
                <a16:creationId xmlns:a16="http://schemas.microsoft.com/office/drawing/2014/main" id="{61E1DDD1-11FE-44F1-9C30-27C5FA34E6BB}"/>
              </a:ext>
            </a:extLst>
          </p:cNvPr>
          <p:cNvSpPr>
            <a:spLocks noGrp="1"/>
          </p:cNvSpPr>
          <p:nvPr>
            <p:ph idx="1"/>
          </p:nvPr>
        </p:nvSpPr>
        <p:spPr>
          <a:xfrm>
            <a:off x="171707" y="998921"/>
            <a:ext cx="8747005" cy="5728450"/>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Measures of LD are important for biomedical research and are useful in a wide range of applications. Population geneticists calculate LD to assess population structure and population history and LD analysis can be e</a:t>
            </a:r>
            <a:r>
              <a:rPr lang="en-ZA" sz="1800" b="1" kern="1200" dirty="0" smtClean="0">
                <a:solidFill>
                  <a:schemeClr val="bg2"/>
                </a:solidFill>
                <a:latin typeface="Arial" panose="020B0604020202020204" pitchFamily="34" charset="0"/>
                <a:cs typeface="Times New Roman" panose="02020603050405020304" pitchFamily="18" charset="0"/>
              </a:rPr>
              <a:t>mployed </a:t>
            </a:r>
            <a:r>
              <a:rPr lang="en-ZA" sz="1800" b="1" kern="1200" dirty="0">
                <a:solidFill>
                  <a:schemeClr val="bg2"/>
                </a:solidFill>
                <a:latin typeface="Arial" panose="020B0604020202020204" pitchFamily="34" charset="0"/>
                <a:cs typeface="Times New Roman" panose="02020603050405020304" pitchFamily="18" charset="0"/>
              </a:rPr>
              <a:t>to detect natural selection and estimate allelic </a:t>
            </a:r>
            <a:r>
              <a:rPr lang="en-ZA" sz="1800" b="1" kern="1200" dirty="0" smtClean="0">
                <a:solidFill>
                  <a:schemeClr val="bg2"/>
                </a:solidFill>
                <a:latin typeface="Arial" panose="020B0604020202020204" pitchFamily="34" charset="0"/>
                <a:cs typeface="Times New Roman" panose="02020603050405020304" pitchFamily="18" charset="0"/>
              </a:rPr>
              <a:t>age</a:t>
            </a:r>
          </a:p>
          <a:p>
            <a:pPr lvl="0">
              <a:buClr>
                <a:srgbClr val="00FFFF"/>
              </a:buClr>
            </a:pPr>
            <a:r>
              <a:rPr lang="en-ZA" sz="1800" b="1" i="1" kern="1200" dirty="0" smtClean="0">
                <a:solidFill>
                  <a:schemeClr val="bg2"/>
                </a:solidFill>
                <a:latin typeface="Arial" panose="020B0604020202020204" pitchFamily="34" charset="0"/>
                <a:cs typeface="Times New Roman" panose="02020603050405020304" pitchFamily="18" charset="0"/>
              </a:rPr>
              <a:t> </a:t>
            </a:r>
            <a:r>
              <a:rPr lang="en-ZA" sz="1400" i="1" kern="1200" dirty="0">
                <a:solidFill>
                  <a:srgbClr val="000000"/>
                </a:solidFill>
                <a:latin typeface="Arial" panose="020B0604020202020204" pitchFamily="34" charset="0"/>
                <a:cs typeface="Times New Roman" panose="02020603050405020304" pitchFamily="18" charset="0"/>
              </a:rPr>
              <a:t># NOT RUN {</a:t>
            </a: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g1 &lt;- genotype( c('T/A',    NA, 'T/T',    NA, 'T/A',    NA, 'T/T', 'T/A',</a:t>
            </a: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                  'T/T', 'T/T', 'T/A', 'A/A', 'T/T', 'T/A', 'T/A', 'T/T',</a:t>
            </a: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                     NA, 'T/A', 'T/A',   NA) </a:t>
            </a:r>
            <a:r>
              <a:rPr lang="en-ZA" sz="1400" i="1" kern="1200" dirty="0" smtClean="0">
                <a:solidFill>
                  <a:srgbClr val="000000"/>
                </a:solidFill>
                <a:latin typeface="Arial" panose="020B0604020202020204" pitchFamily="34" charset="0"/>
                <a:cs typeface="Times New Roman" panose="02020603050405020304" pitchFamily="18" charset="0"/>
              </a:rPr>
              <a:t>)</a:t>
            </a:r>
            <a:endParaRPr lang="en-ZA" sz="1400" i="1" kern="1200" dirty="0">
              <a:solidFill>
                <a:srgbClr val="000000"/>
              </a:solidFill>
              <a:latin typeface="Arial" panose="020B0604020202020204" pitchFamily="34" charset="0"/>
              <a:cs typeface="Times New Roman" panose="02020603050405020304" pitchFamily="18" charset="0"/>
            </a:endParaRP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g2 &lt;- genotype( c('C/A', 'C/A', 'C/C', 'C/A', 'C/C', 'C/A', 'C/A', 'C/A',</a:t>
            </a: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                  'C/A', 'C/C', 'C/A', 'A/A', 'C/A', 'A/A', 'C/A', 'C/C',</a:t>
            </a: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                  'C/A', 'C/A', 'C/A', 'A/A') </a:t>
            </a:r>
            <a:r>
              <a:rPr lang="en-ZA" sz="1400" i="1" kern="1200" dirty="0" smtClean="0">
                <a:solidFill>
                  <a:srgbClr val="000000"/>
                </a:solidFill>
                <a:latin typeface="Arial" panose="020B0604020202020204" pitchFamily="34" charset="0"/>
                <a:cs typeface="Times New Roman" panose="02020603050405020304" pitchFamily="18" charset="0"/>
              </a:rPr>
              <a:t>)</a:t>
            </a:r>
            <a:endParaRPr lang="en-ZA" sz="1400" i="1" kern="1200" dirty="0">
              <a:solidFill>
                <a:srgbClr val="000000"/>
              </a:solidFill>
              <a:latin typeface="Arial" panose="020B0604020202020204" pitchFamily="34" charset="0"/>
              <a:cs typeface="Times New Roman" panose="02020603050405020304" pitchFamily="18" charset="0"/>
            </a:endParaRP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g3 &lt;- genotype( c('T/A', 'T/A', 'T/T', 'T/A', 'T/T', 'T/A', 'T/A', 'T/A',</a:t>
            </a: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                  'T/A', 'T/T', 'T/A', 'T/T', 'T/A', 'T/A', 'T/A', 'T/T',</a:t>
            </a: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                  'T/A', 'T/A', 'T/A', 'T/T') </a:t>
            </a:r>
            <a:r>
              <a:rPr lang="en-ZA" sz="1400" i="1" kern="1200" dirty="0" smtClean="0">
                <a:solidFill>
                  <a:srgbClr val="000000"/>
                </a:solidFill>
                <a:latin typeface="Arial" panose="020B0604020202020204" pitchFamily="34" charset="0"/>
                <a:cs typeface="Times New Roman" panose="02020603050405020304" pitchFamily="18" charset="0"/>
              </a:rPr>
              <a:t>)</a:t>
            </a:r>
          </a:p>
          <a:p>
            <a:pPr lvl="0">
              <a:buClr>
                <a:srgbClr val="00FFFF"/>
              </a:buClr>
            </a:pPr>
            <a:endParaRPr lang="en-ZA" sz="1400" i="1" kern="1200" dirty="0">
              <a:solidFill>
                <a:srgbClr val="000000"/>
              </a:solidFill>
              <a:latin typeface="Arial" panose="020B0604020202020204" pitchFamily="34" charset="0"/>
              <a:cs typeface="Times New Roman" panose="02020603050405020304" pitchFamily="18" charset="0"/>
            </a:endParaRP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 Compute LD on a single </a:t>
            </a:r>
            <a:r>
              <a:rPr lang="en-ZA" sz="1400" i="1" kern="1200" dirty="0" smtClean="0">
                <a:solidFill>
                  <a:srgbClr val="000000"/>
                </a:solidFill>
                <a:latin typeface="Arial" panose="020B0604020202020204" pitchFamily="34" charset="0"/>
                <a:cs typeface="Times New Roman" panose="02020603050405020304" pitchFamily="18" charset="0"/>
              </a:rPr>
              <a:t>pair</a:t>
            </a:r>
            <a:endParaRPr lang="en-ZA" sz="1400" i="1" kern="1200" dirty="0">
              <a:solidFill>
                <a:srgbClr val="000000"/>
              </a:solidFill>
              <a:latin typeface="Arial" panose="020B0604020202020204" pitchFamily="34" charset="0"/>
              <a:cs typeface="Times New Roman" panose="02020603050405020304" pitchFamily="18" charset="0"/>
            </a:endParaRP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LD(g1,g2</a:t>
            </a:r>
            <a:r>
              <a:rPr lang="en-ZA" sz="1400" i="1" kern="1200" dirty="0" smtClean="0">
                <a:solidFill>
                  <a:srgbClr val="000000"/>
                </a:solidFill>
                <a:latin typeface="Arial" panose="020B0604020202020204" pitchFamily="34" charset="0"/>
                <a:cs typeface="Times New Roman" panose="02020603050405020304" pitchFamily="18" charset="0"/>
              </a:rPr>
              <a:t>)</a:t>
            </a:r>
          </a:p>
          <a:p>
            <a:pPr lvl="0">
              <a:buClr>
                <a:srgbClr val="00FFFF"/>
              </a:buClr>
            </a:pPr>
            <a:endParaRPr lang="en-ZA" sz="1400" i="1" kern="1200" dirty="0">
              <a:solidFill>
                <a:srgbClr val="000000"/>
              </a:solidFill>
              <a:latin typeface="Arial" panose="020B0604020202020204" pitchFamily="34" charset="0"/>
              <a:cs typeface="Times New Roman" panose="02020603050405020304" pitchFamily="18" charset="0"/>
            </a:endParaRP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 Compute LD table for all 3 </a:t>
            </a:r>
            <a:r>
              <a:rPr lang="en-ZA" sz="1400" i="1" kern="1200" dirty="0" smtClean="0">
                <a:solidFill>
                  <a:srgbClr val="000000"/>
                </a:solidFill>
                <a:latin typeface="Arial" panose="020B0604020202020204" pitchFamily="34" charset="0"/>
                <a:cs typeface="Times New Roman" panose="02020603050405020304" pitchFamily="18" charset="0"/>
              </a:rPr>
              <a:t>genotypes</a:t>
            </a:r>
            <a:endParaRPr lang="en-ZA" sz="1400" i="1" kern="1200" dirty="0">
              <a:solidFill>
                <a:srgbClr val="000000"/>
              </a:solidFill>
              <a:latin typeface="Arial" panose="020B0604020202020204" pitchFamily="34" charset="0"/>
              <a:cs typeface="Times New Roman" panose="02020603050405020304" pitchFamily="18" charset="0"/>
            </a:endParaRP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data &lt;- </a:t>
            </a:r>
            <a:r>
              <a:rPr lang="en-ZA" sz="1400" i="1" kern="1200" dirty="0" err="1">
                <a:solidFill>
                  <a:srgbClr val="000000"/>
                </a:solidFill>
                <a:latin typeface="Arial" panose="020B0604020202020204" pitchFamily="34" charset="0"/>
                <a:cs typeface="Times New Roman" panose="02020603050405020304" pitchFamily="18" charset="0"/>
              </a:rPr>
              <a:t>makeGenotypes</a:t>
            </a:r>
            <a:r>
              <a:rPr lang="en-ZA" sz="1400" i="1" kern="1200" dirty="0">
                <a:solidFill>
                  <a:srgbClr val="000000"/>
                </a:solidFill>
                <a:latin typeface="Arial" panose="020B0604020202020204" pitchFamily="34" charset="0"/>
                <a:cs typeface="Times New Roman" panose="02020603050405020304" pitchFamily="18" charset="0"/>
              </a:rPr>
              <a:t>(</a:t>
            </a:r>
            <a:r>
              <a:rPr lang="en-ZA" sz="1400" i="1" kern="1200" dirty="0" err="1">
                <a:solidFill>
                  <a:srgbClr val="000000"/>
                </a:solidFill>
                <a:latin typeface="Arial" panose="020B0604020202020204" pitchFamily="34" charset="0"/>
                <a:cs typeface="Times New Roman" panose="02020603050405020304" pitchFamily="18" charset="0"/>
              </a:rPr>
              <a:t>data.frame</a:t>
            </a:r>
            <a:r>
              <a:rPr lang="en-ZA" sz="1400" i="1" kern="1200" dirty="0">
                <a:solidFill>
                  <a:srgbClr val="000000"/>
                </a:solidFill>
                <a:latin typeface="Arial" panose="020B0604020202020204" pitchFamily="34" charset="0"/>
                <a:cs typeface="Times New Roman" panose="02020603050405020304" pitchFamily="18" charset="0"/>
              </a:rPr>
              <a:t>(g1,g2,g3))</a:t>
            </a:r>
          </a:p>
          <a:p>
            <a:pPr lvl="0">
              <a:buClr>
                <a:srgbClr val="00FFFF"/>
              </a:buClr>
            </a:pPr>
            <a:r>
              <a:rPr lang="en-ZA" sz="1400" i="1" kern="1200" dirty="0">
                <a:solidFill>
                  <a:srgbClr val="000000"/>
                </a:solidFill>
                <a:latin typeface="Arial" panose="020B0604020202020204" pitchFamily="34" charset="0"/>
                <a:cs typeface="Times New Roman" panose="02020603050405020304" pitchFamily="18" charset="0"/>
              </a:rPr>
              <a:t>LD(data)</a:t>
            </a:r>
          </a:p>
          <a:p>
            <a:endParaRPr lang="en-ZA" sz="1800" b="1" kern="1200" dirty="0">
              <a:solidFill>
                <a:schemeClr val="bg2"/>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22127796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250340" y="182217"/>
            <a:ext cx="9635972" cy="5078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gn="ctr">
              <a:lnSpc>
                <a:spcPct val="90000"/>
              </a:lnSpc>
              <a:spcBef>
                <a:spcPct val="55000"/>
              </a:spcBef>
              <a:spcAft>
                <a:spcPct val="45000"/>
              </a:spcAft>
            </a:pPr>
            <a:r>
              <a:rPr lang="en-US" altLang="en-US" sz="3000" dirty="0">
                <a:latin typeface="Comic Sans MS" panose="030F0702030302020204" pitchFamily="66" charset="0"/>
                <a:cs typeface="Times New Roman" panose="02020603050405020304" pitchFamily="18" charset="0"/>
              </a:rPr>
              <a:t>               Association for Unrelated Individuals</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115B6E3D-2239-46BB-BADB-AF8940F97293}"/>
              </a:ext>
            </a:extLst>
          </p:cNvPr>
          <p:cNvSpPr>
            <a:spLocks noGrp="1"/>
          </p:cNvSpPr>
          <p:nvPr>
            <p:ph idx="1"/>
          </p:nvPr>
        </p:nvSpPr>
        <p:spPr>
          <a:xfrm>
            <a:off x="203200" y="879651"/>
            <a:ext cx="8789968" cy="5587410"/>
          </a:xfrm>
        </p:spPr>
        <p:txBody>
          <a:bodyPr/>
          <a:lstStyle/>
          <a:p>
            <a:r>
              <a:rPr lang="en-ZA" sz="1400" b="1" kern="1200" dirty="0">
                <a:solidFill>
                  <a:schemeClr val="bg2"/>
                </a:solidFill>
                <a:latin typeface="Arial" panose="020B0604020202020204" pitchFamily="34" charset="0"/>
                <a:cs typeface="Times New Roman" panose="02020603050405020304" pitchFamily="18" charset="0"/>
              </a:rPr>
              <a:t>Here we described in detail the principle of genetic association as well as concepts and measures of linkage disequilibrium (LD</a:t>
            </a:r>
            <a:r>
              <a:rPr lang="en-ZA" sz="1400" b="1" kern="1200" dirty="0" smtClean="0">
                <a:solidFill>
                  <a:schemeClr val="bg2"/>
                </a:solidFill>
                <a:latin typeface="Arial" panose="020B0604020202020204" pitchFamily="34" charset="0"/>
                <a:cs typeface="Times New Roman" panose="02020603050405020304" pitchFamily="18" charset="0"/>
              </a:rPr>
              <a:t>).</a:t>
            </a:r>
          </a:p>
          <a:p>
            <a:endParaRPr lang="en-ZA" sz="1400" b="1" kern="1200" dirty="0">
              <a:solidFill>
                <a:schemeClr val="bg2"/>
              </a:solidFill>
              <a:latin typeface="Arial" panose="020B0604020202020204" pitchFamily="34" charset="0"/>
              <a:cs typeface="Times New Roman" panose="02020603050405020304" pitchFamily="18" charset="0"/>
            </a:endParaRPr>
          </a:p>
          <a:p>
            <a:r>
              <a:rPr lang="en-ZA" sz="1400" b="1" kern="1200" dirty="0">
                <a:solidFill>
                  <a:schemeClr val="bg2"/>
                </a:solidFill>
                <a:latin typeface="Arial" panose="020B0604020202020204" pitchFamily="34" charset="0"/>
                <a:cs typeface="Times New Roman" panose="02020603050405020304" pitchFamily="18" charset="0"/>
              </a:rPr>
              <a:t>We will focus on studies utilizing data from unrelated individuals in a case-control or a cohort study design</a:t>
            </a:r>
            <a:r>
              <a:rPr lang="en-ZA" sz="1400" b="1" kern="1200" dirty="0" smtClean="0">
                <a:solidFill>
                  <a:schemeClr val="bg2"/>
                </a:solidFill>
                <a:latin typeface="Arial" panose="020B0604020202020204" pitchFamily="34" charset="0"/>
                <a:cs typeface="Times New Roman" panose="02020603050405020304" pitchFamily="18" charset="0"/>
              </a:rPr>
              <a:t>.</a:t>
            </a:r>
          </a:p>
          <a:p>
            <a:endParaRPr lang="en-ZA" sz="1400" b="1" kern="1200" dirty="0">
              <a:solidFill>
                <a:schemeClr val="bg2"/>
              </a:solidFill>
              <a:latin typeface="Arial" panose="020B0604020202020204" pitchFamily="34" charset="0"/>
              <a:cs typeface="Times New Roman" panose="02020603050405020304" pitchFamily="18" charset="0"/>
            </a:endParaRPr>
          </a:p>
          <a:p>
            <a:r>
              <a:rPr lang="en-ZA" sz="1400" b="1" kern="1200" dirty="0">
                <a:solidFill>
                  <a:schemeClr val="bg2"/>
                </a:solidFill>
                <a:latin typeface="Arial" panose="020B0604020202020204" pitchFamily="34" charset="0"/>
                <a:cs typeface="Times New Roman" panose="02020603050405020304" pitchFamily="18" charset="0"/>
              </a:rPr>
              <a:t>The selection of individuals for an association study should be guided by the overall aim of the study. Basically, case-control and cohort studies are performed in three stages that can be distinguished</a:t>
            </a:r>
            <a:r>
              <a:rPr lang="en-ZA" sz="1400" b="1" kern="1200" dirty="0" smtClean="0">
                <a:solidFill>
                  <a:schemeClr val="bg2"/>
                </a:solidFill>
                <a:latin typeface="Arial" panose="020B0604020202020204" pitchFamily="34" charset="0"/>
                <a:cs typeface="Times New Roman" panose="02020603050405020304" pitchFamily="18" charset="0"/>
              </a:rPr>
              <a:t>:</a:t>
            </a:r>
          </a:p>
          <a:p>
            <a:endParaRPr lang="en-ZA" sz="1400" b="1" kern="1200" dirty="0">
              <a:solidFill>
                <a:schemeClr val="bg2"/>
              </a:solidFill>
              <a:latin typeface="Arial" panose="020B0604020202020204" pitchFamily="34" charset="0"/>
              <a:cs typeface="Times New Roman" panose="02020603050405020304" pitchFamily="18" charset="0"/>
            </a:endParaRPr>
          </a:p>
          <a:p>
            <a:pPr marL="342900" lvl="2" indent="-342900">
              <a:buFont typeface="+mj-lt"/>
              <a:buChar char="•"/>
            </a:pPr>
            <a:r>
              <a:rPr lang="en-ZA" sz="1400" b="1" kern="1200" dirty="0">
                <a:solidFill>
                  <a:schemeClr val="bg2"/>
                </a:solidFill>
                <a:latin typeface="Arial" panose="020B0604020202020204" pitchFamily="34" charset="0"/>
                <a:ea typeface="+mn-ea"/>
                <a:cs typeface="Times New Roman" panose="02020603050405020304" pitchFamily="18" charset="0"/>
              </a:rPr>
              <a:t>In the first stage, one is interested in identifying genetic variants that are associated with the disease. Hence, one is interested in selecting cases and controls so as to maximize the effect of the genetic variant</a:t>
            </a:r>
            <a:r>
              <a:rPr lang="en-ZA" sz="1400" b="1" kern="1200" dirty="0" smtClean="0">
                <a:solidFill>
                  <a:schemeClr val="bg2"/>
                </a:solidFill>
                <a:latin typeface="Arial" panose="020B0604020202020204" pitchFamily="34" charset="0"/>
                <a:ea typeface="+mn-ea"/>
                <a:cs typeface="Times New Roman" panose="02020603050405020304" pitchFamily="18" charset="0"/>
              </a:rPr>
              <a:t>.</a:t>
            </a:r>
          </a:p>
          <a:p>
            <a:pPr marL="342900" lvl="2" indent="-342900">
              <a:buFont typeface="+mj-lt"/>
              <a:buChar char="•"/>
            </a:pPr>
            <a:endParaRPr lang="en-ZA" sz="1400" b="1" kern="1200" dirty="0">
              <a:solidFill>
                <a:schemeClr val="bg2"/>
              </a:solidFill>
              <a:latin typeface="Arial" panose="020B0604020202020204" pitchFamily="34" charset="0"/>
              <a:ea typeface="+mn-ea"/>
              <a:cs typeface="Times New Roman" panose="02020603050405020304" pitchFamily="18" charset="0"/>
            </a:endParaRPr>
          </a:p>
          <a:p>
            <a:pPr marL="342900" lvl="2" indent="-342900">
              <a:buFont typeface="+mj-lt"/>
              <a:buChar char="•"/>
            </a:pPr>
            <a:r>
              <a:rPr lang="en-ZA" sz="1400" b="1" kern="1200" dirty="0">
                <a:solidFill>
                  <a:schemeClr val="bg2"/>
                </a:solidFill>
                <a:latin typeface="Arial" panose="020B0604020202020204" pitchFamily="34" charset="0"/>
                <a:ea typeface="+mn-ea"/>
                <a:cs typeface="Times New Roman" panose="02020603050405020304" pitchFamily="18" charset="0"/>
              </a:rPr>
              <a:t>In the second stage, investigators may be interested in how different genetic and/or environmental factors act together and form the basis for a prognosis. Here, population-based studies may be preferred to the analysis of extreme groups</a:t>
            </a:r>
            <a:r>
              <a:rPr lang="en-ZA" sz="1400" b="1" kern="1200" dirty="0" smtClean="0">
                <a:solidFill>
                  <a:schemeClr val="bg2"/>
                </a:solidFill>
                <a:latin typeface="Arial" panose="020B0604020202020204" pitchFamily="34" charset="0"/>
                <a:ea typeface="+mn-ea"/>
                <a:cs typeface="Times New Roman" panose="02020603050405020304" pitchFamily="18" charset="0"/>
              </a:rPr>
              <a:t>.</a:t>
            </a:r>
          </a:p>
          <a:p>
            <a:pPr marL="342900" lvl="2" indent="-342900">
              <a:buFont typeface="+mj-lt"/>
              <a:buChar char="•"/>
            </a:pPr>
            <a:endParaRPr lang="en-ZA" sz="1400" b="1" kern="1200" dirty="0">
              <a:solidFill>
                <a:schemeClr val="bg2"/>
              </a:solidFill>
              <a:latin typeface="Arial" panose="020B0604020202020204" pitchFamily="34" charset="0"/>
              <a:ea typeface="+mn-ea"/>
              <a:cs typeface="Times New Roman" panose="02020603050405020304" pitchFamily="18" charset="0"/>
            </a:endParaRPr>
          </a:p>
          <a:p>
            <a:pPr marL="342900" lvl="2" indent="-342900">
              <a:buFont typeface="+mj-lt"/>
              <a:buChar char="•"/>
            </a:pPr>
            <a:r>
              <a:rPr lang="en-ZA" sz="1400" b="1" kern="1200" dirty="0">
                <a:solidFill>
                  <a:schemeClr val="bg2"/>
                </a:solidFill>
                <a:latin typeface="Arial" panose="020B0604020202020204" pitchFamily="34" charset="0"/>
                <a:ea typeface="+mn-ea"/>
                <a:cs typeface="Times New Roman" panose="02020603050405020304" pitchFamily="18" charset="0"/>
              </a:rPr>
              <a:t>The final stage is concerned with an exact quantification of the genetic risk of a genetic locus or a specific variant.</a:t>
            </a:r>
          </a:p>
          <a:p>
            <a:pPr marL="342900" lvl="1" indent="-342900">
              <a:buFont typeface="+mj-lt"/>
              <a:buChar char="•"/>
            </a:pPr>
            <a:r>
              <a:rPr lang="en-ZA" sz="1400" b="1" kern="1200" dirty="0">
                <a:solidFill>
                  <a:schemeClr val="bg2"/>
                </a:solidFill>
                <a:latin typeface="Arial" panose="020B0604020202020204" pitchFamily="34" charset="0"/>
                <a:ea typeface="+mn-ea"/>
                <a:cs typeface="Times New Roman" panose="02020603050405020304" pitchFamily="18" charset="0"/>
              </a:rPr>
              <a:t>Because adjustments for sample selection are problematic, cohort studies are the design of choice. In the following, we focus on the first step, where a sample selection is performed to enrich the study groups for the disease-causing variant.</a:t>
            </a:r>
          </a:p>
        </p:txBody>
      </p:sp>
    </p:spTree>
    <p:extLst>
      <p:ext uri="{BB962C8B-B14F-4D97-AF65-F5344CB8AC3E}">
        <p14:creationId xmlns:p14="http://schemas.microsoft.com/office/powerpoint/2010/main" val="12381725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69192" y="85344"/>
            <a:ext cx="9066906"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How can genetic association be tested?</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F7CFC043-1521-4263-8232-EB360D97AD80}"/>
              </a:ext>
            </a:extLst>
          </p:cNvPr>
          <p:cNvSpPr>
            <a:spLocks noGrp="1"/>
          </p:cNvSpPr>
          <p:nvPr>
            <p:ph idx="1"/>
          </p:nvPr>
        </p:nvSpPr>
        <p:spPr>
          <a:xfrm>
            <a:off x="169192" y="879651"/>
            <a:ext cx="8823976" cy="2340625"/>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Because even in a cohort study, affected individuals eventually will be compared with </a:t>
            </a:r>
            <a:r>
              <a:rPr lang="en-ZA" sz="1800" b="1" kern="1200" dirty="0" err="1">
                <a:solidFill>
                  <a:schemeClr val="bg2"/>
                </a:solidFill>
                <a:latin typeface="Arial" panose="020B0604020202020204" pitchFamily="34" charset="0"/>
                <a:cs typeface="Times New Roman" panose="02020603050405020304" pitchFamily="18" charset="0"/>
              </a:rPr>
              <a:t>unaffecteds</a:t>
            </a:r>
            <a:r>
              <a:rPr lang="en-ZA" sz="1800" b="1" kern="1200" dirty="0">
                <a:solidFill>
                  <a:schemeClr val="bg2"/>
                </a:solidFill>
                <a:latin typeface="Arial" panose="020B0604020202020204" pitchFamily="34" charset="0"/>
                <a:cs typeface="Times New Roman" panose="02020603050405020304" pitchFamily="18" charset="0"/>
              </a:rPr>
              <a:t>, for simplicity we will use the terms cases and controls regardless of the study design employed in this section.</a:t>
            </a:r>
          </a:p>
          <a:p>
            <a:r>
              <a:rPr lang="en-ZA" sz="1800" b="1" kern="1200" dirty="0">
                <a:solidFill>
                  <a:schemeClr val="bg2"/>
                </a:solidFill>
                <a:latin typeface="Arial" panose="020B0604020202020204" pitchFamily="34" charset="0"/>
                <a:cs typeface="Times New Roman" panose="02020603050405020304" pitchFamily="18" charset="0"/>
              </a:rPr>
              <a:t>The starting point for tests on genetic association is that a sample of cases and controls has been genotyped at a genetic marker. When considering a diallelic marker locus with alleles A and a, with a being the wild-type and A the mutated variant, the notation that will be used is shown in see the following table.</a:t>
            </a:r>
          </a:p>
        </p:txBody>
      </p:sp>
      <p:graphicFrame>
        <p:nvGraphicFramePr>
          <p:cNvPr id="2" name="Table 2">
            <a:extLst>
              <a:ext uri="{FF2B5EF4-FFF2-40B4-BE49-F238E27FC236}">
                <a16:creationId xmlns:a16="http://schemas.microsoft.com/office/drawing/2014/main" id="{967A6DCF-8164-4E86-B2AE-17160FA1ACDA}"/>
              </a:ext>
            </a:extLst>
          </p:cNvPr>
          <p:cNvGraphicFramePr>
            <a:graphicFrameLocks noGrp="1"/>
          </p:cNvGraphicFramePr>
          <p:nvPr>
            <p:extLst>
              <p:ext uri="{D42A27DB-BD31-4B8C-83A1-F6EECF244321}">
                <p14:modId xmlns:p14="http://schemas.microsoft.com/office/powerpoint/2010/main" val="3429637900"/>
              </p:ext>
            </p:extLst>
          </p:nvPr>
        </p:nvGraphicFramePr>
        <p:xfrm>
          <a:off x="1422400" y="3423651"/>
          <a:ext cx="6096000" cy="14833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658043065"/>
                    </a:ext>
                  </a:extLst>
                </a:gridCol>
                <a:gridCol w="1219200">
                  <a:extLst>
                    <a:ext uri="{9D8B030D-6E8A-4147-A177-3AD203B41FA5}">
                      <a16:colId xmlns:a16="http://schemas.microsoft.com/office/drawing/2014/main" val="3450332069"/>
                    </a:ext>
                  </a:extLst>
                </a:gridCol>
                <a:gridCol w="1219200">
                  <a:extLst>
                    <a:ext uri="{9D8B030D-6E8A-4147-A177-3AD203B41FA5}">
                      <a16:colId xmlns:a16="http://schemas.microsoft.com/office/drawing/2014/main" val="2271518847"/>
                    </a:ext>
                  </a:extLst>
                </a:gridCol>
                <a:gridCol w="1219200">
                  <a:extLst>
                    <a:ext uri="{9D8B030D-6E8A-4147-A177-3AD203B41FA5}">
                      <a16:colId xmlns:a16="http://schemas.microsoft.com/office/drawing/2014/main" val="2867451770"/>
                    </a:ext>
                  </a:extLst>
                </a:gridCol>
                <a:gridCol w="1219200">
                  <a:extLst>
                    <a:ext uri="{9D8B030D-6E8A-4147-A177-3AD203B41FA5}">
                      <a16:colId xmlns:a16="http://schemas.microsoft.com/office/drawing/2014/main" val="2772653657"/>
                    </a:ext>
                  </a:extLst>
                </a:gridCol>
              </a:tblGrid>
              <a:tr h="370840">
                <a:tc>
                  <a:txBody>
                    <a:bodyPr/>
                    <a:lstStyle/>
                    <a:p>
                      <a:endParaRPr lang="en-ZA"/>
                    </a:p>
                  </a:txBody>
                  <a:tcPr/>
                </a:tc>
                <a:tc>
                  <a:txBody>
                    <a:bodyPr/>
                    <a:lstStyle/>
                    <a:p>
                      <a:pPr algn="ctr"/>
                      <a:r>
                        <a:rPr lang="en-ZA" dirty="0"/>
                        <a:t>AA</a:t>
                      </a:r>
                    </a:p>
                  </a:txBody>
                  <a:tcPr/>
                </a:tc>
                <a:tc>
                  <a:txBody>
                    <a:bodyPr/>
                    <a:lstStyle/>
                    <a:p>
                      <a:pPr algn="ctr"/>
                      <a:r>
                        <a:rPr lang="en-ZA" dirty="0" err="1"/>
                        <a:t>aA</a:t>
                      </a:r>
                      <a:endParaRPr lang="en-ZA" dirty="0"/>
                    </a:p>
                  </a:txBody>
                  <a:tcPr/>
                </a:tc>
                <a:tc>
                  <a:txBody>
                    <a:bodyPr/>
                    <a:lstStyle/>
                    <a:p>
                      <a:pPr algn="ctr"/>
                      <a:r>
                        <a:rPr lang="en-ZA" dirty="0"/>
                        <a:t>a</a:t>
                      </a:r>
                      <a:r>
                        <a:rPr lang="en-ZA" dirty="0" smtClean="0"/>
                        <a:t>a</a:t>
                      </a:r>
                      <a:endParaRPr lang="en-ZA" dirty="0"/>
                    </a:p>
                  </a:txBody>
                  <a:tcPr/>
                </a:tc>
                <a:tc>
                  <a:txBody>
                    <a:bodyPr/>
                    <a:lstStyle/>
                    <a:p>
                      <a:pPr algn="ctr"/>
                      <a:r>
                        <a:rPr lang="en-ZA" dirty="0"/>
                        <a:t>Total</a:t>
                      </a:r>
                    </a:p>
                  </a:txBody>
                  <a:tcPr/>
                </a:tc>
                <a:extLst>
                  <a:ext uri="{0D108BD9-81ED-4DB2-BD59-A6C34878D82A}">
                    <a16:rowId xmlns:a16="http://schemas.microsoft.com/office/drawing/2014/main" val="2918076926"/>
                  </a:ext>
                </a:extLst>
              </a:tr>
              <a:tr h="370840">
                <a:tc>
                  <a:txBody>
                    <a:bodyPr/>
                    <a:lstStyle/>
                    <a:p>
                      <a:r>
                        <a:rPr lang="en-ZA" dirty="0"/>
                        <a:t>Cases</a:t>
                      </a:r>
                    </a:p>
                  </a:txBody>
                  <a:tcPr/>
                </a:tc>
                <a:tc>
                  <a:txBody>
                    <a:bodyPr/>
                    <a:lstStyle/>
                    <a:p>
                      <a:pPr algn="ct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2 </a:t>
                      </a:r>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1 </a:t>
                      </a:r>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0 </a:t>
                      </a:r>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 </a:t>
                      </a:r>
                      <a:endParaRPr lang="en-ZA" dirty="0"/>
                    </a:p>
                  </a:txBody>
                  <a:tcPr/>
                </a:tc>
                <a:extLst>
                  <a:ext uri="{0D108BD9-81ED-4DB2-BD59-A6C34878D82A}">
                    <a16:rowId xmlns:a16="http://schemas.microsoft.com/office/drawing/2014/main" val="3134181734"/>
                  </a:ext>
                </a:extLst>
              </a:tr>
              <a:tr h="370840">
                <a:tc>
                  <a:txBody>
                    <a:bodyPr/>
                    <a:lstStyle/>
                    <a:p>
                      <a:r>
                        <a:rPr lang="en-ZA" dirty="0"/>
                        <a:t>Control</a:t>
                      </a:r>
                    </a:p>
                  </a:txBody>
                  <a:tcPr/>
                </a:tc>
                <a:tc>
                  <a:txBody>
                    <a:bodyPr/>
                    <a:lstStyle/>
                    <a:p>
                      <a:pPr algn="ct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2 </a:t>
                      </a:r>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1 </a:t>
                      </a:r>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0 </a:t>
                      </a:r>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 </a:t>
                      </a:r>
                      <a:endParaRPr lang="en-ZA" dirty="0"/>
                    </a:p>
                  </a:txBody>
                  <a:tcPr/>
                </a:tc>
                <a:extLst>
                  <a:ext uri="{0D108BD9-81ED-4DB2-BD59-A6C34878D82A}">
                    <a16:rowId xmlns:a16="http://schemas.microsoft.com/office/drawing/2014/main" val="3966622397"/>
                  </a:ext>
                </a:extLst>
              </a:tr>
              <a:tr h="370840">
                <a:tc>
                  <a:txBody>
                    <a:bodyPr/>
                    <a:lstStyle/>
                    <a:p>
                      <a:r>
                        <a:rPr lang="en-ZA" dirty="0"/>
                        <a:t>Total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a:t>
                      </a:r>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a:t>
                      </a:r>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0</a:t>
                      </a:r>
                      <a:endParaRPr lang="en-ZA" dirty="0"/>
                    </a:p>
                  </a:txBody>
                  <a:tcPr/>
                </a:tc>
                <a:tc>
                  <a:txBody>
                    <a:bodyPr/>
                    <a:lstStyle/>
                    <a:p>
                      <a:pPr algn="ctr"/>
                      <a:r>
                        <a:rPr lang="en-ZA" dirty="0"/>
                        <a:t>n </a:t>
                      </a:r>
                    </a:p>
                  </a:txBody>
                  <a:tcPr/>
                </a:tc>
                <a:extLst>
                  <a:ext uri="{0D108BD9-81ED-4DB2-BD59-A6C34878D82A}">
                    <a16:rowId xmlns:a16="http://schemas.microsoft.com/office/drawing/2014/main" val="3092005096"/>
                  </a:ext>
                </a:extLst>
              </a:tr>
            </a:tbl>
          </a:graphicData>
        </a:graphic>
      </p:graphicFrame>
      <p:sp>
        <p:nvSpPr>
          <p:cNvPr id="7" name="TextBox 6">
            <a:extLst>
              <a:ext uri="{FF2B5EF4-FFF2-40B4-BE49-F238E27FC236}">
                <a16:creationId xmlns:a16="http://schemas.microsoft.com/office/drawing/2014/main" id="{7CBB35EE-24D9-4AD6-8824-6A09DB7A7AD9}"/>
              </a:ext>
            </a:extLst>
          </p:cNvPr>
          <p:cNvSpPr txBox="1"/>
          <p:nvPr/>
        </p:nvSpPr>
        <p:spPr>
          <a:xfrm>
            <a:off x="1422399" y="4999774"/>
            <a:ext cx="6422887" cy="461665"/>
          </a:xfrm>
          <a:prstGeom prst="rect">
            <a:avLst/>
          </a:prstGeom>
          <a:noFill/>
        </p:spPr>
        <p:txBody>
          <a:bodyPr wrap="square">
            <a:spAutoFit/>
          </a:bodyPr>
          <a:lstStyle/>
          <a:p>
            <a:r>
              <a:rPr lang="en-ZA" sz="1200" dirty="0"/>
              <a:t>Tab. 3: Observed genotype frequencies and theoretical probabilities in parenthesis for affected cases (a) and unaffected controls (u) at a diallelic marker. </a:t>
            </a:r>
          </a:p>
        </p:txBody>
      </p:sp>
    </p:spTree>
    <p:extLst>
      <p:ext uri="{BB962C8B-B14F-4D97-AF65-F5344CB8AC3E}">
        <p14:creationId xmlns:p14="http://schemas.microsoft.com/office/powerpoint/2010/main" val="28388507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69192" y="85344"/>
            <a:ext cx="9066906"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How can genetic association be tested?</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FFE7D37-449F-44C5-AEB3-0602054FF638}"/>
                  </a:ext>
                </a:extLst>
              </p:cNvPr>
              <p:cNvSpPr>
                <a:spLocks noGrp="1"/>
              </p:cNvSpPr>
              <p:nvPr>
                <p:ph idx="1"/>
              </p:nvPr>
            </p:nvSpPr>
            <p:spPr>
              <a:xfrm>
                <a:off x="304800" y="879652"/>
                <a:ext cx="8688368" cy="1068418"/>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Furthermore, we denote the allele frequency of the A allele by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𝑃</m:t>
                        </m:r>
                      </m:e>
                      <m:sub>
                        <m:r>
                          <a:rPr lang="en-ZA" sz="1800" b="1" kern="1200">
                            <a:solidFill>
                              <a:schemeClr val="bg2"/>
                            </a:solidFill>
                            <a:latin typeface="Cambria Math" panose="02040503050406030204" pitchFamily="18" charset="0"/>
                            <a:cs typeface="Times New Roman" panose="02020603050405020304" pitchFamily="18" charset="0"/>
                          </a:rPr>
                          <m:t>𝐴</m:t>
                        </m:r>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𝑎</m:t>
                        </m:r>
                      </m:sub>
                    </m:sSub>
                  </m:oMath>
                </a14:m>
                <a:r>
                  <a:rPr lang="en-ZA" sz="18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𝑃</m:t>
                        </m:r>
                      </m:e>
                      <m:sub>
                        <m:r>
                          <a:rPr lang="en-ZA" sz="1800" b="1" kern="1200">
                            <a:solidFill>
                              <a:schemeClr val="bg2"/>
                            </a:solidFill>
                            <a:latin typeface="Cambria Math" panose="02040503050406030204" pitchFamily="18" charset="0"/>
                            <a:cs typeface="Times New Roman" panose="02020603050405020304" pitchFamily="18" charset="0"/>
                          </a:rPr>
                          <m:t>𝐴</m:t>
                        </m:r>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𝑢</m:t>
                        </m:r>
                      </m:sub>
                    </m:sSub>
                  </m:oMath>
                </a14:m>
                <a:r>
                  <a:rPr lang="en-ZA" sz="1800" b="1" kern="1200" dirty="0">
                    <a:solidFill>
                      <a:schemeClr val="bg2"/>
                    </a:solidFill>
                    <a:latin typeface="Arial" panose="020B0604020202020204" pitchFamily="34" charset="0"/>
                    <a:cs typeface="Times New Roman" panose="02020603050405020304" pitchFamily="18" charset="0"/>
                  </a:rPr>
                  <a:t> in affected cases and unaffected controls, respectively (see the following table).</a:t>
                </a:r>
              </a:p>
            </p:txBody>
          </p:sp>
        </mc:Choice>
        <mc:Fallback xmlns="">
          <p:sp>
            <p:nvSpPr>
              <p:cNvPr id="4" name="Content Placeholder 2">
                <a:extLst>
                  <a:ext uri="{FF2B5EF4-FFF2-40B4-BE49-F238E27FC236}">
                    <a16:creationId xmlns:a16="http://schemas.microsoft.com/office/drawing/2014/main" id="{8FFE7D37-449F-44C5-AEB3-0602054FF638}"/>
                  </a:ext>
                </a:extLst>
              </p:cNvPr>
              <p:cNvSpPr>
                <a:spLocks noGrp="1" noRot="1" noChangeAspect="1" noMove="1" noResize="1" noEditPoints="1" noAdjustHandles="1" noChangeArrowheads="1" noChangeShapeType="1" noTextEdit="1"/>
              </p:cNvSpPr>
              <p:nvPr>
                <p:ph idx="1"/>
              </p:nvPr>
            </p:nvSpPr>
            <p:spPr>
              <a:xfrm>
                <a:off x="304800" y="879652"/>
                <a:ext cx="8688368" cy="1068418"/>
              </a:xfrm>
              <a:blipFill>
                <a:blip r:embed="rId3"/>
                <a:stretch>
                  <a:fillRect l="-421" t="-2841"/>
                </a:stretch>
              </a:blipFill>
            </p:spPr>
            <p:txBody>
              <a:bodyPr/>
              <a:lstStyle/>
              <a:p>
                <a:r>
                  <a:rPr lang="en-ZA">
                    <a:noFill/>
                  </a:rPr>
                  <a:t> </a:t>
                </a:r>
              </a:p>
            </p:txBody>
          </p:sp>
        </mc:Fallback>
      </mc:AlternateContent>
      <p:graphicFrame>
        <p:nvGraphicFramePr>
          <p:cNvPr id="2" name="Table 2">
            <a:extLst>
              <a:ext uri="{FF2B5EF4-FFF2-40B4-BE49-F238E27FC236}">
                <a16:creationId xmlns:a16="http://schemas.microsoft.com/office/drawing/2014/main" id="{22600237-8859-48C7-9CC8-68FAFB92DA19}"/>
              </a:ext>
            </a:extLst>
          </p:cNvPr>
          <p:cNvGraphicFramePr>
            <a:graphicFrameLocks noGrp="1"/>
          </p:cNvGraphicFramePr>
          <p:nvPr>
            <p:extLst>
              <p:ext uri="{D42A27DB-BD31-4B8C-83A1-F6EECF244321}">
                <p14:modId xmlns:p14="http://schemas.microsoft.com/office/powerpoint/2010/main" val="150680477"/>
              </p:ext>
            </p:extLst>
          </p:nvPr>
        </p:nvGraphicFramePr>
        <p:xfrm>
          <a:off x="1422400" y="1948070"/>
          <a:ext cx="609600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204816553"/>
                    </a:ext>
                  </a:extLst>
                </a:gridCol>
                <a:gridCol w="1524000">
                  <a:extLst>
                    <a:ext uri="{9D8B030D-6E8A-4147-A177-3AD203B41FA5}">
                      <a16:colId xmlns:a16="http://schemas.microsoft.com/office/drawing/2014/main" val="4099423414"/>
                    </a:ext>
                  </a:extLst>
                </a:gridCol>
                <a:gridCol w="1524000">
                  <a:extLst>
                    <a:ext uri="{9D8B030D-6E8A-4147-A177-3AD203B41FA5}">
                      <a16:colId xmlns:a16="http://schemas.microsoft.com/office/drawing/2014/main" val="1522073144"/>
                    </a:ext>
                  </a:extLst>
                </a:gridCol>
                <a:gridCol w="1524000">
                  <a:extLst>
                    <a:ext uri="{9D8B030D-6E8A-4147-A177-3AD203B41FA5}">
                      <a16:colId xmlns:a16="http://schemas.microsoft.com/office/drawing/2014/main" val="1099944686"/>
                    </a:ext>
                  </a:extLst>
                </a:gridCol>
              </a:tblGrid>
              <a:tr h="370840">
                <a:tc>
                  <a:txBody>
                    <a:bodyPr/>
                    <a:lstStyle/>
                    <a:p>
                      <a:endParaRPr lang="en-ZA"/>
                    </a:p>
                  </a:txBody>
                  <a:tcPr/>
                </a:tc>
                <a:tc>
                  <a:txBody>
                    <a:bodyPr/>
                    <a:lstStyle/>
                    <a:p>
                      <a:r>
                        <a:rPr lang="en-ZA" dirty="0"/>
                        <a:t>A</a:t>
                      </a:r>
                    </a:p>
                  </a:txBody>
                  <a:tcPr/>
                </a:tc>
                <a:tc>
                  <a:txBody>
                    <a:bodyPr/>
                    <a:lstStyle/>
                    <a:p>
                      <a:r>
                        <a:rPr lang="en-ZA" dirty="0"/>
                        <a:t>a</a:t>
                      </a:r>
                    </a:p>
                  </a:txBody>
                  <a:tcPr/>
                </a:tc>
                <a:tc>
                  <a:txBody>
                    <a:bodyPr/>
                    <a:lstStyle/>
                    <a:p>
                      <a:r>
                        <a:rPr lang="en-ZA" dirty="0"/>
                        <a:t>Total</a:t>
                      </a:r>
                    </a:p>
                  </a:txBody>
                  <a:tcPr/>
                </a:tc>
                <a:extLst>
                  <a:ext uri="{0D108BD9-81ED-4DB2-BD59-A6C34878D82A}">
                    <a16:rowId xmlns:a16="http://schemas.microsoft.com/office/drawing/2014/main" val="2034055188"/>
                  </a:ext>
                </a:extLst>
              </a:tr>
              <a:tr h="370840">
                <a:tc>
                  <a:txBody>
                    <a:bodyPr/>
                    <a:lstStyle/>
                    <a:p>
                      <a:r>
                        <a:rPr lang="en-ZA" dirty="0"/>
                        <a:t>Cases</a:t>
                      </a:r>
                    </a:p>
                  </a:txBody>
                  <a:tcPr/>
                </a:tc>
                <a:tc>
                  <a:txBody>
                    <a:bodyPr/>
                    <a:lstStyle/>
                    <a:p>
                      <a:r>
                        <a:rPr lang="en-ZA" sz="1800" kern="1200" dirty="0" smtClean="0">
                          <a:solidFill>
                            <a:schemeClr val="dk1"/>
                          </a:solidFill>
                          <a:effectLst/>
                          <a:latin typeface="+mn-lt"/>
                          <a:ea typeface="+mn-ea"/>
                          <a:cs typeface="+mn-cs"/>
                        </a:rPr>
                        <a:t>2r</a:t>
                      </a:r>
                      <a:r>
                        <a:rPr lang="en-ZA" sz="1800" kern="1200" baseline="-25000" dirty="0" smtClean="0">
                          <a:solidFill>
                            <a:schemeClr val="dk1"/>
                          </a:solidFill>
                          <a:effectLst/>
                          <a:latin typeface="+mn-lt"/>
                          <a:ea typeface="+mn-ea"/>
                          <a:cs typeface="+mn-cs"/>
                        </a:rPr>
                        <a:t>2</a:t>
                      </a:r>
                      <a:r>
                        <a:rPr lang="en-ZA" sz="1800" kern="1200" dirty="0" smtClean="0">
                          <a:solidFill>
                            <a:schemeClr val="dk1"/>
                          </a:solidFill>
                          <a:effectLst/>
                          <a:latin typeface="+mn-lt"/>
                          <a:ea typeface="+mn-ea"/>
                          <a:cs typeface="+mn-cs"/>
                        </a:rPr>
                        <a:t>+r</a:t>
                      </a:r>
                      <a:r>
                        <a:rPr lang="en-ZA" sz="1800" kern="1200" baseline="-25000" dirty="0" smtClean="0">
                          <a:solidFill>
                            <a:schemeClr val="dk1"/>
                          </a:solidFill>
                          <a:effectLst/>
                          <a:latin typeface="+mn-lt"/>
                          <a:ea typeface="+mn-ea"/>
                          <a:cs typeface="+mn-cs"/>
                        </a:rPr>
                        <a:t>1</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2</a:t>
                      </a: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0</a:t>
                      </a:r>
                      <a:r>
                        <a:rPr lang="en-ZA" dirty="0"/>
                        <a:t> + </a:t>
                      </a: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1</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r </a:t>
                      </a:r>
                    </a:p>
                  </a:txBody>
                  <a:tcPr/>
                </a:tc>
                <a:extLst>
                  <a:ext uri="{0D108BD9-81ED-4DB2-BD59-A6C34878D82A}">
                    <a16:rowId xmlns:a16="http://schemas.microsoft.com/office/drawing/2014/main" val="1366067186"/>
                  </a:ext>
                </a:extLst>
              </a:tr>
              <a:tr h="370840">
                <a:tc>
                  <a:txBody>
                    <a:bodyPr/>
                    <a:lstStyle/>
                    <a:p>
                      <a:r>
                        <a:rPr lang="en-ZA" dirty="0"/>
                        <a:t>Control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smtClean="0">
                          <a:solidFill>
                            <a:schemeClr val="dk1"/>
                          </a:solidFill>
                          <a:effectLst/>
                          <a:latin typeface="+mn-lt"/>
                          <a:ea typeface="+mn-ea"/>
                          <a:cs typeface="+mn-cs"/>
                        </a:rPr>
                        <a:t>2r</a:t>
                      </a:r>
                      <a:r>
                        <a:rPr lang="en-ZA" sz="1800" kern="1200" baseline="-25000" dirty="0" smtClean="0">
                          <a:solidFill>
                            <a:schemeClr val="dk1"/>
                          </a:solidFill>
                          <a:effectLst/>
                          <a:latin typeface="+mn-lt"/>
                          <a:ea typeface="+mn-ea"/>
                          <a:cs typeface="+mn-cs"/>
                        </a:rPr>
                        <a:t>2</a:t>
                      </a:r>
                      <a:r>
                        <a:rPr lang="en-ZA" sz="1800" kern="1200" dirty="0" smtClean="0">
                          <a:solidFill>
                            <a:schemeClr val="dk1"/>
                          </a:solidFill>
                          <a:effectLst/>
                          <a:latin typeface="+mn-lt"/>
                          <a:ea typeface="+mn-ea"/>
                          <a:cs typeface="+mn-cs"/>
                        </a:rPr>
                        <a:t>+r</a:t>
                      </a:r>
                      <a:r>
                        <a:rPr lang="en-ZA" sz="1800" kern="1200" baseline="-25000" dirty="0" smtClean="0">
                          <a:solidFill>
                            <a:schemeClr val="dk1"/>
                          </a:solidFill>
                          <a:effectLst/>
                          <a:latin typeface="+mn-lt"/>
                          <a:ea typeface="+mn-ea"/>
                          <a:cs typeface="+mn-cs"/>
                        </a:rPr>
                        <a:t>1</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2</a:t>
                      </a: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0</a:t>
                      </a:r>
                      <a:r>
                        <a:rPr lang="en-ZA" dirty="0"/>
                        <a:t> + </a:t>
                      </a: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1</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s </a:t>
                      </a:r>
                    </a:p>
                  </a:txBody>
                  <a:tcPr/>
                </a:tc>
                <a:extLst>
                  <a:ext uri="{0D108BD9-81ED-4DB2-BD59-A6C34878D82A}">
                    <a16:rowId xmlns:a16="http://schemas.microsoft.com/office/drawing/2014/main" val="579848103"/>
                  </a:ext>
                </a:extLst>
              </a:tr>
              <a:tr h="370840">
                <a:tc>
                  <a:txBody>
                    <a:bodyPr/>
                    <a:lstStyle/>
                    <a:p>
                      <a:r>
                        <a:rPr lang="en-ZA" dirty="0"/>
                        <a:t>Total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2</a:t>
                      </a: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a:t>
                      </a:r>
                      <a:r>
                        <a:rPr lang="en-ZA" dirty="0"/>
                        <a:t> + </a:t>
                      </a: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2</a:t>
                      </a: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0</a:t>
                      </a:r>
                      <a:r>
                        <a:rPr lang="en-ZA" dirty="0"/>
                        <a:t> + </a:t>
                      </a: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a:t>
                      </a:r>
                      <a:endParaRPr lang="en-ZA" dirty="0"/>
                    </a:p>
                  </a:txBody>
                  <a:tcPr/>
                </a:tc>
                <a:tc>
                  <a:txBody>
                    <a:bodyPr/>
                    <a:lstStyle/>
                    <a:p>
                      <a:r>
                        <a:rPr lang="en-ZA" dirty="0"/>
                        <a:t>2n</a:t>
                      </a:r>
                    </a:p>
                  </a:txBody>
                  <a:tcPr/>
                </a:tc>
                <a:extLst>
                  <a:ext uri="{0D108BD9-81ED-4DB2-BD59-A6C34878D82A}">
                    <a16:rowId xmlns:a16="http://schemas.microsoft.com/office/drawing/2014/main" val="3586127884"/>
                  </a:ext>
                </a:extLst>
              </a:tr>
            </a:tbl>
          </a:graphicData>
        </a:graphic>
      </p:graphicFrame>
      <p:sp>
        <p:nvSpPr>
          <p:cNvPr id="7" name="TextBox 6">
            <a:extLst>
              <a:ext uri="{FF2B5EF4-FFF2-40B4-BE49-F238E27FC236}">
                <a16:creationId xmlns:a16="http://schemas.microsoft.com/office/drawing/2014/main" id="{90C6C603-C33A-470F-9F1B-80CFDE441EB7}"/>
              </a:ext>
            </a:extLst>
          </p:cNvPr>
          <p:cNvSpPr txBox="1"/>
          <p:nvPr/>
        </p:nvSpPr>
        <p:spPr>
          <a:xfrm>
            <a:off x="1422400" y="3543684"/>
            <a:ext cx="6219371" cy="461665"/>
          </a:xfrm>
          <a:prstGeom prst="rect">
            <a:avLst/>
          </a:prstGeom>
          <a:noFill/>
        </p:spPr>
        <p:txBody>
          <a:bodyPr wrap="square">
            <a:spAutoFit/>
          </a:bodyPr>
          <a:lstStyle/>
          <a:p>
            <a:r>
              <a:rPr lang="en-ZA" sz="1200" dirty="0"/>
              <a:t>Tab. 4: Observed allele frequencies and theoretical probabilities in parenthesis for cases and controls at a diallelic marker. </a:t>
            </a:r>
          </a:p>
        </p:txBody>
      </p:sp>
    </p:spTree>
    <p:extLst>
      <p:ext uri="{BB962C8B-B14F-4D97-AF65-F5344CB8AC3E}">
        <p14:creationId xmlns:p14="http://schemas.microsoft.com/office/powerpoint/2010/main" val="8470281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251543"/>
            <a:ext cx="909415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2000" dirty="0">
                <a:latin typeface="Comic Sans MS" panose="030F0702030302020204" pitchFamily="66" charset="0"/>
                <a:cs typeface="Times New Roman" panose="02020603050405020304" pitchFamily="18" charset="0"/>
              </a:rPr>
              <a:t>How can we test association between a marker allele and a </a:t>
            </a:r>
            <a:r>
              <a:rPr lang="en-US" altLang="en-US" sz="2000" dirty="0" smtClean="0">
                <a:latin typeface="Comic Sans MS" panose="030F0702030302020204" pitchFamily="66" charset="0"/>
                <a:cs typeface="Times New Roman" panose="02020603050405020304" pitchFamily="18" charset="0"/>
              </a:rPr>
              <a:t>phenotype?</a:t>
            </a:r>
            <a:endParaRPr lang="en-US" altLang="en-US" sz="20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BBA1F9B5-81DC-414F-9CFC-73DB3E086D89}"/>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In testing whether a marker allele is associated with a phenotype, one can test independence of the phenotype either from the genotypes or from the alleles. The test for alleles is based on a 2 × 2 table. The strength of the association is well measured by the odds ratio (OR). Therefore, tests for independence that resemble the degree of association via the OR are appealing.</a:t>
                </a:r>
              </a:p>
              <a:p>
                <a:r>
                  <a:rPr lang="en-ZA" sz="1800" b="1" kern="1200" dirty="0">
                    <a:solidFill>
                      <a:schemeClr val="bg2"/>
                    </a:solidFill>
                    <a:latin typeface="Arial" panose="020B0604020202020204" pitchFamily="34" charset="0"/>
                    <a:cs typeface="Times New Roman" panose="02020603050405020304" pitchFamily="18" charset="0"/>
                  </a:rPr>
                  <a:t>The association test can be done using the standard </a:t>
                </a:r>
                <a14:m>
                  <m:oMath xmlns:m="http://schemas.openxmlformats.org/officeDocument/2006/math">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𝑥</m:t>
                        </m:r>
                      </m:e>
                      <m:sup>
                        <m:r>
                          <a:rPr lang="en-ZA" sz="1800" b="1" kern="1200">
                            <a:solidFill>
                              <a:schemeClr val="bg2"/>
                            </a:solidFill>
                            <a:latin typeface="Cambria Math" panose="02040503050406030204" pitchFamily="18" charset="0"/>
                          </a:rPr>
                          <m:t>2</m:t>
                        </m:r>
                      </m:sup>
                    </m:sSup>
                  </m:oMath>
                </a14:m>
                <a:r>
                  <a:rPr lang="en-ZA" sz="1800" b="1" kern="1200" dirty="0">
                    <a:solidFill>
                      <a:schemeClr val="bg2"/>
                    </a:solidFill>
                    <a:latin typeface="Arial" panose="020B0604020202020204" pitchFamily="34" charset="0"/>
                    <a:cs typeface="Times New Roman" panose="02020603050405020304" pitchFamily="18" charset="0"/>
                  </a:rPr>
                  <a:t> test which takes the sample size 2n multiplied by the OR from the previous table</a:t>
                </a:r>
              </a:p>
              <a:p>
                <a:pPr marL="0" indent="0">
                  <a:buNone/>
                </a:pPr>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ZA" sz="1800" b="1" i="1" kern="1200">
                              <a:solidFill>
                                <a:schemeClr val="bg2"/>
                              </a:solidFill>
                              <a:latin typeface="Cambria Math" panose="02040503050406030204" pitchFamily="18" charset="0"/>
                            </a:rPr>
                          </m:ctrlPr>
                        </m:sSubSupPr>
                        <m:e>
                          <m:r>
                            <a:rPr lang="en-ZA" sz="1800" b="1" kern="1200">
                              <a:solidFill>
                                <a:schemeClr val="bg2"/>
                              </a:solidFill>
                              <a:latin typeface="Cambria Math" panose="02040503050406030204" pitchFamily="18" charset="0"/>
                            </a:rPr>
                            <m:t>𝑥</m:t>
                          </m:r>
                        </m:e>
                        <m:sub>
                          <m:r>
                            <a:rPr lang="en-ZA" sz="1800" b="1" kern="1200">
                              <a:solidFill>
                                <a:schemeClr val="bg2"/>
                              </a:solidFill>
                              <a:latin typeface="Cambria Math" panose="02040503050406030204" pitchFamily="18" charset="0"/>
                            </a:rPr>
                            <m:t>𝐴</m:t>
                          </m:r>
                        </m:sub>
                        <m:sup>
                          <m:r>
                            <a:rPr lang="en-ZA" sz="1800" b="1" kern="1200">
                              <a:solidFill>
                                <a:schemeClr val="bg2"/>
                              </a:solidFill>
                              <a:latin typeface="Cambria Math" panose="02040503050406030204" pitchFamily="18" charset="0"/>
                            </a:rPr>
                            <m:t>2</m:t>
                          </m:r>
                        </m:sup>
                      </m:sSubSup>
                      <m:r>
                        <a:rPr lang="en-ZA" sz="1800" b="1" kern="1200">
                          <a:solidFill>
                            <a:schemeClr val="bg2"/>
                          </a:solidFill>
                          <a:latin typeface="Cambria Math" panose="02040503050406030204" pitchFamily="18" charset="0"/>
                        </a:rPr>
                        <m:t>=2</m:t>
                      </m:r>
                      <m:r>
                        <a:rPr lang="en-ZA" sz="1800" b="1" kern="1200">
                          <a:solidFill>
                            <a:schemeClr val="bg2"/>
                          </a:solidFill>
                          <a:latin typeface="Cambria Math" panose="02040503050406030204" pitchFamily="18" charset="0"/>
                        </a:rPr>
                        <m:t>𝑛</m:t>
                      </m:r>
                      <m:r>
                        <a:rPr lang="en-ZA" sz="1800" b="1" kern="1200">
                          <a:solidFill>
                            <a:schemeClr val="bg2"/>
                          </a:solidFill>
                          <a:latin typeface="Cambria Math" panose="02040503050406030204" pitchFamily="18" charset="0"/>
                        </a:rPr>
                        <m:t> . </m:t>
                      </m:r>
                      <m:f>
                        <m:fPr>
                          <m:ctrlPr>
                            <a:rPr lang="en-ZA" sz="1800" b="1" i="1" kern="1200">
                              <a:solidFill>
                                <a:schemeClr val="bg2"/>
                              </a:solidFill>
                              <a:latin typeface="Cambria Math" panose="02040503050406030204" pitchFamily="18" charset="0"/>
                            </a:rPr>
                          </m:ctrlPr>
                        </m:fPr>
                        <m:num>
                          <m:sSup>
                            <m:sSupPr>
                              <m:ctrlPr>
                                <a:rPr lang="en-ZA" sz="1800" b="1" i="1" kern="1200">
                                  <a:solidFill>
                                    <a:schemeClr val="bg2"/>
                                  </a:solidFill>
                                  <a:latin typeface="Cambria Math" panose="02040503050406030204" pitchFamily="18" charset="0"/>
                                </a:rPr>
                              </m:ctrlPr>
                            </m:sSupPr>
                            <m:e>
                              <m:d>
                                <m:dPr>
                                  <m:begChr m:val="["/>
                                  <m:endChr m:val="]"/>
                                  <m:ctrlPr>
                                    <a:rPr lang="en-ZA" sz="1800" b="1" i="1" kern="1200">
                                      <a:solidFill>
                                        <a:schemeClr val="bg2"/>
                                      </a:solidFill>
                                      <a:latin typeface="Cambria Math" panose="02040503050406030204" pitchFamily="18" charset="0"/>
                                    </a:rPr>
                                  </m:ctrlPr>
                                </m:dPr>
                                <m:e>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2</m:t>
                                          </m:r>
                                          <m:r>
                                            <a:rPr lang="en-ZA" sz="1800" b="1" kern="1200">
                                              <a:solidFill>
                                                <a:schemeClr val="bg2"/>
                                              </a:solidFill>
                                              <a:latin typeface="Cambria Math" panose="02040503050406030204" pitchFamily="18" charset="0"/>
                                            </a:rPr>
                                            <m:t>𝑟</m:t>
                                          </m:r>
                                        </m:e>
                                        <m:sub>
                                          <m:r>
                                            <a:rPr lang="en-ZA" sz="1800" b="1" kern="1200">
                                              <a:solidFill>
                                                <a:schemeClr val="bg2"/>
                                              </a:solidFill>
                                              <a:latin typeface="Cambria Math" panose="02040503050406030204" pitchFamily="18" charset="0"/>
                                            </a:rPr>
                                            <m:t>0</m:t>
                                          </m:r>
                                        </m:sub>
                                      </m:sSub>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𝑟</m:t>
                                          </m:r>
                                        </m:e>
                                        <m:sub>
                                          <m:r>
                                            <a:rPr lang="en-ZA" sz="1800" b="1" kern="1200">
                                              <a:solidFill>
                                                <a:schemeClr val="bg2"/>
                                              </a:solidFill>
                                              <a:latin typeface="Cambria Math" panose="02040503050406030204" pitchFamily="18" charset="0"/>
                                            </a:rPr>
                                            <m:t>1</m:t>
                                          </m:r>
                                        </m:sub>
                                      </m:sSub>
                                    </m:e>
                                  </m:d>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2</m:t>
                                          </m:r>
                                          <m:r>
                                            <a:rPr lang="en-ZA" sz="1800" b="1" kern="1200">
                                              <a:solidFill>
                                                <a:schemeClr val="bg2"/>
                                              </a:solidFill>
                                              <a:latin typeface="Cambria Math" panose="02040503050406030204" pitchFamily="18" charset="0"/>
                                            </a:rPr>
                                            <m:t>𝑠</m:t>
                                          </m:r>
                                        </m:e>
                                        <m:sub>
                                          <m:r>
                                            <a:rPr lang="en-ZA" sz="1800" b="1" kern="1200">
                                              <a:solidFill>
                                                <a:schemeClr val="bg2"/>
                                              </a:solidFill>
                                              <a:latin typeface="Cambria Math" panose="02040503050406030204" pitchFamily="18" charset="0"/>
                                            </a:rPr>
                                            <m:t>2</m:t>
                                          </m:r>
                                        </m:sub>
                                      </m:sSub>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𝑠</m:t>
                                          </m:r>
                                        </m:e>
                                        <m:sub>
                                          <m:r>
                                            <a:rPr lang="en-ZA" sz="1800" b="1" kern="1200">
                                              <a:solidFill>
                                                <a:schemeClr val="bg2"/>
                                              </a:solidFill>
                                              <a:latin typeface="Cambria Math" panose="02040503050406030204" pitchFamily="18" charset="0"/>
                                            </a:rPr>
                                            <m:t>1</m:t>
                                          </m:r>
                                        </m:sub>
                                      </m:sSub>
                                    </m:e>
                                  </m:d>
                                  <m:r>
                                    <a:rPr lang="en-ZA" sz="1800" b="1" kern="1200">
                                      <a:solidFill>
                                        <a:schemeClr val="bg2"/>
                                      </a:solidFill>
                                      <a:latin typeface="Cambria Math" panose="02040503050406030204" pitchFamily="18" charset="0"/>
                                    </a:rPr>
                                    <m:t> −</m:t>
                                  </m:r>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2</m:t>
                                          </m:r>
                                          <m:r>
                                            <a:rPr lang="en-ZA" sz="1800" b="1" kern="1200">
                                              <a:solidFill>
                                                <a:schemeClr val="bg2"/>
                                              </a:solidFill>
                                              <a:latin typeface="Cambria Math" panose="02040503050406030204" pitchFamily="18" charset="0"/>
                                            </a:rPr>
                                            <m:t>𝑟</m:t>
                                          </m:r>
                                        </m:e>
                                        <m:sub>
                                          <m:r>
                                            <a:rPr lang="en-ZA" sz="1800" b="1" kern="1200">
                                              <a:solidFill>
                                                <a:schemeClr val="bg2"/>
                                              </a:solidFill>
                                              <a:latin typeface="Cambria Math" panose="02040503050406030204" pitchFamily="18" charset="0"/>
                                            </a:rPr>
                                            <m:t>2</m:t>
                                          </m:r>
                                        </m:sub>
                                      </m:sSub>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𝑟</m:t>
                                          </m:r>
                                        </m:e>
                                        <m:sub>
                                          <m:r>
                                            <a:rPr lang="en-ZA" sz="1800" b="1" kern="1200">
                                              <a:solidFill>
                                                <a:schemeClr val="bg2"/>
                                              </a:solidFill>
                                              <a:latin typeface="Cambria Math" panose="02040503050406030204" pitchFamily="18" charset="0"/>
                                            </a:rPr>
                                            <m:t>1</m:t>
                                          </m:r>
                                        </m:sub>
                                      </m:sSub>
                                    </m:e>
                                  </m:d>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2</m:t>
                                          </m:r>
                                          <m:r>
                                            <a:rPr lang="en-ZA" sz="1800" b="1" kern="1200">
                                              <a:solidFill>
                                                <a:schemeClr val="bg2"/>
                                              </a:solidFill>
                                              <a:latin typeface="Cambria Math" panose="02040503050406030204" pitchFamily="18" charset="0"/>
                                            </a:rPr>
                                            <m:t>𝑠</m:t>
                                          </m:r>
                                        </m:e>
                                        <m:sub>
                                          <m:r>
                                            <a:rPr lang="en-ZA" sz="1800" b="1" kern="1200">
                                              <a:solidFill>
                                                <a:schemeClr val="bg2"/>
                                              </a:solidFill>
                                              <a:latin typeface="Cambria Math" panose="02040503050406030204" pitchFamily="18" charset="0"/>
                                            </a:rPr>
                                            <m:t>0</m:t>
                                          </m:r>
                                        </m:sub>
                                      </m:sSub>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𝑠</m:t>
                                          </m:r>
                                        </m:e>
                                        <m:sub>
                                          <m:r>
                                            <a:rPr lang="en-ZA" sz="1800" b="1" kern="1200">
                                              <a:solidFill>
                                                <a:schemeClr val="bg2"/>
                                              </a:solidFill>
                                              <a:latin typeface="Cambria Math" panose="02040503050406030204" pitchFamily="18" charset="0"/>
                                            </a:rPr>
                                            <m:t>1</m:t>
                                          </m:r>
                                        </m:sub>
                                      </m:sSub>
                                    </m:e>
                                  </m:d>
                                </m:e>
                              </m:d>
                            </m:e>
                            <m:sup>
                              <m:r>
                                <a:rPr lang="en-ZA" sz="1800" b="1" kern="1200">
                                  <a:solidFill>
                                    <a:schemeClr val="bg2"/>
                                  </a:solidFill>
                                  <a:latin typeface="Cambria Math" panose="02040503050406030204" pitchFamily="18" charset="0"/>
                                </a:rPr>
                                <m:t>2</m:t>
                              </m:r>
                            </m:sup>
                          </m:sSup>
                        </m:num>
                        <m:den>
                          <m:r>
                            <a:rPr lang="en-ZA" sz="1800" b="1" kern="1200">
                              <a:solidFill>
                                <a:schemeClr val="bg2"/>
                              </a:solidFill>
                              <a:latin typeface="Cambria Math" panose="02040503050406030204" pitchFamily="18" charset="0"/>
                            </a:rPr>
                            <m:t>2</m:t>
                          </m:r>
                          <m:r>
                            <a:rPr lang="en-ZA" sz="1800" b="1" kern="1200">
                              <a:solidFill>
                                <a:schemeClr val="bg2"/>
                              </a:solidFill>
                              <a:latin typeface="Cambria Math" panose="02040503050406030204" pitchFamily="18" charset="0"/>
                            </a:rPr>
                            <m:t>𝑟</m:t>
                          </m:r>
                          <m:r>
                            <a:rPr lang="en-ZA" sz="1800" b="1" kern="1200">
                              <a:solidFill>
                                <a:schemeClr val="bg2"/>
                              </a:solidFill>
                              <a:latin typeface="Cambria Math" panose="02040503050406030204" pitchFamily="18" charset="0"/>
                            </a:rPr>
                            <m:t> . 2</m:t>
                          </m:r>
                          <m:r>
                            <a:rPr lang="en-ZA" sz="1800" b="1" kern="1200">
                              <a:solidFill>
                                <a:schemeClr val="bg2"/>
                              </a:solidFill>
                              <a:latin typeface="Cambria Math" panose="02040503050406030204" pitchFamily="18" charset="0"/>
                            </a:rPr>
                            <m:t>𝑠</m:t>
                          </m:r>
                          <m:r>
                            <a:rPr lang="en-ZA" sz="1800" b="1" kern="1200">
                              <a:solidFill>
                                <a:schemeClr val="bg2"/>
                              </a:solidFill>
                              <a:latin typeface="Cambria Math" panose="02040503050406030204" pitchFamily="18" charset="0"/>
                            </a:rPr>
                            <m:t> .</m:t>
                          </m:r>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2</m:t>
                                  </m:r>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0</m:t>
                                  </m:r>
                                </m:sub>
                              </m:sSub>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e>
                          </m:d>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2</m:t>
                                  </m:r>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m:t>
                                  </m:r>
                                </m:sub>
                              </m:sSub>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e>
                          </m:d>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a:p>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Under the null hypothesis of no association, </a:t>
                </a:r>
                <a14:m>
                  <m:oMath xmlns:m="http://schemas.openxmlformats.org/officeDocument/2006/math">
                    <m:sSubSup>
                      <m:sSubSupPr>
                        <m:ctrlPr>
                          <a:rPr lang="en-ZA" sz="1800" b="1" i="1" kern="1200">
                            <a:solidFill>
                              <a:schemeClr val="bg2"/>
                            </a:solidFill>
                            <a:latin typeface="Cambria Math" panose="02040503050406030204" pitchFamily="18" charset="0"/>
                          </a:rPr>
                        </m:ctrlPr>
                      </m:sSubSupPr>
                      <m:e>
                        <m:r>
                          <a:rPr lang="en-ZA" sz="1800" b="1" kern="1200">
                            <a:solidFill>
                              <a:schemeClr val="bg2"/>
                            </a:solidFill>
                            <a:latin typeface="Cambria Math" panose="02040503050406030204" pitchFamily="18" charset="0"/>
                          </a:rPr>
                          <m:t>𝑥</m:t>
                        </m:r>
                      </m:e>
                      <m:sub>
                        <m:r>
                          <a:rPr lang="en-ZA" sz="1800" b="1" kern="1200">
                            <a:solidFill>
                              <a:schemeClr val="bg2"/>
                            </a:solidFill>
                            <a:latin typeface="Cambria Math" panose="02040503050406030204" pitchFamily="18" charset="0"/>
                          </a:rPr>
                          <m:t>𝐴</m:t>
                        </m:r>
                      </m:sub>
                      <m:sup>
                        <m:r>
                          <a:rPr lang="en-ZA" sz="1800" b="1" kern="1200">
                            <a:solidFill>
                              <a:schemeClr val="bg2"/>
                            </a:solidFill>
                            <a:latin typeface="Cambria Math" panose="02040503050406030204" pitchFamily="18" charset="0"/>
                          </a:rPr>
                          <m:t>2</m:t>
                        </m:r>
                      </m:sup>
                    </m:sSubSup>
                  </m:oMath>
                </a14:m>
                <a:r>
                  <a:rPr lang="en-ZA" sz="1800" b="1" kern="1200" dirty="0">
                    <a:solidFill>
                      <a:schemeClr val="bg2"/>
                    </a:solidFill>
                    <a:latin typeface="Arial" panose="020B0604020202020204" pitchFamily="34" charset="0"/>
                    <a:cs typeface="Times New Roman" panose="02020603050405020304" pitchFamily="18" charset="0"/>
                  </a:rPr>
                  <a:t> is asymptotically </a:t>
                </a:r>
                <a14:m>
                  <m:oMath xmlns:m="http://schemas.openxmlformats.org/officeDocument/2006/math">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𝑥</m:t>
                        </m:r>
                      </m:e>
                      <m:sup>
                        <m:r>
                          <a:rPr lang="en-ZA" sz="1800" b="1" kern="1200">
                            <a:solidFill>
                              <a:schemeClr val="bg2"/>
                            </a:solidFill>
                            <a:latin typeface="Cambria Math" panose="02040503050406030204" pitchFamily="18" charset="0"/>
                          </a:rPr>
                          <m:t>2</m:t>
                        </m:r>
                      </m:sup>
                    </m:sSup>
                  </m:oMath>
                </a14:m>
                <a:r>
                  <a:rPr lang="en-ZA" sz="1800" b="1" kern="1200" dirty="0">
                    <a:solidFill>
                      <a:schemeClr val="bg2"/>
                    </a:solidFill>
                    <a:latin typeface="Arial" panose="020B0604020202020204" pitchFamily="34" charset="0"/>
                    <a:cs typeface="Times New Roman" panose="02020603050405020304" pitchFamily="18" charset="0"/>
                  </a:rPr>
                  <a:t> distributed with one degree of freedom (</a:t>
                </a:r>
                <a:r>
                  <a:rPr lang="en-ZA" sz="1800" b="1" kern="1200" dirty="0" err="1">
                    <a:solidFill>
                      <a:schemeClr val="bg2"/>
                    </a:solidFill>
                    <a:latin typeface="Arial" panose="020B0604020202020204" pitchFamily="34" charset="0"/>
                    <a:cs typeface="Times New Roman" panose="02020603050405020304" pitchFamily="18" charset="0"/>
                  </a:rPr>
                  <a:t>d.f.</a:t>
                </a:r>
                <a:r>
                  <a:rPr lang="en-ZA" sz="1800" b="1" kern="1200" dirty="0">
                    <a:solidFill>
                      <a:schemeClr val="bg2"/>
                    </a:solidFill>
                    <a:latin typeface="Arial" panose="020B0604020202020204" pitchFamily="34" charset="0"/>
                    <a:cs typeface="Times New Roman" panose="02020603050405020304" pitchFamily="18" charset="0"/>
                  </a:rPr>
                  <a:t>). The null hypothesis of no association is rejected for large values of the </a:t>
                </a:r>
                <a14:m>
                  <m:oMath xmlns:m="http://schemas.openxmlformats.org/officeDocument/2006/math">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𝑥</m:t>
                        </m:r>
                      </m:e>
                      <m:sup>
                        <m:r>
                          <a:rPr lang="en-ZA" sz="1800" b="1" kern="1200">
                            <a:solidFill>
                              <a:schemeClr val="bg2"/>
                            </a:solidFill>
                            <a:latin typeface="Cambria Math" panose="02040503050406030204" pitchFamily="18" charset="0"/>
                          </a:rPr>
                          <m:t>2</m:t>
                        </m:r>
                      </m:sup>
                    </m:sSup>
                  </m:oMath>
                </a14:m>
                <a:r>
                  <a:rPr lang="en-ZA" sz="1800" b="1" kern="1200" dirty="0">
                    <a:solidFill>
                      <a:schemeClr val="bg2"/>
                    </a:solidFill>
                    <a:latin typeface="Arial" panose="020B0604020202020204" pitchFamily="34" charset="0"/>
                    <a:cs typeface="Times New Roman" panose="02020603050405020304" pitchFamily="18" charset="0"/>
                  </a:rPr>
                  <a:t> test statistic.</a:t>
                </a:r>
              </a:p>
            </p:txBody>
          </p:sp>
        </mc:Choice>
        <mc:Fallback xmlns="">
          <p:sp>
            <p:nvSpPr>
              <p:cNvPr id="6" name="Content Placeholder 2">
                <a:extLst>
                  <a:ext uri="{FF2B5EF4-FFF2-40B4-BE49-F238E27FC236}">
                    <a16:creationId xmlns:a16="http://schemas.microsoft.com/office/drawing/2014/main" id="{BBA1F9B5-81DC-414F-9CFC-73DB3E086D89}"/>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3"/>
                <a:stretch>
                  <a:fillRect l="-421" t="-532"/>
                </a:stretch>
              </a:blipFill>
            </p:spPr>
            <p:txBody>
              <a:bodyPr/>
              <a:lstStyle/>
              <a:p>
                <a:r>
                  <a:rPr lang="en-ZA">
                    <a:noFill/>
                  </a:rPr>
                  <a:t> </a:t>
                </a:r>
              </a:p>
            </p:txBody>
          </p:sp>
        </mc:Fallback>
      </mc:AlternateContent>
    </p:spTree>
    <p:extLst>
      <p:ext uri="{BB962C8B-B14F-4D97-AF65-F5344CB8AC3E}">
        <p14:creationId xmlns:p14="http://schemas.microsoft.com/office/powerpoint/2010/main" val="12974627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58840"/>
            <a:ext cx="9082936" cy="5355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200" dirty="0">
                <a:latin typeface="Comic Sans MS" panose="030F0702030302020204" pitchFamily="66" charset="0"/>
                <a:cs typeface="Times New Roman" panose="02020603050405020304" pitchFamily="18" charset="0"/>
              </a:rPr>
              <a:t>Standard Chi-Square test for Independence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F8F410C0-988E-4757-99FE-BACA2542EE37}"/>
                  </a:ext>
                </a:extLst>
              </p:cNvPr>
              <p:cNvSpPr>
                <a:spLocks noGrp="1"/>
              </p:cNvSpPr>
              <p:nvPr>
                <p:ph idx="1"/>
              </p:nvPr>
            </p:nvSpPr>
            <p:spPr>
              <a:xfrm>
                <a:off x="304800" y="879651"/>
                <a:ext cx="8688368" cy="5726799"/>
              </a:xfrm>
            </p:spPr>
            <p:txBody>
              <a:bodyPr/>
              <a:lstStyle/>
              <a:p>
                <a:r>
                  <a:rPr lang="en-ZA" sz="1800" b="1" kern="1200" dirty="0" smtClean="0">
                    <a:solidFill>
                      <a:schemeClr val="bg2"/>
                    </a:solidFill>
                    <a:latin typeface="Arial" panose="020B0604020202020204" pitchFamily="34" charset="0"/>
                    <a:cs typeface="Times New Roman" panose="02020603050405020304" pitchFamily="18" charset="0"/>
                  </a:rPr>
                  <a:t>A standard </a:t>
                </a:r>
                <a14:m>
                  <m:oMath xmlns:m="http://schemas.openxmlformats.org/officeDocument/2006/math">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r>
                          <a:rPr lang="en-ZA" sz="1800" b="1" kern="1200">
                            <a:solidFill>
                              <a:schemeClr val="bg2"/>
                            </a:solidFill>
                            <a:latin typeface="Cambria Math" panose="02040503050406030204" pitchFamily="18" charset="0"/>
                            <a:cs typeface="Times New Roman" panose="02020603050405020304" pitchFamily="18" charset="0"/>
                          </a:rPr>
                          <m:t>𝑥</m:t>
                        </m:r>
                      </m:e>
                      <m:sup>
                        <m:r>
                          <a:rPr lang="en-ZA" sz="1800" b="1" kern="1200">
                            <a:solidFill>
                              <a:schemeClr val="bg2"/>
                            </a:solidFill>
                            <a:latin typeface="Cambria Math" panose="02040503050406030204" pitchFamily="18" charset="0"/>
                            <a:cs typeface="Times New Roman" panose="02020603050405020304" pitchFamily="18" charset="0"/>
                          </a:rPr>
                          <m:t>2</m:t>
                        </m:r>
                      </m:sup>
                    </m:sSup>
                  </m:oMath>
                </a14:m>
                <a:r>
                  <a:rPr lang="en-ZA" sz="1800" b="1" kern="1200" dirty="0">
                    <a:solidFill>
                      <a:schemeClr val="bg2"/>
                    </a:solidFill>
                    <a:latin typeface="Arial" panose="020B0604020202020204" pitchFamily="34" charset="0"/>
                    <a:cs typeface="Times New Roman" panose="02020603050405020304" pitchFamily="18" charset="0"/>
                  </a:rPr>
                  <a:t> test for independence again might be employed. In this case, the observed genotype frequencies are compared with the expected genotype frequencies under the null hypothesis of no association. </a:t>
                </a:r>
              </a:p>
              <a:p>
                <a:pPr marL="0" indent="0">
                  <a:buNone/>
                </a:pPr>
                <a:r>
                  <a:rPr lang="en-ZA" sz="1800" b="1" kern="1200" dirty="0">
                    <a:solidFill>
                      <a:schemeClr val="bg2"/>
                    </a:solidFill>
                    <a:latin typeface="Arial" panose="020B0604020202020204" pitchFamily="34" charset="0"/>
                    <a:cs typeface="Times New Roman" panose="02020603050405020304" pitchFamily="18" charset="0"/>
                  </a:rPr>
                  <a:t> </a:t>
                </a:r>
              </a:p>
              <a:p>
                <a:pPr marL="0" indent="0">
                  <a:buNone/>
                </a:pPr>
                <a:r>
                  <a:rPr lang="en-ZA" sz="1800" b="1" kern="1200" dirty="0" smtClean="0">
                    <a:solidFill>
                      <a:schemeClr val="bg2"/>
                    </a:solidFill>
                    <a:cs typeface="Times New Roman" panose="02020603050405020304" pitchFamily="18" charset="0"/>
                  </a:rPr>
                  <a:t>        </a:t>
                </a:r>
                <a14:m>
                  <m:oMath xmlns:m="http://schemas.openxmlformats.org/officeDocument/2006/math">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𝑥</m:t>
                        </m:r>
                      </m:e>
                      <m:sub>
                        <m:r>
                          <a:rPr lang="en-ZA" sz="1800" b="1" kern="1200">
                            <a:solidFill>
                              <a:schemeClr val="bg2"/>
                            </a:solidFill>
                            <a:latin typeface="Cambria Math" panose="02040503050406030204" pitchFamily="18" charset="0"/>
                            <a:cs typeface="Times New Roman" panose="02020603050405020304" pitchFamily="18" charset="0"/>
                          </a:rPr>
                          <m:t>𝑔</m:t>
                        </m:r>
                        <m:r>
                          <a:rPr lang="en-ZA" sz="1800" b="1" kern="1200">
                            <a:solidFill>
                              <a:schemeClr val="bg2"/>
                            </a:solidFill>
                            <a:latin typeface="Cambria Math" panose="02040503050406030204" pitchFamily="18" charset="0"/>
                            <a:cs typeface="Times New Roman" panose="02020603050405020304" pitchFamily="18" charset="0"/>
                          </a:rPr>
                          <m:t>1</m:t>
                        </m:r>
                      </m:sub>
                      <m:sup>
                        <m:r>
                          <a:rPr lang="en-ZA" sz="1800" b="1" kern="1200">
                            <a:solidFill>
                              <a:schemeClr val="bg2"/>
                            </a:solidFill>
                            <a:latin typeface="Cambria Math" panose="02040503050406030204" pitchFamily="18" charset="0"/>
                            <a:cs typeface="Times New Roman" panose="02020603050405020304" pitchFamily="18" charset="0"/>
                          </a:rPr>
                          <m:t>2</m:t>
                        </m:r>
                      </m:sup>
                    </m:sSubSup>
                    <m:r>
                      <a:rPr lang="en-ZA" sz="1800" b="1" kern="1200">
                        <a:solidFill>
                          <a:schemeClr val="bg2"/>
                        </a:solidFill>
                        <a:latin typeface="Cambria Math" panose="02040503050406030204" pitchFamily="18" charset="0"/>
                        <a:cs typeface="Times New Roman" panose="02020603050405020304" pitchFamily="18" charset="0"/>
                      </a:rPr>
                      <m:t>=</m:t>
                    </m:r>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0</m:t>
                                    </m:r>
                                  </m:sub>
                                </m:sSub>
                                <m:r>
                                  <a:rPr lang="en-US" sz="1800" b="1" i="0" kern="1200" smtClean="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 </m:t>
                                </m:r>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0</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e>
                            </m:d>
                          </m:e>
                          <m:sup>
                            <m:r>
                              <a:rPr lang="en-ZA" sz="1800" b="1" kern="1200">
                                <a:solidFill>
                                  <a:schemeClr val="bg2"/>
                                </a:solidFill>
                                <a:latin typeface="Cambria Math" panose="02040503050406030204" pitchFamily="18" charset="0"/>
                                <a:cs typeface="Times New Roman" panose="02020603050405020304" pitchFamily="18" charset="0"/>
                              </a:rPr>
                              <m:t>2</m:t>
                            </m:r>
                          </m:sup>
                        </m:sSup>
                      </m:num>
                      <m:den>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0</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den>
                    </m:f>
                    <m:r>
                      <a:rPr lang="en-ZA" sz="1800" b="1" kern="1200">
                        <a:solidFill>
                          <a:schemeClr val="bg2"/>
                        </a:solidFill>
                        <a:latin typeface="Cambria Math" panose="02040503050406030204" pitchFamily="18" charset="0"/>
                        <a:cs typeface="Times New Roman" panose="02020603050405020304" pitchFamily="18" charset="0"/>
                      </a:rPr>
                      <m:t>+</m:t>
                    </m:r>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1</m:t>
                                    </m:r>
                                  </m:sub>
                                </m:sSub>
                                <m:r>
                                  <a:rPr lang="en-US" sz="1800" b="1" i="0" kern="1200" smtClean="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 </m:t>
                                </m:r>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1</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e>
                            </m:d>
                          </m:e>
                          <m:sup>
                            <m:r>
                              <a:rPr lang="en-ZA" sz="1800" b="1" kern="1200">
                                <a:solidFill>
                                  <a:schemeClr val="bg2"/>
                                </a:solidFill>
                                <a:latin typeface="Cambria Math" panose="02040503050406030204" pitchFamily="18" charset="0"/>
                                <a:cs typeface="Times New Roman" panose="02020603050405020304" pitchFamily="18" charset="0"/>
                              </a:rPr>
                              <m:t>2</m:t>
                            </m:r>
                          </m:sup>
                        </m:sSup>
                      </m:num>
                      <m:den>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1</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den>
                    </m:f>
                    <m:r>
                      <a:rPr lang="en-ZA" sz="1800" b="1" kern="1200">
                        <a:solidFill>
                          <a:schemeClr val="bg2"/>
                        </a:solidFill>
                        <a:latin typeface="Cambria Math" panose="02040503050406030204" pitchFamily="18" charset="0"/>
                        <a:cs typeface="Times New Roman" panose="02020603050405020304" pitchFamily="18" charset="0"/>
                      </a:rPr>
                      <m:t>+</m:t>
                    </m:r>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2</m:t>
                                    </m:r>
                                  </m:sub>
                                </m:sSub>
                                <m:r>
                                  <a:rPr lang="en-US" sz="1800" b="1" i="0" kern="1200" smtClean="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 </m:t>
                                </m:r>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2</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e>
                            </m:d>
                          </m:e>
                          <m:sup>
                            <m:r>
                              <a:rPr lang="en-ZA" sz="1800" b="1" kern="1200">
                                <a:solidFill>
                                  <a:schemeClr val="bg2"/>
                                </a:solidFill>
                                <a:latin typeface="Cambria Math" panose="02040503050406030204" pitchFamily="18" charset="0"/>
                                <a:cs typeface="Times New Roman" panose="02020603050405020304" pitchFamily="18" charset="0"/>
                              </a:rPr>
                              <m:t>2</m:t>
                            </m:r>
                          </m:sup>
                        </m:sSup>
                      </m:num>
                      <m:den>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2</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den>
                    </m:f>
                    <m:r>
                      <a:rPr lang="en-ZA" sz="1800" b="1" kern="1200">
                        <a:solidFill>
                          <a:schemeClr val="bg2"/>
                        </a:solidFill>
                        <a:latin typeface="Cambria Math" panose="02040503050406030204" pitchFamily="18" charset="0"/>
                        <a:cs typeface="Times New Roman" panose="02020603050405020304" pitchFamily="18" charset="0"/>
                      </a:rPr>
                      <m:t>+</m:t>
                    </m:r>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0</m:t>
                                    </m:r>
                                  </m:sub>
                                </m:sSub>
                                <m:r>
                                  <a:rPr lang="en-US" sz="1800" b="1" i="0" kern="1200" smtClean="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 </m:t>
                                </m:r>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0</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e>
                            </m:d>
                          </m:e>
                          <m:sup>
                            <m:r>
                              <a:rPr lang="en-ZA" sz="1800" b="1" kern="1200">
                                <a:solidFill>
                                  <a:schemeClr val="bg2"/>
                                </a:solidFill>
                                <a:latin typeface="Cambria Math" panose="02040503050406030204" pitchFamily="18" charset="0"/>
                                <a:cs typeface="Times New Roman" panose="02020603050405020304" pitchFamily="18" charset="0"/>
                              </a:rPr>
                              <m:t>2</m:t>
                            </m:r>
                          </m:sup>
                        </m:sSup>
                      </m:num>
                      <m:den>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0</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den>
                    </m:f>
                    <m:r>
                      <a:rPr lang="en-ZA" sz="1800" b="1" kern="1200">
                        <a:solidFill>
                          <a:schemeClr val="bg2"/>
                        </a:solidFill>
                        <a:latin typeface="Cambria Math" panose="02040503050406030204" pitchFamily="18" charset="0"/>
                        <a:cs typeface="Times New Roman" panose="02020603050405020304" pitchFamily="18" charset="0"/>
                      </a:rPr>
                      <m:t>+</m:t>
                    </m:r>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1</m:t>
                                    </m:r>
                                  </m:sub>
                                </m:sSub>
                                <m:r>
                                  <a:rPr lang="en-US" sz="1800" b="1" i="0" kern="1200" smtClean="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 </m:t>
                                </m:r>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1</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e>
                            </m:d>
                          </m:e>
                          <m:sup>
                            <m:r>
                              <a:rPr lang="en-ZA" sz="1800" b="1" kern="1200">
                                <a:solidFill>
                                  <a:schemeClr val="bg2"/>
                                </a:solidFill>
                                <a:latin typeface="Cambria Math" panose="02040503050406030204" pitchFamily="18" charset="0"/>
                                <a:cs typeface="Times New Roman" panose="02020603050405020304" pitchFamily="18" charset="0"/>
                              </a:rPr>
                              <m:t>2</m:t>
                            </m:r>
                          </m:sup>
                        </m:sSup>
                      </m:num>
                      <m:den>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1</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den>
                    </m:f>
                    <m:r>
                      <a:rPr lang="en-ZA" sz="1800" b="1" kern="1200">
                        <a:solidFill>
                          <a:schemeClr val="bg2"/>
                        </a:solidFill>
                        <a:latin typeface="Cambria Math" panose="02040503050406030204" pitchFamily="18" charset="0"/>
                        <a:cs typeface="Times New Roman" panose="02020603050405020304" pitchFamily="18" charset="0"/>
                      </a:rPr>
                      <m:t>+</m:t>
                    </m:r>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2</m:t>
                                    </m:r>
                                  </m:sub>
                                </m:sSub>
                                <m:r>
                                  <a:rPr lang="en-US" sz="1800" b="1" i="0" kern="1200" smtClean="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 </m:t>
                                </m:r>
                                <m:sSubSup>
                                  <m:sSubSupPr>
                                    <m:ctrlPr>
                                      <a:rPr lang="en-ZA" sz="1800" b="1" i="1" kern="1200" smtClean="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2</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e>
                            </m:d>
                          </m:e>
                          <m:sup>
                            <m:r>
                              <a:rPr lang="en-ZA" sz="1800" b="1" kern="1200">
                                <a:solidFill>
                                  <a:schemeClr val="bg2"/>
                                </a:solidFill>
                                <a:latin typeface="Cambria Math" panose="02040503050406030204" pitchFamily="18" charset="0"/>
                                <a:cs typeface="Times New Roman" panose="02020603050405020304" pitchFamily="18" charset="0"/>
                              </a:rPr>
                              <m:t>2</m:t>
                            </m:r>
                          </m:sup>
                        </m:sSup>
                      </m:num>
                      <m:den>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2</m:t>
                            </m:r>
                          </m:sub>
                          <m:sup>
                            <m:r>
                              <a:rPr lang="en-ZA" sz="1800" b="1" kern="1200">
                                <a:solidFill>
                                  <a:schemeClr val="bg2"/>
                                </a:solidFill>
                                <a:latin typeface="Cambria Math" panose="02040503050406030204" pitchFamily="18" charset="0"/>
                                <a:cs typeface="Times New Roman" panose="02020603050405020304" pitchFamily="18" charset="0"/>
                              </a:rPr>
                              <m:t>𝑒</m:t>
                            </m:r>
                          </m:sup>
                        </m:sSubSup>
                      </m:den>
                    </m:f>
                  </m:oMath>
                </a14:m>
                <a:endParaRPr lang="en-ZA" sz="1800" b="1" kern="1200" dirty="0">
                  <a:solidFill>
                    <a:schemeClr val="bg2"/>
                  </a:solidFill>
                  <a:latin typeface="Arial" panose="020B0604020202020204" pitchFamily="34" charset="0"/>
                  <a:cs typeface="Times New Roman" panose="02020603050405020304" pitchFamily="18" charset="0"/>
                </a:endParaRPr>
              </a:p>
              <a:p>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Under the null hypothesis of no association, asymptotically </a:t>
                </a:r>
                <a14:m>
                  <m:oMath xmlns:m="http://schemas.openxmlformats.org/officeDocument/2006/math">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r>
                          <a:rPr lang="en-ZA" sz="1800" b="1" kern="1200">
                            <a:solidFill>
                              <a:schemeClr val="bg2"/>
                            </a:solidFill>
                            <a:latin typeface="Cambria Math" panose="02040503050406030204" pitchFamily="18" charset="0"/>
                            <a:cs typeface="Times New Roman" panose="02020603050405020304" pitchFamily="18" charset="0"/>
                          </a:rPr>
                          <m:t>𝑥</m:t>
                        </m:r>
                      </m:e>
                      <m:sup>
                        <m:r>
                          <a:rPr lang="en-ZA" sz="1800" b="1" kern="1200">
                            <a:solidFill>
                              <a:schemeClr val="bg2"/>
                            </a:solidFill>
                            <a:latin typeface="Cambria Math" panose="02040503050406030204" pitchFamily="18" charset="0"/>
                            <a:cs typeface="Times New Roman" panose="02020603050405020304" pitchFamily="18" charset="0"/>
                          </a:rPr>
                          <m:t>2</m:t>
                        </m:r>
                      </m:sup>
                    </m:sSup>
                  </m:oMath>
                </a14:m>
                <a:r>
                  <a:rPr lang="en-ZA" sz="1800" b="1" kern="1200" dirty="0">
                    <a:solidFill>
                      <a:schemeClr val="bg2"/>
                    </a:solidFill>
                    <a:latin typeface="Arial" panose="020B0604020202020204" pitchFamily="34" charset="0"/>
                    <a:cs typeface="Times New Roman" panose="02020603050405020304" pitchFamily="18" charset="0"/>
                  </a:rPr>
                  <a:t> distributed with two degree of freedom (</a:t>
                </a:r>
                <a:r>
                  <a:rPr lang="en-ZA" sz="1800" b="1" kern="1200" dirty="0" err="1">
                    <a:solidFill>
                      <a:schemeClr val="bg2"/>
                    </a:solidFill>
                    <a:latin typeface="Arial" panose="020B0604020202020204" pitchFamily="34" charset="0"/>
                    <a:cs typeface="Times New Roman" panose="02020603050405020304" pitchFamily="18" charset="0"/>
                  </a:rPr>
                  <a:t>d.f.</a:t>
                </a:r>
                <a:r>
                  <a:rPr lang="en-ZA" sz="1800" b="1" kern="1200" dirty="0">
                    <a:solidFill>
                      <a:schemeClr val="bg2"/>
                    </a:solidFill>
                    <a:latin typeface="Arial" panose="020B0604020202020204" pitchFamily="34" charset="0"/>
                    <a:cs typeface="Times New Roman" panose="02020603050405020304" pitchFamily="18" charset="0"/>
                  </a:rPr>
                  <a:t>). The null hypothesis of no association is rejected for large values of the </a:t>
                </a:r>
                <a14:m>
                  <m:oMath xmlns:m="http://schemas.openxmlformats.org/officeDocument/2006/math">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r>
                          <a:rPr lang="en-ZA" sz="1800" b="1" kern="1200">
                            <a:solidFill>
                              <a:schemeClr val="bg2"/>
                            </a:solidFill>
                            <a:latin typeface="Cambria Math" panose="02040503050406030204" pitchFamily="18" charset="0"/>
                            <a:cs typeface="Times New Roman" panose="02020603050405020304" pitchFamily="18" charset="0"/>
                          </a:rPr>
                          <m:t>𝑥</m:t>
                        </m:r>
                      </m:e>
                      <m:sup>
                        <m:r>
                          <a:rPr lang="en-ZA" sz="1800" b="1" kern="1200">
                            <a:solidFill>
                              <a:schemeClr val="bg2"/>
                            </a:solidFill>
                            <a:latin typeface="Cambria Math" panose="02040503050406030204" pitchFamily="18" charset="0"/>
                            <a:cs typeface="Times New Roman" panose="02020603050405020304" pitchFamily="18" charset="0"/>
                          </a:rPr>
                          <m:t>2</m:t>
                        </m:r>
                      </m:sup>
                    </m:sSup>
                  </m:oMath>
                </a14:m>
                <a:r>
                  <a:rPr lang="en-ZA" sz="1800" b="1" kern="1200" dirty="0">
                    <a:solidFill>
                      <a:schemeClr val="bg2"/>
                    </a:solidFill>
                    <a:latin typeface="Arial" panose="020B0604020202020204" pitchFamily="34" charset="0"/>
                    <a:cs typeface="Times New Roman" panose="02020603050405020304" pitchFamily="18" charset="0"/>
                  </a:rPr>
                  <a:t> test statistic.</a:t>
                </a:r>
              </a:p>
            </p:txBody>
          </p:sp>
        </mc:Choice>
        <mc:Fallback>
          <p:sp>
            <p:nvSpPr>
              <p:cNvPr id="4" name="Content Placeholder 2">
                <a:extLst>
                  <a:ext uri="{FF2B5EF4-FFF2-40B4-BE49-F238E27FC236}">
                    <a16:creationId xmlns:a16="http://schemas.microsoft.com/office/drawing/2014/main" id="{F8F410C0-988E-4757-99FE-BACA2542EE37}"/>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3"/>
                <a:stretch>
                  <a:fillRect l="-421" t="-532"/>
                </a:stretch>
              </a:blipFill>
            </p:spPr>
            <p:txBody>
              <a:bodyPr/>
              <a:lstStyle/>
              <a:p>
                <a:r>
                  <a:rPr lang="en-US">
                    <a:noFill/>
                  </a:rPr>
                  <a:t> </a:t>
                </a:r>
              </a:p>
            </p:txBody>
          </p:sp>
        </mc:Fallback>
      </mc:AlternateContent>
    </p:spTree>
    <p:extLst>
      <p:ext uri="{BB962C8B-B14F-4D97-AF65-F5344CB8AC3E}">
        <p14:creationId xmlns:p14="http://schemas.microsoft.com/office/powerpoint/2010/main" val="30071421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246176" y="85344"/>
            <a:ext cx="9066906"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How can genetic association be tested?</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3F92BA6C-311C-4548-A9E7-3090BF212706}"/>
              </a:ext>
            </a:extLst>
          </p:cNvPr>
          <p:cNvSpPr>
            <a:spLocks noGrp="1"/>
          </p:cNvSpPr>
          <p:nvPr>
            <p:ph idx="1"/>
          </p:nvPr>
        </p:nvSpPr>
        <p:spPr>
          <a:xfrm>
            <a:off x="304800" y="879651"/>
            <a:ext cx="8688368" cy="5587410"/>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Genetic association tests depend on the underlying genetic model that is assumed.</a:t>
            </a:r>
          </a:p>
          <a:p>
            <a:r>
              <a:rPr lang="en-ZA" sz="1800" b="1" kern="1200" dirty="0">
                <a:solidFill>
                  <a:schemeClr val="bg2"/>
                </a:solidFill>
                <a:latin typeface="Arial" panose="020B0604020202020204" pitchFamily="34" charset="0"/>
                <a:cs typeface="Times New Roman" panose="02020603050405020304" pitchFamily="18" charset="0"/>
              </a:rPr>
              <a:t>These are: dominant model, recessive model, additive and over dominant model.</a:t>
            </a:r>
          </a:p>
          <a:p>
            <a:r>
              <a:rPr lang="en-ZA" sz="2400" b="1" kern="1200" dirty="0">
                <a:solidFill>
                  <a:schemeClr val="bg2"/>
                </a:solidFill>
                <a:latin typeface="Arial" panose="020B0604020202020204" pitchFamily="34" charset="0"/>
                <a:cs typeface="Times New Roman" panose="02020603050405020304" pitchFamily="18" charset="0"/>
              </a:rPr>
              <a:t>Dominant model: </a:t>
            </a:r>
            <a:r>
              <a:rPr lang="en-US" sz="1800" b="1" kern="1200" dirty="0">
                <a:solidFill>
                  <a:schemeClr val="bg2"/>
                </a:solidFill>
                <a:latin typeface="Arial" panose="020B0604020202020204" pitchFamily="34" charset="0"/>
                <a:cs typeface="Times New Roman" panose="02020603050405020304" pitchFamily="18" charset="0"/>
              </a:rPr>
              <a:t>A genetic association analysis mode that examines association with a dominant allele. The comparison groups are wild-type homozygous genotypes vs allele positivity (combining heterozygotes and homozygotes for the variant).</a:t>
            </a:r>
            <a:endParaRPr lang="en-ZA" sz="1800" b="1" kern="1200" dirty="0">
              <a:solidFill>
                <a:schemeClr val="bg2"/>
              </a:solidFill>
              <a:latin typeface="Arial" panose="020B0604020202020204" pitchFamily="34" charset="0"/>
              <a:cs typeface="Times New Roman" panose="02020603050405020304" pitchFamily="18" charset="0"/>
            </a:endParaRPr>
          </a:p>
          <a:p>
            <a:r>
              <a:rPr lang="en-ZA" sz="2400" b="1" kern="1200" dirty="0">
                <a:solidFill>
                  <a:schemeClr val="bg2"/>
                </a:solidFill>
                <a:latin typeface="Arial" panose="020B0604020202020204" pitchFamily="34" charset="0"/>
                <a:cs typeface="Times New Roman" panose="02020603050405020304" pitchFamily="18" charset="0"/>
              </a:rPr>
              <a:t>Recessive model: </a:t>
            </a:r>
            <a:r>
              <a:rPr lang="en-US" sz="1800" b="1" kern="1200" dirty="0">
                <a:solidFill>
                  <a:schemeClr val="bg2"/>
                </a:solidFill>
                <a:latin typeface="Arial" panose="020B0604020202020204" pitchFamily="34" charset="0"/>
                <a:cs typeface="Times New Roman" panose="02020603050405020304" pitchFamily="18" charset="0"/>
              </a:rPr>
              <a:t>A genetic association analysis mode that examines association with a recessive allele. The comparison groups are variant homozygous genotypes vs the rest (combining heterozygotes for the variant and homozygotes for the wild-type allele).</a:t>
            </a:r>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endParaRPr lang="en-ZA" sz="2400" b="1" kern="1200" dirty="0">
              <a:solidFill>
                <a:schemeClr val="bg2"/>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769303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2863078" y="85344"/>
            <a:ext cx="357181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Genetic Models</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3F92BA6C-311C-4548-A9E7-3090BF212706}"/>
                  </a:ext>
                </a:extLst>
              </p:cNvPr>
              <p:cNvSpPr>
                <a:spLocks noGrp="1"/>
              </p:cNvSpPr>
              <p:nvPr>
                <p:ph idx="1"/>
              </p:nvPr>
            </p:nvSpPr>
            <p:spPr>
              <a:xfrm>
                <a:off x="304800" y="879651"/>
                <a:ext cx="8688368" cy="5587410"/>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The genetic model describes the biological interaction between alleles on homologous chromosomes.</a:t>
                </a:r>
              </a:p>
              <a:p>
                <a:r>
                  <a:rPr lang="en-ZA" sz="1800" b="1" kern="1200" dirty="0">
                    <a:solidFill>
                      <a:schemeClr val="bg2"/>
                    </a:solidFill>
                    <a:latin typeface="Arial" panose="020B0604020202020204" pitchFamily="34" charset="0"/>
                    <a:cs typeface="Times New Roman" panose="02020603050405020304" pitchFamily="18" charset="0"/>
                  </a:rPr>
                  <a:t>Consider the simple case in which the possible alleles are A and T at a given SNP locus where A is the wildtype or most common allele and T is the variant or minor allele.</a:t>
                </a:r>
              </a:p>
              <a:p>
                <a:r>
                  <a:rPr lang="en-ZA" sz="1800" b="1" kern="1200" dirty="0">
                    <a:solidFill>
                      <a:schemeClr val="bg2"/>
                    </a:solidFill>
                    <a:latin typeface="Arial" panose="020B0604020202020204" pitchFamily="34" charset="0"/>
                    <a:cs typeface="Times New Roman" panose="02020603050405020304" pitchFamily="18" charset="0"/>
                  </a:rPr>
                  <a:t>Further suppose we are interested in a quantitative trait,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𝒚</m:t>
                    </m:r>
                  </m:oMath>
                </a14:m>
                <a:r>
                  <a:rPr lang="en-ZA" sz="1800" b="1" kern="1200" dirty="0">
                    <a:solidFill>
                      <a:schemeClr val="bg2"/>
                    </a:solidFill>
                    <a:latin typeface="Arial" panose="020B0604020202020204" pitchFamily="34" charset="0"/>
                    <a:cs typeface="Times New Roman" panose="02020603050405020304" pitchFamily="18" charset="0"/>
                  </a:rPr>
                  <a:t>. An additive model implies that if the effect of having a single copy of the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𝑻</m:t>
                    </m:r>
                  </m:oMath>
                </a14:m>
                <a:r>
                  <a:rPr lang="en-ZA" sz="1800" b="1" kern="1200" dirty="0">
                    <a:solidFill>
                      <a:schemeClr val="bg2"/>
                    </a:solidFill>
                    <a:latin typeface="Arial" panose="020B0604020202020204" pitchFamily="34" charset="0"/>
                    <a:cs typeface="Times New Roman" panose="02020603050405020304" pitchFamily="18" charset="0"/>
                  </a:rPr>
                  <a:t> allele is to increase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𝒚</m:t>
                    </m:r>
                  </m:oMath>
                </a14:m>
                <a:r>
                  <a:rPr lang="en-ZA" sz="1800" b="1" kern="1200" dirty="0">
                    <a:solidFill>
                      <a:schemeClr val="bg2"/>
                    </a:solidFill>
                    <a:latin typeface="Arial" panose="020B0604020202020204" pitchFamily="34" charset="0"/>
                    <a:cs typeface="Times New Roman" panose="02020603050405020304" pitchFamily="18" charset="0"/>
                  </a:rPr>
                  <a:t> by an amount equal to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𝜷</m:t>
                    </m:r>
                  </m:oMath>
                </a14:m>
                <a:r>
                  <a:rPr lang="en-ZA" sz="1800" b="1" kern="1200" dirty="0">
                    <a:solidFill>
                      <a:schemeClr val="bg2"/>
                    </a:solidFill>
                    <a:latin typeface="Arial" panose="020B0604020202020204" pitchFamily="34" charset="0"/>
                    <a:cs typeface="Times New Roman" panose="02020603050405020304" pitchFamily="18" charset="0"/>
                  </a:rPr>
                  <a:t>, then having two copies of the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𝑻</m:t>
                    </m:r>
                  </m:oMath>
                </a14:m>
                <a:r>
                  <a:rPr lang="en-ZA" sz="1800" b="1" kern="1200" dirty="0">
                    <a:solidFill>
                      <a:schemeClr val="bg2"/>
                    </a:solidFill>
                    <a:latin typeface="Arial" panose="020B0604020202020204" pitchFamily="34" charset="0"/>
                    <a:cs typeface="Times New Roman" panose="02020603050405020304" pitchFamily="18" charset="0"/>
                  </a:rPr>
                  <a:t> allele will increase y by 2</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𝜷</m:t>
                    </m:r>
                  </m:oMath>
                </a14:m>
                <a:r>
                  <a:rPr lang="en-ZA" sz="1800" b="1" kern="1200" dirty="0">
                    <a:solidFill>
                      <a:schemeClr val="bg2"/>
                    </a:solidFill>
                    <a:latin typeface="Arial" panose="020B0604020202020204" pitchFamily="34" charset="0"/>
                    <a:cs typeface="Times New Roman" panose="02020603050405020304" pitchFamily="18" charset="0"/>
                  </a:rPr>
                  <a:t>.</a:t>
                </a:r>
              </a:p>
              <a:p>
                <a:r>
                  <a:rPr lang="en-ZA" sz="1800" b="1" kern="1200" dirty="0">
                    <a:solidFill>
                      <a:schemeClr val="bg2"/>
                    </a:solidFill>
                    <a:latin typeface="Arial" panose="020B0604020202020204" pitchFamily="34" charset="0"/>
                    <a:cs typeface="Times New Roman" panose="02020603050405020304" pitchFamily="18" charset="0"/>
                  </a:rPr>
                  <a:t>If we let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𝑰</m:t>
                    </m:r>
                  </m:oMath>
                </a14:m>
                <a:r>
                  <a:rPr lang="en-ZA" sz="1800" b="1" kern="1200" dirty="0">
                    <a:solidFill>
                      <a:schemeClr val="bg2"/>
                    </a:solidFill>
                    <a:latin typeface="Arial" panose="020B0604020202020204" pitchFamily="34" charset="0"/>
                    <a:cs typeface="Times New Roman" panose="02020603050405020304" pitchFamily="18" charset="0"/>
                  </a:rPr>
                  <a:t>(</a:t>
                </a:r>
                <a14:m>
                  <m:oMath xmlns:m="http://schemas.openxmlformats.org/officeDocument/2006/math">
                    <m:sSub>
                      <m:sSubPr>
                        <m:ctrlPr>
                          <a:rPr lang="en-ZA" sz="1800" b="1" i="1" kern="1200" smtClean="0">
                            <a:solidFill>
                              <a:schemeClr val="bg2"/>
                            </a:solidFill>
                            <a:latin typeface="Cambria Math" panose="02040503050406030204" pitchFamily="18" charset="0"/>
                            <a:cs typeface="Times New Roman" panose="02020603050405020304" pitchFamily="18" charset="0"/>
                          </a:rPr>
                        </m:ctrlPr>
                      </m:sSubPr>
                      <m:e>
                        <m:r>
                          <a:rPr lang="en-ZA" sz="1800" b="1" i="1" kern="1200" smtClean="0">
                            <a:solidFill>
                              <a:schemeClr val="bg2"/>
                            </a:solidFill>
                            <a:latin typeface="Cambria Math" panose="02040503050406030204" pitchFamily="18" charset="0"/>
                            <a:cs typeface="Times New Roman" panose="02020603050405020304" pitchFamily="18" charset="0"/>
                          </a:rPr>
                          <m:t>𝒙</m:t>
                        </m:r>
                      </m:e>
                      <m:sub>
                        <m:r>
                          <a:rPr lang="en-ZA" sz="1800" b="1" i="1" kern="1200" smtClean="0">
                            <a:solidFill>
                              <a:schemeClr val="bg2"/>
                            </a:solidFill>
                            <a:latin typeface="Cambria Math" panose="02040503050406030204" pitchFamily="18" charset="0"/>
                            <a:cs typeface="Times New Roman" panose="02020603050405020304" pitchFamily="18" charset="0"/>
                          </a:rPr>
                          <m:t>𝒊</m:t>
                        </m:r>
                        <m:r>
                          <a:rPr lang="en-ZA" sz="1800" b="1" i="1" kern="1200" smtClean="0">
                            <a:solidFill>
                              <a:schemeClr val="bg2"/>
                            </a:solidFill>
                            <a:latin typeface="Cambria Math" panose="02040503050406030204" pitchFamily="18" charset="0"/>
                            <a:cs typeface="Times New Roman" panose="02020603050405020304" pitchFamily="18" charset="0"/>
                          </a:rPr>
                          <m:t>,</m:t>
                        </m:r>
                        <m:r>
                          <a:rPr lang="en-ZA" sz="1800" b="1" i="1" kern="1200" smtClean="0">
                            <a:solidFill>
                              <a:schemeClr val="bg2"/>
                            </a:solidFill>
                            <a:latin typeface="Cambria Math" panose="02040503050406030204" pitchFamily="18" charset="0"/>
                            <a:cs typeface="Times New Roman" panose="02020603050405020304" pitchFamily="18" charset="0"/>
                          </a:rPr>
                          <m:t>𝒌</m:t>
                        </m:r>
                      </m:sub>
                    </m:sSub>
                  </m:oMath>
                </a14:m>
                <a:r>
                  <a:rPr lang="en-ZA" sz="1800" b="1" kern="1200" dirty="0">
                    <a:solidFill>
                      <a:schemeClr val="bg2"/>
                    </a:solidFill>
                    <a:latin typeface="Arial" panose="020B0604020202020204" pitchFamily="34" charset="0"/>
                    <a:cs typeface="Times New Roman" panose="02020603050405020304" pitchFamily="18" charset="0"/>
                  </a:rPr>
                  <a:t> =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𝑻</m:t>
                    </m:r>
                  </m:oMath>
                </a14:m>
                <a:r>
                  <a:rPr lang="en-ZA" sz="1800" b="1" kern="1200" dirty="0">
                    <a:solidFill>
                      <a:schemeClr val="bg2"/>
                    </a:solidFill>
                    <a:latin typeface="Arial" panose="020B0604020202020204" pitchFamily="34" charset="0"/>
                    <a:cs typeface="Times New Roman" panose="02020603050405020304" pitchFamily="18" charset="0"/>
                  </a:rPr>
                  <a:t>) be an indicator for whether the allele on the kth homolog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𝒌</m:t>
                    </m:r>
                  </m:oMath>
                </a14:m>
                <a:r>
                  <a:rPr lang="en-ZA" sz="1800" b="1" kern="1200" dirty="0">
                    <a:solidFill>
                      <a:schemeClr val="bg2"/>
                    </a:solidFill>
                    <a:latin typeface="Arial" panose="020B0604020202020204" pitchFamily="34" charset="0"/>
                    <a:cs typeface="Times New Roman" panose="02020603050405020304" pitchFamily="18" charset="0"/>
                  </a:rPr>
                  <a:t> = </a:t>
                </a:r>
                <a:r>
                  <a:rPr lang="en-ZA" sz="1800" b="1" kern="1200" dirty="0" smtClean="0">
                    <a:solidFill>
                      <a:schemeClr val="bg2"/>
                    </a:solidFill>
                    <a:latin typeface="Arial" panose="020B0604020202020204" pitchFamily="34" charset="0"/>
                    <a:cs typeface="Times New Roman" panose="02020603050405020304" pitchFamily="18" charset="0"/>
                  </a:rPr>
                  <a:t>1, </a:t>
                </a:r>
                <a:r>
                  <a:rPr lang="en-ZA" sz="1800" b="1" kern="1200" dirty="0">
                    <a:solidFill>
                      <a:schemeClr val="bg2"/>
                    </a:solidFill>
                    <a:latin typeface="Arial" panose="020B0604020202020204" pitchFamily="34" charset="0"/>
                    <a:cs typeface="Times New Roman" panose="02020603050405020304" pitchFamily="18" charset="0"/>
                  </a:rPr>
                  <a:t>2) is equal to T for individual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𝒊</m:t>
                    </m:r>
                  </m:oMath>
                </a14:m>
                <a:r>
                  <a:rPr lang="en-ZA" sz="1800" b="1" kern="1200" dirty="0">
                    <a:solidFill>
                      <a:schemeClr val="bg2"/>
                    </a:solidFill>
                    <a:latin typeface="Arial" panose="020B0604020202020204" pitchFamily="34" charset="0"/>
                    <a:cs typeface="Times New Roman" panose="02020603050405020304" pitchFamily="18" charset="0"/>
                  </a:rPr>
                  <a:t>, then an additive genetic model for this SNP locus is written explicitly </a:t>
                </a:r>
                <a:r>
                  <a:rPr lang="en-ZA" sz="1800" b="1" kern="1200" dirty="0" smtClean="0">
                    <a:solidFill>
                      <a:schemeClr val="bg2"/>
                    </a:solidFill>
                    <a:latin typeface="Arial" panose="020B0604020202020204" pitchFamily="34" charset="0"/>
                    <a:cs typeface="Times New Roman" panose="02020603050405020304" pitchFamily="18" charset="0"/>
                  </a:rPr>
                  <a:t>as</a:t>
                </a:r>
              </a:p>
              <a:p>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ZA" sz="1800" b="1" i="1" kern="1200" smtClean="0">
                              <a:solidFill>
                                <a:schemeClr val="bg2"/>
                              </a:solidFill>
                              <a:latin typeface="Cambria Math" panose="02040503050406030204" pitchFamily="18" charset="0"/>
                              <a:cs typeface="Times New Roman" panose="02020603050405020304" pitchFamily="18" charset="0"/>
                            </a:rPr>
                          </m:ctrlPr>
                        </m:sSubPr>
                        <m:e>
                          <m:r>
                            <a:rPr lang="en-ZA" sz="1800" b="1" i="1" kern="1200" smtClean="0">
                              <a:solidFill>
                                <a:schemeClr val="bg2"/>
                              </a:solidFill>
                              <a:latin typeface="Cambria Math" panose="02040503050406030204" pitchFamily="18" charset="0"/>
                              <a:cs typeface="Times New Roman" panose="02020603050405020304" pitchFamily="18" charset="0"/>
                            </a:rPr>
                            <m:t>𝒚</m:t>
                          </m:r>
                        </m:e>
                        <m:sub>
                          <m:r>
                            <a:rPr lang="en-ZA" sz="1800" b="1" i="1" kern="1200" smtClean="0">
                              <a:solidFill>
                                <a:schemeClr val="bg2"/>
                              </a:solidFill>
                              <a:latin typeface="Cambria Math" panose="02040503050406030204" pitchFamily="18" charset="0"/>
                              <a:cs typeface="Times New Roman" panose="02020603050405020304" pitchFamily="18" charset="0"/>
                            </a:rPr>
                            <m:t>𝒊</m:t>
                          </m:r>
                        </m:sub>
                      </m:sSub>
                      <m:r>
                        <a:rPr lang="en-ZA" sz="1800" b="1" i="1" kern="1200" smtClean="0">
                          <a:solidFill>
                            <a:schemeClr val="bg2"/>
                          </a:solidFill>
                          <a:latin typeface="Cambria Math" panose="02040503050406030204" pitchFamily="18" charset="0"/>
                          <a:cs typeface="Times New Roman" panose="02020603050405020304" pitchFamily="18" charset="0"/>
                        </a:rPr>
                        <m:t>=</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𝜶</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𝜷</m:t>
                      </m:r>
                      <m:d>
                        <m:dPr>
                          <m:begChr m:val="["/>
                          <m:endChr m:val="]"/>
                          <m:ctrlP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dPr>
                        <m:e>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𝑰</m:t>
                          </m:r>
                          <m:d>
                            <m:dPr>
                              <m:ctrlP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𝒙</m:t>
                                  </m:r>
                                </m:e>
                                <m:sub>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𝟏</m:t>
                                  </m:r>
                                </m:sub>
                              </m:sSub>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𝑻</m:t>
                              </m:r>
                            </m:e>
                          </m:d>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𝑰</m:t>
                          </m:r>
                          <m:d>
                            <m:d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𝒙</m:t>
                                  </m:r>
                                </m:e>
                                <m: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𝟐</m:t>
                                  </m:r>
                                </m:sub>
                              </m:s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𝑻</m:t>
                              </m:r>
                            </m:e>
                          </m:d>
                        </m:e>
                      </m:d>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𝜺</m:t>
                          </m:r>
                        </m:e>
                        <m:sub>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sub>
                      </m:sSub>
                    </m:oMath>
                  </m:oMathPara>
                </a14:m>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A dominant genetic model, on the other hand, assumes that having one or more copies of the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𝑻</m:t>
                    </m:r>
                  </m:oMath>
                </a14:m>
                <a:r>
                  <a:rPr lang="en-ZA" sz="1800" b="1" kern="1200" dirty="0">
                    <a:solidFill>
                      <a:schemeClr val="bg2"/>
                    </a:solidFill>
                    <a:latin typeface="Arial" panose="020B0604020202020204" pitchFamily="34" charset="0"/>
                    <a:cs typeface="Times New Roman" panose="02020603050405020304" pitchFamily="18" charset="0"/>
                  </a:rPr>
                  <a:t> allele will result in a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𝜷</m:t>
                    </m:r>
                  </m:oMath>
                </a14:m>
                <a:r>
                  <a:rPr lang="en-ZA" sz="1800" b="1" kern="1200" dirty="0">
                    <a:solidFill>
                      <a:schemeClr val="bg2"/>
                    </a:solidFill>
                    <a:latin typeface="Arial" panose="020B0604020202020204" pitchFamily="34" charset="0"/>
                    <a:cs typeface="Times New Roman" panose="02020603050405020304" pitchFamily="18" charset="0"/>
                  </a:rPr>
                  <a:t> increase in the quantitative trait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𝒚</m:t>
                    </m:r>
                  </m:oMath>
                </a14:m>
                <a:r>
                  <a:rPr lang="en-ZA" sz="1800" b="1" kern="1200" dirty="0">
                    <a:solidFill>
                      <a:schemeClr val="bg2"/>
                    </a:solidFill>
                    <a:latin typeface="Arial" panose="020B0604020202020204" pitchFamily="34" charset="0"/>
                    <a:cs typeface="Times New Roman" panose="02020603050405020304" pitchFamily="18" charset="0"/>
                  </a:rPr>
                  <a:t> and is given by</a:t>
                </a:r>
              </a:p>
              <a:p>
                <a:pPr marL="0" indent="0">
                  <a:buNone/>
                </a:pPr>
                <a14:m>
                  <m:oMathPara xmlns:m="http://schemas.openxmlformats.org/officeDocument/2006/math">
                    <m:oMathParaPr>
                      <m:jc m:val="centerGroup"/>
                    </m:oMathParaPr>
                    <m:oMath xmlns:m="http://schemas.openxmlformats.org/officeDocument/2006/math">
                      <m:sSub>
                        <m:sSubPr>
                          <m:ctrlPr>
                            <a:rPr lang="en-ZA" sz="1800" b="1" i="1" kern="1200" smtClean="0">
                              <a:solidFill>
                                <a:schemeClr val="bg2"/>
                              </a:solidFill>
                              <a:latin typeface="Cambria Math" panose="02040503050406030204" pitchFamily="18" charset="0"/>
                              <a:cs typeface="Times New Roman" panose="02020603050405020304" pitchFamily="18" charset="0"/>
                            </a:rPr>
                          </m:ctrlPr>
                        </m:sSubPr>
                        <m:e>
                          <m:r>
                            <a:rPr lang="en-ZA" sz="1800" b="1" i="1" kern="1200" smtClean="0">
                              <a:solidFill>
                                <a:schemeClr val="bg2"/>
                              </a:solidFill>
                              <a:latin typeface="Cambria Math" panose="02040503050406030204" pitchFamily="18" charset="0"/>
                              <a:cs typeface="Times New Roman" panose="02020603050405020304" pitchFamily="18" charset="0"/>
                            </a:rPr>
                            <m:t>𝒚</m:t>
                          </m:r>
                        </m:e>
                        <m:sub>
                          <m:r>
                            <a:rPr lang="en-ZA" sz="1800" b="1" i="1" kern="1200" smtClean="0">
                              <a:solidFill>
                                <a:schemeClr val="bg2"/>
                              </a:solidFill>
                              <a:latin typeface="Cambria Math" panose="02040503050406030204" pitchFamily="18" charset="0"/>
                              <a:cs typeface="Times New Roman" panose="02020603050405020304" pitchFamily="18" charset="0"/>
                            </a:rPr>
                            <m:t>𝒊</m:t>
                          </m:r>
                        </m:sub>
                      </m:sSub>
                      <m:r>
                        <a:rPr lang="en-ZA" sz="1800" b="1" i="1" kern="1200" smtClean="0">
                          <a:solidFill>
                            <a:schemeClr val="bg2"/>
                          </a:solidFill>
                          <a:latin typeface="Cambria Math" panose="02040503050406030204" pitchFamily="18" charset="0"/>
                          <a:cs typeface="Times New Roman" panose="02020603050405020304" pitchFamily="18" charset="0"/>
                        </a:rPr>
                        <m:t>=</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𝜶</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𝜷</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𝑰</m:t>
                      </m:r>
                      <m:d>
                        <m:d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𝒙</m:t>
                              </m:r>
                            </m:e>
                            <m: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𝟏</m:t>
                              </m:r>
                            </m:sub>
                          </m:s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𝑻</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𝒐𝒓</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𝒙</m:t>
                              </m:r>
                            </m:e>
                            <m: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𝟐</m:t>
                              </m:r>
                            </m:sub>
                          </m:s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𝑻</m:t>
                          </m:r>
                        </m:e>
                      </m:d>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𝜺</m:t>
                          </m:r>
                        </m:e>
                        <m:sub>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sub>
                      </m:sSub>
                    </m:oMath>
                  </m:oMathPara>
                </a14:m>
                <a:endParaRPr lang="en-ZA" sz="1800" b="1" kern="1200" dirty="0">
                  <a:solidFill>
                    <a:schemeClr val="bg2"/>
                  </a:solidFill>
                  <a:latin typeface="Arial" panose="020B0604020202020204" pitchFamily="34" charset="0"/>
                  <a:cs typeface="Times New Roman" panose="02020603050405020304" pitchFamily="18" charset="0"/>
                </a:endParaRPr>
              </a:p>
            </p:txBody>
          </p:sp>
        </mc:Choice>
        <mc:Fallback>
          <p:sp>
            <p:nvSpPr>
              <p:cNvPr id="4" name="Content Placeholder 2">
                <a:extLst>
                  <a:ext uri="{FF2B5EF4-FFF2-40B4-BE49-F238E27FC236}">
                    <a16:creationId xmlns:a16="http://schemas.microsoft.com/office/drawing/2014/main" id="{3F92BA6C-311C-4548-A9E7-3090BF212706}"/>
                  </a:ext>
                </a:extLst>
              </p:cNvPr>
              <p:cNvSpPr>
                <a:spLocks noGrp="1" noRot="1" noChangeAspect="1" noMove="1" noResize="1" noEditPoints="1" noAdjustHandles="1" noChangeArrowheads="1" noChangeShapeType="1" noTextEdit="1"/>
              </p:cNvSpPr>
              <p:nvPr>
                <p:ph idx="1"/>
              </p:nvPr>
            </p:nvSpPr>
            <p:spPr>
              <a:xfrm>
                <a:off x="304800" y="879651"/>
                <a:ext cx="8688368" cy="5587410"/>
              </a:xfrm>
              <a:blipFill>
                <a:blip r:embed="rId3"/>
                <a:stretch>
                  <a:fillRect l="-421" t="-545" r="-772"/>
                </a:stretch>
              </a:blipFill>
            </p:spPr>
            <p:txBody>
              <a:bodyPr/>
              <a:lstStyle/>
              <a:p>
                <a:r>
                  <a:rPr lang="en-US">
                    <a:noFill/>
                  </a:rPr>
                  <a:t> </a:t>
                </a:r>
              </a:p>
            </p:txBody>
          </p:sp>
        </mc:Fallback>
      </mc:AlternateContent>
    </p:spTree>
    <p:extLst>
      <p:ext uri="{BB962C8B-B14F-4D97-AF65-F5344CB8AC3E}">
        <p14:creationId xmlns:p14="http://schemas.microsoft.com/office/powerpoint/2010/main" val="1177259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2863078" y="85344"/>
            <a:ext cx="357181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Genetic Models</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3F92BA6C-311C-4548-A9E7-3090BF212706}"/>
                  </a:ext>
                </a:extLst>
              </p:cNvPr>
              <p:cNvSpPr>
                <a:spLocks noGrp="1"/>
              </p:cNvSpPr>
              <p:nvPr>
                <p:ph idx="1"/>
              </p:nvPr>
            </p:nvSpPr>
            <p:spPr>
              <a:xfrm>
                <a:off x="304800" y="879651"/>
                <a:ext cx="8688368" cy="5587410"/>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Finally, a recessive model assumes that both homologs must contain the rare allele in order for the effect to be present. Formally, this model is written</a:t>
                </a:r>
              </a:p>
              <a:p>
                <a:pPr marL="0" indent="0">
                  <a:buNone/>
                </a:pPr>
                <a14:m>
                  <m:oMathPara xmlns:m="http://schemas.openxmlformats.org/officeDocument/2006/math">
                    <m:oMathParaPr>
                      <m:jc m:val="centerGroup"/>
                    </m:oMathParaPr>
                    <m:oMath xmlns:m="http://schemas.openxmlformats.org/officeDocument/2006/math">
                      <m:sSub>
                        <m:sSubPr>
                          <m:ctrlPr>
                            <a:rPr lang="en-ZA" sz="1800" b="1" i="1" kern="1200" smtClean="0">
                              <a:solidFill>
                                <a:schemeClr val="bg2"/>
                              </a:solidFill>
                              <a:latin typeface="Cambria Math" panose="02040503050406030204" pitchFamily="18" charset="0"/>
                              <a:cs typeface="Times New Roman" panose="02020603050405020304" pitchFamily="18" charset="0"/>
                            </a:rPr>
                          </m:ctrlPr>
                        </m:sSubPr>
                        <m:e>
                          <m:r>
                            <a:rPr lang="en-ZA" sz="1800" b="1" i="1" kern="1200" smtClean="0">
                              <a:solidFill>
                                <a:schemeClr val="bg2"/>
                              </a:solidFill>
                              <a:latin typeface="Cambria Math" panose="02040503050406030204" pitchFamily="18" charset="0"/>
                              <a:cs typeface="Times New Roman" panose="02020603050405020304" pitchFamily="18" charset="0"/>
                            </a:rPr>
                            <m:t>𝒚</m:t>
                          </m:r>
                        </m:e>
                        <m:sub>
                          <m:r>
                            <a:rPr lang="en-ZA" sz="1800" b="1" i="1" kern="1200" smtClean="0">
                              <a:solidFill>
                                <a:schemeClr val="bg2"/>
                              </a:solidFill>
                              <a:latin typeface="Cambria Math" panose="02040503050406030204" pitchFamily="18" charset="0"/>
                              <a:cs typeface="Times New Roman" panose="02020603050405020304" pitchFamily="18" charset="0"/>
                            </a:rPr>
                            <m:t>𝒊</m:t>
                          </m:r>
                        </m:sub>
                      </m:sSub>
                      <m:r>
                        <a:rPr lang="en-ZA" sz="1800" b="1" i="1" kern="1200" smtClean="0">
                          <a:solidFill>
                            <a:schemeClr val="bg2"/>
                          </a:solidFill>
                          <a:latin typeface="Cambria Math" panose="02040503050406030204" pitchFamily="18" charset="0"/>
                          <a:cs typeface="Times New Roman" panose="02020603050405020304" pitchFamily="18" charset="0"/>
                        </a:rPr>
                        <m:t>=</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𝜶</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𝜷</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𝑰</m:t>
                      </m:r>
                      <m:d>
                        <m:d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𝒙</m:t>
                              </m:r>
                            </m:e>
                            <m: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𝟏</m:t>
                              </m:r>
                            </m:sub>
                          </m:s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𝑻</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𝑰</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𝒙</m:t>
                              </m:r>
                            </m:e>
                            <m: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𝟐</m:t>
                              </m:r>
                            </m:sub>
                          </m:s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𝑻</m:t>
                          </m:r>
                        </m:e>
                      </m:d>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𝜺</m:t>
                          </m:r>
                        </m:e>
                        <m:sub>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sub>
                      </m:sSub>
                    </m:oMath>
                  </m:oMathPara>
                </a14:m>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It is important to note that any model of association can be coupled with an underlying genetic model.</a:t>
                </a:r>
              </a:p>
              <a:p>
                <a:r>
                  <a:rPr lang="en-ZA" sz="1800" b="1" kern="1200" dirty="0">
                    <a:solidFill>
                      <a:schemeClr val="bg2"/>
                    </a:solidFill>
                    <a:latin typeface="Arial" panose="020B0604020202020204" pitchFamily="34" charset="0"/>
                    <a:cs typeface="Times New Roman" panose="02020603050405020304" pitchFamily="18" charset="0"/>
                  </a:rPr>
                  <a:t>For example, an additive model of association with a dominant genetic model across all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𝑴</m:t>
                    </m:r>
                  </m:oMath>
                </a14:m>
                <a:r>
                  <a:rPr lang="en-ZA" sz="1800" b="1" kern="1200" dirty="0">
                    <a:solidFill>
                      <a:schemeClr val="bg2"/>
                    </a:solidFill>
                    <a:latin typeface="Arial" panose="020B0604020202020204" pitchFamily="34" charset="0"/>
                    <a:cs typeface="Times New Roman" panose="02020603050405020304" pitchFamily="18" charset="0"/>
                  </a:rPr>
                  <a:t> loci is written</a:t>
                </a:r>
              </a:p>
              <a:p>
                <a:pPr marL="0" indent="0">
                  <a:buNone/>
                </a:pPr>
                <a14:m>
                  <m:oMathPara xmlns:m="http://schemas.openxmlformats.org/officeDocument/2006/math">
                    <m:oMathParaPr>
                      <m:jc m:val="centerGroup"/>
                    </m:oMathParaPr>
                    <m:oMath xmlns:m="http://schemas.openxmlformats.org/officeDocument/2006/math">
                      <m:sSub>
                        <m:sSubPr>
                          <m:ctrlPr>
                            <a:rPr lang="en-ZA" sz="1800" b="1" i="1" kern="1200" smtClean="0">
                              <a:solidFill>
                                <a:schemeClr val="bg2"/>
                              </a:solidFill>
                              <a:latin typeface="Cambria Math" panose="02040503050406030204" pitchFamily="18" charset="0"/>
                              <a:cs typeface="Times New Roman" panose="02020603050405020304" pitchFamily="18" charset="0"/>
                            </a:rPr>
                          </m:ctrlPr>
                        </m:sSubPr>
                        <m:e>
                          <m:r>
                            <a:rPr lang="en-ZA" sz="1800" b="1" i="1" kern="1200" smtClean="0">
                              <a:solidFill>
                                <a:schemeClr val="bg2"/>
                              </a:solidFill>
                              <a:latin typeface="Cambria Math" panose="02040503050406030204" pitchFamily="18" charset="0"/>
                              <a:cs typeface="Times New Roman" panose="02020603050405020304" pitchFamily="18" charset="0"/>
                            </a:rPr>
                            <m:t>𝒚</m:t>
                          </m:r>
                        </m:e>
                        <m:sub>
                          <m:r>
                            <a:rPr lang="en-ZA" sz="1800" b="1" i="1" kern="1200" smtClean="0">
                              <a:solidFill>
                                <a:schemeClr val="bg2"/>
                              </a:solidFill>
                              <a:latin typeface="Cambria Math" panose="02040503050406030204" pitchFamily="18" charset="0"/>
                              <a:cs typeface="Times New Roman" panose="02020603050405020304" pitchFamily="18" charset="0"/>
                            </a:rPr>
                            <m:t>𝒊</m:t>
                          </m:r>
                        </m:sub>
                      </m:sSub>
                      <m:r>
                        <a:rPr lang="en-ZA" sz="1800" b="1" i="1" kern="1200" smtClean="0">
                          <a:solidFill>
                            <a:schemeClr val="bg2"/>
                          </a:solidFill>
                          <a:latin typeface="Cambria Math" panose="02040503050406030204" pitchFamily="18" charset="0"/>
                          <a:cs typeface="Times New Roman" panose="02020603050405020304" pitchFamily="18" charset="0"/>
                        </a:rPr>
                        <m:t>=</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𝜶</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nary>
                        <m:naryPr>
                          <m:chr m:val="∑"/>
                          <m:ctrlP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naryPr>
                        <m:sub>
                          <m:r>
                            <m:rPr>
                              <m:brk m:alnAt="23"/>
                            </m:rP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𝒋</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𝟏</m:t>
                          </m:r>
                        </m:sub>
                        <m:sup>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𝑴</m:t>
                          </m:r>
                        </m:sup>
                        <m:e>
                          <m:sSub>
                            <m:sSubPr>
                              <m:ctrlP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𝜷</m:t>
                              </m:r>
                            </m:e>
                            <m:sub>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𝒋</m:t>
                              </m:r>
                            </m:sub>
                          </m:s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𝑰</m:t>
                          </m:r>
                          <m:d>
                            <m:d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𝒙</m:t>
                                  </m:r>
                                </m:e>
                                <m: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𝒋</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𝟏</m:t>
                                  </m:r>
                                </m:sub>
                              </m:s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𝑻</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𝒐𝒓</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𝒙</m:t>
                                  </m:r>
                                </m:e>
                                <m: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r>
                                    <a:rPr lang="en-ZA" sz="1800" b="1" i="1" kern="1200" smtClean="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𝒋</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𝟐</m:t>
                                  </m:r>
                                </m:sub>
                              </m:s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m:t>
                              </m:r>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𝑻</m:t>
                              </m:r>
                            </m:e>
                          </m:d>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𝜺</m:t>
                              </m:r>
                            </m:e>
                            <m:sub>
                              <m:r>
                                <a:rPr lang="en-ZA" sz="1800" b="1" i="1" kern="1200">
                                  <a:solidFill>
                                    <a:schemeClr val="bg2"/>
                                  </a:solidFill>
                                  <a:latin typeface="Cambria Math" panose="02040503050406030204" pitchFamily="18" charset="0"/>
                                  <a:ea typeface="Cambria Math" panose="02040503050406030204" pitchFamily="18" charset="0"/>
                                  <a:cs typeface="Times New Roman" panose="02020603050405020304" pitchFamily="18" charset="0"/>
                                </a:rPr>
                                <m:t>𝒊</m:t>
                              </m:r>
                            </m:sub>
                          </m:sSub>
                        </m:e>
                      </m:nary>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r>
                  <a:rPr lang="en-ZA" sz="1800" b="1" kern="1200" dirty="0" smtClean="0">
                    <a:solidFill>
                      <a:schemeClr val="bg2"/>
                    </a:solidFill>
                    <a:latin typeface="Arial" panose="020B0604020202020204" pitchFamily="34" charset="0"/>
                    <a:cs typeface="Times New Roman" panose="02020603050405020304" pitchFamily="18" charset="0"/>
                  </a:rPr>
                  <a:t>    where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𝒙</m:t>
                        </m:r>
                      </m:e>
                      <m:sub>
                        <m:r>
                          <a:rPr lang="en-ZA" sz="1800" b="1" kern="1200">
                            <a:solidFill>
                              <a:schemeClr val="bg2"/>
                            </a:solidFill>
                            <a:latin typeface="Cambria Math" panose="02040503050406030204" pitchFamily="18" charset="0"/>
                            <a:cs typeface="Times New Roman" panose="02020603050405020304" pitchFamily="18" charset="0"/>
                          </a:rPr>
                          <m:t>𝒊𝒋</m:t>
                        </m:r>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𝒌</m:t>
                        </m:r>
                      </m:sub>
                    </m:sSub>
                  </m:oMath>
                </a14:m>
                <a:r>
                  <a:rPr lang="en-ZA" sz="1800" b="1" kern="1200" dirty="0">
                    <a:solidFill>
                      <a:schemeClr val="bg2"/>
                    </a:solidFill>
                    <a:latin typeface="Arial" panose="020B0604020202020204" pitchFamily="34" charset="0"/>
                    <a:cs typeface="Times New Roman" panose="02020603050405020304" pitchFamily="18" charset="0"/>
                  </a:rPr>
                  <a:t> is the observed base on the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𝒌</m:t>
                    </m:r>
                  </m:oMath>
                </a14:m>
                <a:r>
                  <a:rPr lang="en-ZA" sz="1800" b="1" kern="1200" dirty="0">
                    <a:solidFill>
                      <a:schemeClr val="bg2"/>
                    </a:solidFill>
                    <a:latin typeface="Arial" panose="020B0604020202020204" pitchFamily="34" charset="0"/>
                    <a:cs typeface="Times New Roman" panose="02020603050405020304" pitchFamily="18" charset="0"/>
                  </a:rPr>
                  <a:t>th homolog at the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𝒋</m:t>
                    </m:r>
                  </m:oMath>
                </a14:m>
                <a:r>
                  <a:rPr lang="en-ZA" sz="1800" b="1" kern="1200" dirty="0" err="1">
                    <a:solidFill>
                      <a:schemeClr val="bg2"/>
                    </a:solidFill>
                    <a:latin typeface="Arial" panose="020B0604020202020204" pitchFamily="34" charset="0"/>
                    <a:cs typeface="Times New Roman" panose="02020603050405020304" pitchFamily="18" charset="0"/>
                  </a:rPr>
                  <a:t>th</a:t>
                </a:r>
                <a:r>
                  <a:rPr lang="en-ZA" sz="1800" b="1" kern="1200" dirty="0">
                    <a:solidFill>
                      <a:schemeClr val="bg2"/>
                    </a:solidFill>
                    <a:latin typeface="Arial" panose="020B0604020202020204" pitchFamily="34" charset="0"/>
                    <a:cs typeface="Times New Roman" panose="02020603050405020304" pitchFamily="18" charset="0"/>
                  </a:rPr>
                  <a:t> locus for </a:t>
                </a:r>
                <a:r>
                  <a:rPr lang="en-ZA" sz="1800" b="1" kern="1200" dirty="0" smtClean="0">
                    <a:solidFill>
                      <a:schemeClr val="bg2"/>
                    </a:solidFill>
                    <a:latin typeface="Arial" panose="020B0604020202020204" pitchFamily="34" charset="0"/>
                    <a:cs typeface="Times New Roman" panose="02020603050405020304" pitchFamily="18" charset="0"/>
                  </a:rPr>
                  <a:t>    </a:t>
                </a:r>
              </a:p>
              <a:p>
                <a:pPr marL="0" indent="0">
                  <a:buNone/>
                </a:pPr>
                <a:r>
                  <a:rPr lang="en-ZA" sz="1800" b="1" kern="1200" dirty="0" smtClean="0">
                    <a:solidFill>
                      <a:schemeClr val="bg2"/>
                    </a:solidFill>
                    <a:latin typeface="Arial" panose="020B0604020202020204" pitchFamily="34" charset="0"/>
                    <a:cs typeface="Times New Roman" panose="02020603050405020304" pitchFamily="18" charset="0"/>
                  </a:rPr>
                  <a:t>     individual </a:t>
                </a:r>
                <a14:m>
                  <m:oMath xmlns:m="http://schemas.openxmlformats.org/officeDocument/2006/math">
                    <m:r>
                      <a:rPr lang="en-ZA" sz="1800" b="1" i="1" kern="1200" dirty="0" smtClean="0">
                        <a:solidFill>
                          <a:schemeClr val="bg2"/>
                        </a:solidFill>
                        <a:latin typeface="Cambria Math" panose="02040503050406030204" pitchFamily="18" charset="0"/>
                        <a:cs typeface="Times New Roman" panose="02020603050405020304" pitchFamily="18" charset="0"/>
                      </a:rPr>
                      <m:t>𝒊</m:t>
                    </m:r>
                  </m:oMath>
                </a14:m>
                <a:r>
                  <a:rPr lang="en-ZA" sz="1800" b="1" kern="1200" dirty="0">
                    <a:solidFill>
                      <a:schemeClr val="bg2"/>
                    </a:solidFill>
                    <a:latin typeface="Arial" panose="020B0604020202020204" pitchFamily="34" charset="0"/>
                    <a:cs typeface="Times New Roman" panose="02020603050405020304" pitchFamily="18" charset="0"/>
                  </a:rPr>
                  <a:t>.</a:t>
                </a:r>
              </a:p>
            </p:txBody>
          </p:sp>
        </mc:Choice>
        <mc:Fallback xmlns="">
          <p:sp>
            <p:nvSpPr>
              <p:cNvPr id="4" name="Content Placeholder 2">
                <a:extLst>
                  <a:ext uri="{FF2B5EF4-FFF2-40B4-BE49-F238E27FC236}">
                    <a16:creationId xmlns:a16="http://schemas.microsoft.com/office/drawing/2014/main" id="{3F92BA6C-311C-4548-A9E7-3090BF212706}"/>
                  </a:ext>
                </a:extLst>
              </p:cNvPr>
              <p:cNvSpPr>
                <a:spLocks noGrp="1" noRot="1" noChangeAspect="1" noMove="1" noResize="1" noEditPoints="1" noAdjustHandles="1" noChangeArrowheads="1" noChangeShapeType="1" noTextEdit="1"/>
              </p:cNvSpPr>
              <p:nvPr>
                <p:ph idx="1"/>
              </p:nvPr>
            </p:nvSpPr>
            <p:spPr>
              <a:xfrm>
                <a:off x="304800" y="879651"/>
                <a:ext cx="8688368" cy="5587410"/>
              </a:xfrm>
              <a:blipFill>
                <a:blip r:embed="rId3"/>
                <a:stretch>
                  <a:fillRect l="-421" t="-545"/>
                </a:stretch>
              </a:blipFill>
            </p:spPr>
            <p:txBody>
              <a:bodyPr/>
              <a:lstStyle/>
              <a:p>
                <a:r>
                  <a:rPr lang="en-US">
                    <a:noFill/>
                  </a:rPr>
                  <a:t> </a:t>
                </a:r>
              </a:p>
            </p:txBody>
          </p:sp>
        </mc:Fallback>
      </mc:AlternateContent>
    </p:spTree>
    <p:extLst>
      <p:ext uri="{BB962C8B-B14F-4D97-AF65-F5344CB8AC3E}">
        <p14:creationId xmlns:p14="http://schemas.microsoft.com/office/powerpoint/2010/main" val="3202219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85344"/>
            <a:ext cx="919354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2000" dirty="0">
                <a:latin typeface="Comic Sans MS" panose="030F0702030302020204" pitchFamily="66" charset="0"/>
                <a:cs typeface="Times New Roman" panose="02020603050405020304" pitchFamily="18" charset="0"/>
              </a:rPr>
              <a:t>More Specific Alternative Hypotheses based on different genetic model</a:t>
            </a:r>
          </a:p>
        </p:txBody>
      </p:sp>
      <p:sp>
        <p:nvSpPr>
          <p:cNvPr id="16388" name="Line 4"/>
          <p:cNvSpPr>
            <a:spLocks noChangeShapeType="1"/>
          </p:cNvSpPr>
          <p:nvPr/>
        </p:nvSpPr>
        <p:spPr bwMode="auto">
          <a:xfrm>
            <a:off x="203200" y="54375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5F3FA4DD-F20C-42FE-B792-B449DB39D415}"/>
                  </a:ext>
                </a:extLst>
              </p:cNvPr>
              <p:cNvSpPr>
                <a:spLocks noGrp="1"/>
              </p:cNvSpPr>
              <p:nvPr>
                <p:ph idx="1"/>
              </p:nvPr>
            </p:nvSpPr>
            <p:spPr>
              <a:xfrm>
                <a:off x="252587" y="513567"/>
                <a:ext cx="8688368" cy="6259088"/>
              </a:xfrm>
            </p:spPr>
            <p:txBody>
              <a:bodyPr/>
              <a:lstStyle/>
              <a:p>
                <a:r>
                  <a:rPr lang="en-ZA" sz="1600" b="1" kern="1200" dirty="0">
                    <a:solidFill>
                      <a:schemeClr val="bg2"/>
                    </a:solidFill>
                    <a:latin typeface="Arial" panose="020B0604020202020204" pitchFamily="34" charset="0"/>
                    <a:cs typeface="Times New Roman" panose="02020603050405020304" pitchFamily="18" charset="0"/>
                  </a:rPr>
                  <a:t>Here, for a dominant model with regard to allele A, genotypes with one or two A alleles are subsumed (table below, left), whereas for a recessive model, we combine genotypes with zero or one A </a:t>
                </a:r>
                <a:r>
                  <a:rPr lang="en-ZA" sz="1600" b="1" kern="1200" dirty="0" smtClean="0">
                    <a:solidFill>
                      <a:schemeClr val="bg2"/>
                    </a:solidFill>
                    <a:latin typeface="Arial" panose="020B0604020202020204" pitchFamily="34" charset="0"/>
                    <a:cs typeface="Times New Roman" panose="02020603050405020304" pitchFamily="18" charset="0"/>
                  </a:rPr>
                  <a:t>allele.</a:t>
                </a:r>
                <a:endParaRPr lang="en-ZA" sz="1600" b="1" kern="1200" dirty="0">
                  <a:solidFill>
                    <a:schemeClr val="bg2"/>
                  </a:solidFill>
                  <a:latin typeface="Arial" panose="020B0604020202020204" pitchFamily="34" charset="0"/>
                  <a:cs typeface="Times New Roman" panose="02020603050405020304" pitchFamily="18" charset="0"/>
                </a:endParaRPr>
              </a:p>
              <a:p>
                <a:endParaRPr lang="en-ZA" sz="1800" b="1" kern="1200" dirty="0">
                  <a:solidFill>
                    <a:schemeClr val="bg2"/>
                  </a:solidFill>
                  <a:latin typeface="Arial" panose="020B0604020202020204" pitchFamily="34" charset="0"/>
                  <a:cs typeface="Times New Roman" panose="02020603050405020304" pitchFamily="18" charset="0"/>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pPr marL="0" indent="0">
                  <a:buNone/>
                </a:pPr>
                <a:endParaRPr lang="en-ZA" sz="1800" dirty="0">
                  <a:solidFill>
                    <a:schemeClr val="bg2"/>
                  </a:solidFill>
                </a:endParaRPr>
              </a:p>
              <a:p>
                <a:endParaRPr lang="en-ZA" sz="1800" b="1" kern="1200" dirty="0" smtClean="0">
                  <a:solidFill>
                    <a:schemeClr val="bg2"/>
                  </a:solidFill>
                  <a:latin typeface="Arial" panose="020B0604020202020204" pitchFamily="34" charset="0"/>
                  <a:cs typeface="Times New Roman" panose="02020603050405020304" pitchFamily="18" charset="0"/>
                </a:endParaRPr>
              </a:p>
              <a:p>
                <a:r>
                  <a:rPr lang="en-ZA" sz="1600" b="1" kern="1200" dirty="0" smtClean="0">
                    <a:solidFill>
                      <a:schemeClr val="bg2"/>
                    </a:solidFill>
                    <a:latin typeface="Arial" panose="020B0604020202020204" pitchFamily="34" charset="0"/>
                    <a:cs typeface="Times New Roman" panose="02020603050405020304" pitchFamily="18" charset="0"/>
                  </a:rPr>
                  <a:t>Test </a:t>
                </a:r>
                <a:r>
                  <a:rPr lang="en-ZA" sz="1600" b="1" kern="1200" dirty="0">
                    <a:solidFill>
                      <a:schemeClr val="bg2"/>
                    </a:solidFill>
                    <a:latin typeface="Arial" panose="020B0604020202020204" pitchFamily="34" charset="0"/>
                    <a:cs typeface="Times New Roman" panose="02020603050405020304" pitchFamily="18" charset="0"/>
                  </a:rPr>
                  <a:t>statistics for these specific genetic models are analogously defined to the </a:t>
                </a:r>
                <a14:m>
                  <m:oMath xmlns:m="http://schemas.openxmlformats.org/officeDocument/2006/math">
                    <m:sSup>
                      <m:sSupPr>
                        <m:ctrlPr>
                          <a:rPr lang="en-ZA" sz="1600" b="1" i="1" kern="1200">
                            <a:solidFill>
                              <a:schemeClr val="bg2"/>
                            </a:solidFill>
                            <a:latin typeface="Cambria Math" panose="02040503050406030204" pitchFamily="18" charset="0"/>
                            <a:cs typeface="Times New Roman" panose="02020603050405020304" pitchFamily="18" charset="0"/>
                          </a:rPr>
                        </m:ctrlPr>
                      </m:sSupPr>
                      <m:e>
                        <m:r>
                          <a:rPr lang="en-ZA" sz="1600" b="1" kern="1200">
                            <a:solidFill>
                              <a:schemeClr val="bg2"/>
                            </a:solidFill>
                            <a:latin typeface="Cambria Math" panose="02040503050406030204" pitchFamily="18" charset="0"/>
                            <a:cs typeface="Times New Roman" panose="02020603050405020304" pitchFamily="18" charset="0"/>
                          </a:rPr>
                          <m:t>𝑥</m:t>
                        </m:r>
                      </m:e>
                      <m:sup>
                        <m:r>
                          <a:rPr lang="en-ZA" sz="1600" b="1" kern="1200">
                            <a:solidFill>
                              <a:schemeClr val="bg2"/>
                            </a:solidFill>
                            <a:latin typeface="Cambria Math" panose="02040503050406030204" pitchFamily="18" charset="0"/>
                            <a:cs typeface="Times New Roman" panose="02020603050405020304" pitchFamily="18" charset="0"/>
                          </a:rPr>
                          <m:t>2</m:t>
                        </m:r>
                      </m:sup>
                    </m:sSup>
                  </m:oMath>
                </a14:m>
                <a:r>
                  <a:rPr lang="en-ZA" sz="1600" b="1" kern="1200" dirty="0">
                    <a:solidFill>
                      <a:schemeClr val="bg2"/>
                    </a:solidFill>
                    <a:latin typeface="Arial" panose="020B0604020202020204" pitchFamily="34" charset="0"/>
                    <a:cs typeface="Times New Roman" panose="02020603050405020304" pitchFamily="18" charset="0"/>
                  </a:rPr>
                  <a:t> statistic of the equation on slide 34. Thus, </a:t>
                </a:r>
                <a14:m>
                  <m:oMath xmlns:m="http://schemas.openxmlformats.org/officeDocument/2006/math">
                    <m:sSubSup>
                      <m:sSubSupPr>
                        <m:ctrlPr>
                          <a:rPr lang="en-ZA" sz="1600" b="1" i="1" kern="1200">
                            <a:solidFill>
                              <a:schemeClr val="bg2"/>
                            </a:solidFill>
                            <a:latin typeface="Cambria Math" panose="02040503050406030204" pitchFamily="18" charset="0"/>
                            <a:cs typeface="Times New Roman" panose="02020603050405020304" pitchFamily="18" charset="0"/>
                          </a:rPr>
                        </m:ctrlPr>
                      </m:sSubSupPr>
                      <m:e>
                        <m:r>
                          <a:rPr lang="en-ZA" sz="1600" b="1" kern="1200">
                            <a:solidFill>
                              <a:schemeClr val="bg2"/>
                            </a:solidFill>
                            <a:latin typeface="Cambria Math" panose="02040503050406030204" pitchFamily="18" charset="0"/>
                            <a:cs typeface="Times New Roman" panose="02020603050405020304" pitchFamily="18" charset="0"/>
                          </a:rPr>
                          <m:t>𝑥</m:t>
                        </m:r>
                      </m:e>
                      <m:sub>
                        <m:r>
                          <a:rPr lang="en-ZA" sz="1600" b="1" kern="1200">
                            <a:solidFill>
                              <a:schemeClr val="bg2"/>
                            </a:solidFill>
                            <a:latin typeface="Cambria Math" panose="02040503050406030204" pitchFamily="18" charset="0"/>
                            <a:cs typeface="Times New Roman" panose="02020603050405020304" pitchFamily="18" charset="0"/>
                          </a:rPr>
                          <m:t>𝑑𝑜𝑚</m:t>
                        </m:r>
                      </m:sub>
                      <m:sup>
                        <m:r>
                          <a:rPr lang="en-ZA" sz="1600" b="1" kern="1200">
                            <a:solidFill>
                              <a:schemeClr val="bg2"/>
                            </a:solidFill>
                            <a:latin typeface="Cambria Math" panose="02040503050406030204" pitchFamily="18" charset="0"/>
                            <a:cs typeface="Times New Roman" panose="02020603050405020304" pitchFamily="18" charset="0"/>
                          </a:rPr>
                          <m:t>2</m:t>
                        </m:r>
                      </m:sup>
                    </m:sSubSup>
                  </m:oMath>
                </a14:m>
                <a:r>
                  <a:rPr lang="en-ZA" sz="1600" b="1" kern="1200" dirty="0">
                    <a:solidFill>
                      <a:schemeClr val="bg2"/>
                    </a:solidFill>
                    <a:latin typeface="Arial" panose="020B0604020202020204" pitchFamily="34" charset="0"/>
                    <a:cs typeface="Times New Roman" panose="02020603050405020304" pitchFamily="18" charset="0"/>
                  </a:rPr>
                  <a:t>, </a:t>
                </a:r>
                <a14:m>
                  <m:oMath xmlns:m="http://schemas.openxmlformats.org/officeDocument/2006/math">
                    <m:sSubSup>
                      <m:sSubSupPr>
                        <m:ctrlPr>
                          <a:rPr lang="en-ZA" sz="1600" b="1" i="1" kern="1200">
                            <a:solidFill>
                              <a:schemeClr val="bg2"/>
                            </a:solidFill>
                            <a:latin typeface="Cambria Math" panose="02040503050406030204" pitchFamily="18" charset="0"/>
                            <a:cs typeface="Times New Roman" panose="02020603050405020304" pitchFamily="18" charset="0"/>
                          </a:rPr>
                        </m:ctrlPr>
                      </m:sSubSupPr>
                      <m:e>
                        <m:r>
                          <a:rPr lang="en-ZA" sz="1600" b="1" kern="1200">
                            <a:solidFill>
                              <a:schemeClr val="bg2"/>
                            </a:solidFill>
                            <a:latin typeface="Cambria Math" panose="02040503050406030204" pitchFamily="18" charset="0"/>
                            <a:cs typeface="Times New Roman" panose="02020603050405020304" pitchFamily="18" charset="0"/>
                          </a:rPr>
                          <m:t>𝑥</m:t>
                        </m:r>
                      </m:e>
                      <m:sub>
                        <m:r>
                          <a:rPr lang="en-ZA" sz="1600" b="1" kern="1200">
                            <a:solidFill>
                              <a:schemeClr val="bg2"/>
                            </a:solidFill>
                            <a:latin typeface="Cambria Math" panose="02040503050406030204" pitchFamily="18" charset="0"/>
                            <a:cs typeface="Times New Roman" panose="02020603050405020304" pitchFamily="18" charset="0"/>
                          </a:rPr>
                          <m:t>𝑟𝑒𝑐</m:t>
                        </m:r>
                      </m:sub>
                      <m:sup>
                        <m:r>
                          <a:rPr lang="en-ZA" sz="1600" b="1" kern="1200">
                            <a:solidFill>
                              <a:schemeClr val="bg2"/>
                            </a:solidFill>
                            <a:latin typeface="Cambria Math" panose="02040503050406030204" pitchFamily="18" charset="0"/>
                            <a:cs typeface="Times New Roman" panose="02020603050405020304" pitchFamily="18" charset="0"/>
                          </a:rPr>
                          <m:t>2</m:t>
                        </m:r>
                      </m:sup>
                    </m:sSubSup>
                  </m:oMath>
                </a14:m>
                <a:r>
                  <a:rPr lang="en-ZA" sz="16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sSubSup>
                      <m:sSubSupPr>
                        <m:ctrlPr>
                          <a:rPr lang="en-ZA" sz="1600" b="1" i="1" kern="1200">
                            <a:solidFill>
                              <a:schemeClr val="bg2"/>
                            </a:solidFill>
                            <a:latin typeface="Cambria Math" panose="02040503050406030204" pitchFamily="18" charset="0"/>
                            <a:cs typeface="Times New Roman" panose="02020603050405020304" pitchFamily="18" charset="0"/>
                          </a:rPr>
                        </m:ctrlPr>
                      </m:sSubSupPr>
                      <m:e>
                        <m:r>
                          <a:rPr lang="en-ZA" sz="1600" b="1" kern="1200">
                            <a:solidFill>
                              <a:schemeClr val="bg2"/>
                            </a:solidFill>
                            <a:latin typeface="Cambria Math" panose="02040503050406030204" pitchFamily="18" charset="0"/>
                            <a:cs typeface="Times New Roman" panose="02020603050405020304" pitchFamily="18" charset="0"/>
                          </a:rPr>
                          <m:t>𝑥</m:t>
                        </m:r>
                      </m:e>
                      <m:sub>
                        <m:r>
                          <a:rPr lang="en-ZA" sz="1600" b="1" kern="1200">
                            <a:solidFill>
                              <a:schemeClr val="bg2"/>
                            </a:solidFill>
                            <a:latin typeface="Cambria Math" panose="02040503050406030204" pitchFamily="18" charset="0"/>
                            <a:cs typeface="Times New Roman" panose="02020603050405020304" pitchFamily="18" charset="0"/>
                          </a:rPr>
                          <m:t>h𝑒𝑡</m:t>
                        </m:r>
                      </m:sub>
                      <m:sup>
                        <m:r>
                          <a:rPr lang="en-ZA" sz="1600" b="1" kern="1200">
                            <a:solidFill>
                              <a:schemeClr val="bg2"/>
                            </a:solidFill>
                            <a:latin typeface="Cambria Math" panose="02040503050406030204" pitchFamily="18" charset="0"/>
                            <a:cs typeface="Times New Roman" panose="02020603050405020304" pitchFamily="18" charset="0"/>
                          </a:rPr>
                          <m:t>2</m:t>
                        </m:r>
                      </m:sup>
                    </m:sSubSup>
                  </m:oMath>
                </a14:m>
                <a:r>
                  <a:rPr lang="en-ZA" sz="1600" b="1" kern="1200" dirty="0">
                    <a:solidFill>
                      <a:schemeClr val="bg2"/>
                    </a:solidFill>
                    <a:latin typeface="Arial" panose="020B0604020202020204" pitchFamily="34" charset="0"/>
                    <a:cs typeface="Times New Roman" panose="02020603050405020304" pitchFamily="18" charset="0"/>
                  </a:rPr>
                  <a:t> can be calculated for the dominant, recessive and the heterozygote model, respectively by </a:t>
                </a:r>
              </a:p>
              <a:p>
                <a:pPr marL="0" indent="0">
                  <a:buNone/>
                </a:pPr>
                <a14:m>
                  <m:oMathPara xmlns:m="http://schemas.openxmlformats.org/officeDocument/2006/math">
                    <m:oMathParaPr>
                      <m:jc m:val="centerGroup"/>
                    </m:oMathParaPr>
                    <m:oMath xmlns:m="http://schemas.openxmlformats.org/officeDocument/2006/math">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𝑥</m:t>
                          </m:r>
                        </m:e>
                        <m:sub>
                          <m:r>
                            <a:rPr lang="en-ZA" sz="1800" b="1" kern="1200">
                              <a:solidFill>
                                <a:schemeClr val="bg2"/>
                              </a:solidFill>
                              <a:latin typeface="Cambria Math" panose="02040503050406030204" pitchFamily="18" charset="0"/>
                              <a:cs typeface="Times New Roman" panose="02020603050405020304" pitchFamily="18" charset="0"/>
                            </a:rPr>
                            <m:t>𝑑𝑜𝑚</m:t>
                          </m:r>
                        </m:sub>
                        <m:sup>
                          <m:r>
                            <a:rPr lang="en-ZA" sz="1800" b="1" kern="1200">
                              <a:solidFill>
                                <a:schemeClr val="bg2"/>
                              </a:solidFill>
                              <a:latin typeface="Cambria Math" panose="02040503050406030204" pitchFamily="18" charset="0"/>
                              <a:cs typeface="Times New Roman" panose="02020603050405020304" pitchFamily="18" charset="0"/>
                            </a:rPr>
                            <m:t>2</m:t>
                          </m:r>
                        </m:sup>
                      </m:sSubSup>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𝑛</m:t>
                      </m:r>
                      <m:r>
                        <a:rPr lang="en-ZA" sz="1800" b="1" kern="1200">
                          <a:solidFill>
                            <a:schemeClr val="bg2"/>
                          </a:solidFill>
                          <a:latin typeface="Cambria Math" panose="02040503050406030204" pitchFamily="18" charset="0"/>
                          <a:cs typeface="Times New Roman" panose="02020603050405020304" pitchFamily="18" charset="0"/>
                        </a:rPr>
                        <m:t> . </m:t>
                      </m:r>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0</m:t>
                                      </m:r>
                                    </m:sub>
                                  </m:sSub>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1</m:t>
                                          </m:r>
                                        </m:sub>
                                      </m:sSub>
                                      <m:r>
                                        <a:rPr lang="en-ZA" sz="1800" b="1" kern="1200">
                                          <a:solidFill>
                                            <a:schemeClr val="bg2"/>
                                          </a:solidFill>
                                          <a:latin typeface="Cambria Math" panose="02040503050406030204" pitchFamily="18" charset="0"/>
                                          <a:cs typeface="Times New Roman" panose="02020603050405020304" pitchFamily="18" charset="0"/>
                                        </a:rPr>
                                        <m:t>+</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2</m:t>
                                          </m:r>
                                        </m:sub>
                                      </m:sSub>
                                    </m:e>
                                  </m:d>
                                  <m:r>
                                    <a:rPr lang="en-ZA" sz="1800" b="1" kern="1200">
                                      <a:solidFill>
                                        <a:schemeClr val="bg2"/>
                                      </a:solidFill>
                                      <a:latin typeface="Cambria Math" panose="02040503050406030204" pitchFamily="18" charset="0"/>
                                      <a:cs typeface="Times New Roman" panose="02020603050405020304" pitchFamily="18" charset="0"/>
                                    </a:rPr>
                                    <m:t>−</m:t>
                                  </m:r>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1</m:t>
                                          </m:r>
                                        </m:sub>
                                      </m:sSub>
                                      <m:r>
                                        <a:rPr lang="en-ZA" sz="1800" b="1" kern="1200">
                                          <a:solidFill>
                                            <a:schemeClr val="bg2"/>
                                          </a:solidFill>
                                          <a:latin typeface="Cambria Math" panose="02040503050406030204" pitchFamily="18" charset="0"/>
                                          <a:cs typeface="Times New Roman" panose="02020603050405020304" pitchFamily="18" charset="0"/>
                                        </a:rPr>
                                        <m:t>+</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2</m:t>
                                          </m:r>
                                        </m:sub>
                                      </m:sSub>
                                    </m:e>
                                  </m:d>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0</m:t>
                                      </m:r>
                                    </m:sub>
                                  </m:sSub>
                                </m:e>
                              </m:d>
                            </m:e>
                            <m:sup>
                              <m:r>
                                <a:rPr lang="en-ZA" sz="1800" b="1" kern="1200">
                                  <a:solidFill>
                                    <a:schemeClr val="bg2"/>
                                  </a:solidFill>
                                  <a:latin typeface="Cambria Math" panose="02040503050406030204" pitchFamily="18" charset="0"/>
                                  <a:cs typeface="Times New Roman" panose="02020603050405020304" pitchFamily="18" charset="0"/>
                                </a:rPr>
                                <m:t>2</m:t>
                              </m:r>
                            </m:sup>
                          </m:sSup>
                        </m:num>
                        <m:den>
                          <m:r>
                            <a:rPr lang="en-ZA" sz="1800" b="1" kern="1200">
                              <a:solidFill>
                                <a:schemeClr val="bg2"/>
                              </a:solidFill>
                              <a:latin typeface="Cambria Math" panose="02040503050406030204" pitchFamily="18" charset="0"/>
                              <a:cs typeface="Times New Roman" panose="02020603050405020304" pitchFamily="18" charset="0"/>
                            </a:rPr>
                            <m:t>𝑟</m:t>
                          </m:r>
                          <m:r>
                            <a:rPr lang="en-ZA" sz="1800" b="1" kern="1200">
                              <a:solidFill>
                                <a:schemeClr val="bg2"/>
                              </a:solidFill>
                              <a:latin typeface="Cambria Math" panose="02040503050406030204" pitchFamily="18" charset="0"/>
                              <a:cs typeface="Times New Roman" panose="02020603050405020304" pitchFamily="18" charset="0"/>
                            </a:rPr>
                            <m:t> . </m:t>
                          </m:r>
                          <m:r>
                            <a:rPr lang="en-ZA" sz="1800" b="1" kern="1200">
                              <a:solidFill>
                                <a:schemeClr val="bg2"/>
                              </a:solidFill>
                              <a:latin typeface="Cambria Math" panose="02040503050406030204" pitchFamily="18" charset="0"/>
                              <a:cs typeface="Times New Roman" panose="02020603050405020304" pitchFamily="18" charset="0"/>
                            </a:rPr>
                            <m:t>𝑠</m:t>
                          </m:r>
                          <m:r>
                            <a:rPr lang="en-ZA" sz="1800" b="1" kern="1200">
                              <a:solidFill>
                                <a:schemeClr val="bg2"/>
                              </a:solidFill>
                              <a:latin typeface="Cambria Math" panose="02040503050406030204" pitchFamily="18" charset="0"/>
                              <a:cs typeface="Times New Roman" panose="02020603050405020304" pitchFamily="18" charset="0"/>
                            </a:rPr>
                            <m:t> . </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0</m:t>
                              </m:r>
                            </m:sub>
                          </m:sSub>
                          <m:r>
                            <a:rPr lang="en-ZA" sz="1800" b="1" kern="1200">
                              <a:solidFill>
                                <a:schemeClr val="bg2"/>
                              </a:solidFill>
                              <a:latin typeface="Cambria Math" panose="02040503050406030204" pitchFamily="18" charset="0"/>
                              <a:cs typeface="Times New Roman" panose="02020603050405020304" pitchFamily="18" charset="0"/>
                            </a:rPr>
                            <m:t> . (</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1</m:t>
                              </m:r>
                            </m:sub>
                          </m:sSub>
                          <m:r>
                            <a:rPr lang="en-ZA" sz="1800" b="1" kern="1200">
                              <a:solidFill>
                                <a:schemeClr val="bg2"/>
                              </a:solidFill>
                              <a:latin typeface="Cambria Math" panose="02040503050406030204" pitchFamily="18" charset="0"/>
                              <a:cs typeface="Times New Roman" panose="02020603050405020304" pitchFamily="18" charset="0"/>
                            </a:rPr>
                            <m:t>+ </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2</m:t>
                              </m:r>
                            </m:sub>
                          </m:sSub>
                          <m:r>
                            <a:rPr lang="en-ZA" sz="1800" b="1" kern="1200">
                              <a:solidFill>
                                <a:schemeClr val="bg2"/>
                              </a:solidFill>
                              <a:latin typeface="Cambria Math" panose="02040503050406030204" pitchFamily="18" charset="0"/>
                              <a:cs typeface="Times New Roman" panose="02020603050405020304" pitchFamily="18" charset="0"/>
                            </a:rPr>
                            <m:t>)</m:t>
                          </m:r>
                        </m:den>
                      </m:f>
                      <m:r>
                        <a:rPr lang="en-ZA" sz="1800" b="1" kern="1200">
                          <a:solidFill>
                            <a:schemeClr val="bg2"/>
                          </a:solidFill>
                          <a:latin typeface="Cambria Math" panose="02040503050406030204" pitchFamily="18" charset="0"/>
                          <a:cs typeface="Times New Roman" panose="02020603050405020304" pitchFamily="18" charset="0"/>
                        </a:rPr>
                        <m:t>,</m:t>
                      </m:r>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𝑥</m:t>
                          </m:r>
                        </m:e>
                        <m:sub>
                          <m:r>
                            <a:rPr lang="en-ZA" sz="1800" b="1" kern="1200">
                              <a:solidFill>
                                <a:schemeClr val="bg2"/>
                              </a:solidFill>
                              <a:latin typeface="Cambria Math" panose="02040503050406030204" pitchFamily="18" charset="0"/>
                              <a:cs typeface="Times New Roman" panose="02020603050405020304" pitchFamily="18" charset="0"/>
                            </a:rPr>
                            <m:t>𝑟𝑒𝑐</m:t>
                          </m:r>
                        </m:sub>
                        <m:sup>
                          <m:r>
                            <a:rPr lang="en-ZA" sz="1800" b="1" kern="1200">
                              <a:solidFill>
                                <a:schemeClr val="bg2"/>
                              </a:solidFill>
                              <a:latin typeface="Cambria Math" panose="02040503050406030204" pitchFamily="18" charset="0"/>
                              <a:cs typeface="Times New Roman" panose="02020603050405020304" pitchFamily="18" charset="0"/>
                            </a:rPr>
                            <m:t>2</m:t>
                          </m:r>
                        </m:sup>
                      </m:sSubSup>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𝑛</m:t>
                      </m:r>
                      <m:r>
                        <a:rPr lang="en-ZA" sz="1800" b="1" kern="1200">
                          <a:solidFill>
                            <a:schemeClr val="bg2"/>
                          </a:solidFill>
                          <a:latin typeface="Cambria Math" panose="02040503050406030204" pitchFamily="18" charset="0"/>
                          <a:cs typeface="Times New Roman" panose="02020603050405020304" pitchFamily="18" charset="0"/>
                        </a:rPr>
                        <m:t> . </m:t>
                      </m:r>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0</m:t>
                                          </m:r>
                                        </m:sub>
                                      </m:sSub>
                                      <m:r>
                                        <a:rPr lang="en-ZA" sz="1800" b="1" kern="1200">
                                          <a:solidFill>
                                            <a:schemeClr val="bg2"/>
                                          </a:solidFill>
                                          <a:latin typeface="Cambria Math" panose="02040503050406030204" pitchFamily="18" charset="0"/>
                                          <a:cs typeface="Times New Roman" panose="02020603050405020304" pitchFamily="18" charset="0"/>
                                        </a:rPr>
                                        <m:t>+</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1</m:t>
                                          </m:r>
                                        </m:sub>
                                      </m:sSub>
                                    </m:e>
                                  </m:d>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2</m:t>
                                      </m:r>
                                    </m:sub>
                                  </m:sSub>
                                  <m:r>
                                    <a:rPr lang="en-ZA" sz="1800" b="1" kern="1200">
                                      <a:solidFill>
                                        <a:schemeClr val="bg2"/>
                                      </a:solidFill>
                                      <a:latin typeface="Cambria Math" panose="02040503050406030204" pitchFamily="18" charset="0"/>
                                      <a:cs typeface="Times New Roman" panose="02020603050405020304" pitchFamily="18" charset="0"/>
                                    </a:rPr>
                                    <m:t>−</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2</m:t>
                                      </m:r>
                                    </m:sub>
                                  </m:sSub>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0</m:t>
                                          </m:r>
                                        </m:sub>
                                      </m:sSub>
                                      <m:r>
                                        <a:rPr lang="en-ZA" sz="1800" b="1" kern="1200">
                                          <a:solidFill>
                                            <a:schemeClr val="bg2"/>
                                          </a:solidFill>
                                          <a:latin typeface="Cambria Math" panose="02040503050406030204" pitchFamily="18" charset="0"/>
                                          <a:cs typeface="Times New Roman" panose="02020603050405020304" pitchFamily="18" charset="0"/>
                                        </a:rPr>
                                        <m:t>+</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1</m:t>
                                          </m:r>
                                        </m:sub>
                                      </m:sSub>
                                    </m:e>
                                  </m:d>
                                </m:e>
                              </m:d>
                            </m:e>
                            <m:sup>
                              <m:r>
                                <a:rPr lang="en-ZA" sz="1800" b="1" kern="1200">
                                  <a:solidFill>
                                    <a:schemeClr val="bg2"/>
                                  </a:solidFill>
                                  <a:latin typeface="Cambria Math" panose="02040503050406030204" pitchFamily="18" charset="0"/>
                                  <a:cs typeface="Times New Roman" panose="02020603050405020304" pitchFamily="18" charset="0"/>
                                </a:rPr>
                                <m:t>2</m:t>
                              </m:r>
                            </m:sup>
                          </m:sSup>
                        </m:num>
                        <m:den>
                          <m:r>
                            <a:rPr lang="en-ZA" sz="1800" b="1" kern="1200">
                              <a:solidFill>
                                <a:schemeClr val="bg2"/>
                              </a:solidFill>
                              <a:latin typeface="Cambria Math" panose="02040503050406030204" pitchFamily="18" charset="0"/>
                              <a:cs typeface="Times New Roman" panose="02020603050405020304" pitchFamily="18" charset="0"/>
                            </a:rPr>
                            <m:t>𝑟</m:t>
                          </m:r>
                          <m:r>
                            <a:rPr lang="en-ZA" sz="1800" b="1" kern="1200">
                              <a:solidFill>
                                <a:schemeClr val="bg2"/>
                              </a:solidFill>
                              <a:latin typeface="Cambria Math" panose="02040503050406030204" pitchFamily="18" charset="0"/>
                              <a:cs typeface="Times New Roman" panose="02020603050405020304" pitchFamily="18" charset="0"/>
                            </a:rPr>
                            <m:t> . </m:t>
                          </m:r>
                          <m:r>
                            <a:rPr lang="en-ZA" sz="1800" b="1" kern="1200">
                              <a:solidFill>
                                <a:schemeClr val="bg2"/>
                              </a:solidFill>
                              <a:latin typeface="Cambria Math" panose="02040503050406030204" pitchFamily="18" charset="0"/>
                              <a:cs typeface="Times New Roman" panose="02020603050405020304" pitchFamily="18" charset="0"/>
                            </a:rPr>
                            <m:t>𝑠</m:t>
                          </m:r>
                          <m:r>
                            <a:rPr lang="en-ZA" sz="1800" b="1" kern="1200">
                              <a:solidFill>
                                <a:schemeClr val="bg2"/>
                              </a:solidFill>
                              <a:latin typeface="Cambria Math" panose="02040503050406030204" pitchFamily="18" charset="0"/>
                              <a:cs typeface="Times New Roman" panose="02020603050405020304" pitchFamily="18" charset="0"/>
                            </a:rPr>
                            <m:t> . </m:t>
                          </m:r>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0</m:t>
                                  </m:r>
                                </m:sub>
                              </m:sSub>
                              <m:r>
                                <a:rPr lang="en-ZA" sz="1800" b="1" kern="1200">
                                  <a:solidFill>
                                    <a:schemeClr val="bg2"/>
                                  </a:solidFill>
                                  <a:latin typeface="Cambria Math" panose="02040503050406030204" pitchFamily="18" charset="0"/>
                                  <a:cs typeface="Times New Roman" panose="02020603050405020304" pitchFamily="18" charset="0"/>
                                </a:rPr>
                                <m:t>+ </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1</m:t>
                                  </m:r>
                                </m:sub>
                              </m:sSub>
                            </m:e>
                          </m:d>
                          <m:r>
                            <a:rPr lang="en-ZA" sz="1800" b="1" kern="1200">
                              <a:solidFill>
                                <a:schemeClr val="bg2"/>
                              </a:solidFill>
                              <a:latin typeface="Cambria Math" panose="02040503050406030204" pitchFamily="18" charset="0"/>
                              <a:cs typeface="Times New Roman" panose="02020603050405020304" pitchFamily="18" charset="0"/>
                            </a:rPr>
                            <m:t> . </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2</m:t>
                              </m:r>
                            </m:sub>
                          </m:sSub>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𝑥</m:t>
                          </m:r>
                        </m:e>
                        <m:sub>
                          <m:r>
                            <a:rPr lang="en-ZA" sz="1800" b="1" kern="1200">
                              <a:solidFill>
                                <a:schemeClr val="bg2"/>
                              </a:solidFill>
                              <a:latin typeface="Cambria Math" panose="02040503050406030204" pitchFamily="18" charset="0"/>
                              <a:cs typeface="Times New Roman" panose="02020603050405020304" pitchFamily="18" charset="0"/>
                            </a:rPr>
                            <m:t>h𝑒𝑡</m:t>
                          </m:r>
                        </m:sub>
                        <m:sup>
                          <m:r>
                            <a:rPr lang="en-ZA" sz="1800" b="1" kern="1200">
                              <a:solidFill>
                                <a:schemeClr val="bg2"/>
                              </a:solidFill>
                              <a:latin typeface="Cambria Math" panose="02040503050406030204" pitchFamily="18" charset="0"/>
                              <a:cs typeface="Times New Roman" panose="02020603050405020304" pitchFamily="18" charset="0"/>
                            </a:rPr>
                            <m:t>2</m:t>
                          </m:r>
                        </m:sup>
                      </m:sSubSup>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𝑛</m:t>
                      </m:r>
                      <m:r>
                        <a:rPr lang="en-ZA" sz="1800" b="1" kern="1200">
                          <a:solidFill>
                            <a:schemeClr val="bg2"/>
                          </a:solidFill>
                          <a:latin typeface="Cambria Math" panose="02040503050406030204" pitchFamily="18" charset="0"/>
                          <a:cs typeface="Times New Roman" panose="02020603050405020304" pitchFamily="18" charset="0"/>
                        </a:rPr>
                        <m:t> . </m:t>
                      </m:r>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1</m:t>
                                      </m:r>
                                    </m:sub>
                                  </m:sSub>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0</m:t>
                                          </m:r>
                                        </m:sub>
                                      </m:sSub>
                                      <m:r>
                                        <a:rPr lang="en-ZA" sz="1800" b="1" kern="1200">
                                          <a:solidFill>
                                            <a:schemeClr val="bg2"/>
                                          </a:solidFill>
                                          <a:latin typeface="Cambria Math" panose="02040503050406030204" pitchFamily="18" charset="0"/>
                                          <a:cs typeface="Times New Roman" panose="02020603050405020304" pitchFamily="18" charset="0"/>
                                        </a:rPr>
                                        <m:t>+</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2</m:t>
                                          </m:r>
                                        </m:sub>
                                      </m:sSub>
                                    </m:e>
                                  </m:d>
                                  <m:r>
                                    <a:rPr lang="en-ZA" sz="1800" b="1" kern="1200">
                                      <a:solidFill>
                                        <a:schemeClr val="bg2"/>
                                      </a:solidFill>
                                      <a:latin typeface="Cambria Math" panose="02040503050406030204" pitchFamily="18" charset="0"/>
                                      <a:cs typeface="Times New Roman" panose="02020603050405020304" pitchFamily="18" charset="0"/>
                                    </a:rPr>
                                    <m:t>−</m:t>
                                  </m:r>
                                  <m:d>
                                    <m:dPr>
                                      <m:ctrlPr>
                                        <a:rPr lang="en-ZA" sz="1800" b="1" i="1" kern="1200">
                                          <a:solidFill>
                                            <a:schemeClr val="bg2"/>
                                          </a:solidFill>
                                          <a:latin typeface="Cambria Math" panose="02040503050406030204" pitchFamily="18" charset="0"/>
                                          <a:cs typeface="Times New Roman" panose="02020603050405020304" pitchFamily="18" charset="0"/>
                                        </a:rPr>
                                      </m:ctrlPr>
                                    </m:dPr>
                                    <m:e>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0</m:t>
                                          </m:r>
                                        </m:sub>
                                      </m:sSub>
                                      <m:r>
                                        <a:rPr lang="en-ZA" sz="1800" b="1" kern="1200">
                                          <a:solidFill>
                                            <a:schemeClr val="bg2"/>
                                          </a:solidFill>
                                          <a:latin typeface="Cambria Math" panose="02040503050406030204" pitchFamily="18" charset="0"/>
                                          <a:cs typeface="Times New Roman" panose="02020603050405020304" pitchFamily="18" charset="0"/>
                                        </a:rPr>
                                        <m:t>+</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𝑟</m:t>
                                          </m:r>
                                        </m:e>
                                        <m:sub>
                                          <m:r>
                                            <a:rPr lang="en-ZA" sz="1800" b="1" kern="1200">
                                              <a:solidFill>
                                                <a:schemeClr val="bg2"/>
                                              </a:solidFill>
                                              <a:latin typeface="Cambria Math" panose="02040503050406030204" pitchFamily="18" charset="0"/>
                                              <a:cs typeface="Times New Roman" panose="02020603050405020304" pitchFamily="18" charset="0"/>
                                            </a:rPr>
                                            <m:t>2</m:t>
                                          </m:r>
                                        </m:sub>
                                      </m:sSub>
                                    </m:e>
                                  </m:d>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𝑠</m:t>
                                      </m:r>
                                    </m:e>
                                    <m:sub>
                                      <m:r>
                                        <a:rPr lang="en-ZA" sz="1800" b="1" kern="1200">
                                          <a:solidFill>
                                            <a:schemeClr val="bg2"/>
                                          </a:solidFill>
                                          <a:latin typeface="Cambria Math" panose="02040503050406030204" pitchFamily="18" charset="0"/>
                                          <a:cs typeface="Times New Roman" panose="02020603050405020304" pitchFamily="18" charset="0"/>
                                        </a:rPr>
                                        <m:t>1</m:t>
                                      </m:r>
                                    </m:sub>
                                  </m:sSub>
                                </m:e>
                              </m:d>
                            </m:e>
                            <m:sup>
                              <m:r>
                                <a:rPr lang="en-ZA" sz="1800" b="1" kern="1200">
                                  <a:solidFill>
                                    <a:schemeClr val="bg2"/>
                                  </a:solidFill>
                                  <a:latin typeface="Cambria Math" panose="02040503050406030204" pitchFamily="18" charset="0"/>
                                  <a:cs typeface="Times New Roman" panose="02020603050405020304" pitchFamily="18" charset="0"/>
                                </a:rPr>
                                <m:t>2</m:t>
                              </m:r>
                            </m:sup>
                          </m:sSup>
                        </m:num>
                        <m:den>
                          <m:r>
                            <a:rPr lang="en-ZA" sz="1800" b="1" kern="1200">
                              <a:solidFill>
                                <a:schemeClr val="bg2"/>
                              </a:solidFill>
                              <a:latin typeface="Cambria Math" panose="02040503050406030204" pitchFamily="18" charset="0"/>
                              <a:cs typeface="Times New Roman" panose="02020603050405020304" pitchFamily="18" charset="0"/>
                            </a:rPr>
                            <m:t>𝑟</m:t>
                          </m:r>
                          <m:r>
                            <a:rPr lang="en-ZA" sz="1800" b="1" kern="1200">
                              <a:solidFill>
                                <a:schemeClr val="bg2"/>
                              </a:solidFill>
                              <a:latin typeface="Cambria Math" panose="02040503050406030204" pitchFamily="18" charset="0"/>
                              <a:cs typeface="Times New Roman" panose="02020603050405020304" pitchFamily="18" charset="0"/>
                            </a:rPr>
                            <m:t> . </m:t>
                          </m:r>
                          <m:r>
                            <a:rPr lang="en-ZA" sz="1800" b="1" kern="1200">
                              <a:solidFill>
                                <a:schemeClr val="bg2"/>
                              </a:solidFill>
                              <a:latin typeface="Cambria Math" panose="02040503050406030204" pitchFamily="18" charset="0"/>
                              <a:cs typeface="Times New Roman" panose="02020603050405020304" pitchFamily="18" charset="0"/>
                            </a:rPr>
                            <m:t>𝑠</m:t>
                          </m:r>
                          <m:r>
                            <a:rPr lang="en-ZA" sz="1800" b="1" kern="1200">
                              <a:solidFill>
                                <a:schemeClr val="bg2"/>
                              </a:solidFill>
                              <a:latin typeface="Cambria Math" panose="02040503050406030204" pitchFamily="18" charset="0"/>
                              <a:cs typeface="Times New Roman" panose="02020603050405020304" pitchFamily="18" charset="0"/>
                            </a:rPr>
                            <m:t> . </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1</m:t>
                              </m:r>
                            </m:sub>
                          </m:sSub>
                          <m:r>
                            <a:rPr lang="en-ZA" sz="1800" b="1" kern="1200">
                              <a:solidFill>
                                <a:schemeClr val="bg2"/>
                              </a:solidFill>
                              <a:latin typeface="Cambria Math" panose="02040503050406030204" pitchFamily="18" charset="0"/>
                              <a:cs typeface="Times New Roman" panose="02020603050405020304" pitchFamily="18" charset="0"/>
                            </a:rPr>
                            <m:t> . (</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0</m:t>
                              </m:r>
                            </m:sub>
                          </m:sSub>
                          <m:r>
                            <a:rPr lang="en-ZA" sz="1800" b="1" kern="1200">
                              <a:solidFill>
                                <a:schemeClr val="bg2"/>
                              </a:solidFill>
                              <a:latin typeface="Cambria Math" panose="02040503050406030204" pitchFamily="18" charset="0"/>
                              <a:cs typeface="Times New Roman" panose="02020603050405020304" pitchFamily="18" charset="0"/>
                            </a:rPr>
                            <m:t>+ </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2</m:t>
                              </m:r>
                            </m:sub>
                          </m:sSub>
                          <m:r>
                            <a:rPr lang="en-ZA" sz="1800" b="1" kern="1200">
                              <a:solidFill>
                                <a:schemeClr val="bg2"/>
                              </a:solidFill>
                              <a:latin typeface="Cambria Math" panose="02040503050406030204" pitchFamily="18" charset="0"/>
                              <a:cs typeface="Times New Roman" panose="02020603050405020304" pitchFamily="18" charset="0"/>
                            </a:rPr>
                            <m:t>)</m:t>
                          </m:r>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p:txBody>
          </p:sp>
        </mc:Choice>
        <mc:Fallback>
          <p:sp>
            <p:nvSpPr>
              <p:cNvPr id="6" name="Content Placeholder 2">
                <a:extLst>
                  <a:ext uri="{FF2B5EF4-FFF2-40B4-BE49-F238E27FC236}">
                    <a16:creationId xmlns:a16="http://schemas.microsoft.com/office/drawing/2014/main" id="{5F3FA4DD-F20C-42FE-B792-B449DB39D415}"/>
                  </a:ext>
                </a:extLst>
              </p:cNvPr>
              <p:cNvSpPr>
                <a:spLocks noGrp="1" noRot="1" noChangeAspect="1" noMove="1" noResize="1" noEditPoints="1" noAdjustHandles="1" noChangeArrowheads="1" noChangeShapeType="1" noTextEdit="1"/>
              </p:cNvSpPr>
              <p:nvPr>
                <p:ph idx="1"/>
              </p:nvPr>
            </p:nvSpPr>
            <p:spPr>
              <a:xfrm>
                <a:off x="252587" y="513567"/>
                <a:ext cx="8688368" cy="6259088"/>
              </a:xfrm>
              <a:blipFill>
                <a:blip r:embed="rId3"/>
                <a:stretch>
                  <a:fillRect l="-281" t="-292" r="-421"/>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0FDFE4D-9E62-49D6-BF2F-62CE0E33A734}"/>
              </a:ext>
            </a:extLst>
          </p:cNvPr>
          <p:cNvSpPr txBox="1"/>
          <p:nvPr/>
        </p:nvSpPr>
        <p:spPr>
          <a:xfrm>
            <a:off x="1524000" y="3326983"/>
            <a:ext cx="6096000" cy="461665"/>
          </a:xfrm>
          <a:prstGeom prst="rect">
            <a:avLst/>
          </a:prstGeom>
          <a:noFill/>
        </p:spPr>
        <p:txBody>
          <a:bodyPr wrap="square">
            <a:spAutoFit/>
          </a:bodyPr>
          <a:lstStyle/>
          <a:p>
            <a:r>
              <a:rPr lang="en-ZA" sz="1200" dirty="0"/>
              <a:t>Tab. 5: Genotype frequencies in cases and controls for a dominant and a recessive genetic model with regard to allele A.</a:t>
            </a:r>
          </a:p>
        </p:txBody>
      </p:sp>
      <p:graphicFrame>
        <p:nvGraphicFramePr>
          <p:cNvPr id="3" name="Table 3">
            <a:extLst>
              <a:ext uri="{FF2B5EF4-FFF2-40B4-BE49-F238E27FC236}">
                <a16:creationId xmlns:a16="http://schemas.microsoft.com/office/drawing/2014/main" id="{22E13F40-361F-48FE-8FF0-D184F72B970A}"/>
              </a:ext>
            </a:extLst>
          </p:cNvPr>
          <p:cNvGraphicFramePr>
            <a:graphicFrameLocks noGrp="1"/>
          </p:cNvGraphicFramePr>
          <p:nvPr>
            <p:extLst>
              <p:ext uri="{D42A27DB-BD31-4B8C-83A1-F6EECF244321}">
                <p14:modId xmlns:p14="http://schemas.microsoft.com/office/powerpoint/2010/main" val="1205372954"/>
              </p:ext>
            </p:extLst>
          </p:nvPr>
        </p:nvGraphicFramePr>
        <p:xfrm>
          <a:off x="1367182" y="1443757"/>
          <a:ext cx="6409636" cy="1854200"/>
        </p:xfrm>
        <a:graphic>
          <a:graphicData uri="http://schemas.openxmlformats.org/drawingml/2006/table">
            <a:tbl>
              <a:tblPr firstRow="1" bandRow="1">
                <a:tableStyleId>{5C22544A-7EE6-4342-B048-85BDC9FD1C3A}</a:tableStyleId>
              </a:tblPr>
              <a:tblGrid>
                <a:gridCol w="1018752">
                  <a:extLst>
                    <a:ext uri="{9D8B030D-6E8A-4147-A177-3AD203B41FA5}">
                      <a16:colId xmlns:a16="http://schemas.microsoft.com/office/drawing/2014/main" val="1641823957"/>
                    </a:ext>
                  </a:extLst>
                </a:gridCol>
                <a:gridCol w="1306061">
                  <a:extLst>
                    <a:ext uri="{9D8B030D-6E8A-4147-A177-3AD203B41FA5}">
                      <a16:colId xmlns:a16="http://schemas.microsoft.com/office/drawing/2014/main" val="1209844357"/>
                    </a:ext>
                  </a:extLst>
                </a:gridCol>
                <a:gridCol w="518502">
                  <a:extLst>
                    <a:ext uri="{9D8B030D-6E8A-4147-A177-3AD203B41FA5}">
                      <a16:colId xmlns:a16="http://schemas.microsoft.com/office/drawing/2014/main" val="3715362309"/>
                    </a:ext>
                  </a:extLst>
                </a:gridCol>
                <a:gridCol w="1246560">
                  <a:extLst>
                    <a:ext uri="{9D8B030D-6E8A-4147-A177-3AD203B41FA5}">
                      <a16:colId xmlns:a16="http://schemas.microsoft.com/office/drawing/2014/main" val="1799756274"/>
                    </a:ext>
                  </a:extLst>
                </a:gridCol>
                <a:gridCol w="633939">
                  <a:extLst>
                    <a:ext uri="{9D8B030D-6E8A-4147-A177-3AD203B41FA5}">
                      <a16:colId xmlns:a16="http://schemas.microsoft.com/office/drawing/2014/main" val="807732028"/>
                    </a:ext>
                  </a:extLst>
                </a:gridCol>
                <a:gridCol w="667070">
                  <a:extLst>
                    <a:ext uri="{9D8B030D-6E8A-4147-A177-3AD203B41FA5}">
                      <a16:colId xmlns:a16="http://schemas.microsoft.com/office/drawing/2014/main" val="2858639618"/>
                    </a:ext>
                  </a:extLst>
                </a:gridCol>
                <a:gridCol w="1018752">
                  <a:extLst>
                    <a:ext uri="{9D8B030D-6E8A-4147-A177-3AD203B41FA5}">
                      <a16:colId xmlns:a16="http://schemas.microsoft.com/office/drawing/2014/main" val="117817422"/>
                    </a:ext>
                  </a:extLst>
                </a:gridCol>
              </a:tblGrid>
              <a:tr h="370840">
                <a:tc rowSpan="2">
                  <a:txBody>
                    <a:bodyPr/>
                    <a:lstStyle/>
                    <a:p>
                      <a:endParaRPr lang="en-ZA" dirty="0"/>
                    </a:p>
                  </a:txBody>
                  <a:tcPr/>
                </a:tc>
                <a:tc gridSpan="2">
                  <a:txBody>
                    <a:bodyPr/>
                    <a:lstStyle/>
                    <a:p>
                      <a:r>
                        <a:rPr lang="en-ZA" dirty="0"/>
                        <a:t>Dominant</a:t>
                      </a:r>
                    </a:p>
                  </a:txBody>
                  <a:tcPr/>
                </a:tc>
                <a:tc hMerge="1">
                  <a:txBody>
                    <a:bodyPr/>
                    <a:lstStyle/>
                    <a:p>
                      <a:endParaRPr lang="en-ZA" dirty="0"/>
                    </a:p>
                  </a:txBody>
                  <a:tcPr/>
                </a:tc>
                <a:tc gridSpan="2">
                  <a:txBody>
                    <a:bodyPr/>
                    <a:lstStyle/>
                    <a:p>
                      <a:r>
                        <a:rPr lang="en-ZA"/>
                        <a:t>Heterozygote</a:t>
                      </a:r>
                      <a:endParaRPr lang="en-ZA" dirty="0"/>
                    </a:p>
                  </a:txBody>
                  <a:tcPr/>
                </a:tc>
                <a:tc hMerge="1">
                  <a:txBody>
                    <a:bodyPr/>
                    <a:lstStyle/>
                    <a:p>
                      <a:endParaRPr lang="en-ZA" dirty="0"/>
                    </a:p>
                  </a:txBody>
                  <a:tcPr/>
                </a:tc>
                <a:tc gridSpan="2">
                  <a:txBody>
                    <a:bodyPr/>
                    <a:lstStyle/>
                    <a:p>
                      <a:r>
                        <a:rPr lang="en-ZA" dirty="0"/>
                        <a:t>Recessive</a:t>
                      </a:r>
                    </a:p>
                  </a:txBody>
                  <a:tcPr/>
                </a:tc>
                <a:tc hMerge="1">
                  <a:txBody>
                    <a:bodyPr/>
                    <a:lstStyle/>
                    <a:p>
                      <a:endParaRPr lang="en-ZA" dirty="0"/>
                    </a:p>
                  </a:txBody>
                  <a:tcPr/>
                </a:tc>
                <a:extLst>
                  <a:ext uri="{0D108BD9-81ED-4DB2-BD59-A6C34878D82A}">
                    <a16:rowId xmlns:a16="http://schemas.microsoft.com/office/drawing/2014/main" val="825413234"/>
                  </a:ext>
                </a:extLst>
              </a:tr>
              <a:tr h="370840">
                <a:tc vMerge="1">
                  <a:txBody>
                    <a:bodyPr/>
                    <a:lstStyle/>
                    <a:p>
                      <a:endParaRPr lang="en-ZA" dirty="0"/>
                    </a:p>
                  </a:txBody>
                  <a:tcPr/>
                </a:tc>
                <a:tc>
                  <a:txBody>
                    <a:bodyPr/>
                    <a:lstStyle/>
                    <a:p>
                      <a:r>
                        <a:rPr lang="en-ZA" dirty="0" err="1"/>
                        <a:t>aA</a:t>
                      </a:r>
                      <a:r>
                        <a:rPr lang="en-ZA" dirty="0"/>
                        <a:t> or AA</a:t>
                      </a:r>
                    </a:p>
                  </a:txBody>
                  <a:tcPr/>
                </a:tc>
                <a:tc>
                  <a:txBody>
                    <a:bodyPr/>
                    <a:lstStyle/>
                    <a:p>
                      <a:r>
                        <a:rPr lang="en-ZA" dirty="0"/>
                        <a:t>aa</a:t>
                      </a:r>
                    </a:p>
                  </a:txBody>
                  <a:tcPr/>
                </a:tc>
                <a:tc>
                  <a:txBody>
                    <a:bodyPr/>
                    <a:lstStyle/>
                    <a:p>
                      <a:r>
                        <a:rPr lang="en-ZA" dirty="0"/>
                        <a:t>aa or AA</a:t>
                      </a:r>
                    </a:p>
                  </a:txBody>
                  <a:tcPr/>
                </a:tc>
                <a:tc>
                  <a:txBody>
                    <a:bodyPr/>
                    <a:lstStyle/>
                    <a:p>
                      <a:r>
                        <a:rPr lang="en-ZA" dirty="0" err="1"/>
                        <a:t>aA</a:t>
                      </a:r>
                      <a:endParaRPr lang="en-ZA" dirty="0"/>
                    </a:p>
                  </a:txBody>
                  <a:tcPr/>
                </a:tc>
                <a:tc>
                  <a:txBody>
                    <a:bodyPr/>
                    <a:lstStyle/>
                    <a:p>
                      <a:r>
                        <a:rPr lang="en-ZA" dirty="0"/>
                        <a:t>AA</a:t>
                      </a:r>
                    </a:p>
                  </a:txBody>
                  <a:tcPr/>
                </a:tc>
                <a:tc>
                  <a:txBody>
                    <a:bodyPr/>
                    <a:lstStyle/>
                    <a:p>
                      <a:r>
                        <a:rPr lang="en-ZA" dirty="0"/>
                        <a:t>aa or </a:t>
                      </a:r>
                      <a:r>
                        <a:rPr lang="en-ZA" dirty="0" err="1"/>
                        <a:t>aA</a:t>
                      </a:r>
                      <a:endParaRPr lang="en-ZA" dirty="0"/>
                    </a:p>
                  </a:txBody>
                  <a:tcPr/>
                </a:tc>
                <a:extLst>
                  <a:ext uri="{0D108BD9-81ED-4DB2-BD59-A6C34878D82A}">
                    <a16:rowId xmlns:a16="http://schemas.microsoft.com/office/drawing/2014/main" val="2864731684"/>
                  </a:ext>
                </a:extLst>
              </a:tr>
              <a:tr h="370840">
                <a:tc>
                  <a:txBody>
                    <a:bodyPr/>
                    <a:lstStyle/>
                    <a:p>
                      <a:r>
                        <a:rPr lang="en-ZA" dirty="0"/>
                        <a:t>Cases</a:t>
                      </a:r>
                    </a:p>
                  </a:txBody>
                  <a:tcPr/>
                </a:tc>
                <a:tc>
                  <a:txBody>
                    <a:bodyPr/>
                    <a:lstStyle/>
                    <a:p>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1</a:t>
                      </a: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2</a:t>
                      </a:r>
                      <a:endParaRPr lang="en-ZA" dirty="0"/>
                    </a:p>
                  </a:txBody>
                  <a:tcPr/>
                </a:tc>
                <a:tc>
                  <a:txBody>
                    <a:bodyPr/>
                    <a:lstStyle/>
                    <a:p>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0</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0</a:t>
                      </a: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2</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1</a:t>
                      </a:r>
                      <a:endParaRPr lang="en-ZA" dirty="0"/>
                    </a:p>
                  </a:txBody>
                  <a:tcPr/>
                </a:tc>
                <a:tc>
                  <a:txBody>
                    <a:bodyPr/>
                    <a:lstStyle/>
                    <a:p>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2</a:t>
                      </a:r>
                      <a:endParaRPr lang="en-ZA" dirty="0"/>
                    </a:p>
                  </a:txBody>
                  <a:tcPr/>
                </a:tc>
                <a:tc>
                  <a:txBody>
                    <a:bodyPr/>
                    <a:lstStyle/>
                    <a:p>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0</a:t>
                      </a:r>
                      <a:r>
                        <a:rPr lang="en-ZA" sz="1800" kern="1200" dirty="0">
                          <a:solidFill>
                            <a:schemeClr val="dk1"/>
                          </a:solidFill>
                          <a:effectLst/>
                          <a:latin typeface="+mn-lt"/>
                          <a:ea typeface="+mn-ea"/>
                          <a:cs typeface="+mn-cs"/>
                        </a:rPr>
                        <a:t>+r</a:t>
                      </a:r>
                      <a:r>
                        <a:rPr lang="en-ZA" sz="1800" kern="1200" baseline="-25000" dirty="0">
                          <a:solidFill>
                            <a:schemeClr val="dk1"/>
                          </a:solidFill>
                          <a:effectLst/>
                          <a:latin typeface="+mn-lt"/>
                          <a:ea typeface="+mn-ea"/>
                          <a:cs typeface="+mn-cs"/>
                        </a:rPr>
                        <a:t>1</a:t>
                      </a:r>
                      <a:endParaRPr lang="en-ZA" dirty="0"/>
                    </a:p>
                  </a:txBody>
                  <a:tcPr/>
                </a:tc>
                <a:extLst>
                  <a:ext uri="{0D108BD9-81ED-4DB2-BD59-A6C34878D82A}">
                    <a16:rowId xmlns:a16="http://schemas.microsoft.com/office/drawing/2014/main" val="2067940162"/>
                  </a:ext>
                </a:extLst>
              </a:tr>
              <a:tr h="370840">
                <a:tc>
                  <a:txBody>
                    <a:bodyPr/>
                    <a:lstStyle/>
                    <a:p>
                      <a:r>
                        <a:rPr lang="en-ZA" dirty="0"/>
                        <a:t>Control</a:t>
                      </a:r>
                    </a:p>
                  </a:txBody>
                  <a:tcPr/>
                </a:tc>
                <a:tc>
                  <a:txBody>
                    <a:bodyPr/>
                    <a:lstStyle/>
                    <a:p>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1</a:t>
                      </a: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2</a:t>
                      </a:r>
                      <a:endParaRPr lang="en-ZA" dirty="0"/>
                    </a:p>
                  </a:txBody>
                  <a:tcPr/>
                </a:tc>
                <a:tc>
                  <a:txBody>
                    <a:bodyPr/>
                    <a:lstStyle/>
                    <a:p>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0</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0</a:t>
                      </a: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2</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1</a:t>
                      </a:r>
                      <a:endParaRPr lang="en-ZA" dirty="0"/>
                    </a:p>
                  </a:txBody>
                  <a:tcPr/>
                </a:tc>
                <a:tc>
                  <a:txBody>
                    <a:bodyPr/>
                    <a:lstStyle/>
                    <a:p>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2</a:t>
                      </a:r>
                      <a:endParaRPr lang="en-ZA" dirty="0"/>
                    </a:p>
                  </a:txBody>
                  <a:tcPr/>
                </a:tc>
                <a:tc>
                  <a:txBody>
                    <a:bodyPr/>
                    <a:lstStyle/>
                    <a:p>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0</a:t>
                      </a:r>
                      <a:r>
                        <a:rPr lang="en-ZA" sz="1800" kern="1200" dirty="0">
                          <a:solidFill>
                            <a:schemeClr val="dk1"/>
                          </a:solidFill>
                          <a:effectLst/>
                          <a:latin typeface="+mn-lt"/>
                          <a:ea typeface="+mn-ea"/>
                          <a:cs typeface="+mn-cs"/>
                        </a:rPr>
                        <a:t>+s</a:t>
                      </a:r>
                      <a:r>
                        <a:rPr lang="en-ZA" sz="1800" kern="1200" baseline="-25000" dirty="0">
                          <a:solidFill>
                            <a:schemeClr val="dk1"/>
                          </a:solidFill>
                          <a:effectLst/>
                          <a:latin typeface="+mn-lt"/>
                          <a:ea typeface="+mn-ea"/>
                          <a:cs typeface="+mn-cs"/>
                        </a:rPr>
                        <a:t>1</a:t>
                      </a:r>
                      <a:endParaRPr lang="en-ZA" dirty="0"/>
                    </a:p>
                  </a:txBody>
                  <a:tcPr/>
                </a:tc>
                <a:extLst>
                  <a:ext uri="{0D108BD9-81ED-4DB2-BD59-A6C34878D82A}">
                    <a16:rowId xmlns:a16="http://schemas.microsoft.com/office/drawing/2014/main" val="3062387039"/>
                  </a:ext>
                </a:extLst>
              </a:tr>
              <a:tr h="370840">
                <a:tc>
                  <a:txBody>
                    <a:bodyPr/>
                    <a:lstStyle/>
                    <a:p>
                      <a:r>
                        <a:rPr lang="en-ZA" dirty="0"/>
                        <a:t>Total</a:t>
                      </a:r>
                    </a:p>
                  </a:txBody>
                  <a:tcPr/>
                </a:tc>
                <a:tc>
                  <a:txBody>
                    <a:bodyPr/>
                    <a:lstStyle/>
                    <a:p>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a:t>
                      </a: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a:t>
                      </a:r>
                      <a:endParaRPr lang="en-ZA" dirty="0"/>
                    </a:p>
                  </a:txBody>
                  <a:tcPr/>
                </a:tc>
                <a:tc>
                  <a:txBody>
                    <a:bodyPr/>
                    <a:lstStyle/>
                    <a:p>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0</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0</a:t>
                      </a: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a:t>
                      </a:r>
                      <a:endParaRPr lang="en-ZA" dirty="0"/>
                    </a:p>
                  </a:txBody>
                  <a:tcPr/>
                </a:tc>
                <a:tc>
                  <a:txBody>
                    <a:bodyPr/>
                    <a:lstStyle/>
                    <a:p>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a:t>
                      </a:r>
                      <a:endParaRPr lang="en-ZA" dirty="0"/>
                    </a:p>
                  </a:txBody>
                  <a:tcPr/>
                </a:tc>
                <a:tc>
                  <a:txBody>
                    <a:bodyPr/>
                    <a:lstStyle/>
                    <a:p>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0</a:t>
                      </a: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a:t>
                      </a:r>
                      <a:endParaRPr lang="en-ZA" dirty="0"/>
                    </a:p>
                  </a:txBody>
                  <a:tcPr/>
                </a:tc>
                <a:extLst>
                  <a:ext uri="{0D108BD9-81ED-4DB2-BD59-A6C34878D82A}">
                    <a16:rowId xmlns:a16="http://schemas.microsoft.com/office/drawing/2014/main" val="2838198612"/>
                  </a:ext>
                </a:extLst>
              </a:tr>
            </a:tbl>
          </a:graphicData>
        </a:graphic>
      </p:graphicFrame>
    </p:spTree>
    <p:extLst>
      <p:ext uri="{BB962C8B-B14F-4D97-AF65-F5344CB8AC3E}">
        <p14:creationId xmlns:p14="http://schemas.microsoft.com/office/powerpoint/2010/main" val="1353021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534677" y="85344"/>
            <a:ext cx="8177239"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Example for Testing and Estimation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A501247-0B18-479B-908B-4EE78565EC36}"/>
                  </a:ext>
                </a:extLst>
              </p:cNvPr>
              <p:cNvSpPr>
                <a:spLocks noGrp="1"/>
              </p:cNvSpPr>
              <p:nvPr>
                <p:ph idx="1"/>
              </p:nvPr>
            </p:nvSpPr>
            <p:spPr>
              <a:xfrm>
                <a:off x="92765" y="879651"/>
                <a:ext cx="8900403"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In this example there are 231 psoriasis patients and 345 healthy controls in the study by Reich and colleagues [</a:t>
                </a:r>
                <a:r>
                  <a:rPr lang="en-ZA" sz="1800" b="1" kern="1200" dirty="0">
                    <a:solidFill>
                      <a:schemeClr val="bg2"/>
                    </a:solidFill>
                    <a:latin typeface="Arial" panose="020B0604020202020204" pitchFamily="34" charset="0"/>
                    <a:cs typeface="Times New Roman" panose="02020603050405020304" pitchFamily="18" charset="0"/>
                    <a:hlinkClick r:id="rId3">
                      <a:extLst>
                        <a:ext uri="{A12FA001-AC4F-418D-AE19-62706E023703}">
                          <ahyp:hlinkClr xmlns:ahyp="http://schemas.microsoft.com/office/drawing/2018/hyperlinkcolor" xmlns="" val="tx"/>
                        </a:ext>
                      </a:extLst>
                    </a:hlinkClick>
                  </a:rPr>
                  <a:t>Reich2002</a:t>
                </a:r>
                <a:r>
                  <a:rPr lang="en-ZA" sz="1800" b="1" kern="1200" dirty="0">
                    <a:solidFill>
                      <a:schemeClr val="bg2"/>
                    </a:solidFill>
                    <a:latin typeface="Arial" panose="020B0604020202020204" pitchFamily="34" charset="0"/>
                    <a:cs typeface="Times New Roman" panose="02020603050405020304" pitchFamily="18" charset="0"/>
                  </a:rPr>
                  <a:t>] were compared with regard to their genotype distribution in the candidate genes encoding for </a:t>
                </a:r>
                <a:r>
                  <a:rPr lang="en-ZA" sz="1800" b="1" kern="1200" dirty="0" err="1">
                    <a:solidFill>
                      <a:schemeClr val="bg2"/>
                    </a:solidFill>
                    <a:latin typeface="Arial" panose="020B0604020202020204" pitchFamily="34" charset="0"/>
                    <a:cs typeface="Times New Roman" panose="02020603050405020304" pitchFamily="18" charset="0"/>
                  </a:rPr>
                  <a:t>tumor</a:t>
                </a:r>
                <a:r>
                  <a:rPr lang="en-ZA" sz="1800" b="1" kern="1200" dirty="0">
                    <a:solidFill>
                      <a:schemeClr val="bg2"/>
                    </a:solidFill>
                    <a:latin typeface="Arial" panose="020B0604020202020204" pitchFamily="34" charset="0"/>
                    <a:cs typeface="Times New Roman" panose="02020603050405020304" pitchFamily="18" charset="0"/>
                  </a:rPr>
                  <a:t> necrosis factor </a:t>
                </a:r>
                <a14:m>
                  <m:oMath xmlns:m="http://schemas.openxmlformats.org/officeDocument/2006/math">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𝛼</m:t>
                    </m:r>
                  </m:oMath>
                </a14:m>
                <a:r>
                  <a:rPr lang="en-ZA" sz="1800" b="1" kern="1200" dirty="0">
                    <a:solidFill>
                      <a:schemeClr val="bg2"/>
                    </a:solidFill>
                    <a:latin typeface="Arial" panose="020B0604020202020204" pitchFamily="34" charset="0"/>
                    <a:cs typeface="Times New Roman" panose="02020603050405020304" pitchFamily="18" charset="0"/>
                  </a:rPr>
                  <a:t> (TNFA) and interleukin </a:t>
                </a:r>
                <a14:m>
                  <m:oMath xmlns:m="http://schemas.openxmlformats.org/officeDocument/2006/math">
                    <m:r>
                      <a:rPr lang="en-ZA" sz="1800" b="1" kern="1200">
                        <a:solidFill>
                          <a:schemeClr val="bg2"/>
                        </a:solidFill>
                        <a:latin typeface="Cambria Math" panose="02040503050406030204" pitchFamily="18" charset="0"/>
                        <a:cs typeface="Times New Roman" panose="02020603050405020304" pitchFamily="18" charset="0"/>
                      </a:rPr>
                      <m:t>−1</m:t>
                    </m:r>
                    <m:r>
                      <a:rPr lang="en-ZA" sz="1800" b="1" kern="1200">
                        <a:solidFill>
                          <a:schemeClr val="bg2"/>
                        </a:solidFill>
                        <a:latin typeface="Cambria Math" panose="02040503050406030204" pitchFamily="18" charset="0"/>
                        <a:cs typeface="Times New Roman" panose="02020603050405020304" pitchFamily="18" charset="0"/>
                      </a:rPr>
                      <m:t>𝛽</m:t>
                    </m:r>
                  </m:oMath>
                </a14:m>
                <a:r>
                  <a:rPr lang="en-ZA" sz="1800" b="1" kern="1200" dirty="0">
                    <a:solidFill>
                      <a:schemeClr val="bg2"/>
                    </a:solidFill>
                    <a:latin typeface="Arial" panose="020B0604020202020204" pitchFamily="34" charset="0"/>
                    <a:cs typeface="Times New Roman" panose="02020603050405020304" pitchFamily="18" charset="0"/>
                  </a:rPr>
                  <a:t> (IL1B). To </a:t>
                </a:r>
                <a:r>
                  <a:rPr lang="en-ZA" sz="1800" b="1" kern="1200" dirty="0" err="1">
                    <a:solidFill>
                      <a:schemeClr val="bg2"/>
                    </a:solidFill>
                    <a:latin typeface="Arial" panose="020B0604020202020204" pitchFamily="34" charset="0"/>
                    <a:cs typeface="Times New Roman" panose="02020603050405020304" pitchFamily="18" charset="0"/>
                  </a:rPr>
                  <a:t>analyze</a:t>
                </a:r>
                <a:r>
                  <a:rPr lang="en-ZA" sz="1800" b="1" kern="1200" dirty="0">
                    <a:solidFill>
                      <a:schemeClr val="bg2"/>
                    </a:solidFill>
                    <a:latin typeface="Arial" panose="020B0604020202020204" pitchFamily="34" charset="0"/>
                    <a:cs typeface="Times New Roman" panose="02020603050405020304" pitchFamily="18" charset="0"/>
                  </a:rPr>
                  <a:t> a possible association of the outcome with the SNP TNFA-238, the data in the table below are available. </a:t>
                </a: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r>
                  <a:rPr lang="en-ZA" sz="1800" b="1" kern="1200" dirty="0">
                    <a:solidFill>
                      <a:schemeClr val="bg2"/>
                    </a:solidFill>
                    <a:latin typeface="Arial" panose="020B0604020202020204" pitchFamily="34" charset="0"/>
                    <a:cs typeface="Times New Roman" panose="02020603050405020304" pitchFamily="18" charset="0"/>
                  </a:rPr>
                  <a:t>The test statistic is calculated as</a:t>
                </a:r>
              </a:p>
              <a:p>
                <a:pPr marL="0" indent="0">
                  <a:buNone/>
                </a:pPr>
                <a14:m>
                  <m:oMathPara xmlns:m="http://schemas.openxmlformats.org/officeDocument/2006/math">
                    <m:oMathParaPr>
                      <m:jc m:val="centerGroup"/>
                    </m:oMathParaPr>
                    <m:oMath xmlns:m="http://schemas.openxmlformats.org/officeDocument/2006/math">
                      <m:sSubSup>
                        <m:sSubSupPr>
                          <m:ctrlPr>
                            <a:rPr lang="en-ZA" sz="1800" b="1" i="1" kern="1200">
                              <a:solidFill>
                                <a:schemeClr val="bg2"/>
                              </a:solidFill>
                              <a:latin typeface="Cambria Math" panose="02040503050406030204" pitchFamily="18" charset="0"/>
                            </a:rPr>
                          </m:ctrlPr>
                        </m:sSubSupPr>
                        <m:e>
                          <m:r>
                            <a:rPr lang="en-ZA" sz="1800" b="1" kern="1200">
                              <a:solidFill>
                                <a:schemeClr val="bg2"/>
                              </a:solidFill>
                              <a:latin typeface="Cambria Math" panose="02040503050406030204" pitchFamily="18" charset="0"/>
                            </a:rPr>
                            <m:t>𝑥</m:t>
                          </m:r>
                        </m:e>
                        <m:sub>
                          <m:r>
                            <a:rPr lang="en-ZA" sz="1800" b="1" kern="1200">
                              <a:solidFill>
                                <a:schemeClr val="bg2"/>
                              </a:solidFill>
                              <a:latin typeface="Cambria Math" panose="02040503050406030204" pitchFamily="18" charset="0"/>
                            </a:rPr>
                            <m:t>𝑑𝑜𝑚</m:t>
                          </m:r>
                        </m:sub>
                        <m:sup>
                          <m:r>
                            <a:rPr lang="en-ZA" sz="1800" b="1" kern="1200">
                              <a:solidFill>
                                <a:schemeClr val="bg2"/>
                              </a:solidFill>
                              <a:latin typeface="Cambria Math" panose="02040503050406030204" pitchFamily="18" charset="0"/>
                            </a:rPr>
                            <m:t>2</m:t>
                          </m:r>
                        </m:sup>
                      </m:sSubSup>
                      <m:r>
                        <a:rPr lang="en-ZA" sz="1800" b="1" kern="1200">
                          <a:solidFill>
                            <a:schemeClr val="bg2"/>
                          </a:solidFill>
                          <a:latin typeface="Cambria Math" panose="02040503050406030204" pitchFamily="18" charset="0"/>
                        </a:rPr>
                        <m:t>=576 . </m:t>
                      </m:r>
                      <m:f>
                        <m:fPr>
                          <m:ctrlPr>
                            <a:rPr lang="en-ZA" sz="1800" b="1" i="1" kern="1200">
                              <a:solidFill>
                                <a:schemeClr val="bg2"/>
                              </a:solidFill>
                              <a:latin typeface="Cambria Math" panose="02040503050406030204" pitchFamily="18" charset="0"/>
                            </a:rPr>
                          </m:ctrlPr>
                        </m:fPr>
                        <m:num>
                          <m:sSup>
                            <m:sSupPr>
                              <m:ctrlPr>
                                <a:rPr lang="en-ZA" sz="1800" b="1" i="1" kern="1200">
                                  <a:solidFill>
                                    <a:schemeClr val="bg2"/>
                                  </a:solidFill>
                                  <a:latin typeface="Cambria Math" panose="02040503050406030204" pitchFamily="18" charset="0"/>
                                </a:rPr>
                              </m:ctrlPr>
                            </m:sSupPr>
                            <m:e>
                              <m:d>
                                <m:dPr>
                                  <m:ctrlPr>
                                    <a:rPr lang="en-ZA" sz="1800" b="1" i="1" kern="1200">
                                      <a:solidFill>
                                        <a:schemeClr val="bg2"/>
                                      </a:solidFill>
                                      <a:latin typeface="Cambria Math" panose="02040503050406030204" pitchFamily="18" charset="0"/>
                                    </a:rPr>
                                  </m:ctrlPr>
                                </m:dPr>
                                <m:e>
                                  <m:r>
                                    <a:rPr lang="en-ZA" sz="1800" b="1" kern="1200">
                                      <a:solidFill>
                                        <a:schemeClr val="bg2"/>
                                      </a:solidFill>
                                      <a:latin typeface="Cambria Math" panose="02040503050406030204" pitchFamily="18" charset="0"/>
                                    </a:rPr>
                                    <m:t>178 .  29−53 .  316</m:t>
                                  </m:r>
                                </m:e>
                              </m:d>
                            </m:e>
                            <m:sup>
                              <m:r>
                                <a:rPr lang="en-ZA" sz="1800" b="1" kern="1200">
                                  <a:solidFill>
                                    <a:schemeClr val="bg2"/>
                                  </a:solidFill>
                                  <a:latin typeface="Cambria Math" panose="02040503050406030204" pitchFamily="18" charset="0"/>
                                </a:rPr>
                                <m:t>2</m:t>
                              </m:r>
                            </m:sup>
                          </m:sSup>
                        </m:num>
                        <m:den>
                          <m:r>
                            <a:rPr lang="en-ZA" sz="1800" b="1" kern="1200">
                              <a:solidFill>
                                <a:schemeClr val="bg2"/>
                              </a:solidFill>
                              <a:latin typeface="Cambria Math" panose="02040503050406030204" pitchFamily="18" charset="0"/>
                            </a:rPr>
                            <m:t>231 . 345 . 82 . 494</m:t>
                          </m:r>
                        </m:den>
                      </m:f>
                      <m:r>
                        <a:rPr lang="en-ZA" sz="1800" b="1" kern="1200">
                          <a:solidFill>
                            <a:schemeClr val="bg2"/>
                          </a:solidFill>
                          <a:latin typeface="Cambria Math" panose="02040503050406030204" pitchFamily="18" charset="0"/>
                        </a:rPr>
                        <m:t> ≈23.9507</m:t>
                      </m:r>
                    </m:oMath>
                  </m:oMathPara>
                </a14:m>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And the respective p-value from the </a:t>
                </a:r>
                <a14:m>
                  <m:oMath xmlns:m="http://schemas.openxmlformats.org/officeDocument/2006/math">
                    <m:sSubSup>
                      <m:sSubSupPr>
                        <m:ctrlPr>
                          <a:rPr lang="en-ZA" sz="1800" b="1" i="1" kern="1200">
                            <a:solidFill>
                              <a:schemeClr val="bg2"/>
                            </a:solidFill>
                            <a:latin typeface="Cambria Math" panose="02040503050406030204" pitchFamily="18" charset="0"/>
                          </a:rPr>
                        </m:ctrlPr>
                      </m:sSubSupPr>
                      <m:e>
                        <m:r>
                          <a:rPr lang="en-ZA" sz="1800" b="1" kern="1200">
                            <a:solidFill>
                              <a:schemeClr val="bg2"/>
                            </a:solidFill>
                            <a:latin typeface="Cambria Math" panose="02040503050406030204" pitchFamily="18" charset="0"/>
                          </a:rPr>
                          <m:t>𝑥</m:t>
                        </m:r>
                      </m:e>
                      <m:sub>
                        <m:r>
                          <a:rPr lang="en-ZA" sz="1800" b="1" kern="1200">
                            <a:solidFill>
                              <a:schemeClr val="bg2"/>
                            </a:solidFill>
                            <a:latin typeface="Cambria Math" panose="02040503050406030204" pitchFamily="18" charset="0"/>
                          </a:rPr>
                          <m:t>1</m:t>
                        </m:r>
                      </m:sub>
                      <m:sup>
                        <m:r>
                          <a:rPr lang="en-ZA" sz="1800" b="1" kern="1200">
                            <a:solidFill>
                              <a:schemeClr val="bg2"/>
                            </a:solidFill>
                            <a:latin typeface="Cambria Math" panose="02040503050406030204" pitchFamily="18" charset="0"/>
                          </a:rPr>
                          <m:t>2</m:t>
                        </m:r>
                      </m:sup>
                    </m:sSubSup>
                  </m:oMath>
                </a14:m>
                <a:r>
                  <a:rPr lang="en-ZA" sz="1800" b="1" kern="1200" dirty="0">
                    <a:solidFill>
                      <a:schemeClr val="bg2"/>
                    </a:solidFill>
                    <a:latin typeface="Arial" panose="020B0604020202020204" pitchFamily="34" charset="0"/>
                    <a:cs typeface="Times New Roman" panose="02020603050405020304" pitchFamily="18" charset="0"/>
                  </a:rPr>
                  <a:t> distribution is less than 0.0001</a:t>
                </a:r>
              </a:p>
            </p:txBody>
          </p:sp>
        </mc:Choice>
        <mc:Fallback xmlns="">
          <p:sp>
            <p:nvSpPr>
              <p:cNvPr id="4" name="Content Placeholder 2">
                <a:extLst>
                  <a:ext uri="{FF2B5EF4-FFF2-40B4-BE49-F238E27FC236}">
                    <a16:creationId xmlns:a16="http://schemas.microsoft.com/office/drawing/2014/main" id="{4A501247-0B18-479B-908B-4EE78565EC36}"/>
                  </a:ext>
                </a:extLst>
              </p:cNvPr>
              <p:cNvSpPr>
                <a:spLocks noGrp="1" noRot="1" noChangeAspect="1" noMove="1" noResize="1" noEditPoints="1" noAdjustHandles="1" noChangeArrowheads="1" noChangeShapeType="1" noTextEdit="1"/>
              </p:cNvSpPr>
              <p:nvPr>
                <p:ph idx="1"/>
              </p:nvPr>
            </p:nvSpPr>
            <p:spPr>
              <a:xfrm>
                <a:off x="92765" y="879651"/>
                <a:ext cx="8900403" cy="5726799"/>
              </a:xfrm>
              <a:blipFill>
                <a:blip r:embed="rId4"/>
                <a:stretch>
                  <a:fillRect l="-411" t="-532"/>
                </a:stretch>
              </a:blipFill>
            </p:spPr>
            <p:txBody>
              <a:bodyPr/>
              <a:lstStyle/>
              <a:p>
                <a:r>
                  <a:rPr lang="en-ZA">
                    <a:noFill/>
                  </a:rPr>
                  <a:t> </a:t>
                </a:r>
              </a:p>
            </p:txBody>
          </p:sp>
        </mc:Fallback>
      </mc:AlternateContent>
      <p:graphicFrame>
        <p:nvGraphicFramePr>
          <p:cNvPr id="2" name="Table 2">
            <a:extLst>
              <a:ext uri="{FF2B5EF4-FFF2-40B4-BE49-F238E27FC236}">
                <a16:creationId xmlns:a16="http://schemas.microsoft.com/office/drawing/2014/main" id="{8AE37465-E860-44CA-B2FE-50DD8199FF3B}"/>
              </a:ext>
            </a:extLst>
          </p:cNvPr>
          <p:cNvGraphicFramePr>
            <a:graphicFrameLocks noGrp="1"/>
          </p:cNvGraphicFramePr>
          <p:nvPr>
            <p:extLst>
              <p:ext uri="{D42A27DB-BD31-4B8C-83A1-F6EECF244321}">
                <p14:modId xmlns:p14="http://schemas.microsoft.com/office/powerpoint/2010/main" val="2589256983"/>
              </p:ext>
            </p:extLst>
          </p:nvPr>
        </p:nvGraphicFramePr>
        <p:xfrm>
          <a:off x="1524000" y="2642702"/>
          <a:ext cx="609600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440296790"/>
                    </a:ext>
                  </a:extLst>
                </a:gridCol>
                <a:gridCol w="1524000">
                  <a:extLst>
                    <a:ext uri="{9D8B030D-6E8A-4147-A177-3AD203B41FA5}">
                      <a16:colId xmlns:a16="http://schemas.microsoft.com/office/drawing/2014/main" val="1775609397"/>
                    </a:ext>
                  </a:extLst>
                </a:gridCol>
                <a:gridCol w="1524000">
                  <a:extLst>
                    <a:ext uri="{9D8B030D-6E8A-4147-A177-3AD203B41FA5}">
                      <a16:colId xmlns:a16="http://schemas.microsoft.com/office/drawing/2014/main" val="3797197092"/>
                    </a:ext>
                  </a:extLst>
                </a:gridCol>
                <a:gridCol w="1524000">
                  <a:extLst>
                    <a:ext uri="{9D8B030D-6E8A-4147-A177-3AD203B41FA5}">
                      <a16:colId xmlns:a16="http://schemas.microsoft.com/office/drawing/2014/main" val="1131122602"/>
                    </a:ext>
                  </a:extLst>
                </a:gridCol>
              </a:tblGrid>
              <a:tr h="370840">
                <a:tc>
                  <a:txBody>
                    <a:bodyPr/>
                    <a:lstStyle/>
                    <a:p>
                      <a:pPr algn="ctr"/>
                      <a:endParaRPr lang="en-ZA"/>
                    </a:p>
                  </a:txBody>
                  <a:tcPr/>
                </a:tc>
                <a:tc>
                  <a:txBody>
                    <a:bodyPr/>
                    <a:lstStyle/>
                    <a:p>
                      <a:pPr algn="ctr"/>
                      <a:r>
                        <a:rPr lang="en-ZA" dirty="0"/>
                        <a:t>AA or GA</a:t>
                      </a:r>
                    </a:p>
                  </a:txBody>
                  <a:tcPr/>
                </a:tc>
                <a:tc>
                  <a:txBody>
                    <a:bodyPr/>
                    <a:lstStyle/>
                    <a:p>
                      <a:pPr algn="ctr"/>
                      <a:r>
                        <a:rPr lang="en-ZA" dirty="0"/>
                        <a:t>GG</a:t>
                      </a:r>
                    </a:p>
                  </a:txBody>
                  <a:tcPr/>
                </a:tc>
                <a:tc>
                  <a:txBody>
                    <a:bodyPr/>
                    <a:lstStyle/>
                    <a:p>
                      <a:pPr algn="ctr"/>
                      <a:r>
                        <a:rPr lang="en-ZA" dirty="0"/>
                        <a:t>Total</a:t>
                      </a:r>
                    </a:p>
                  </a:txBody>
                  <a:tcPr/>
                </a:tc>
                <a:extLst>
                  <a:ext uri="{0D108BD9-81ED-4DB2-BD59-A6C34878D82A}">
                    <a16:rowId xmlns:a16="http://schemas.microsoft.com/office/drawing/2014/main" val="3683744722"/>
                  </a:ext>
                </a:extLst>
              </a:tr>
              <a:tr h="370840">
                <a:tc>
                  <a:txBody>
                    <a:bodyPr/>
                    <a:lstStyle/>
                    <a:p>
                      <a:pPr algn="ctr"/>
                      <a:r>
                        <a:rPr lang="en-ZA" dirty="0" smtClean="0"/>
                        <a:t>Cases</a:t>
                      </a:r>
                      <a:endParaRPr lang="en-ZA" dirty="0"/>
                    </a:p>
                  </a:txBody>
                  <a:tcPr/>
                </a:tc>
                <a:tc>
                  <a:txBody>
                    <a:bodyPr/>
                    <a:lstStyle/>
                    <a:p>
                      <a:pPr algn="ctr"/>
                      <a:r>
                        <a:rPr lang="en-ZA" dirty="0"/>
                        <a:t>53</a:t>
                      </a:r>
                    </a:p>
                  </a:txBody>
                  <a:tcPr/>
                </a:tc>
                <a:tc>
                  <a:txBody>
                    <a:bodyPr/>
                    <a:lstStyle/>
                    <a:p>
                      <a:pPr algn="ctr"/>
                      <a:r>
                        <a:rPr lang="en-ZA" dirty="0"/>
                        <a:t>178</a:t>
                      </a:r>
                    </a:p>
                  </a:txBody>
                  <a:tcPr/>
                </a:tc>
                <a:tc>
                  <a:txBody>
                    <a:bodyPr/>
                    <a:lstStyle/>
                    <a:p>
                      <a:pPr algn="ctr"/>
                      <a:r>
                        <a:rPr lang="en-ZA" dirty="0"/>
                        <a:t>231</a:t>
                      </a:r>
                    </a:p>
                  </a:txBody>
                  <a:tcPr/>
                </a:tc>
                <a:extLst>
                  <a:ext uri="{0D108BD9-81ED-4DB2-BD59-A6C34878D82A}">
                    <a16:rowId xmlns:a16="http://schemas.microsoft.com/office/drawing/2014/main" val="1838451538"/>
                  </a:ext>
                </a:extLst>
              </a:tr>
              <a:tr h="370840">
                <a:tc>
                  <a:txBody>
                    <a:bodyPr/>
                    <a:lstStyle/>
                    <a:p>
                      <a:pPr algn="ctr"/>
                      <a:r>
                        <a:rPr lang="en-ZA" dirty="0"/>
                        <a:t>Controls</a:t>
                      </a:r>
                    </a:p>
                  </a:txBody>
                  <a:tcPr/>
                </a:tc>
                <a:tc>
                  <a:txBody>
                    <a:bodyPr/>
                    <a:lstStyle/>
                    <a:p>
                      <a:pPr algn="ctr"/>
                      <a:r>
                        <a:rPr lang="en-ZA" dirty="0"/>
                        <a:t>29</a:t>
                      </a:r>
                    </a:p>
                  </a:txBody>
                  <a:tcPr/>
                </a:tc>
                <a:tc>
                  <a:txBody>
                    <a:bodyPr/>
                    <a:lstStyle/>
                    <a:p>
                      <a:pPr algn="ctr"/>
                      <a:r>
                        <a:rPr lang="en-ZA" dirty="0"/>
                        <a:t>316</a:t>
                      </a:r>
                    </a:p>
                  </a:txBody>
                  <a:tcPr/>
                </a:tc>
                <a:tc>
                  <a:txBody>
                    <a:bodyPr/>
                    <a:lstStyle/>
                    <a:p>
                      <a:pPr algn="ctr"/>
                      <a:r>
                        <a:rPr lang="en-ZA" dirty="0"/>
                        <a:t>345</a:t>
                      </a:r>
                    </a:p>
                  </a:txBody>
                  <a:tcPr/>
                </a:tc>
                <a:extLst>
                  <a:ext uri="{0D108BD9-81ED-4DB2-BD59-A6C34878D82A}">
                    <a16:rowId xmlns:a16="http://schemas.microsoft.com/office/drawing/2014/main" val="1340504767"/>
                  </a:ext>
                </a:extLst>
              </a:tr>
              <a:tr h="370840">
                <a:tc>
                  <a:txBody>
                    <a:bodyPr/>
                    <a:lstStyle/>
                    <a:p>
                      <a:pPr algn="ctr"/>
                      <a:r>
                        <a:rPr lang="en-ZA" dirty="0"/>
                        <a:t>Total</a:t>
                      </a:r>
                    </a:p>
                  </a:txBody>
                  <a:tcPr/>
                </a:tc>
                <a:tc>
                  <a:txBody>
                    <a:bodyPr/>
                    <a:lstStyle/>
                    <a:p>
                      <a:pPr algn="ctr"/>
                      <a:r>
                        <a:rPr lang="en-ZA" dirty="0"/>
                        <a:t>82</a:t>
                      </a:r>
                    </a:p>
                  </a:txBody>
                  <a:tcPr/>
                </a:tc>
                <a:tc>
                  <a:txBody>
                    <a:bodyPr/>
                    <a:lstStyle/>
                    <a:p>
                      <a:pPr algn="ctr"/>
                      <a:r>
                        <a:rPr lang="en-ZA" dirty="0"/>
                        <a:t>494</a:t>
                      </a:r>
                    </a:p>
                  </a:txBody>
                  <a:tcPr/>
                </a:tc>
                <a:tc>
                  <a:txBody>
                    <a:bodyPr/>
                    <a:lstStyle/>
                    <a:p>
                      <a:pPr algn="ctr"/>
                      <a:r>
                        <a:rPr lang="en-ZA" dirty="0"/>
                        <a:t>576</a:t>
                      </a:r>
                    </a:p>
                  </a:txBody>
                  <a:tcPr/>
                </a:tc>
                <a:extLst>
                  <a:ext uri="{0D108BD9-81ED-4DB2-BD59-A6C34878D82A}">
                    <a16:rowId xmlns:a16="http://schemas.microsoft.com/office/drawing/2014/main" val="432212889"/>
                  </a:ext>
                </a:extLst>
              </a:tr>
            </a:tbl>
          </a:graphicData>
        </a:graphic>
      </p:graphicFrame>
      <p:sp>
        <p:nvSpPr>
          <p:cNvPr id="7" name="TextBox 6">
            <a:extLst>
              <a:ext uri="{FF2B5EF4-FFF2-40B4-BE49-F238E27FC236}">
                <a16:creationId xmlns:a16="http://schemas.microsoft.com/office/drawing/2014/main" id="{1C966D77-72ED-4621-805C-1BF80CCA2097}"/>
              </a:ext>
            </a:extLst>
          </p:cNvPr>
          <p:cNvSpPr txBox="1"/>
          <p:nvPr/>
        </p:nvSpPr>
        <p:spPr>
          <a:xfrm>
            <a:off x="1524000" y="4164433"/>
            <a:ext cx="6215270" cy="276999"/>
          </a:xfrm>
          <a:prstGeom prst="rect">
            <a:avLst/>
          </a:prstGeom>
          <a:noFill/>
        </p:spPr>
        <p:txBody>
          <a:bodyPr wrap="square">
            <a:spAutoFit/>
          </a:bodyPr>
          <a:lstStyle/>
          <a:p>
            <a:r>
              <a:rPr lang="en-ZA" sz="1200" dirty="0"/>
              <a:t>Tab. 6: Observed genotype frequencies in patients and controls at TNFA-308.</a:t>
            </a:r>
          </a:p>
        </p:txBody>
      </p:sp>
    </p:spTree>
    <p:extLst>
      <p:ext uri="{BB962C8B-B14F-4D97-AF65-F5344CB8AC3E}">
        <p14:creationId xmlns:p14="http://schemas.microsoft.com/office/powerpoint/2010/main" val="477111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85344"/>
            <a:ext cx="8686993" cy="5078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000" dirty="0">
                <a:latin typeface="Comic Sans MS" panose="030F0702030302020204" pitchFamily="66" charset="0"/>
                <a:cs typeface="Times New Roman" panose="02020603050405020304" pitchFamily="18" charset="0"/>
              </a:rPr>
              <a:t>Which variant to use for testing association?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362E1F30-3412-4959-91D4-0E30F19335C0}"/>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The decision should be guided by the a priori hypothesis about the possible functioning of the mutation.</a:t>
            </a:r>
          </a:p>
          <a:p>
            <a:r>
              <a:rPr lang="en-ZA" sz="1800" b="1" kern="1200" dirty="0">
                <a:solidFill>
                  <a:schemeClr val="bg2"/>
                </a:solidFill>
                <a:latin typeface="Arial" panose="020B0604020202020204" pitchFamily="34" charset="0"/>
                <a:cs typeface="Times New Roman" panose="02020603050405020304" pitchFamily="18" charset="0"/>
              </a:rPr>
              <a:t>Focus on the analysis of genotype frequencies instead of allele frequencies.</a:t>
            </a:r>
          </a:p>
          <a:p>
            <a:r>
              <a:rPr lang="en-ZA" sz="1800" b="1" kern="1200" dirty="0">
                <a:solidFill>
                  <a:schemeClr val="bg2"/>
                </a:solidFill>
                <a:latin typeface="Arial" panose="020B0604020202020204" pitchFamily="34" charset="0"/>
                <a:cs typeface="Times New Roman" panose="02020603050405020304" pitchFamily="18" charset="0"/>
              </a:rPr>
              <a:t>Because of the statistics based on allele frequencies depend on the assumption of Hardy-Weinberg equilibrium (HWE), and they have been shown not to be robust against deviations from it.</a:t>
            </a:r>
          </a:p>
          <a:p>
            <a:r>
              <a:rPr lang="en-ZA" sz="1800" b="1" kern="1200" dirty="0">
                <a:solidFill>
                  <a:schemeClr val="bg2"/>
                </a:solidFill>
                <a:latin typeface="Arial" panose="020B0604020202020204" pitchFamily="34" charset="0"/>
                <a:cs typeface="Times New Roman" panose="02020603050405020304" pitchFamily="18" charset="0"/>
              </a:rPr>
              <a:t>In addition, it seems biologically more plausible to utilize genotypes, as this is how the genetic information in humans is naturally available.</a:t>
            </a:r>
          </a:p>
          <a:p>
            <a:r>
              <a:rPr lang="en-ZA" sz="1800" b="1" kern="1200" dirty="0">
                <a:solidFill>
                  <a:schemeClr val="bg2"/>
                </a:solidFill>
                <a:latin typeface="Arial" panose="020B0604020202020204" pitchFamily="34" charset="0"/>
                <a:cs typeface="Times New Roman" panose="02020603050405020304" pitchFamily="18" charset="0"/>
              </a:rPr>
              <a:t>In basing the analysis on genotype data, different approaches are possible depending on the presumed genetic model.</a:t>
            </a:r>
          </a:p>
        </p:txBody>
      </p:sp>
    </p:spTree>
    <p:extLst>
      <p:ext uri="{BB962C8B-B14F-4D97-AF65-F5344CB8AC3E}">
        <p14:creationId xmlns:p14="http://schemas.microsoft.com/office/powerpoint/2010/main" val="1892075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94456"/>
            <a:ext cx="8839279" cy="4247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2400" dirty="0">
                <a:latin typeface="Comic Sans MS" panose="030F0702030302020204" pitchFamily="66" charset="0"/>
                <a:cs typeface="Times New Roman" panose="02020603050405020304" pitchFamily="18" charset="0"/>
              </a:rPr>
              <a:t>Variants for testing association with a multiallelic marker</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3E5CFBC2-D629-40AC-91CA-7D9712BA6D6C}"/>
                  </a:ext>
                </a:extLst>
              </p:cNvPr>
              <p:cNvSpPr>
                <a:spLocks noGrp="1"/>
              </p:cNvSpPr>
              <p:nvPr>
                <p:ph idx="1"/>
              </p:nvPr>
            </p:nvSpPr>
            <p:spPr>
              <a:xfrm>
                <a:off x="304800" y="879651"/>
                <a:ext cx="8688368" cy="5726799"/>
              </a:xfrm>
            </p:spPr>
            <p:txBody>
              <a:bodyPr/>
              <a:lstStyle/>
              <a:p>
                <a:pPr>
                  <a:buFont typeface="+mj-lt"/>
                  <a:buAutoNum type="arabicPeriod"/>
                </a:pPr>
                <a:r>
                  <a:rPr lang="en-ZA" sz="1800" b="1" kern="1200" dirty="0">
                    <a:solidFill>
                      <a:schemeClr val="bg2"/>
                    </a:solidFill>
                    <a:latin typeface="Arial" panose="020B0604020202020204" pitchFamily="34" charset="0"/>
                    <a:cs typeface="Times New Roman" panose="02020603050405020304" pitchFamily="18" charset="0"/>
                  </a:rPr>
                  <a:t>According to the number of observed genotypes k, a </a:t>
                </a:r>
                <a14:m>
                  <m:oMath xmlns:m="http://schemas.openxmlformats.org/officeDocument/2006/math">
                    <m:r>
                      <a:rPr lang="en-ZA" sz="1800" b="1" kern="1200">
                        <a:solidFill>
                          <a:schemeClr val="bg2"/>
                        </a:solidFill>
                        <a:latin typeface="Cambria Math" panose="02040503050406030204" pitchFamily="18" charset="0"/>
                        <a:cs typeface="Times New Roman" panose="02020603050405020304" pitchFamily="18" charset="0"/>
                      </a:rPr>
                      <m:t>2 </m:t>
                    </m:r>
                    <m:r>
                      <a:rPr lang="en-ZA" sz="1800" b="1" kern="1200">
                        <a:solidFill>
                          <a:schemeClr val="bg2"/>
                        </a:solidFill>
                        <a:latin typeface="Cambria Math" panose="02040503050406030204" pitchFamily="18" charset="0"/>
                        <a:cs typeface="Times New Roman" panose="02020603050405020304" pitchFamily="18" charset="0"/>
                      </a:rPr>
                      <m:t>𝑥</m:t>
                    </m:r>
                    <m:r>
                      <a:rPr lang="en-ZA" sz="1800" b="1" kern="1200">
                        <a:solidFill>
                          <a:schemeClr val="bg2"/>
                        </a:solidFill>
                        <a:latin typeface="Cambria Math" panose="02040503050406030204" pitchFamily="18" charset="0"/>
                        <a:cs typeface="Times New Roman" panose="02020603050405020304" pitchFamily="18" charset="0"/>
                      </a:rPr>
                      <m:t> </m:t>
                    </m:r>
                    <m:r>
                      <a:rPr lang="en-ZA" sz="1800" b="1" kern="1200">
                        <a:solidFill>
                          <a:schemeClr val="bg2"/>
                        </a:solidFill>
                        <a:latin typeface="Cambria Math" panose="02040503050406030204" pitchFamily="18" charset="0"/>
                        <a:cs typeface="Times New Roman" panose="02020603050405020304" pitchFamily="18" charset="0"/>
                      </a:rPr>
                      <m:t>𝑘</m:t>
                    </m:r>
                  </m:oMath>
                </a14:m>
                <a:r>
                  <a:rPr lang="en-ZA" sz="1800" b="1" kern="1200" dirty="0">
                    <a:solidFill>
                      <a:schemeClr val="bg2"/>
                    </a:solidFill>
                    <a:latin typeface="Arial" panose="020B0604020202020204" pitchFamily="34" charset="0"/>
                    <a:cs typeface="Times New Roman" panose="02020603050405020304" pitchFamily="18" charset="0"/>
                  </a:rPr>
                  <a:t> table is set up. A general </a:t>
                </a:r>
                <a14:m>
                  <m:oMath xmlns:m="http://schemas.openxmlformats.org/officeDocument/2006/math">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r>
                          <a:rPr lang="en-ZA" sz="1800" b="1" kern="1200">
                            <a:solidFill>
                              <a:schemeClr val="bg2"/>
                            </a:solidFill>
                            <a:latin typeface="Cambria Math" panose="02040503050406030204" pitchFamily="18" charset="0"/>
                            <a:cs typeface="Times New Roman" panose="02020603050405020304" pitchFamily="18" charset="0"/>
                          </a:rPr>
                          <m:t>𝑥</m:t>
                        </m:r>
                      </m:e>
                      <m:sup>
                        <m:r>
                          <a:rPr lang="en-ZA" sz="1800" b="1" kern="1200">
                            <a:solidFill>
                              <a:schemeClr val="bg2"/>
                            </a:solidFill>
                            <a:latin typeface="Cambria Math" panose="02040503050406030204" pitchFamily="18" charset="0"/>
                            <a:cs typeface="Times New Roman" panose="02020603050405020304" pitchFamily="18" charset="0"/>
                          </a:rPr>
                          <m:t>2</m:t>
                        </m:r>
                      </m:sup>
                    </m:sSup>
                  </m:oMath>
                </a14:m>
                <a:r>
                  <a:rPr lang="en-ZA" sz="1800" b="1" kern="1200" dirty="0">
                    <a:solidFill>
                      <a:schemeClr val="bg2"/>
                    </a:solidFill>
                    <a:latin typeface="Arial" panose="020B0604020202020204" pitchFamily="34" charset="0"/>
                    <a:cs typeface="Times New Roman" panose="02020603050405020304" pitchFamily="18" charset="0"/>
                  </a:rPr>
                  <a:t> test of independence with (k - 1) </a:t>
                </a:r>
                <a:r>
                  <a:rPr lang="en-ZA" sz="1800" b="1" kern="1200" dirty="0" err="1">
                    <a:solidFill>
                      <a:schemeClr val="bg2"/>
                    </a:solidFill>
                    <a:latin typeface="Arial" panose="020B0604020202020204" pitchFamily="34" charset="0"/>
                    <a:cs typeface="Times New Roman" panose="02020603050405020304" pitchFamily="18" charset="0"/>
                  </a:rPr>
                  <a:t>d.f.</a:t>
                </a:r>
                <a:r>
                  <a:rPr lang="en-ZA" sz="1800" b="1" kern="1200" dirty="0">
                    <a:solidFill>
                      <a:schemeClr val="bg2"/>
                    </a:solidFill>
                    <a:latin typeface="Arial" panose="020B0604020202020204" pitchFamily="34" charset="0"/>
                    <a:cs typeface="Times New Roman" panose="02020603050405020304" pitchFamily="18" charset="0"/>
                  </a:rPr>
                  <a:t> can be performed to test for association. A pitfall of this approach, however, is that with a higher number of alleles and observed genotypes, the number of observations per cell will become smaller; hence, the approximation may not be valid.</a:t>
                </a:r>
              </a:p>
              <a:p>
                <a:pPr>
                  <a:buFont typeface="+mj-lt"/>
                  <a:buAutoNum type="arabicPeriod"/>
                </a:pPr>
                <a:r>
                  <a:rPr lang="en-ZA" sz="1800" b="1" kern="1200" dirty="0">
                    <a:solidFill>
                      <a:schemeClr val="bg2"/>
                    </a:solidFill>
                    <a:latin typeface="Arial" panose="020B0604020202020204" pitchFamily="34" charset="0"/>
                    <a:cs typeface="Times New Roman" panose="02020603050405020304" pitchFamily="18" charset="0"/>
                  </a:rPr>
                  <a:t>The alleles can be grouped into presumed risk and no-risk alleles. Based on this, a 2 × 3 table can again be constructed with the frequencies for cases and controls of carrying zero, one, or two risk alleles. Then the same strategies as for genotypes of a diallelic marker can be employed.</a:t>
                </a:r>
              </a:p>
              <a:p>
                <a:pPr>
                  <a:buFont typeface="+mj-lt"/>
                  <a:buAutoNum type="arabicPeriod"/>
                </a:pPr>
                <a:r>
                  <a:rPr lang="en-ZA" sz="1800" b="1" kern="1200" dirty="0">
                    <a:solidFill>
                      <a:schemeClr val="bg2"/>
                    </a:solidFill>
                    <a:latin typeface="Arial" panose="020B0604020202020204" pitchFamily="34" charset="0"/>
                    <a:cs typeface="Times New Roman" panose="02020603050405020304" pitchFamily="18" charset="0"/>
                  </a:rPr>
                  <a:t>Instead of summarizing alleles based on function, in short tandem repeat (STR) markers a grouping might be based on allele lengths and frequencies. For this, alleles with a higher number of repeat units and those with fewer repeat units can be grouped. Put simply, from a larger number of alleles, a binary variable indicating short allele or long allele is constructed. Again, a 2 × 3 table can be constructed giving the frequencies of carrying zero, one, or two long alleles.</a:t>
                </a:r>
              </a:p>
              <a:p>
                <a:pPr>
                  <a:buFont typeface="+mj-lt"/>
                  <a:buAutoNum type="arabicPeriod"/>
                </a:pPr>
                <a:r>
                  <a:rPr lang="en-ZA" sz="1800" b="1" kern="1200" dirty="0">
                    <a:solidFill>
                      <a:schemeClr val="bg2"/>
                    </a:solidFill>
                    <a:latin typeface="Arial" panose="020B0604020202020204" pitchFamily="34" charset="0"/>
                    <a:cs typeface="Times New Roman" panose="02020603050405020304" pitchFamily="18" charset="0"/>
                  </a:rPr>
                  <a:t>In some situations it might be possible to rank the observed genotypes according to their associated presumed risk. In this case, the trend test by Armitage [</a:t>
                </a:r>
                <a:r>
                  <a:rPr lang="en-ZA" sz="1800" b="1" kern="1200" dirty="0">
                    <a:solidFill>
                      <a:schemeClr val="bg2"/>
                    </a:solidFill>
                    <a:latin typeface="Arial" panose="020B0604020202020204" pitchFamily="34" charset="0"/>
                    <a:cs typeface="Times New Roman" panose="02020603050405020304" pitchFamily="18" charset="0"/>
                    <a:hlinkClick r:id="rId3">
                      <a:extLst>
                        <a:ext uri="{A12FA001-AC4F-418D-AE19-62706E023703}">
                          <ahyp:hlinkClr xmlns:ahyp="http://schemas.microsoft.com/office/drawing/2018/hyperlinkcolor" xmlns="" val="tx"/>
                        </a:ext>
                      </a:extLst>
                    </a:hlinkClick>
                  </a:rPr>
                  <a:t>Armitage1955</a:t>
                </a:r>
                <a:r>
                  <a:rPr lang="en-ZA" sz="1800" b="1" kern="1200" dirty="0">
                    <a:solidFill>
                      <a:schemeClr val="bg2"/>
                    </a:solidFill>
                    <a:latin typeface="Arial" panose="020B0604020202020204" pitchFamily="34" charset="0"/>
                    <a:cs typeface="Times New Roman" panose="02020603050405020304" pitchFamily="18" charset="0"/>
                  </a:rPr>
                  <a:t>] as described above, or extensions of it, may be utilized.</a:t>
                </a:r>
              </a:p>
            </p:txBody>
          </p:sp>
        </mc:Choice>
        <mc:Fallback xmlns="">
          <p:sp>
            <p:nvSpPr>
              <p:cNvPr id="4" name="Content Placeholder 2">
                <a:extLst>
                  <a:ext uri="{FF2B5EF4-FFF2-40B4-BE49-F238E27FC236}">
                    <a16:creationId xmlns:a16="http://schemas.microsoft.com/office/drawing/2014/main" id="{3E5CFBC2-D629-40AC-91CA-7D9712BA6D6C}"/>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4"/>
                <a:stretch>
                  <a:fillRect l="-421" t="-532" r="-1193" b="-2021"/>
                </a:stretch>
              </a:blipFill>
            </p:spPr>
            <p:txBody>
              <a:bodyPr/>
              <a:lstStyle/>
              <a:p>
                <a:r>
                  <a:rPr lang="en-ZA">
                    <a:noFill/>
                  </a:rPr>
                  <a:t> </a:t>
                </a:r>
              </a:p>
            </p:txBody>
          </p:sp>
        </mc:Fallback>
      </mc:AlternateContent>
    </p:spTree>
    <p:extLst>
      <p:ext uri="{BB962C8B-B14F-4D97-AF65-F5344CB8AC3E}">
        <p14:creationId xmlns:p14="http://schemas.microsoft.com/office/powerpoint/2010/main" val="2961767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06400" y="90150"/>
            <a:ext cx="83312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gn="ct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Odds Ratio (OR) </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203199" y="998920"/>
            <a:ext cx="8742017" cy="562715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OR can be used when a genotype at a given SNP has three </a:t>
            </a:r>
            <a:r>
              <a:rPr lang="en-ZA" sz="1800" b="1" kern="1200" dirty="0" smtClean="0">
                <a:solidFill>
                  <a:schemeClr val="bg2"/>
                </a:solidFill>
                <a:latin typeface="Arial" panose="020B0604020202020204" pitchFamily="34" charset="0"/>
                <a:cs typeface="Times New Roman" panose="02020603050405020304" pitchFamily="18" charset="0"/>
              </a:rPr>
              <a:t>levels: </a:t>
            </a:r>
            <a:r>
              <a:rPr lang="en-ZA" sz="1800" b="1" kern="1200" dirty="0">
                <a:solidFill>
                  <a:schemeClr val="bg2"/>
                </a:solidFill>
                <a:latin typeface="Arial" panose="020B0604020202020204" pitchFamily="34" charset="0"/>
                <a:cs typeface="Times New Roman" panose="02020603050405020304" pitchFamily="18" charset="0"/>
              </a:rPr>
              <a:t>homozygous wildtype, heterozygous, and homozygous rare.</a:t>
            </a:r>
          </a:p>
          <a:p>
            <a:r>
              <a:rPr lang="en-ZA" sz="1800" b="1" kern="1200" dirty="0">
                <a:solidFill>
                  <a:schemeClr val="bg2"/>
                </a:solidFill>
                <a:latin typeface="Arial" panose="020B0604020202020204" pitchFamily="34" charset="0"/>
                <a:cs typeface="Times New Roman" panose="02020603050405020304" pitchFamily="18" charset="0"/>
              </a:rPr>
              <a:t>If the outcome is binary then the data can be represented by 2x3 contingency table as </a:t>
            </a:r>
            <a:r>
              <a:rPr lang="en-ZA" sz="1800" b="1" kern="1200" dirty="0" smtClean="0">
                <a:solidFill>
                  <a:schemeClr val="bg2"/>
                </a:solidFill>
                <a:latin typeface="Arial" panose="020B0604020202020204" pitchFamily="34" charset="0"/>
                <a:cs typeface="Times New Roman" panose="02020603050405020304" pitchFamily="18" charset="0"/>
              </a:rPr>
              <a:t>follows:</a:t>
            </a:r>
            <a:endParaRPr lang="en-ZA" sz="1800" b="1" kern="1200" dirty="0">
              <a:solidFill>
                <a:schemeClr val="bg2"/>
              </a:solidFill>
              <a:latin typeface="Arial" panose="020B0604020202020204" pitchFamily="34" charset="0"/>
              <a:cs typeface="Times New Roman" panose="02020603050405020304" pitchFamily="18" charset="0"/>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r>
              <a:rPr lang="en-ZA" sz="1800" b="1" kern="1200" dirty="0">
                <a:solidFill>
                  <a:schemeClr val="bg2"/>
                </a:solidFill>
                <a:latin typeface="Arial" panose="020B0604020202020204" pitchFamily="34" charset="0"/>
                <a:cs typeface="Times New Roman" panose="02020603050405020304" pitchFamily="18" charset="0"/>
              </a:rPr>
              <a:t>Here </a:t>
            </a:r>
            <a:r>
              <a:rPr lang="en-ZA" sz="1800" b="1" kern="1200" dirty="0" err="1">
                <a:solidFill>
                  <a:schemeClr val="bg2"/>
                </a:solidFill>
                <a:latin typeface="Arial" panose="020B0604020202020204" pitchFamily="34" charset="0"/>
                <a:cs typeface="Times New Roman" panose="02020603050405020304" pitchFamily="18" charset="0"/>
              </a:rPr>
              <a:t>nij</a:t>
            </a:r>
            <a:r>
              <a:rPr lang="en-ZA" sz="1800" b="1" kern="1200" dirty="0">
                <a:solidFill>
                  <a:schemeClr val="bg2"/>
                </a:solidFill>
                <a:latin typeface="Arial" panose="020B0604020202020204" pitchFamily="34" charset="0"/>
                <a:cs typeface="Times New Roman" panose="02020603050405020304" pitchFamily="18" charset="0"/>
              </a:rPr>
              <a:t> is the number of individuals in the corresponding cell for i = </a:t>
            </a:r>
            <a:r>
              <a:rPr lang="en-ZA" sz="1800" b="1" kern="1200" dirty="0" smtClean="0">
                <a:solidFill>
                  <a:schemeClr val="bg2"/>
                </a:solidFill>
                <a:latin typeface="Arial" panose="020B0604020202020204" pitchFamily="34" charset="0"/>
                <a:cs typeface="Times New Roman" panose="02020603050405020304" pitchFamily="18" charset="0"/>
              </a:rPr>
              <a:t>1, </a:t>
            </a:r>
            <a:r>
              <a:rPr lang="en-ZA" sz="1800" b="1" kern="1200" dirty="0">
                <a:solidFill>
                  <a:schemeClr val="bg2"/>
                </a:solidFill>
                <a:latin typeface="Arial" panose="020B0604020202020204" pitchFamily="34" charset="0"/>
                <a:cs typeface="Times New Roman" panose="02020603050405020304" pitchFamily="18" charset="0"/>
              </a:rPr>
              <a:t>2 and j = </a:t>
            </a:r>
            <a:r>
              <a:rPr lang="en-ZA" sz="1800" b="1" kern="1200" dirty="0" smtClean="0">
                <a:solidFill>
                  <a:schemeClr val="bg2"/>
                </a:solidFill>
                <a:latin typeface="Arial" panose="020B0604020202020204" pitchFamily="34" charset="0"/>
                <a:cs typeface="Times New Roman" panose="02020603050405020304" pitchFamily="18" charset="0"/>
              </a:rPr>
              <a:t>1, </a:t>
            </a:r>
            <a:r>
              <a:rPr lang="en-ZA" sz="1800" b="1" kern="1200" dirty="0" smtClean="0">
                <a:solidFill>
                  <a:schemeClr val="bg2"/>
                </a:solidFill>
                <a:latin typeface="Arial" panose="020B0604020202020204" pitchFamily="34" charset="0"/>
                <a:cs typeface="Times New Roman" panose="02020603050405020304" pitchFamily="18" charset="0"/>
              </a:rPr>
              <a:t>2</a:t>
            </a:r>
            <a:r>
              <a:rPr lang="en-ZA" sz="1800" b="1" kern="1200" dirty="0" smtClean="0">
                <a:solidFill>
                  <a:schemeClr val="bg2"/>
                </a:solidFill>
                <a:latin typeface="Arial" panose="020B0604020202020204" pitchFamily="34" charset="0"/>
                <a:cs typeface="Times New Roman" panose="02020603050405020304" pitchFamily="18" charset="0"/>
              </a:rPr>
              <a:t>, </a:t>
            </a:r>
            <a:r>
              <a:rPr lang="en-ZA" sz="1800" b="1" kern="1200" dirty="0" smtClean="0">
                <a:solidFill>
                  <a:schemeClr val="bg2"/>
                </a:solidFill>
                <a:latin typeface="Arial" panose="020B0604020202020204" pitchFamily="34" charset="0"/>
                <a:cs typeface="Times New Roman" panose="02020603050405020304" pitchFamily="18" charset="0"/>
              </a:rPr>
              <a:t>3</a:t>
            </a:r>
            <a:r>
              <a:rPr lang="en-ZA" sz="1800" b="1" kern="1200" dirty="0">
                <a:solidFill>
                  <a:schemeClr val="bg2"/>
                </a:solidFill>
                <a:latin typeface="Arial" panose="020B0604020202020204" pitchFamily="34" charset="0"/>
                <a:cs typeface="Times New Roman" panose="02020603050405020304" pitchFamily="18" charset="0"/>
              </a:rPr>
              <a:t>.</a:t>
            </a:r>
          </a:p>
          <a:p>
            <a:r>
              <a:rPr lang="en-ZA" sz="1800" b="1" kern="1200" dirty="0">
                <a:solidFill>
                  <a:schemeClr val="bg2"/>
                </a:solidFill>
                <a:latin typeface="Arial" panose="020B0604020202020204" pitchFamily="34" charset="0"/>
                <a:cs typeface="Times New Roman" panose="02020603050405020304" pitchFamily="18" charset="0"/>
              </a:rPr>
              <a:t>For example, n11 is the number of individuals in our sample who have disease and express the </a:t>
            </a:r>
            <a:r>
              <a:rPr lang="en-ZA" sz="1800" b="1" i="1" kern="1200" dirty="0">
                <a:solidFill>
                  <a:schemeClr val="bg2"/>
                </a:solidFill>
                <a:latin typeface="Arial" panose="020B0604020202020204" pitchFamily="34" charset="0"/>
                <a:cs typeface="Times New Roman" panose="02020603050405020304" pitchFamily="18" charset="0"/>
              </a:rPr>
              <a:t>aa </a:t>
            </a:r>
            <a:r>
              <a:rPr lang="en-ZA" sz="1800" b="1" kern="1200" dirty="0">
                <a:solidFill>
                  <a:schemeClr val="bg2"/>
                </a:solidFill>
                <a:latin typeface="Arial" panose="020B0604020202020204" pitchFamily="34" charset="0"/>
                <a:cs typeface="Times New Roman" panose="02020603050405020304" pitchFamily="18" charset="0"/>
              </a:rPr>
              <a:t>genotype.</a:t>
            </a:r>
          </a:p>
          <a:p>
            <a:r>
              <a:rPr lang="en-ZA" sz="1800" b="1" kern="1200" dirty="0">
                <a:solidFill>
                  <a:schemeClr val="bg2"/>
                </a:solidFill>
                <a:latin typeface="Arial" panose="020B0604020202020204" pitchFamily="34" charset="0"/>
                <a:cs typeface="Times New Roman" panose="02020603050405020304" pitchFamily="18" charset="0"/>
              </a:rPr>
              <a:t>In this setting, a commonly used measure of association is the odds ratio (OR).</a:t>
            </a:r>
          </a:p>
        </p:txBody>
      </p:sp>
      <p:graphicFrame>
        <p:nvGraphicFramePr>
          <p:cNvPr id="2" name="Table 2">
            <a:extLst>
              <a:ext uri="{FF2B5EF4-FFF2-40B4-BE49-F238E27FC236}">
                <a16:creationId xmlns:a16="http://schemas.microsoft.com/office/drawing/2014/main" id="{8803BB90-1604-43BD-948C-0E8B368006CD}"/>
              </a:ext>
            </a:extLst>
          </p:cNvPr>
          <p:cNvGraphicFramePr>
            <a:graphicFrameLocks noGrp="1"/>
          </p:cNvGraphicFramePr>
          <p:nvPr/>
        </p:nvGraphicFramePr>
        <p:xfrm>
          <a:off x="1422400" y="2337905"/>
          <a:ext cx="6096000" cy="18542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553826174"/>
                    </a:ext>
                  </a:extLst>
                </a:gridCol>
                <a:gridCol w="1016000">
                  <a:extLst>
                    <a:ext uri="{9D8B030D-6E8A-4147-A177-3AD203B41FA5}">
                      <a16:colId xmlns:a16="http://schemas.microsoft.com/office/drawing/2014/main" val="214030867"/>
                    </a:ext>
                  </a:extLst>
                </a:gridCol>
                <a:gridCol w="1016000">
                  <a:extLst>
                    <a:ext uri="{9D8B030D-6E8A-4147-A177-3AD203B41FA5}">
                      <a16:colId xmlns:a16="http://schemas.microsoft.com/office/drawing/2014/main" val="1398528502"/>
                    </a:ext>
                  </a:extLst>
                </a:gridCol>
                <a:gridCol w="1016000">
                  <a:extLst>
                    <a:ext uri="{9D8B030D-6E8A-4147-A177-3AD203B41FA5}">
                      <a16:colId xmlns:a16="http://schemas.microsoft.com/office/drawing/2014/main" val="2037924551"/>
                    </a:ext>
                  </a:extLst>
                </a:gridCol>
                <a:gridCol w="1016000">
                  <a:extLst>
                    <a:ext uri="{9D8B030D-6E8A-4147-A177-3AD203B41FA5}">
                      <a16:colId xmlns:a16="http://schemas.microsoft.com/office/drawing/2014/main" val="1770915673"/>
                    </a:ext>
                  </a:extLst>
                </a:gridCol>
                <a:gridCol w="1016000">
                  <a:extLst>
                    <a:ext uri="{9D8B030D-6E8A-4147-A177-3AD203B41FA5}">
                      <a16:colId xmlns:a16="http://schemas.microsoft.com/office/drawing/2014/main" val="696915712"/>
                    </a:ext>
                  </a:extLst>
                </a:gridCol>
              </a:tblGrid>
              <a:tr h="370840">
                <a:tc rowSpan="2" gridSpan="2">
                  <a:txBody>
                    <a:bodyPr/>
                    <a:lstStyle/>
                    <a:p>
                      <a:endParaRPr lang="en-ZA" dirty="0"/>
                    </a:p>
                  </a:txBody>
                  <a:tcPr/>
                </a:tc>
                <a:tc rowSpan="2" hMerge="1">
                  <a:txBody>
                    <a:bodyPr/>
                    <a:lstStyle/>
                    <a:p>
                      <a:endParaRPr lang="en-ZA" dirty="0"/>
                    </a:p>
                  </a:txBody>
                  <a:tcPr/>
                </a:tc>
                <a:tc gridSpan="3">
                  <a:txBody>
                    <a:bodyPr/>
                    <a:lstStyle/>
                    <a:p>
                      <a:r>
                        <a:rPr lang="en-ZA" dirty="0"/>
                        <a:t>Genotype</a:t>
                      </a:r>
                    </a:p>
                  </a:txBody>
                  <a:tcPr/>
                </a:tc>
                <a:tc hMerge="1">
                  <a:txBody>
                    <a:bodyPr/>
                    <a:lstStyle/>
                    <a:p>
                      <a:endParaRPr lang="en-ZA" dirty="0"/>
                    </a:p>
                  </a:txBody>
                  <a:tcPr/>
                </a:tc>
                <a:tc hMerge="1">
                  <a:txBody>
                    <a:bodyPr/>
                    <a:lstStyle/>
                    <a:p>
                      <a:endParaRPr lang="en-ZA" dirty="0"/>
                    </a:p>
                  </a:txBody>
                  <a:tcPr/>
                </a:tc>
                <a:tc rowSpan="2">
                  <a:txBody>
                    <a:bodyPr/>
                    <a:lstStyle/>
                    <a:p>
                      <a:endParaRPr lang="en-ZA" dirty="0"/>
                    </a:p>
                  </a:txBody>
                  <a:tcPr/>
                </a:tc>
                <a:extLst>
                  <a:ext uri="{0D108BD9-81ED-4DB2-BD59-A6C34878D82A}">
                    <a16:rowId xmlns:a16="http://schemas.microsoft.com/office/drawing/2014/main" val="3166417613"/>
                  </a:ext>
                </a:extLst>
              </a:tr>
              <a:tr h="370840">
                <a:tc gridSpan="2" vMerge="1">
                  <a:txBody>
                    <a:bodyPr/>
                    <a:lstStyle/>
                    <a:p>
                      <a:endParaRPr lang="en-ZA" dirty="0"/>
                    </a:p>
                  </a:txBody>
                  <a:tcPr/>
                </a:tc>
                <a:tc hMerge="1" vMerge="1">
                  <a:txBody>
                    <a:bodyPr/>
                    <a:lstStyle/>
                    <a:p>
                      <a:endParaRPr lang="en-ZA" dirty="0"/>
                    </a:p>
                  </a:txBody>
                  <a:tcPr/>
                </a:tc>
                <a:tc>
                  <a:txBody>
                    <a:bodyPr/>
                    <a:lstStyle/>
                    <a:p>
                      <a:r>
                        <a:rPr lang="en-ZA" dirty="0"/>
                        <a:t>aa</a:t>
                      </a:r>
                    </a:p>
                  </a:txBody>
                  <a:tcPr/>
                </a:tc>
                <a:tc>
                  <a:txBody>
                    <a:bodyPr/>
                    <a:lstStyle/>
                    <a:p>
                      <a:r>
                        <a:rPr lang="en-ZA" dirty="0"/>
                        <a:t>Aa</a:t>
                      </a:r>
                    </a:p>
                  </a:txBody>
                  <a:tcPr/>
                </a:tc>
                <a:tc>
                  <a:txBody>
                    <a:bodyPr/>
                    <a:lstStyle/>
                    <a:p>
                      <a:r>
                        <a:rPr lang="en-ZA" dirty="0"/>
                        <a:t>AA</a:t>
                      </a:r>
                    </a:p>
                  </a:txBody>
                  <a:tcPr/>
                </a:tc>
                <a:tc vMerge="1">
                  <a:txBody>
                    <a:bodyPr/>
                    <a:lstStyle/>
                    <a:p>
                      <a:endParaRPr lang="en-ZA" dirty="0"/>
                    </a:p>
                  </a:txBody>
                  <a:tcPr/>
                </a:tc>
                <a:extLst>
                  <a:ext uri="{0D108BD9-81ED-4DB2-BD59-A6C34878D82A}">
                    <a16:rowId xmlns:a16="http://schemas.microsoft.com/office/drawing/2014/main" val="2777043486"/>
                  </a:ext>
                </a:extLst>
              </a:tr>
              <a:tr h="370840">
                <a:tc rowSpan="2">
                  <a:txBody>
                    <a:bodyPr/>
                    <a:lstStyle/>
                    <a:p>
                      <a:r>
                        <a:rPr lang="en-ZA" dirty="0"/>
                        <a:t>Disease</a:t>
                      </a:r>
                    </a:p>
                  </a:txBody>
                  <a:tcPr/>
                </a:tc>
                <a:tc>
                  <a:txBody>
                    <a:bodyPr/>
                    <a:lstStyle/>
                    <a:p>
                      <a:r>
                        <a:rPr lang="en-ZA"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11</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12</a:t>
                      </a:r>
                      <a:endParaRPr lang="en-ZA" sz="1800" kern="1200" dirty="0">
                        <a:solidFill>
                          <a:schemeClr val="dk1"/>
                        </a:solidFill>
                        <a:effectLst/>
                        <a:latin typeface="+mn-lt"/>
                        <a:ea typeface="+mn-ea"/>
                        <a:cs typeface="+mn-cs"/>
                      </a:endParaRPr>
                    </a:p>
                  </a:txBody>
                  <a:tcPr/>
                </a:tc>
                <a:tc>
                  <a:txBody>
                    <a:bodyPr/>
                    <a:lstStyle/>
                    <a:p>
                      <a:pPr algn="ct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13</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a:t>
                      </a:r>
                      <a:endParaRPr lang="en-ZA" sz="1800" kern="1200" dirty="0">
                        <a:solidFill>
                          <a:schemeClr val="dk1"/>
                        </a:solidFill>
                        <a:effectLst/>
                        <a:latin typeface="+mn-lt"/>
                        <a:ea typeface="+mn-ea"/>
                        <a:cs typeface="+mn-cs"/>
                      </a:endParaRPr>
                    </a:p>
                  </a:txBody>
                  <a:tcPr/>
                </a:tc>
                <a:extLst>
                  <a:ext uri="{0D108BD9-81ED-4DB2-BD59-A6C34878D82A}">
                    <a16:rowId xmlns:a16="http://schemas.microsoft.com/office/drawing/2014/main" val="2505886699"/>
                  </a:ext>
                </a:extLst>
              </a:tr>
              <a:tr h="370840">
                <a:tc vMerge="1">
                  <a:txBody>
                    <a:bodyPr/>
                    <a:lstStyle/>
                    <a:p>
                      <a:endParaRPr lang="en-ZA" dirty="0"/>
                    </a:p>
                  </a:txBody>
                  <a:tcPr/>
                </a:tc>
                <a:tc>
                  <a:txBody>
                    <a:bodyPr/>
                    <a:lstStyle/>
                    <a:p>
                      <a:r>
                        <a:rPr lang="en-ZA"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21</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22</a:t>
                      </a:r>
                      <a:endParaRPr lang="en-ZA" sz="1800" kern="1200" dirty="0">
                        <a:solidFill>
                          <a:schemeClr val="dk1"/>
                        </a:solidFill>
                        <a:effectLst/>
                        <a:latin typeface="+mn-lt"/>
                        <a:ea typeface="+mn-ea"/>
                        <a:cs typeface="+mn-cs"/>
                      </a:endParaRPr>
                    </a:p>
                  </a:txBody>
                  <a:tcPr/>
                </a:tc>
                <a:tc>
                  <a:txBody>
                    <a:bodyPr/>
                    <a:lstStyle/>
                    <a:p>
                      <a:pPr algn="ct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23</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a:t>
                      </a:r>
                      <a:endParaRPr lang="en-ZA" sz="1800" kern="1200" dirty="0">
                        <a:solidFill>
                          <a:schemeClr val="dk1"/>
                        </a:solidFill>
                        <a:effectLst/>
                        <a:latin typeface="+mn-lt"/>
                        <a:ea typeface="+mn-ea"/>
                        <a:cs typeface="+mn-cs"/>
                      </a:endParaRPr>
                    </a:p>
                  </a:txBody>
                  <a:tcPr/>
                </a:tc>
                <a:extLst>
                  <a:ext uri="{0D108BD9-81ED-4DB2-BD59-A6C34878D82A}">
                    <a16:rowId xmlns:a16="http://schemas.microsoft.com/office/drawing/2014/main" val="2025076618"/>
                  </a:ext>
                </a:extLst>
              </a:tr>
              <a:tr h="370840">
                <a:tc>
                  <a:txBody>
                    <a:bodyPr/>
                    <a:lstStyle/>
                    <a:p>
                      <a:endParaRPr lang="en-ZA"/>
                    </a:p>
                  </a:txBody>
                  <a:tcPr/>
                </a:tc>
                <a:tc>
                  <a:txBody>
                    <a:bodyPr/>
                    <a:lstStyle/>
                    <a:p>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a:t>
                      </a:r>
                      <a:endParaRPr lang="en-ZA" sz="1800" kern="1200" dirty="0">
                        <a:solidFill>
                          <a:schemeClr val="dk1"/>
                        </a:solidFill>
                        <a:effectLst/>
                        <a:latin typeface="+mn-lt"/>
                        <a:ea typeface="+mn-ea"/>
                        <a:cs typeface="+mn-cs"/>
                      </a:endParaRPr>
                    </a:p>
                  </a:txBody>
                  <a:tcPr/>
                </a:tc>
                <a:tc>
                  <a:txBody>
                    <a:bodyPr/>
                    <a:lstStyle/>
                    <a:p>
                      <a:pPr algn="ct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.3</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p>
                  </a:txBody>
                  <a:tcPr/>
                </a:tc>
                <a:extLst>
                  <a:ext uri="{0D108BD9-81ED-4DB2-BD59-A6C34878D82A}">
                    <a16:rowId xmlns:a16="http://schemas.microsoft.com/office/drawing/2014/main" val="1215610575"/>
                  </a:ext>
                </a:extLst>
              </a:tr>
            </a:tbl>
          </a:graphicData>
        </a:graphic>
      </p:graphicFrame>
      <p:sp>
        <p:nvSpPr>
          <p:cNvPr id="9" name="TextBox 8">
            <a:extLst>
              <a:ext uri="{FF2B5EF4-FFF2-40B4-BE49-F238E27FC236}">
                <a16:creationId xmlns:a16="http://schemas.microsoft.com/office/drawing/2014/main" id="{37C1B8E9-5B15-4E98-B14B-B721EA50D7EF}"/>
              </a:ext>
            </a:extLst>
          </p:cNvPr>
          <p:cNvSpPr txBox="1"/>
          <p:nvPr/>
        </p:nvSpPr>
        <p:spPr>
          <a:xfrm>
            <a:off x="2087218" y="4283237"/>
            <a:ext cx="4969564" cy="307777"/>
          </a:xfrm>
          <a:prstGeom prst="rect">
            <a:avLst/>
          </a:prstGeom>
          <a:noFill/>
        </p:spPr>
        <p:txBody>
          <a:bodyPr wrap="square">
            <a:spAutoFit/>
          </a:bodyPr>
          <a:lstStyle/>
          <a:p>
            <a:r>
              <a:rPr lang="en-ZA" sz="1400" i="0" dirty="0">
                <a:solidFill>
                  <a:srgbClr val="000000"/>
                </a:solidFill>
                <a:effectLst/>
                <a:latin typeface="CMR9"/>
              </a:rPr>
              <a:t>2 </a:t>
            </a:r>
            <a:r>
              <a:rPr lang="en-ZA" sz="1400" i="1" dirty="0">
                <a:solidFill>
                  <a:srgbClr val="000000"/>
                </a:solidFill>
                <a:effectLst/>
                <a:latin typeface="CMSY9"/>
              </a:rPr>
              <a:t>× </a:t>
            </a:r>
            <a:r>
              <a:rPr lang="en-ZA" sz="1400" i="0" dirty="0">
                <a:solidFill>
                  <a:srgbClr val="000000"/>
                </a:solidFill>
                <a:effectLst/>
                <a:latin typeface="CMR9"/>
              </a:rPr>
              <a:t>3 contingency table for genotype - disease association</a:t>
            </a:r>
            <a:r>
              <a:rPr lang="en-ZA" sz="1400" dirty="0"/>
              <a:t> </a:t>
            </a:r>
          </a:p>
        </p:txBody>
      </p:sp>
    </p:spTree>
    <p:extLst>
      <p:ext uri="{BB962C8B-B14F-4D97-AF65-F5344CB8AC3E}">
        <p14:creationId xmlns:p14="http://schemas.microsoft.com/office/powerpoint/2010/main" val="224047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532400" y="90150"/>
            <a:ext cx="10166949"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gn="ctr">
              <a:lnSpc>
                <a:spcPct val="90000"/>
              </a:lnSpc>
              <a:spcBef>
                <a:spcPct val="55000"/>
              </a:spcBef>
              <a:spcAft>
                <a:spcPct val="45000"/>
              </a:spcAft>
            </a:pPr>
            <a:r>
              <a:rPr lang="en-US" altLang="en-US" sz="3600">
                <a:latin typeface="Comic Sans MS" panose="030F0702030302020204" pitchFamily="66" charset="0"/>
                <a:cs typeface="Times New Roman" panose="02020603050405020304" pitchFamily="18" charset="0"/>
              </a:rPr>
              <a:t>Odds Ratio (OR) </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203200" y="998920"/>
                <a:ext cx="8534400" cy="5627159"/>
              </a:xfrm>
            </p:spPr>
            <p:txBody>
              <a:bodyPr/>
              <a:lstStyle/>
              <a:p>
                <a:r>
                  <a:rPr lang="en-ZA" sz="1800" b="1" kern="1200" dirty="0" smtClean="0">
                    <a:solidFill>
                      <a:schemeClr val="bg2"/>
                    </a:solidFill>
                    <a:latin typeface="Arial" panose="020B0604020202020204" pitchFamily="34" charset="0"/>
                    <a:cs typeface="Times New Roman" panose="02020603050405020304" pitchFamily="18" charset="0"/>
                  </a:rPr>
                  <a:t>OR is defined as the ratio of the odds of disease among the exposed to the odds of disease among the unexposed.</a:t>
                </a:r>
              </a:p>
              <a:p>
                <a:r>
                  <a:rPr lang="en-ZA" sz="1800" b="1" kern="1200" dirty="0">
                    <a:solidFill>
                      <a:schemeClr val="bg2"/>
                    </a:solidFill>
                    <a:latin typeface="Arial" panose="020B0604020202020204" pitchFamily="34" charset="0"/>
                    <a:cs typeface="Times New Roman" panose="02020603050405020304" pitchFamily="18" charset="0"/>
                  </a:rPr>
                  <a:t>In our setting, genotype can be thought of as the exposure, so that the OR is the ratio of the odds of disease given a specific genotype to the odds of disease among individuals without the specified genotype.</a:t>
                </a:r>
              </a:p>
              <a:p>
                <a:r>
                  <a:rPr lang="en-ZA" sz="1800" b="1" kern="1200" dirty="0">
                    <a:solidFill>
                      <a:schemeClr val="bg2"/>
                    </a:solidFill>
                    <a:latin typeface="Arial" panose="020B0604020202020204" pitchFamily="34" charset="0"/>
                    <a:cs typeface="Times New Roman" panose="02020603050405020304" pitchFamily="18" charset="0"/>
                  </a:rPr>
                  <a:t>Formally, if </a:t>
                </a:r>
                <a14:m>
                  <m:oMath xmlns:m="http://schemas.openxmlformats.org/officeDocument/2006/math">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𝐷</m:t>
                        </m:r>
                      </m:e>
                      <m:sup>
                        <m:r>
                          <a:rPr lang="en-ZA" sz="1800" b="1" kern="1200">
                            <a:solidFill>
                              <a:schemeClr val="bg2"/>
                            </a:solidFill>
                            <a:latin typeface="Cambria Math" panose="02040503050406030204" pitchFamily="18" charset="0"/>
                          </a:rPr>
                          <m:t>+</m:t>
                        </m:r>
                      </m:sup>
                    </m:sSup>
                  </m:oMath>
                </a14:m>
                <a:r>
                  <a:rPr lang="en-ZA" sz="18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𝐷</m:t>
                        </m:r>
                      </m:e>
                      <m:sup>
                        <m:r>
                          <a:rPr lang="en-ZA" sz="1800" b="1" kern="1200">
                            <a:solidFill>
                              <a:schemeClr val="bg2"/>
                            </a:solidFill>
                            <a:latin typeface="Cambria Math" panose="02040503050406030204" pitchFamily="18" charset="0"/>
                          </a:rPr>
                          <m:t>−</m:t>
                        </m:r>
                      </m:sup>
                    </m:sSup>
                  </m:oMath>
                </a14:m>
                <a:r>
                  <a:rPr lang="en-ZA" sz="1800" b="1" kern="1200" dirty="0">
                    <a:solidFill>
                      <a:schemeClr val="bg2"/>
                    </a:solidFill>
                    <a:latin typeface="Arial" panose="020B0604020202020204" pitchFamily="34" charset="0"/>
                    <a:cs typeface="Times New Roman" panose="02020603050405020304" pitchFamily="18" charset="0"/>
                  </a:rPr>
                  <a:t> represent diseased and not diseased and </a:t>
                </a:r>
                <a14:m>
                  <m:oMath xmlns:m="http://schemas.openxmlformats.org/officeDocument/2006/math">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𝐸</m:t>
                        </m:r>
                      </m:e>
                      <m:sup>
                        <m:r>
                          <a:rPr lang="en-ZA" sz="1800" b="1" kern="1200">
                            <a:solidFill>
                              <a:schemeClr val="bg2"/>
                            </a:solidFill>
                            <a:latin typeface="Cambria Math" panose="02040503050406030204" pitchFamily="18" charset="0"/>
                          </a:rPr>
                          <m:t>+</m:t>
                        </m:r>
                      </m:sup>
                    </m:sSup>
                  </m:oMath>
                </a14:m>
                <a:r>
                  <a:rPr lang="en-ZA" sz="18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𝐸</m:t>
                        </m:r>
                      </m:e>
                      <m:sup>
                        <m:r>
                          <a:rPr lang="en-US" sz="1800" b="1" i="0" kern="1200" smtClean="0">
                            <a:solidFill>
                              <a:schemeClr val="bg2"/>
                            </a:solidFill>
                            <a:latin typeface="Cambria Math" panose="02040503050406030204" pitchFamily="18" charset="0"/>
                          </a:rPr>
                          <m:t>−</m:t>
                        </m:r>
                      </m:sup>
                    </m:sSup>
                  </m:oMath>
                </a14:m>
                <a:r>
                  <a:rPr lang="en-ZA" sz="1800" b="1" kern="1200" dirty="0">
                    <a:solidFill>
                      <a:schemeClr val="bg2"/>
                    </a:solidFill>
                    <a:latin typeface="Arial" panose="020B0604020202020204" pitchFamily="34" charset="0"/>
                    <a:cs typeface="Times New Roman" panose="02020603050405020304" pitchFamily="18" charset="0"/>
                  </a:rPr>
                  <a:t> represent exposed and not exposed respectively then the OR is written</a:t>
                </a:r>
              </a:p>
              <a:p>
                <a:pPr marL="0" indent="0">
                  <a:buNone/>
                </a:pPr>
                <a14:m>
                  <m:oMathPara xmlns:m="http://schemas.openxmlformats.org/officeDocument/2006/math">
                    <m:oMathParaPr>
                      <m:jc m:val="centerGroup"/>
                    </m:oMathParaPr>
                    <m:oMath xmlns:m="http://schemas.openxmlformats.org/officeDocument/2006/math">
                      <m:r>
                        <a:rPr lang="en-ZA" sz="1800" b="1" kern="1200">
                          <a:solidFill>
                            <a:schemeClr val="bg2"/>
                          </a:solidFill>
                          <a:latin typeface="Cambria Math" panose="02040503050406030204" pitchFamily="18" charset="0"/>
                        </a:rPr>
                        <m:t>𝑂𝑅</m:t>
                      </m:r>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func>
                            <m:funcPr>
                              <m:ctrlPr>
                                <a:rPr lang="en-ZA" sz="1800" b="1" i="1" kern="1200">
                                  <a:solidFill>
                                    <a:schemeClr val="bg2"/>
                                  </a:solidFill>
                                  <a:latin typeface="Cambria Math" panose="02040503050406030204" pitchFamily="18" charset="0"/>
                                </a:rPr>
                              </m:ctrlPr>
                            </m:funcPr>
                            <m:fName>
                              <m:r>
                                <m:rPr>
                                  <m:sty m:val="p"/>
                                </m:rPr>
                                <a:rPr lang="en-ZA" sz="1800" b="1" kern="1200">
                                  <a:solidFill>
                                    <a:schemeClr val="bg2"/>
                                  </a:solidFill>
                                  <a:latin typeface="Cambria Math" panose="02040503050406030204" pitchFamily="18" charset="0"/>
                                </a:rPr>
                                <m:t>Pr</m:t>
                              </m:r>
                            </m:fName>
                            <m:e>
                              <m:d>
                                <m:dPr>
                                  <m:ctrlPr>
                                    <a:rPr lang="en-ZA" sz="1800" b="1" i="1" kern="1200">
                                      <a:solidFill>
                                        <a:schemeClr val="bg2"/>
                                      </a:solidFill>
                                      <a:latin typeface="Cambria Math" panose="02040503050406030204" pitchFamily="18" charset="0"/>
                                    </a:rPr>
                                  </m:ctrlPr>
                                </m:dPr>
                                <m:e>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𝐷</m:t>
                                      </m:r>
                                    </m:e>
                                    <m:sup>
                                      <m:r>
                                        <a:rPr lang="en-ZA" sz="1800" b="1" kern="1200">
                                          <a:solidFill>
                                            <a:schemeClr val="bg2"/>
                                          </a:solidFill>
                                          <a:latin typeface="Cambria Math" panose="02040503050406030204" pitchFamily="18" charset="0"/>
                                        </a:rPr>
                                        <m:t>+</m:t>
                                      </m:r>
                                    </m:sup>
                                  </m:sSup>
                                </m:e>
                                <m:e>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𝐸</m:t>
                                      </m:r>
                                    </m:e>
                                    <m:sup>
                                      <m:r>
                                        <a:rPr lang="en-ZA" sz="1800" b="1" kern="1200">
                                          <a:solidFill>
                                            <a:schemeClr val="bg2"/>
                                          </a:solidFill>
                                          <a:latin typeface="Cambria Math" panose="02040503050406030204" pitchFamily="18" charset="0"/>
                                        </a:rPr>
                                        <m:t>+</m:t>
                                      </m:r>
                                    </m:sup>
                                  </m:sSup>
                                </m:e>
                              </m:d>
                              <m:r>
                                <a:rPr lang="en-ZA" sz="1800" b="1" kern="1200">
                                  <a:solidFill>
                                    <a:schemeClr val="bg2"/>
                                  </a:solidFill>
                                  <a:latin typeface="Cambria Math" panose="02040503050406030204" pitchFamily="18" charset="0"/>
                                </a:rPr>
                                <m:t>/[1−</m:t>
                              </m:r>
                              <m:func>
                                <m:funcPr>
                                  <m:ctrlPr>
                                    <a:rPr lang="en-ZA" sz="1800" b="1" i="1" kern="1200">
                                      <a:solidFill>
                                        <a:schemeClr val="bg2"/>
                                      </a:solidFill>
                                      <a:latin typeface="Cambria Math" panose="02040503050406030204" pitchFamily="18" charset="0"/>
                                    </a:rPr>
                                  </m:ctrlPr>
                                </m:funcPr>
                                <m:fName>
                                  <m:r>
                                    <m:rPr>
                                      <m:sty m:val="p"/>
                                    </m:rPr>
                                    <a:rPr lang="en-ZA" sz="1800" b="1" kern="1200">
                                      <a:solidFill>
                                        <a:schemeClr val="bg2"/>
                                      </a:solidFill>
                                      <a:latin typeface="Cambria Math" panose="02040503050406030204" pitchFamily="18" charset="0"/>
                                    </a:rPr>
                                    <m:t>Pr</m:t>
                                  </m:r>
                                </m:fName>
                                <m:e>
                                  <m:r>
                                    <a:rPr lang="en-ZA" sz="1800" b="1" kern="1200">
                                      <a:solidFill>
                                        <a:schemeClr val="bg2"/>
                                      </a:solidFill>
                                      <a:latin typeface="Cambria Math" panose="02040503050406030204" pitchFamily="18" charset="0"/>
                                    </a:rPr>
                                    <m:t>(</m:t>
                                  </m:r>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𝐷</m:t>
                                      </m:r>
                                    </m:e>
                                    <m:sup>
                                      <m:r>
                                        <a:rPr lang="en-ZA" sz="1800" b="1" kern="1200">
                                          <a:solidFill>
                                            <a:schemeClr val="bg2"/>
                                          </a:solidFill>
                                          <a:latin typeface="Cambria Math" panose="02040503050406030204" pitchFamily="18" charset="0"/>
                                        </a:rPr>
                                        <m:t>+</m:t>
                                      </m:r>
                                    </m:sup>
                                  </m:sSup>
                                  <m:r>
                                    <a:rPr lang="en-ZA" sz="1800" b="1" kern="1200">
                                      <a:solidFill>
                                        <a:schemeClr val="bg2"/>
                                      </a:solidFill>
                                      <a:latin typeface="Cambria Math" panose="02040503050406030204" pitchFamily="18" charset="0"/>
                                    </a:rPr>
                                    <m:t>|</m:t>
                                  </m:r>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𝐸</m:t>
                                      </m:r>
                                    </m:e>
                                    <m:sup>
                                      <m:r>
                                        <a:rPr lang="en-ZA" sz="1800" b="1" kern="1200">
                                          <a:solidFill>
                                            <a:schemeClr val="bg2"/>
                                          </a:solidFill>
                                          <a:latin typeface="Cambria Math" panose="02040503050406030204" pitchFamily="18" charset="0"/>
                                        </a:rPr>
                                        <m:t>+</m:t>
                                      </m:r>
                                    </m:sup>
                                  </m:sSup>
                                  <m:r>
                                    <a:rPr lang="en-ZA" sz="1800" b="1" kern="1200">
                                      <a:solidFill>
                                        <a:schemeClr val="bg2"/>
                                      </a:solidFill>
                                      <a:latin typeface="Cambria Math" panose="02040503050406030204" pitchFamily="18" charset="0"/>
                                    </a:rPr>
                                    <m:t>)</m:t>
                                  </m:r>
                                </m:e>
                              </m:func>
                              <m:r>
                                <a:rPr lang="en-ZA" sz="1800" b="1" kern="1200">
                                  <a:solidFill>
                                    <a:schemeClr val="bg2"/>
                                  </a:solidFill>
                                  <a:latin typeface="Cambria Math" panose="02040503050406030204" pitchFamily="18" charset="0"/>
                                </a:rPr>
                                <m:t>]</m:t>
                              </m:r>
                            </m:e>
                          </m:func>
                        </m:num>
                        <m:den>
                          <m:func>
                            <m:funcPr>
                              <m:ctrlPr>
                                <a:rPr lang="en-ZA" sz="1800" b="1" i="1" kern="1200">
                                  <a:solidFill>
                                    <a:schemeClr val="bg2"/>
                                  </a:solidFill>
                                  <a:latin typeface="Cambria Math" panose="02040503050406030204" pitchFamily="18" charset="0"/>
                                </a:rPr>
                              </m:ctrlPr>
                            </m:funcPr>
                            <m:fName>
                              <m:r>
                                <m:rPr>
                                  <m:sty m:val="p"/>
                                </m:rPr>
                                <a:rPr lang="en-ZA" sz="1800" b="1" kern="1200">
                                  <a:solidFill>
                                    <a:schemeClr val="bg2"/>
                                  </a:solidFill>
                                  <a:latin typeface="Cambria Math" panose="02040503050406030204" pitchFamily="18" charset="0"/>
                                </a:rPr>
                                <m:t>Pr</m:t>
                              </m:r>
                            </m:fName>
                            <m:e>
                              <m:d>
                                <m:dPr>
                                  <m:ctrlPr>
                                    <a:rPr lang="en-ZA" sz="1800" b="1" i="1" kern="1200">
                                      <a:solidFill>
                                        <a:schemeClr val="bg2"/>
                                      </a:solidFill>
                                      <a:latin typeface="Cambria Math" panose="02040503050406030204" pitchFamily="18" charset="0"/>
                                    </a:rPr>
                                  </m:ctrlPr>
                                </m:dPr>
                                <m:e>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𝐷</m:t>
                                      </m:r>
                                    </m:e>
                                    <m:sup>
                                      <m:r>
                                        <a:rPr lang="en-ZA" sz="1800" b="1" kern="1200">
                                          <a:solidFill>
                                            <a:schemeClr val="bg2"/>
                                          </a:solidFill>
                                          <a:latin typeface="Cambria Math" panose="02040503050406030204" pitchFamily="18" charset="0"/>
                                        </a:rPr>
                                        <m:t>+</m:t>
                                      </m:r>
                                    </m:sup>
                                  </m:sSup>
                                </m:e>
                                <m:e>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𝐸</m:t>
                                      </m:r>
                                    </m:e>
                                    <m:sup>
                                      <m:r>
                                        <a:rPr lang="en-ZA" sz="1800" b="1" kern="1200">
                                          <a:solidFill>
                                            <a:schemeClr val="bg2"/>
                                          </a:solidFill>
                                          <a:latin typeface="Cambria Math" panose="02040503050406030204" pitchFamily="18" charset="0"/>
                                        </a:rPr>
                                        <m:t>−</m:t>
                                      </m:r>
                                    </m:sup>
                                  </m:sSup>
                                </m:e>
                              </m:d>
                              <m:r>
                                <a:rPr lang="en-ZA" sz="1800" b="1" kern="1200">
                                  <a:solidFill>
                                    <a:schemeClr val="bg2"/>
                                  </a:solidFill>
                                  <a:latin typeface="Cambria Math" panose="02040503050406030204" pitchFamily="18" charset="0"/>
                                </a:rPr>
                                <m:t>/[1−</m:t>
                              </m:r>
                              <m:func>
                                <m:funcPr>
                                  <m:ctrlPr>
                                    <a:rPr lang="en-ZA" sz="1800" b="1" i="1" kern="1200">
                                      <a:solidFill>
                                        <a:schemeClr val="bg2"/>
                                      </a:solidFill>
                                      <a:latin typeface="Cambria Math" panose="02040503050406030204" pitchFamily="18" charset="0"/>
                                    </a:rPr>
                                  </m:ctrlPr>
                                </m:funcPr>
                                <m:fName>
                                  <m:r>
                                    <m:rPr>
                                      <m:sty m:val="p"/>
                                    </m:rPr>
                                    <a:rPr lang="en-ZA" sz="1800" b="1" kern="1200">
                                      <a:solidFill>
                                        <a:schemeClr val="bg2"/>
                                      </a:solidFill>
                                      <a:latin typeface="Cambria Math" panose="02040503050406030204" pitchFamily="18" charset="0"/>
                                    </a:rPr>
                                    <m:t>Pr</m:t>
                                  </m:r>
                                </m:fName>
                                <m:e>
                                  <m:r>
                                    <a:rPr lang="en-ZA" sz="1800" b="1" kern="1200">
                                      <a:solidFill>
                                        <a:schemeClr val="bg2"/>
                                      </a:solidFill>
                                      <a:latin typeface="Cambria Math" panose="02040503050406030204" pitchFamily="18" charset="0"/>
                                    </a:rPr>
                                    <m:t>(</m:t>
                                  </m:r>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𝐷</m:t>
                                      </m:r>
                                    </m:e>
                                    <m:sup>
                                      <m:r>
                                        <a:rPr lang="en-ZA" sz="1800" b="1" kern="1200">
                                          <a:solidFill>
                                            <a:schemeClr val="bg2"/>
                                          </a:solidFill>
                                          <a:latin typeface="Cambria Math" panose="02040503050406030204" pitchFamily="18" charset="0"/>
                                        </a:rPr>
                                        <m:t>+</m:t>
                                      </m:r>
                                    </m:sup>
                                  </m:sSup>
                                  <m:r>
                                    <a:rPr lang="en-ZA" sz="1800" b="1" kern="1200">
                                      <a:solidFill>
                                        <a:schemeClr val="bg2"/>
                                      </a:solidFill>
                                      <a:latin typeface="Cambria Math" panose="02040503050406030204" pitchFamily="18" charset="0"/>
                                    </a:rPr>
                                    <m:t>|</m:t>
                                  </m:r>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𝐸</m:t>
                                      </m:r>
                                    </m:e>
                                    <m:sup>
                                      <m:r>
                                        <a:rPr lang="en-ZA" sz="1800" b="1" kern="1200">
                                          <a:solidFill>
                                            <a:schemeClr val="bg2"/>
                                          </a:solidFill>
                                          <a:latin typeface="Cambria Math" panose="02040503050406030204" pitchFamily="18" charset="0"/>
                                        </a:rPr>
                                        <m:t>−</m:t>
                                      </m:r>
                                    </m:sup>
                                  </m:sSup>
                                  <m:r>
                                    <a:rPr lang="en-ZA" sz="1800" b="1" kern="1200">
                                      <a:solidFill>
                                        <a:schemeClr val="bg2"/>
                                      </a:solidFill>
                                      <a:latin typeface="Cambria Math" panose="02040503050406030204" pitchFamily="18" charset="0"/>
                                    </a:rPr>
                                    <m:t>)</m:t>
                                  </m:r>
                                </m:e>
                              </m:func>
                              <m:r>
                                <a:rPr lang="en-ZA" sz="1800" b="1" kern="1200">
                                  <a:solidFill>
                                    <a:schemeClr val="bg2"/>
                                  </a:solidFill>
                                  <a:latin typeface="Cambria Math" panose="02040503050406030204" pitchFamily="18" charset="0"/>
                                </a:rPr>
                                <m:t>]</m:t>
                              </m:r>
                            </m:e>
                          </m:func>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r>
                  <a:rPr lang="en-ZA" sz="1800" b="1" kern="1200" dirty="0" smtClean="0">
                    <a:solidFill>
                      <a:schemeClr val="bg2"/>
                    </a:solidFill>
                    <a:latin typeface="Arial" panose="020B0604020202020204" pitchFamily="34" charset="0"/>
                    <a:cs typeface="Times New Roman" panose="02020603050405020304" pitchFamily="18" charset="0"/>
                  </a:rPr>
                  <a:t>     where </a:t>
                </a:r>
                <a:r>
                  <a:rPr lang="en-ZA" sz="1800" b="1" kern="1200" dirty="0">
                    <a:solidFill>
                      <a:schemeClr val="bg2"/>
                    </a:solidFill>
                    <a:latin typeface="Arial" panose="020B0604020202020204" pitchFamily="34" charset="0"/>
                    <a:cs typeface="Times New Roman" panose="02020603050405020304" pitchFamily="18" charset="0"/>
                  </a:rPr>
                  <a:t>| indicates conditional.</a:t>
                </a:r>
              </a:p>
              <a:p>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In the case of a three-level exposure variable, it is common to calculate the OR for each level of exposure in relation to the referent group.</a:t>
                </a:r>
              </a:p>
              <a:p>
                <a:r>
                  <a:rPr lang="en-ZA" sz="1800" b="1" kern="1200" dirty="0">
                    <a:solidFill>
                      <a:schemeClr val="bg2"/>
                    </a:solidFill>
                    <a:latin typeface="Arial" panose="020B0604020202020204" pitchFamily="34" charset="0"/>
                    <a:cs typeface="Times New Roman" panose="02020603050405020304" pitchFamily="18" charset="0"/>
                  </a:rPr>
                  <a:t>In the genetics setting, we often calculate the OR for each genotype in relation to the homozygous wildtype genotype, AA.</a:t>
                </a:r>
              </a:p>
            </p:txBody>
          </p:sp>
        </mc:Choice>
        <mc:Fallback xmlns="">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203200" y="998920"/>
                <a:ext cx="8534400" cy="5627159"/>
              </a:xfrm>
              <a:blipFill>
                <a:blip r:embed="rId3"/>
                <a:stretch>
                  <a:fillRect l="-429" t="-650"/>
                </a:stretch>
              </a:blipFill>
            </p:spPr>
            <p:txBody>
              <a:bodyPr/>
              <a:lstStyle/>
              <a:p>
                <a:r>
                  <a:rPr lang="en-US">
                    <a:noFill/>
                  </a:rPr>
                  <a:t> </a:t>
                </a:r>
              </a:p>
            </p:txBody>
          </p:sp>
        </mc:Fallback>
      </mc:AlternateContent>
    </p:spTree>
    <p:extLst>
      <p:ext uri="{BB962C8B-B14F-4D97-AF65-F5344CB8AC3E}">
        <p14:creationId xmlns:p14="http://schemas.microsoft.com/office/powerpoint/2010/main" val="206112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532400" y="90150"/>
            <a:ext cx="106764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gn="ctr">
              <a:lnSpc>
                <a:spcPct val="90000"/>
              </a:lnSpc>
              <a:spcBef>
                <a:spcPct val="55000"/>
              </a:spcBef>
              <a:spcAft>
                <a:spcPct val="45000"/>
              </a:spcAft>
            </a:pPr>
            <a:r>
              <a:rPr lang="en-US" altLang="en-US" sz="3600">
                <a:latin typeface="Comic Sans MS" panose="030F0702030302020204" pitchFamily="66" charset="0"/>
                <a:cs typeface="Times New Roman" panose="02020603050405020304" pitchFamily="18" charset="0"/>
              </a:rPr>
              <a:t>Odds Ratio (OR) </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203200" y="743524"/>
                <a:ext cx="8768522" cy="5895815"/>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One alternative approach is to dichotomize </a:t>
                </a:r>
                <a:r>
                  <a:rPr lang="en-ZA" sz="1800" b="1" kern="1200" dirty="0" smtClean="0">
                    <a:solidFill>
                      <a:schemeClr val="bg2"/>
                    </a:solidFill>
                    <a:latin typeface="Arial" panose="020B0604020202020204" pitchFamily="34" charset="0"/>
                    <a:cs typeface="Times New Roman" panose="02020603050405020304" pitchFamily="18" charset="0"/>
                  </a:rPr>
                  <a:t>genotypes </a:t>
                </a:r>
                <a:r>
                  <a:rPr lang="en-ZA" sz="1800" b="1" kern="1200" dirty="0">
                    <a:solidFill>
                      <a:schemeClr val="bg2"/>
                    </a:solidFill>
                    <a:latin typeface="Arial" panose="020B0604020202020204" pitchFamily="34" charset="0"/>
                    <a:cs typeface="Times New Roman" panose="02020603050405020304" pitchFamily="18" charset="0"/>
                  </a:rPr>
                  <a:t>prior to calculating the OR.</a:t>
                </a:r>
              </a:p>
              <a:p>
                <a:r>
                  <a:rPr lang="en-ZA" sz="1800" b="1" kern="1200" dirty="0">
                    <a:solidFill>
                      <a:schemeClr val="bg2"/>
                    </a:solidFill>
                    <a:latin typeface="Arial" panose="020B0604020202020204" pitchFamily="34" charset="0"/>
                    <a:cs typeface="Times New Roman" panose="02020603050405020304" pitchFamily="18" charset="0"/>
                  </a:rPr>
                  <a:t>For example, we can define genotype as an indicator for the presence of any variant allele.</a:t>
                </a:r>
              </a:p>
              <a:p>
                <a:r>
                  <a:rPr lang="en-ZA" sz="1800" b="1" kern="1200" dirty="0">
                    <a:solidFill>
                      <a:schemeClr val="bg2"/>
                    </a:solidFill>
                    <a:latin typeface="Arial" panose="020B0604020202020204" pitchFamily="34" charset="0"/>
                    <a:cs typeface="Times New Roman" panose="02020603050405020304" pitchFamily="18" charset="0"/>
                  </a:rPr>
                  <a:t>Suppose the three possible genotypes are again given by AA, Aa, and aa.</a:t>
                </a:r>
              </a:p>
              <a:p>
                <a:r>
                  <a:rPr lang="en-ZA" sz="1800" b="1" kern="1200" dirty="0">
                    <a:solidFill>
                      <a:schemeClr val="bg2"/>
                    </a:solidFill>
                    <a:latin typeface="Arial" panose="020B0604020202020204" pitchFamily="34" charset="0"/>
                    <a:cs typeface="Times New Roman" panose="02020603050405020304" pitchFamily="18" charset="0"/>
                  </a:rPr>
                  <a:t>Then a dichotomized genotype exposure could be defined as E+ = (Aa or aa) and E- = (AA).</a:t>
                </a:r>
              </a:p>
              <a:p>
                <a:r>
                  <a:rPr lang="en-ZA" sz="1800" b="1" kern="1200" dirty="0">
                    <a:solidFill>
                      <a:schemeClr val="bg2"/>
                    </a:solidFill>
                    <a:latin typeface="Arial" panose="020B0604020202020204" pitchFamily="34" charset="0"/>
                    <a:cs typeface="Times New Roman" panose="02020603050405020304" pitchFamily="18" charset="0"/>
                  </a:rPr>
                  <a:t>The corresponding count data are now given by the below Table</a:t>
                </a: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r>
                  <a:rPr lang="en-ZA" sz="1800" b="1" kern="1200" dirty="0">
                    <a:solidFill>
                      <a:schemeClr val="bg2"/>
                    </a:solidFill>
                    <a:latin typeface="Arial" panose="020B0604020202020204" pitchFamily="34" charset="0"/>
                    <a:cs typeface="Times New Roman" panose="02020603050405020304" pitchFamily="18" charset="0"/>
                  </a:rPr>
                  <a:t>The corresponding OR is equal to</a:t>
                </a:r>
              </a:p>
              <a:p>
                <a:pPr marL="0" indent="0">
                  <a:buNone/>
                </a:pPr>
                <a14:m>
                  <m:oMathPara xmlns:m="http://schemas.openxmlformats.org/officeDocument/2006/math">
                    <m:oMathParaPr>
                      <m:jc m:val="centerGroup"/>
                    </m:oMathParaPr>
                    <m:oMath xmlns:m="http://schemas.openxmlformats.org/officeDocument/2006/math">
                      <m:acc>
                        <m:accPr>
                          <m:chr m:val="̂"/>
                          <m:ctrlPr>
                            <a:rPr lang="en-ZA" sz="1800" b="1" i="1" kern="1200">
                              <a:solidFill>
                                <a:schemeClr val="bg2"/>
                              </a:solidFill>
                              <a:latin typeface="Cambria Math" panose="02040503050406030204" pitchFamily="18" charset="0"/>
                            </a:rPr>
                          </m:ctrlPr>
                        </m:accPr>
                        <m:e>
                          <m:r>
                            <a:rPr lang="en-ZA" sz="1800" b="1" kern="1200">
                              <a:solidFill>
                                <a:schemeClr val="bg2"/>
                              </a:solidFill>
                              <a:latin typeface="Cambria Math" panose="02040503050406030204" pitchFamily="18" charset="0"/>
                            </a:rPr>
                            <m:t>𝑂𝑅</m:t>
                          </m:r>
                        </m:e>
                      </m:acc>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11</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21</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r>
                            <a:rPr lang="en-ZA" sz="1800" b="1" kern="1200">
                              <a:solidFill>
                                <a:schemeClr val="bg2"/>
                              </a:solidFill>
                              <a:latin typeface="Cambria Math" panose="02040503050406030204" pitchFamily="18" charset="0"/>
                            </a:rPr>
                            <m:t>)</m:t>
                          </m:r>
                        </m:num>
                        <m:den>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12</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22</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m:t>
                              </m:r>
                            </m:sub>
                          </m:sSub>
                          <m:r>
                            <a:rPr lang="en-ZA" sz="1800" b="1" kern="1200">
                              <a:solidFill>
                                <a:schemeClr val="bg2"/>
                              </a:solidFill>
                              <a:latin typeface="Cambria Math" panose="02040503050406030204" pitchFamily="18" charset="0"/>
                            </a:rPr>
                            <m:t>)</m:t>
                          </m:r>
                        </m:den>
                      </m:f>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11</m:t>
                              </m:r>
                            </m:sub>
                          </m:sSub>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22</m:t>
                              </m:r>
                            </m:sub>
                          </m:sSub>
                        </m:num>
                        <m:den>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21</m:t>
                              </m:r>
                            </m:sub>
                          </m:sSub>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12</m:t>
                              </m:r>
                            </m:sub>
                          </m:sSub>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203200" y="743524"/>
                <a:ext cx="8768522" cy="5895815"/>
              </a:xfrm>
              <a:blipFill>
                <a:blip r:embed="rId3"/>
                <a:stretch>
                  <a:fillRect l="-417" t="-620"/>
                </a:stretch>
              </a:blipFill>
            </p:spPr>
            <p:txBody>
              <a:bodyPr/>
              <a:lstStyle/>
              <a:p>
                <a:r>
                  <a:rPr lang="en-US">
                    <a:noFill/>
                  </a:rPr>
                  <a:t> </a:t>
                </a:r>
              </a:p>
            </p:txBody>
          </p:sp>
        </mc:Fallback>
      </mc:AlternateContent>
      <p:graphicFrame>
        <p:nvGraphicFramePr>
          <p:cNvPr id="2" name="Table 2">
            <a:extLst>
              <a:ext uri="{FF2B5EF4-FFF2-40B4-BE49-F238E27FC236}">
                <a16:creationId xmlns:a16="http://schemas.microsoft.com/office/drawing/2014/main" id="{903FA4AC-24B0-445C-A8FB-DEEC7D5CB657}"/>
              </a:ext>
            </a:extLst>
          </p:cNvPr>
          <p:cNvGraphicFramePr>
            <a:graphicFrameLocks noGrp="1"/>
          </p:cNvGraphicFramePr>
          <p:nvPr>
            <p:extLst>
              <p:ext uri="{D42A27DB-BD31-4B8C-83A1-F6EECF244321}">
                <p14:modId xmlns:p14="http://schemas.microsoft.com/office/powerpoint/2010/main" val="1098513872"/>
              </p:ext>
            </p:extLst>
          </p:nvPr>
        </p:nvGraphicFramePr>
        <p:xfrm>
          <a:off x="1422400" y="3292060"/>
          <a:ext cx="6096000" cy="1854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837847367"/>
                    </a:ext>
                  </a:extLst>
                </a:gridCol>
                <a:gridCol w="1219200">
                  <a:extLst>
                    <a:ext uri="{9D8B030D-6E8A-4147-A177-3AD203B41FA5}">
                      <a16:colId xmlns:a16="http://schemas.microsoft.com/office/drawing/2014/main" val="1525071533"/>
                    </a:ext>
                  </a:extLst>
                </a:gridCol>
                <a:gridCol w="1219200">
                  <a:extLst>
                    <a:ext uri="{9D8B030D-6E8A-4147-A177-3AD203B41FA5}">
                      <a16:colId xmlns:a16="http://schemas.microsoft.com/office/drawing/2014/main" val="551485613"/>
                    </a:ext>
                  </a:extLst>
                </a:gridCol>
                <a:gridCol w="1219200">
                  <a:extLst>
                    <a:ext uri="{9D8B030D-6E8A-4147-A177-3AD203B41FA5}">
                      <a16:colId xmlns:a16="http://schemas.microsoft.com/office/drawing/2014/main" val="217685104"/>
                    </a:ext>
                  </a:extLst>
                </a:gridCol>
                <a:gridCol w="1219200">
                  <a:extLst>
                    <a:ext uri="{9D8B030D-6E8A-4147-A177-3AD203B41FA5}">
                      <a16:colId xmlns:a16="http://schemas.microsoft.com/office/drawing/2014/main" val="2941363161"/>
                    </a:ext>
                  </a:extLst>
                </a:gridCol>
              </a:tblGrid>
              <a:tr h="370840">
                <a:tc rowSpan="2" gridSpan="2">
                  <a:txBody>
                    <a:bodyPr/>
                    <a:lstStyle/>
                    <a:p>
                      <a:endParaRPr lang="en-ZA" dirty="0"/>
                    </a:p>
                  </a:txBody>
                  <a:tcPr/>
                </a:tc>
                <a:tc rowSpan="2" hMerge="1">
                  <a:txBody>
                    <a:bodyPr/>
                    <a:lstStyle/>
                    <a:p>
                      <a:endParaRPr lang="en-ZA"/>
                    </a:p>
                  </a:txBody>
                  <a:tcPr/>
                </a:tc>
                <a:tc gridSpan="2">
                  <a:txBody>
                    <a:bodyPr/>
                    <a:lstStyle/>
                    <a:p>
                      <a:r>
                        <a:rPr lang="en-ZA" dirty="0"/>
                        <a:t>Genotype</a:t>
                      </a:r>
                    </a:p>
                  </a:txBody>
                  <a:tcPr/>
                </a:tc>
                <a:tc hMerge="1">
                  <a:txBody>
                    <a:bodyPr/>
                    <a:lstStyle/>
                    <a:p>
                      <a:endParaRPr lang="en-ZA" dirty="0"/>
                    </a:p>
                  </a:txBody>
                  <a:tcPr/>
                </a:tc>
                <a:tc rowSpan="2">
                  <a:txBody>
                    <a:bodyPr/>
                    <a:lstStyle/>
                    <a:p>
                      <a:r>
                        <a:rPr lang="en-ZA" dirty="0" smtClean="0"/>
                        <a:t>Total</a:t>
                      </a:r>
                      <a:endParaRPr lang="en-ZA" dirty="0"/>
                    </a:p>
                  </a:txBody>
                  <a:tcPr/>
                </a:tc>
                <a:extLst>
                  <a:ext uri="{0D108BD9-81ED-4DB2-BD59-A6C34878D82A}">
                    <a16:rowId xmlns:a16="http://schemas.microsoft.com/office/drawing/2014/main" val="2363416710"/>
                  </a:ext>
                </a:extLst>
              </a:tr>
              <a:tr h="370840">
                <a:tc gridSpan="2" vMerge="1">
                  <a:txBody>
                    <a:bodyPr/>
                    <a:lstStyle/>
                    <a:p>
                      <a:endParaRPr lang="en-ZA"/>
                    </a:p>
                  </a:txBody>
                  <a:tcPr/>
                </a:tc>
                <a:tc hMerge="1" vMerge="1">
                  <a:txBody>
                    <a:bodyPr/>
                    <a:lstStyle/>
                    <a:p>
                      <a:endParaRPr lang="en-ZA" dirty="0"/>
                    </a:p>
                  </a:txBody>
                  <a:tcPr/>
                </a:tc>
                <a:tc>
                  <a:txBody>
                    <a:bodyPr/>
                    <a:lstStyle/>
                    <a:p>
                      <a:r>
                        <a:rPr lang="en-ZA" dirty="0"/>
                        <a:t>(Aa or aa)</a:t>
                      </a:r>
                    </a:p>
                  </a:txBody>
                  <a:tcPr/>
                </a:tc>
                <a:tc>
                  <a:txBody>
                    <a:bodyPr/>
                    <a:lstStyle/>
                    <a:p>
                      <a:r>
                        <a:rPr lang="en-ZA" dirty="0"/>
                        <a:t>AA</a:t>
                      </a:r>
                    </a:p>
                  </a:txBody>
                  <a:tcPr/>
                </a:tc>
                <a:tc vMerge="1">
                  <a:txBody>
                    <a:bodyPr/>
                    <a:lstStyle/>
                    <a:p>
                      <a:endParaRPr lang="en-ZA" dirty="0"/>
                    </a:p>
                  </a:txBody>
                  <a:tcPr/>
                </a:tc>
                <a:extLst>
                  <a:ext uri="{0D108BD9-81ED-4DB2-BD59-A6C34878D82A}">
                    <a16:rowId xmlns:a16="http://schemas.microsoft.com/office/drawing/2014/main" val="720688792"/>
                  </a:ext>
                </a:extLst>
              </a:tr>
              <a:tr h="370840">
                <a:tc rowSpan="2">
                  <a:txBody>
                    <a:bodyPr/>
                    <a:lstStyle/>
                    <a:p>
                      <a:r>
                        <a:rPr lang="en-ZA" dirty="0"/>
                        <a:t>Disease</a:t>
                      </a:r>
                    </a:p>
                  </a:txBody>
                  <a:tcPr/>
                </a:tc>
                <a:tc>
                  <a:txBody>
                    <a:bodyPr/>
                    <a:lstStyle/>
                    <a:p>
                      <a:r>
                        <a:rPr lang="en-ZA"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11</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12</a:t>
                      </a:r>
                      <a:endParaRPr lang="en-ZA" sz="18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a:t>
                      </a:r>
                      <a:endParaRPr lang="en-ZA" sz="1800" kern="1200" dirty="0">
                        <a:solidFill>
                          <a:schemeClr val="dk1"/>
                        </a:solidFill>
                        <a:effectLst/>
                        <a:latin typeface="+mn-lt"/>
                        <a:ea typeface="+mn-ea"/>
                        <a:cs typeface="+mn-cs"/>
                      </a:endParaRPr>
                    </a:p>
                  </a:txBody>
                  <a:tcPr/>
                </a:tc>
                <a:extLst>
                  <a:ext uri="{0D108BD9-81ED-4DB2-BD59-A6C34878D82A}">
                    <a16:rowId xmlns:a16="http://schemas.microsoft.com/office/drawing/2014/main" val="3053336509"/>
                  </a:ext>
                </a:extLst>
              </a:tr>
              <a:tr h="370840">
                <a:tc vMerge="1">
                  <a:txBody>
                    <a:bodyPr/>
                    <a:lstStyle/>
                    <a:p>
                      <a:endParaRPr lang="en-ZA" dirty="0"/>
                    </a:p>
                  </a:txBody>
                  <a:tcPr/>
                </a:tc>
                <a:tc>
                  <a:txBody>
                    <a:bodyPr/>
                    <a:lstStyle/>
                    <a:p>
                      <a:r>
                        <a:rPr lang="en-ZA"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21</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22</a:t>
                      </a:r>
                      <a:endParaRPr lang="en-ZA" sz="18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a:t>
                      </a:r>
                      <a:endParaRPr lang="en-ZA" sz="1800" kern="1200" dirty="0">
                        <a:solidFill>
                          <a:schemeClr val="dk1"/>
                        </a:solidFill>
                        <a:effectLst/>
                        <a:latin typeface="+mn-lt"/>
                        <a:ea typeface="+mn-ea"/>
                        <a:cs typeface="+mn-cs"/>
                      </a:endParaRPr>
                    </a:p>
                  </a:txBody>
                  <a:tcPr/>
                </a:tc>
                <a:extLst>
                  <a:ext uri="{0D108BD9-81ED-4DB2-BD59-A6C34878D82A}">
                    <a16:rowId xmlns:a16="http://schemas.microsoft.com/office/drawing/2014/main" val="279103031"/>
                  </a:ext>
                </a:extLst>
              </a:tr>
              <a:tr h="370840">
                <a:tc>
                  <a:txBody>
                    <a:bodyPr/>
                    <a:lstStyle/>
                    <a:p>
                      <a:endParaRPr lang="en-ZA"/>
                    </a:p>
                  </a:txBody>
                  <a:tcPr/>
                </a:tc>
                <a:tc>
                  <a:txBody>
                    <a:bodyPr/>
                    <a:lstStyle/>
                    <a:p>
                      <a:r>
                        <a:rPr lang="en-ZA" dirty="0" smtClean="0"/>
                        <a:t>Total</a:t>
                      </a:r>
                      <a:endParaRPr lang="en-Z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.1</a:t>
                      </a:r>
                      <a:endParaRPr lang="en-ZA"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r>
                        <a:rPr lang="en-ZA" sz="1800" kern="1200" baseline="-25000" dirty="0">
                          <a:solidFill>
                            <a:schemeClr val="dk1"/>
                          </a:solidFill>
                          <a:effectLst/>
                          <a:latin typeface="+mn-lt"/>
                          <a:ea typeface="+mn-ea"/>
                          <a:cs typeface="+mn-cs"/>
                        </a:rPr>
                        <a:t>.2</a:t>
                      </a:r>
                      <a:endParaRPr lang="en-ZA" sz="18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latin typeface="+mn-lt"/>
                          <a:ea typeface="+mn-ea"/>
                          <a:cs typeface="+mn-cs"/>
                        </a:rPr>
                        <a:t>n</a:t>
                      </a:r>
                    </a:p>
                  </a:txBody>
                  <a:tcPr/>
                </a:tc>
                <a:extLst>
                  <a:ext uri="{0D108BD9-81ED-4DB2-BD59-A6C34878D82A}">
                    <a16:rowId xmlns:a16="http://schemas.microsoft.com/office/drawing/2014/main" val="4057477617"/>
                  </a:ext>
                </a:extLst>
              </a:tr>
            </a:tbl>
          </a:graphicData>
        </a:graphic>
      </p:graphicFrame>
    </p:spTree>
    <p:extLst>
      <p:ext uri="{BB962C8B-B14F-4D97-AF65-F5344CB8AC3E}">
        <p14:creationId xmlns:p14="http://schemas.microsoft.com/office/powerpoint/2010/main" val="3975127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532400" y="90150"/>
            <a:ext cx="10519646"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gn="ctr">
              <a:lnSpc>
                <a:spcPct val="90000"/>
              </a:lnSpc>
              <a:spcBef>
                <a:spcPct val="55000"/>
              </a:spcBef>
              <a:spcAft>
                <a:spcPct val="45000"/>
              </a:spcAft>
            </a:pPr>
            <a:r>
              <a:rPr lang="en-US" altLang="en-US" sz="3600">
                <a:latin typeface="Comic Sans MS" panose="030F0702030302020204" pitchFamily="66" charset="0"/>
                <a:cs typeface="Times New Roman" panose="02020603050405020304" pitchFamily="18" charset="0"/>
              </a:rPr>
              <a:t>Odds Ratio (OR) </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0" y="998920"/>
                <a:ext cx="8737600" cy="562715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W</a:t>
                </a:r>
                <a:r>
                  <a:rPr lang="en-ZA" sz="1800" b="1" kern="1200" dirty="0" smtClean="0">
                    <a:solidFill>
                      <a:schemeClr val="bg2"/>
                    </a:solidFill>
                    <a:latin typeface="Arial" panose="020B0604020202020204" pitchFamily="34" charset="0"/>
                    <a:cs typeface="Times New Roman" panose="02020603050405020304" pitchFamily="18" charset="0"/>
                  </a:rPr>
                  <a:t>e </a:t>
                </a:r>
                <a:r>
                  <a:rPr lang="en-ZA" sz="1800" b="1" kern="1200" dirty="0">
                    <a:solidFill>
                      <a:schemeClr val="bg2"/>
                    </a:solidFill>
                    <a:latin typeface="Arial" panose="020B0604020202020204" pitchFamily="34" charset="0"/>
                    <a:cs typeface="Times New Roman" panose="02020603050405020304" pitchFamily="18" charset="0"/>
                  </a:rPr>
                  <a:t>define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𝑂𝑅</m:t>
                        </m:r>
                      </m:e>
                      <m:sub>
                        <m:r>
                          <a:rPr lang="en-ZA" sz="1800" b="1" kern="1200">
                            <a:solidFill>
                              <a:schemeClr val="bg2"/>
                            </a:solidFill>
                            <a:latin typeface="Cambria Math" panose="02040503050406030204" pitchFamily="18" charset="0"/>
                          </a:rPr>
                          <m:t>𝑎𝑎</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𝐴𝐴</m:t>
                        </m:r>
                      </m:sub>
                    </m:sSub>
                  </m:oMath>
                </a14:m>
                <a:r>
                  <a:rPr lang="en-ZA" sz="1800" b="1" kern="1200" dirty="0">
                    <a:solidFill>
                      <a:schemeClr val="bg2"/>
                    </a:solidFill>
                    <a:latin typeface="Arial" panose="020B0604020202020204" pitchFamily="34" charset="0"/>
                    <a:cs typeface="Times New Roman" panose="02020603050405020304" pitchFamily="18" charset="0"/>
                  </a:rPr>
                  <a:t> as the odds of disease for individuals with the homozygous rare genotype, aa, compared with those with the homozygous wildtype genotype AA.</a:t>
                </a:r>
              </a:p>
              <a:p>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ZA" sz="1800" b="1" kern="1200">
                          <a:solidFill>
                            <a:schemeClr val="bg2"/>
                          </a:solidFill>
                          <a:latin typeface="Cambria Math" panose="02040503050406030204" pitchFamily="18" charset="0"/>
                        </a:rPr>
                        <m:t>𝑂𝑅</m:t>
                      </m:r>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11</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21</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r>
                            <a:rPr lang="en-ZA" sz="1800" b="1" kern="1200">
                              <a:solidFill>
                                <a:schemeClr val="bg2"/>
                              </a:solidFill>
                              <a:latin typeface="Cambria Math" panose="02040503050406030204" pitchFamily="18" charset="0"/>
                            </a:rPr>
                            <m:t>)</m:t>
                          </m:r>
                        </m:num>
                        <m:den>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13</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.3</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23</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.3</m:t>
                              </m:r>
                            </m:sub>
                          </m:sSub>
                          <m:r>
                            <a:rPr lang="en-ZA" sz="1800" b="1" kern="1200">
                              <a:solidFill>
                                <a:schemeClr val="bg2"/>
                              </a:solidFill>
                              <a:latin typeface="Cambria Math" panose="02040503050406030204" pitchFamily="18" charset="0"/>
                            </a:rPr>
                            <m:t>)</m:t>
                          </m:r>
                        </m:den>
                      </m:f>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11</m:t>
                              </m:r>
                            </m:sub>
                          </m:sSub>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23</m:t>
                              </m:r>
                            </m:sub>
                          </m:sSub>
                        </m:num>
                        <m:den>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21</m:t>
                              </m:r>
                            </m:sub>
                          </m:sSub>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13</m:t>
                              </m:r>
                            </m:sub>
                          </m:sSub>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endParaRPr lang="en-ZA" sz="1800" dirty="0">
                  <a:solidFill>
                    <a:schemeClr val="bg2"/>
                  </a:solidFill>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0" y="998920"/>
                <a:ext cx="8737600" cy="5627159"/>
              </a:xfrm>
              <a:blipFill>
                <a:blip r:embed="rId3"/>
                <a:stretch>
                  <a:fillRect l="-419" t="-650" r="-907"/>
                </a:stretch>
              </a:blipFill>
            </p:spPr>
            <p:txBody>
              <a:bodyPr/>
              <a:lstStyle/>
              <a:p>
                <a:r>
                  <a:rPr lang="en-US">
                    <a:noFill/>
                  </a:rPr>
                  <a:t> </a:t>
                </a:r>
              </a:p>
            </p:txBody>
          </p:sp>
        </mc:Fallback>
      </mc:AlternateContent>
    </p:spTree>
    <p:extLst>
      <p:ext uri="{BB962C8B-B14F-4D97-AF65-F5344CB8AC3E}">
        <p14:creationId xmlns:p14="http://schemas.microsoft.com/office/powerpoint/2010/main" val="1428735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534677" y="85344"/>
            <a:ext cx="8177239"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Example for Testing and Estimation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1694575F-8B6E-445F-8B60-C96C98AABE38}"/>
                  </a:ext>
                </a:extLst>
              </p:cNvPr>
              <p:cNvSpPr>
                <a:spLocks noGrp="1"/>
              </p:cNvSpPr>
              <p:nvPr>
                <p:ph idx="1"/>
              </p:nvPr>
            </p:nvSpPr>
            <p:spPr>
              <a:xfrm>
                <a:off x="304800" y="879651"/>
                <a:ext cx="8688368" cy="5726799"/>
              </a:xfrm>
            </p:spPr>
            <p:txBody>
              <a:bodyPr/>
              <a:lstStyle/>
              <a:p>
                <a:r>
                  <a:rPr lang="en-ZA" sz="1800" b="1" kern="1200" dirty="0" smtClean="0">
                    <a:solidFill>
                      <a:schemeClr val="bg2"/>
                    </a:solidFill>
                    <a:latin typeface="Arial" panose="020B0604020202020204" pitchFamily="34" charset="0"/>
                    <a:cs typeface="Times New Roman" panose="02020603050405020304" pitchFamily="18" charset="0"/>
                  </a:rPr>
                  <a:t>(From Table 6) Because </a:t>
                </a:r>
                <a:r>
                  <a:rPr lang="en-ZA" sz="1800" b="1" kern="1200" dirty="0">
                    <a:solidFill>
                      <a:schemeClr val="bg2"/>
                    </a:solidFill>
                    <a:latin typeface="Arial" panose="020B0604020202020204" pitchFamily="34" charset="0"/>
                    <a:cs typeface="Times New Roman" panose="02020603050405020304" pitchFamily="18" charset="0"/>
                  </a:rPr>
                  <a:t>psoriasis patients and healthy controls were recruited in this study, the proportion of patients in the sample does not reflect the overall prevalence of psoriasis. Hence, it is not adequate to compute the </a:t>
                </a:r>
                <a:r>
                  <a:rPr lang="en-ZA" sz="1800" b="1" kern="1200" dirty="0" smtClean="0">
                    <a:solidFill>
                      <a:schemeClr val="bg2"/>
                    </a:solidFill>
                    <a:latin typeface="Arial" panose="020B0604020202020204" pitchFamily="34" charset="0"/>
                    <a:cs typeface="Times New Roman" panose="02020603050405020304" pitchFamily="18" charset="0"/>
                  </a:rPr>
                  <a:t>RR. </a:t>
                </a:r>
                <a:r>
                  <a:rPr lang="en-ZA" sz="1800" b="1" kern="1200" dirty="0">
                    <a:solidFill>
                      <a:schemeClr val="bg2"/>
                    </a:solidFill>
                    <a:latin typeface="Arial" panose="020B0604020202020204" pitchFamily="34" charset="0"/>
                    <a:cs typeface="Times New Roman" panose="02020603050405020304" pitchFamily="18" charset="0"/>
                  </a:rPr>
                  <a:t>Instead, the OR with an asymptotic 95% confidence interval according to Woolf can be estimated by</a:t>
                </a:r>
              </a:p>
              <a:p>
                <a:pPr marL="0" indent="0">
                  <a:buNone/>
                </a:pPr>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ZA" sz="1800" b="1" i="1" kern="1200">
                              <a:solidFill>
                                <a:schemeClr val="bg2"/>
                              </a:solidFill>
                              <a:latin typeface="Cambria Math" panose="02040503050406030204" pitchFamily="18" charset="0"/>
                              <a:cs typeface="Times New Roman" panose="02020603050405020304" pitchFamily="18" charset="0"/>
                            </a:rPr>
                          </m:ctrlPr>
                        </m:accPr>
                        <m:e>
                          <m:r>
                            <a:rPr lang="en-ZA" sz="1800" b="1" kern="1200">
                              <a:solidFill>
                                <a:schemeClr val="bg2"/>
                              </a:solidFill>
                              <a:latin typeface="Cambria Math" panose="02040503050406030204" pitchFamily="18" charset="0"/>
                              <a:cs typeface="Times New Roman" panose="02020603050405020304" pitchFamily="18" charset="0"/>
                            </a:rPr>
                            <m:t>𝑂𝑅</m:t>
                          </m:r>
                        </m:e>
                      </m:acc>
                      <m:r>
                        <a:rPr lang="en-ZA" sz="1800" b="1" kern="1200">
                          <a:solidFill>
                            <a:schemeClr val="bg2"/>
                          </a:solidFill>
                          <a:latin typeface="Cambria Math" panose="02040503050406030204" pitchFamily="18" charset="0"/>
                          <a:cs typeface="Times New Roman" panose="02020603050405020304" pitchFamily="18" charset="0"/>
                        </a:rPr>
                        <m:t>= </m:t>
                      </m:r>
                      <m:f>
                        <m:fPr>
                          <m:ctrlPr>
                            <a:rPr lang="en-ZA" sz="1800" b="1" i="1" kern="1200">
                              <a:solidFill>
                                <a:schemeClr val="bg2"/>
                              </a:solidFill>
                              <a:latin typeface="Cambria Math" panose="02040503050406030204" pitchFamily="18" charset="0"/>
                              <a:cs typeface="Times New Roman" panose="02020603050405020304" pitchFamily="18" charset="0"/>
                            </a:rPr>
                          </m:ctrlPr>
                        </m:fPr>
                        <m:num>
                          <m:r>
                            <a:rPr lang="en-ZA" sz="1800" b="1" kern="1200">
                              <a:solidFill>
                                <a:schemeClr val="bg2"/>
                              </a:solidFill>
                              <a:latin typeface="Cambria Math" panose="02040503050406030204" pitchFamily="18" charset="0"/>
                              <a:cs typeface="Times New Roman" panose="02020603050405020304" pitchFamily="18" charset="0"/>
                            </a:rPr>
                            <m:t>53 . 316</m:t>
                          </m:r>
                        </m:num>
                        <m:den>
                          <m:r>
                            <a:rPr lang="en-ZA" sz="1800" b="1" kern="1200">
                              <a:solidFill>
                                <a:schemeClr val="bg2"/>
                              </a:solidFill>
                              <a:latin typeface="Cambria Math" panose="02040503050406030204" pitchFamily="18" charset="0"/>
                              <a:cs typeface="Times New Roman" panose="02020603050405020304" pitchFamily="18" charset="0"/>
                            </a:rPr>
                            <m:t>178 . 29</m:t>
                          </m:r>
                        </m:den>
                      </m:f>
                      <m:r>
                        <a:rPr lang="en-ZA" sz="1800" b="1" kern="1200">
                          <a:solidFill>
                            <a:schemeClr val="bg2"/>
                          </a:solidFill>
                          <a:latin typeface="Cambria Math" panose="02040503050406030204" pitchFamily="18" charset="0"/>
                          <a:cs typeface="Times New Roman" panose="02020603050405020304" pitchFamily="18" charset="0"/>
                        </a:rPr>
                        <m:t> ≈3.2445,</m:t>
                      </m:r>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ZA" sz="1800" b="1" kern="1200">
                          <a:solidFill>
                            <a:schemeClr val="bg2"/>
                          </a:solidFill>
                          <a:latin typeface="Cambria Math" panose="02040503050406030204" pitchFamily="18" charset="0"/>
                          <a:cs typeface="Times New Roman" panose="02020603050405020304" pitchFamily="18" charset="0"/>
                        </a:rPr>
                        <m:t>𝐶𝐼</m:t>
                      </m:r>
                      <m:d>
                        <m:dPr>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𝑂𝑅</m:t>
                          </m:r>
                        </m:e>
                      </m:d>
                      <m:r>
                        <a:rPr lang="en-ZA" sz="1800" b="1" kern="1200">
                          <a:solidFill>
                            <a:schemeClr val="bg2"/>
                          </a:solidFill>
                          <a:latin typeface="Cambria Math" panose="02040503050406030204" pitchFamily="18" charset="0"/>
                          <a:cs typeface="Times New Roman" panose="02020603050405020304" pitchFamily="18" charset="0"/>
                        </a:rPr>
                        <m:t>≈ </m:t>
                      </m:r>
                      <m:d>
                        <m:dPr>
                          <m:begChr m:val="["/>
                          <m:endChr m:val="]"/>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3.2445 .</m:t>
                          </m:r>
                          <m:func>
                            <m:funcPr>
                              <m:ctrlPr>
                                <a:rPr lang="en-ZA" sz="1800" b="1" i="1" kern="1200">
                                  <a:solidFill>
                                    <a:schemeClr val="bg2"/>
                                  </a:solidFill>
                                  <a:latin typeface="Cambria Math" panose="02040503050406030204" pitchFamily="18" charset="0"/>
                                  <a:cs typeface="Times New Roman" panose="02020603050405020304" pitchFamily="18" charset="0"/>
                                </a:rPr>
                              </m:ctrlPr>
                            </m:funcPr>
                            <m:fName>
                              <m:r>
                                <m:rPr>
                                  <m:sty m:val="p"/>
                                </m:rPr>
                                <a:rPr lang="en-ZA" sz="1800" b="1" kern="1200">
                                  <a:solidFill>
                                    <a:schemeClr val="bg2"/>
                                  </a:solidFill>
                                  <a:latin typeface="Cambria Math" panose="02040503050406030204" pitchFamily="18" charset="0"/>
                                  <a:cs typeface="Times New Roman" panose="02020603050405020304" pitchFamily="18" charset="0"/>
                                </a:rPr>
                                <m:t>exp</m:t>
                              </m:r>
                            </m:fName>
                            <m:e>
                              <m:d>
                                <m:dPr>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±1.96 . </m:t>
                                  </m:r>
                                  <m:rad>
                                    <m:radPr>
                                      <m:degHide m:val="on"/>
                                      <m:ctrlPr>
                                        <a:rPr lang="en-ZA" sz="1800" b="1" i="1" kern="1200">
                                          <a:solidFill>
                                            <a:schemeClr val="bg2"/>
                                          </a:solidFill>
                                          <a:latin typeface="Cambria Math" panose="02040503050406030204" pitchFamily="18" charset="0"/>
                                          <a:cs typeface="Times New Roman" panose="02020603050405020304" pitchFamily="18" charset="0"/>
                                        </a:rPr>
                                      </m:ctrlPr>
                                    </m:radPr>
                                    <m:deg/>
                                    <m:e>
                                      <m:f>
                                        <m:fPr>
                                          <m:ctrlPr>
                                            <a:rPr lang="en-ZA" sz="1800" b="1" i="1" kern="1200">
                                              <a:solidFill>
                                                <a:schemeClr val="bg2"/>
                                              </a:solidFill>
                                              <a:latin typeface="Cambria Math" panose="02040503050406030204" pitchFamily="18" charset="0"/>
                                              <a:cs typeface="Times New Roman" panose="02020603050405020304" pitchFamily="18" charset="0"/>
                                            </a:rPr>
                                          </m:ctrlPr>
                                        </m:fPr>
                                        <m:num>
                                          <m:r>
                                            <a:rPr lang="en-ZA" sz="1800" b="1" kern="1200">
                                              <a:solidFill>
                                                <a:schemeClr val="bg2"/>
                                              </a:solidFill>
                                              <a:latin typeface="Cambria Math" panose="02040503050406030204" pitchFamily="18" charset="0"/>
                                              <a:cs typeface="Times New Roman" panose="02020603050405020304" pitchFamily="18" charset="0"/>
                                            </a:rPr>
                                            <m:t>1</m:t>
                                          </m:r>
                                        </m:num>
                                        <m:den>
                                          <m:r>
                                            <a:rPr lang="en-ZA" sz="1800" b="1" kern="1200">
                                              <a:solidFill>
                                                <a:schemeClr val="bg2"/>
                                              </a:solidFill>
                                              <a:latin typeface="Cambria Math" panose="02040503050406030204" pitchFamily="18" charset="0"/>
                                              <a:cs typeface="Times New Roman" panose="02020603050405020304" pitchFamily="18" charset="0"/>
                                            </a:rPr>
                                            <m:t>178</m:t>
                                          </m:r>
                                        </m:den>
                                      </m:f>
                                    </m:e>
                                  </m:rad>
                                  <m:r>
                                    <a:rPr lang="en-ZA" sz="1800" b="1" kern="1200">
                                      <a:solidFill>
                                        <a:schemeClr val="bg2"/>
                                      </a:solidFill>
                                      <a:latin typeface="Cambria Math" panose="02040503050406030204" pitchFamily="18" charset="0"/>
                                      <a:cs typeface="Times New Roman" panose="02020603050405020304" pitchFamily="18" charset="0"/>
                                    </a:rPr>
                                    <m:t>+ </m:t>
                                  </m:r>
                                  <m:f>
                                    <m:fPr>
                                      <m:ctrlPr>
                                        <a:rPr lang="en-ZA" sz="1800" b="1" i="1" kern="1200">
                                          <a:solidFill>
                                            <a:schemeClr val="bg2"/>
                                          </a:solidFill>
                                          <a:latin typeface="Cambria Math" panose="02040503050406030204" pitchFamily="18" charset="0"/>
                                          <a:cs typeface="Times New Roman" panose="02020603050405020304" pitchFamily="18" charset="0"/>
                                        </a:rPr>
                                      </m:ctrlPr>
                                    </m:fPr>
                                    <m:num>
                                      <m:r>
                                        <a:rPr lang="en-ZA" sz="1800" b="1" kern="1200">
                                          <a:solidFill>
                                            <a:schemeClr val="bg2"/>
                                          </a:solidFill>
                                          <a:latin typeface="Cambria Math" panose="02040503050406030204" pitchFamily="18" charset="0"/>
                                          <a:cs typeface="Times New Roman" panose="02020603050405020304" pitchFamily="18" charset="0"/>
                                        </a:rPr>
                                        <m:t>1</m:t>
                                      </m:r>
                                    </m:num>
                                    <m:den>
                                      <m:r>
                                        <a:rPr lang="en-ZA" sz="1800" b="1" kern="1200">
                                          <a:solidFill>
                                            <a:schemeClr val="bg2"/>
                                          </a:solidFill>
                                          <a:latin typeface="Cambria Math" panose="02040503050406030204" pitchFamily="18" charset="0"/>
                                          <a:cs typeface="Times New Roman" panose="02020603050405020304" pitchFamily="18" charset="0"/>
                                        </a:rPr>
                                        <m:t>53</m:t>
                                      </m:r>
                                    </m:den>
                                  </m:f>
                                  <m:r>
                                    <a:rPr lang="en-ZA" sz="1800" b="1" kern="1200">
                                      <a:solidFill>
                                        <a:schemeClr val="bg2"/>
                                      </a:solidFill>
                                      <a:latin typeface="Cambria Math" panose="02040503050406030204" pitchFamily="18" charset="0"/>
                                      <a:cs typeface="Times New Roman" panose="02020603050405020304" pitchFamily="18" charset="0"/>
                                    </a:rPr>
                                    <m:t>+ </m:t>
                                  </m:r>
                                  <m:f>
                                    <m:fPr>
                                      <m:ctrlPr>
                                        <a:rPr lang="en-ZA" sz="1800" b="1" i="1" kern="1200">
                                          <a:solidFill>
                                            <a:schemeClr val="bg2"/>
                                          </a:solidFill>
                                          <a:latin typeface="Cambria Math" panose="02040503050406030204" pitchFamily="18" charset="0"/>
                                          <a:cs typeface="Times New Roman" panose="02020603050405020304" pitchFamily="18" charset="0"/>
                                        </a:rPr>
                                      </m:ctrlPr>
                                    </m:fPr>
                                    <m:num>
                                      <m:r>
                                        <a:rPr lang="en-ZA" sz="1800" b="1" kern="1200">
                                          <a:solidFill>
                                            <a:schemeClr val="bg2"/>
                                          </a:solidFill>
                                          <a:latin typeface="Cambria Math" panose="02040503050406030204" pitchFamily="18" charset="0"/>
                                          <a:cs typeface="Times New Roman" panose="02020603050405020304" pitchFamily="18" charset="0"/>
                                        </a:rPr>
                                        <m:t>1</m:t>
                                      </m:r>
                                    </m:num>
                                    <m:den>
                                      <m:r>
                                        <a:rPr lang="en-ZA" sz="1800" b="1" kern="1200">
                                          <a:solidFill>
                                            <a:schemeClr val="bg2"/>
                                          </a:solidFill>
                                          <a:latin typeface="Cambria Math" panose="02040503050406030204" pitchFamily="18" charset="0"/>
                                          <a:cs typeface="Times New Roman" panose="02020603050405020304" pitchFamily="18" charset="0"/>
                                        </a:rPr>
                                        <m:t>316</m:t>
                                      </m:r>
                                    </m:den>
                                  </m:f>
                                  <m:r>
                                    <a:rPr lang="en-ZA" sz="1800" b="1" kern="1200">
                                      <a:solidFill>
                                        <a:schemeClr val="bg2"/>
                                      </a:solidFill>
                                      <a:latin typeface="Cambria Math" panose="02040503050406030204" pitchFamily="18" charset="0"/>
                                      <a:cs typeface="Times New Roman" panose="02020603050405020304" pitchFamily="18" charset="0"/>
                                    </a:rPr>
                                    <m:t>+ </m:t>
                                  </m:r>
                                  <m:f>
                                    <m:fPr>
                                      <m:ctrlPr>
                                        <a:rPr lang="en-ZA" sz="1800" b="1" i="1" kern="1200">
                                          <a:solidFill>
                                            <a:schemeClr val="bg2"/>
                                          </a:solidFill>
                                          <a:latin typeface="Cambria Math" panose="02040503050406030204" pitchFamily="18" charset="0"/>
                                          <a:cs typeface="Times New Roman" panose="02020603050405020304" pitchFamily="18" charset="0"/>
                                        </a:rPr>
                                      </m:ctrlPr>
                                    </m:fPr>
                                    <m:num>
                                      <m:r>
                                        <a:rPr lang="en-ZA" sz="1800" b="1" kern="1200">
                                          <a:solidFill>
                                            <a:schemeClr val="bg2"/>
                                          </a:solidFill>
                                          <a:latin typeface="Cambria Math" panose="02040503050406030204" pitchFamily="18" charset="0"/>
                                          <a:cs typeface="Times New Roman" panose="02020603050405020304" pitchFamily="18" charset="0"/>
                                        </a:rPr>
                                        <m:t>1</m:t>
                                      </m:r>
                                    </m:num>
                                    <m:den>
                                      <m:r>
                                        <a:rPr lang="en-ZA" sz="1800" b="1" kern="1200">
                                          <a:solidFill>
                                            <a:schemeClr val="bg2"/>
                                          </a:solidFill>
                                          <a:latin typeface="Cambria Math" panose="02040503050406030204" pitchFamily="18" charset="0"/>
                                          <a:cs typeface="Times New Roman" panose="02020603050405020304" pitchFamily="18" charset="0"/>
                                        </a:rPr>
                                        <m:t>29</m:t>
                                      </m:r>
                                    </m:den>
                                  </m:f>
                                </m:e>
                              </m:d>
                            </m:e>
                          </m:func>
                        </m:e>
                      </m:d>
                      <m:r>
                        <a:rPr lang="en-ZA" sz="1800" b="1" kern="1200">
                          <a:solidFill>
                            <a:schemeClr val="bg2"/>
                          </a:solidFill>
                          <a:latin typeface="Cambria Math" panose="02040503050406030204" pitchFamily="18" charset="0"/>
                          <a:cs typeface="Times New Roman" panose="02020603050405020304" pitchFamily="18" charset="0"/>
                        </a:rPr>
                        <m:t> ≈</m:t>
                      </m:r>
                      <m:d>
                        <m:dPr>
                          <m:begChr m:val="["/>
                          <m:endChr m:val="]"/>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1.9905;5.2884</m:t>
                          </m:r>
                        </m:e>
                      </m:d>
                    </m:oMath>
                  </m:oMathPara>
                </a14:m>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The odds of having psoriasis are hence more than threefold increased in carriers of the A allele at TNFA-238 compared with non-carriers.</a:t>
                </a:r>
              </a:p>
            </p:txBody>
          </p:sp>
        </mc:Choice>
        <mc:Fallback>
          <p:sp>
            <p:nvSpPr>
              <p:cNvPr id="4" name="Content Placeholder 2">
                <a:extLst>
                  <a:ext uri="{FF2B5EF4-FFF2-40B4-BE49-F238E27FC236}">
                    <a16:creationId xmlns:a16="http://schemas.microsoft.com/office/drawing/2014/main" id="{1694575F-8B6E-445F-8B60-C96C98AABE38}"/>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3"/>
                <a:stretch>
                  <a:fillRect l="-421" t="-532"/>
                </a:stretch>
              </a:blipFill>
            </p:spPr>
            <p:txBody>
              <a:bodyPr/>
              <a:lstStyle/>
              <a:p>
                <a:r>
                  <a:rPr lang="en-US">
                    <a:noFill/>
                  </a:rPr>
                  <a:t> </a:t>
                </a:r>
              </a:p>
            </p:txBody>
          </p:sp>
        </mc:Fallback>
      </mc:AlternateContent>
    </p:spTree>
    <p:extLst>
      <p:ext uri="{BB962C8B-B14F-4D97-AF65-F5344CB8AC3E}">
        <p14:creationId xmlns:p14="http://schemas.microsoft.com/office/powerpoint/2010/main" val="36801591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06400" y="90150"/>
            <a:ext cx="877996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Cochran-Armitage Trend Test (CATT)</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203200" y="998920"/>
                <a:ext cx="8649252" cy="562715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The Cochran-Armitage (C-A) trend test is commonly applied in the analysis of association between a biallelic locus, with three corresponding genotype levels, and a binary trait.</a:t>
                </a:r>
              </a:p>
              <a:p>
                <a:r>
                  <a:rPr lang="en-ZA" sz="1800" b="1" kern="1200" dirty="0">
                    <a:solidFill>
                      <a:schemeClr val="bg2"/>
                    </a:solidFill>
                    <a:latin typeface="Arial" panose="020B0604020202020204" pitchFamily="34" charset="0"/>
                    <a:cs typeface="Times New Roman" panose="02020603050405020304" pitchFamily="18" charset="0"/>
                  </a:rPr>
                  <a:t>The C-A trend test is a test developed specifically for detecting a linear trend in proportions over levels of the exposure variable.</a:t>
                </a:r>
              </a:p>
              <a:p>
                <a:r>
                  <a:rPr lang="en-ZA" sz="1800" b="1" kern="1200" dirty="0">
                    <a:solidFill>
                      <a:schemeClr val="bg2"/>
                    </a:solidFill>
                    <a:latin typeface="Arial" panose="020B0604020202020204" pitchFamily="34" charset="0"/>
                    <a:cs typeface="Times New Roman" panose="02020603050405020304" pitchFamily="18" charset="0"/>
                  </a:rPr>
                  <a:t>In our setting, it is a test of whether the probability of disease increases linearly with genotype.</a:t>
                </a:r>
              </a:p>
              <a:p>
                <a:r>
                  <a:rPr lang="en-ZA" sz="1800" b="1" kern="1200" dirty="0">
                    <a:solidFill>
                      <a:schemeClr val="bg2"/>
                    </a:solidFill>
                    <a:latin typeface="Arial" panose="020B0604020202020204" pitchFamily="34" charset="0"/>
                    <a:cs typeface="Times New Roman" panose="02020603050405020304" pitchFamily="18" charset="0"/>
                  </a:rPr>
                  <a:t>For example, we may choose to code the genotype data as 0, 1, or 2 for the number of A alleles.</a:t>
                </a:r>
              </a:p>
              <a:p>
                <a:r>
                  <a:rPr lang="en-ZA" sz="1800" b="1" kern="1200" dirty="0">
                    <a:solidFill>
                      <a:schemeClr val="bg2"/>
                    </a:solidFill>
                    <a:latin typeface="Arial" panose="020B0604020202020204" pitchFamily="34" charset="0"/>
                    <a:cs typeface="Times New Roman" panose="02020603050405020304" pitchFamily="18" charset="0"/>
                  </a:rPr>
                  <a:t>If indeed the relationship between genotype and disease is linear, the C-A test will be more powerful than Pearson’s χ2-test.</a:t>
                </a:r>
              </a:p>
              <a:p>
                <a:r>
                  <a:rPr lang="en-ZA" sz="1800" b="1" kern="1200" dirty="0">
                    <a:solidFill>
                      <a:schemeClr val="bg2"/>
                    </a:solidFill>
                    <a:latin typeface="Arial" panose="020B0604020202020204" pitchFamily="34" charset="0"/>
                    <a:cs typeface="Times New Roman" panose="02020603050405020304" pitchFamily="18" charset="0"/>
                  </a:rPr>
                  <a:t>L</a:t>
                </a:r>
                <a:r>
                  <a:rPr lang="en-ZA" sz="1800" b="1" kern="1200" dirty="0" smtClean="0">
                    <a:solidFill>
                      <a:schemeClr val="bg2"/>
                    </a:solidFill>
                    <a:latin typeface="Arial" panose="020B0604020202020204" pitchFamily="34" charset="0"/>
                    <a:cs typeface="Times New Roman" panose="02020603050405020304" pitchFamily="18" charset="0"/>
                  </a:rPr>
                  <a:t>et </a:t>
                </a:r>
                <a:r>
                  <a:rPr lang="en-ZA" sz="1800" b="1" kern="1200" dirty="0" err="1">
                    <a:solidFill>
                      <a:schemeClr val="bg2"/>
                    </a:solidFill>
                    <a:latin typeface="Arial" panose="020B0604020202020204" pitchFamily="34" charset="0"/>
                    <a:cs typeface="Times New Roman" panose="02020603050405020304" pitchFamily="18" charset="0"/>
                  </a:rPr>
                  <a:t>pj</a:t>
                </a:r>
                <a:r>
                  <a:rPr lang="en-ZA" sz="1800" b="1" kern="1200" dirty="0">
                    <a:solidFill>
                      <a:schemeClr val="bg2"/>
                    </a:solidFill>
                    <a:latin typeface="Arial" panose="020B0604020202020204" pitchFamily="34" charset="0"/>
                    <a:cs typeface="Times New Roman" panose="02020603050405020304" pitchFamily="18" charset="0"/>
                  </a:rPr>
                  <a:t> be the probability of disease for the </a:t>
                </a:r>
                <a:r>
                  <a:rPr lang="en-ZA" sz="1800" b="1" kern="1200" dirty="0" err="1">
                    <a:solidFill>
                      <a:schemeClr val="bg2"/>
                    </a:solidFill>
                    <a:latin typeface="Arial" panose="020B0604020202020204" pitchFamily="34" charset="0"/>
                    <a:cs typeface="Times New Roman" panose="02020603050405020304" pitchFamily="18" charset="0"/>
                  </a:rPr>
                  <a:t>jth</a:t>
                </a:r>
                <a:r>
                  <a:rPr lang="en-ZA" sz="1800" b="1" kern="1200" dirty="0">
                    <a:solidFill>
                      <a:schemeClr val="bg2"/>
                    </a:solidFill>
                    <a:latin typeface="Arial" panose="020B0604020202020204" pitchFamily="34" charset="0"/>
                    <a:cs typeface="Times New Roman" panose="02020603050405020304" pitchFamily="18" charset="0"/>
                  </a:rPr>
                  <a:t> genotype column.</a:t>
                </a:r>
              </a:p>
              <a:p>
                <a:r>
                  <a:rPr lang="en-ZA" sz="1800" b="1" kern="1200" dirty="0">
                    <a:solidFill>
                      <a:schemeClr val="bg2"/>
                    </a:solidFill>
                    <a:latin typeface="Arial" panose="020B0604020202020204" pitchFamily="34" charset="0"/>
                    <a:cs typeface="Times New Roman" panose="02020603050405020304" pitchFamily="18" charset="0"/>
                  </a:rPr>
                  <a:t>A trend test can be defined as a test of the null hypothesis that there is no linear relationship among the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𝑗</m:t>
                        </m:r>
                      </m:sub>
                    </m:sSub>
                  </m:oMath>
                </a14:m>
                <a:r>
                  <a:rPr lang="en-ZA" sz="1800" b="1" kern="1200" dirty="0">
                    <a:solidFill>
                      <a:schemeClr val="bg2"/>
                    </a:solidFill>
                    <a:latin typeface="Arial" panose="020B0604020202020204" pitchFamily="34" charset="0"/>
                    <a:cs typeface="Times New Roman" panose="02020603050405020304" pitchFamily="18" charset="0"/>
                  </a:rPr>
                  <a:t>’s.</a:t>
                </a:r>
              </a:p>
              <a:p>
                <a:r>
                  <a:rPr lang="en-ZA" sz="1800" b="1" kern="1200" dirty="0">
                    <a:solidFill>
                      <a:schemeClr val="bg2"/>
                    </a:solidFill>
                    <a:latin typeface="Arial" panose="020B0604020202020204" pitchFamily="34" charset="0"/>
                    <a:cs typeface="Times New Roman" panose="02020603050405020304" pitchFamily="18" charset="0"/>
                  </a:rPr>
                  <a:t>A linear relationship is expressed algebraically as </a:t>
                </a:r>
                <a:r>
                  <a:rPr lang="en-ZA" sz="1800" b="1" kern="1200" dirty="0" err="1">
                    <a:solidFill>
                      <a:schemeClr val="bg2"/>
                    </a:solidFill>
                    <a:latin typeface="Arial" panose="020B0604020202020204" pitchFamily="34" charset="0"/>
                    <a:cs typeface="Times New Roman" panose="02020603050405020304" pitchFamily="18" charset="0"/>
                  </a:rPr>
                  <a:t>pj</a:t>
                </a:r>
                <a:r>
                  <a:rPr lang="en-ZA" sz="1800" b="1" kern="1200" dirty="0">
                    <a:solidFill>
                      <a:schemeClr val="bg2"/>
                    </a:solidFill>
                    <a:latin typeface="Arial" panose="020B0604020202020204" pitchFamily="34" charset="0"/>
                    <a:cs typeface="Times New Roman" panose="02020603050405020304" pitchFamily="18" charset="0"/>
                  </a:rPr>
                  <a:t> = α + β</a:t>
                </a:r>
                <a:r>
                  <a:rPr lang="en-ZA" sz="1800" b="1" kern="1200" dirty="0" err="1">
                    <a:solidFill>
                      <a:schemeClr val="bg2"/>
                    </a:solidFill>
                    <a:latin typeface="Arial" panose="020B0604020202020204" pitchFamily="34" charset="0"/>
                    <a:cs typeface="Times New Roman" panose="02020603050405020304" pitchFamily="18" charset="0"/>
                  </a:rPr>
                  <a:t>Sj</a:t>
                </a:r>
                <a:r>
                  <a:rPr lang="en-ZA" sz="1800" b="1" kern="1200" dirty="0">
                    <a:solidFill>
                      <a:schemeClr val="bg2"/>
                    </a:solidFill>
                    <a:latin typeface="Arial" panose="020B0604020202020204" pitchFamily="34" charset="0"/>
                    <a:cs typeface="Times New Roman" panose="02020603050405020304" pitchFamily="18" charset="0"/>
                  </a:rPr>
                  <a:t>, where </a:t>
                </a:r>
                <a:r>
                  <a:rPr lang="en-ZA" sz="1800" b="1" kern="1200" dirty="0" err="1">
                    <a:solidFill>
                      <a:schemeClr val="bg2"/>
                    </a:solidFill>
                    <a:latin typeface="Arial" panose="020B0604020202020204" pitchFamily="34" charset="0"/>
                    <a:cs typeface="Times New Roman" panose="02020603050405020304" pitchFamily="18" charset="0"/>
                  </a:rPr>
                  <a:t>Sj</a:t>
                </a:r>
                <a:r>
                  <a:rPr lang="en-ZA" sz="1800" b="1" kern="1200" dirty="0">
                    <a:solidFill>
                      <a:schemeClr val="bg2"/>
                    </a:solidFill>
                    <a:latin typeface="Arial" panose="020B0604020202020204" pitchFamily="34" charset="0"/>
                    <a:cs typeface="Times New Roman" panose="02020603050405020304" pitchFamily="18" charset="0"/>
                  </a:rPr>
                  <a:t> is a score for the </a:t>
                </a:r>
                <a:r>
                  <a:rPr lang="en-ZA" sz="1800" b="1" kern="1200" dirty="0" err="1">
                    <a:solidFill>
                      <a:schemeClr val="bg2"/>
                    </a:solidFill>
                    <a:latin typeface="Arial" panose="020B0604020202020204" pitchFamily="34" charset="0"/>
                    <a:cs typeface="Times New Roman" panose="02020603050405020304" pitchFamily="18" charset="0"/>
                  </a:rPr>
                  <a:t>jth</a:t>
                </a:r>
                <a:r>
                  <a:rPr lang="en-ZA" sz="1800" b="1" kern="1200" dirty="0">
                    <a:solidFill>
                      <a:schemeClr val="bg2"/>
                    </a:solidFill>
                    <a:latin typeface="Arial" panose="020B0604020202020204" pitchFamily="34" charset="0"/>
                    <a:cs typeface="Times New Roman" panose="02020603050405020304" pitchFamily="18" charset="0"/>
                  </a:rPr>
                  <a:t> column.</a:t>
                </a: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203200" y="998920"/>
                <a:ext cx="8649252" cy="5627159"/>
              </a:xfrm>
              <a:blipFill>
                <a:blip r:embed="rId3"/>
                <a:stretch>
                  <a:fillRect l="-423" t="-650" r="-1128"/>
                </a:stretch>
              </a:blipFill>
            </p:spPr>
            <p:txBody>
              <a:bodyPr/>
              <a:lstStyle/>
              <a:p>
                <a:r>
                  <a:rPr lang="en-US">
                    <a:noFill/>
                  </a:rPr>
                  <a:t> </a:t>
                </a:r>
              </a:p>
            </p:txBody>
          </p:sp>
        </mc:Fallback>
      </mc:AlternateContent>
    </p:spTree>
    <p:extLst>
      <p:ext uri="{BB962C8B-B14F-4D97-AF65-F5344CB8AC3E}">
        <p14:creationId xmlns:p14="http://schemas.microsoft.com/office/powerpoint/2010/main" val="314879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06400" y="90150"/>
            <a:ext cx="877996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Cochran-Armitage Trend Test (CATT)</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203200" y="998920"/>
                <a:ext cx="8534400" cy="562715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For example, we can define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𝑆</m:t>
                        </m:r>
                      </m:e>
                      <m:sub>
                        <m:r>
                          <a:rPr lang="en-ZA" sz="1800" b="1" kern="1200">
                            <a:solidFill>
                              <a:schemeClr val="bg2"/>
                            </a:solidFill>
                            <a:latin typeface="Cambria Math" panose="02040503050406030204" pitchFamily="18" charset="0"/>
                            <a:cs typeface="Times New Roman" panose="02020603050405020304" pitchFamily="18" charset="0"/>
                          </a:rPr>
                          <m:t>1</m:t>
                        </m:r>
                      </m:sub>
                    </m:sSub>
                  </m:oMath>
                </a14:m>
                <a:r>
                  <a:rPr lang="en-ZA" sz="1800" b="1" kern="1200" dirty="0">
                    <a:solidFill>
                      <a:schemeClr val="bg2"/>
                    </a:solidFill>
                    <a:latin typeface="Arial" panose="020B0604020202020204" pitchFamily="34" charset="0"/>
                    <a:cs typeface="Times New Roman" panose="02020603050405020304" pitchFamily="18" charset="0"/>
                  </a:rPr>
                  <a:t>= 1,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𝑆</m:t>
                        </m:r>
                      </m:e>
                      <m:sub>
                        <m:r>
                          <a:rPr lang="en-ZA" sz="1800" b="1" kern="1200">
                            <a:solidFill>
                              <a:schemeClr val="bg2"/>
                            </a:solidFill>
                            <a:latin typeface="Cambria Math" panose="02040503050406030204" pitchFamily="18" charset="0"/>
                            <a:cs typeface="Times New Roman" panose="02020603050405020304" pitchFamily="18" charset="0"/>
                          </a:rPr>
                          <m:t>2</m:t>
                        </m:r>
                      </m:sub>
                    </m:sSub>
                  </m:oMath>
                </a14:m>
                <a:r>
                  <a:rPr lang="en-ZA" sz="1800" b="1" kern="1200" dirty="0">
                    <a:solidFill>
                      <a:schemeClr val="bg2"/>
                    </a:solidFill>
                    <a:latin typeface="Arial" panose="020B0604020202020204" pitchFamily="34" charset="0"/>
                    <a:cs typeface="Times New Roman" panose="02020603050405020304" pitchFamily="18" charset="0"/>
                  </a:rPr>
                  <a:t> = 2 and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𝑆</m:t>
                        </m:r>
                      </m:e>
                      <m:sub>
                        <m:r>
                          <a:rPr lang="en-ZA" sz="1800" b="1" kern="1200">
                            <a:solidFill>
                              <a:schemeClr val="bg2"/>
                            </a:solidFill>
                            <a:latin typeface="Cambria Math" panose="02040503050406030204" pitchFamily="18" charset="0"/>
                            <a:cs typeface="Times New Roman" panose="02020603050405020304" pitchFamily="18" charset="0"/>
                          </a:rPr>
                          <m:t>3</m:t>
                        </m:r>
                      </m:sub>
                    </m:sSub>
                  </m:oMath>
                </a14:m>
                <a:r>
                  <a:rPr lang="en-ZA" sz="1800" b="1" kern="1200" dirty="0">
                    <a:solidFill>
                      <a:schemeClr val="bg2"/>
                    </a:solidFill>
                    <a:latin typeface="Arial" panose="020B0604020202020204" pitchFamily="34" charset="0"/>
                    <a:cs typeface="Times New Roman" panose="02020603050405020304" pitchFamily="18" charset="0"/>
                  </a:rPr>
                  <a:t> = 3. Thus, the null hypothesis of no linear association is given by H0 : β = 0.</a:t>
                </a:r>
              </a:p>
              <a:p>
                <a:r>
                  <a:rPr lang="en-ZA" sz="1800" b="1" kern="1200" dirty="0">
                    <a:solidFill>
                      <a:schemeClr val="bg2"/>
                    </a:solidFill>
                    <a:latin typeface="Arial" panose="020B0604020202020204" pitchFamily="34" charset="0"/>
                    <a:cs typeface="Times New Roman" panose="02020603050405020304" pitchFamily="18" charset="0"/>
                  </a:rPr>
                  <a:t>Testing of this hypothesis is achieved using a χ2-test statistic that is a function of the observed and expected scores and is illustrated in the following example</a:t>
                </a:r>
                <a:r>
                  <a:rPr lang="en-ZA" sz="1800" b="1" kern="1200" dirty="0" smtClean="0">
                    <a:solidFill>
                      <a:schemeClr val="bg2"/>
                    </a:solidFill>
                    <a:latin typeface="Arial" panose="020B0604020202020204" pitchFamily="34" charset="0"/>
                    <a:cs typeface="Times New Roman" panose="02020603050405020304" pitchFamily="18" charset="0"/>
                  </a:rPr>
                  <a:t>.</a:t>
                </a:r>
              </a:p>
              <a:p>
                <a:endParaRPr lang="en-ZA" sz="1800" b="1" kern="1200" dirty="0">
                  <a:solidFill>
                    <a:schemeClr val="bg2"/>
                  </a:solidFill>
                  <a:latin typeface="Arial" panose="020B0604020202020204" pitchFamily="34" charset="0"/>
                  <a:cs typeface="Times New Roman" panose="02020603050405020304" pitchFamily="18" charset="0"/>
                </a:endParaRPr>
              </a:p>
              <a:p>
                <a:r>
                  <a:rPr lang="en-US" sz="1200" b="1" kern="1200" dirty="0" smtClean="0">
                    <a:solidFill>
                      <a:schemeClr val="bg2"/>
                    </a:solidFill>
                    <a:latin typeface="Arial" panose="020B0604020202020204" pitchFamily="34" charset="0"/>
                    <a:cs typeface="Times New Roman" panose="02020603050405020304" pitchFamily="18" charset="0"/>
                  </a:rPr>
                  <a:t>Example: (Cochran-Armitage </a:t>
                </a:r>
                <a:r>
                  <a:rPr lang="en-US" sz="1200" b="1" kern="1200" dirty="0">
                    <a:solidFill>
                      <a:schemeClr val="bg2"/>
                    </a:solidFill>
                    <a:latin typeface="Arial" panose="020B0604020202020204" pitchFamily="34" charset="0"/>
                    <a:cs typeface="Times New Roman" panose="02020603050405020304" pitchFamily="18" charset="0"/>
                  </a:rPr>
                  <a:t>(C-A) trend test for association). In this example, we demonstrate application of the C-A trend test for association between the esr1 rs1042717 SNP and baseline BMI for the </a:t>
                </a:r>
                <a:r>
                  <a:rPr lang="en-US" sz="1200" b="1" kern="1200" dirty="0" err="1">
                    <a:solidFill>
                      <a:schemeClr val="bg2"/>
                    </a:solidFill>
                    <a:latin typeface="Arial" panose="020B0604020202020204" pitchFamily="34" charset="0"/>
                    <a:cs typeface="Times New Roman" panose="02020603050405020304" pitchFamily="18" charset="0"/>
                  </a:rPr>
                  <a:t>FAMuSS</a:t>
                </a:r>
                <a:r>
                  <a:rPr lang="en-US" sz="1200" b="1" kern="1200" dirty="0">
                    <a:solidFill>
                      <a:schemeClr val="bg2"/>
                    </a:solidFill>
                    <a:latin typeface="Arial" panose="020B0604020202020204" pitchFamily="34" charset="0"/>
                    <a:cs typeface="Times New Roman" panose="02020603050405020304" pitchFamily="18" charset="0"/>
                  </a:rPr>
                  <a:t> data, where again BMI is defined as a binary indicator for BMI &gt; 25. This test statistic can be calculated using the independence test() function in the coin package in R. We begin by installing several packages required by the coin package, including splines, survival, stats4, </a:t>
                </a:r>
                <a:r>
                  <a:rPr lang="en-US" sz="1200" b="1" kern="1200" dirty="0" err="1">
                    <a:solidFill>
                      <a:schemeClr val="bg2"/>
                    </a:solidFill>
                    <a:latin typeface="Arial" panose="020B0604020202020204" pitchFamily="34" charset="0"/>
                    <a:cs typeface="Times New Roman" panose="02020603050405020304" pitchFamily="18" charset="0"/>
                  </a:rPr>
                  <a:t>mvtnorm</a:t>
                </a:r>
                <a:r>
                  <a:rPr lang="en-US" sz="1200" b="1" kern="1200" dirty="0">
                    <a:solidFill>
                      <a:schemeClr val="bg2"/>
                    </a:solidFill>
                    <a:latin typeface="Arial" panose="020B0604020202020204" pitchFamily="34" charset="0"/>
                    <a:cs typeface="Times New Roman" panose="02020603050405020304" pitchFamily="18" charset="0"/>
                  </a:rPr>
                  <a:t> and </a:t>
                </a:r>
                <a:r>
                  <a:rPr lang="en-US" sz="1200" b="1" kern="1200" dirty="0" err="1">
                    <a:solidFill>
                      <a:schemeClr val="bg2"/>
                    </a:solidFill>
                    <a:latin typeface="Arial" panose="020B0604020202020204" pitchFamily="34" charset="0"/>
                    <a:cs typeface="Times New Roman" panose="02020603050405020304" pitchFamily="18" charset="0"/>
                  </a:rPr>
                  <a:t>modeltools</a:t>
                </a:r>
                <a:r>
                  <a:rPr lang="en-US" sz="1200" b="1" kern="1200" dirty="0">
                    <a:solidFill>
                      <a:schemeClr val="bg2"/>
                    </a:solidFill>
                    <a:latin typeface="Arial" panose="020B0604020202020204" pitchFamily="34" charset="0"/>
                    <a:cs typeface="Times New Roman" panose="02020603050405020304" pitchFamily="18" charset="0"/>
                  </a:rPr>
                  <a:t>, and then call the coin package:</a:t>
                </a:r>
              </a:p>
              <a:p>
                <a:endParaRPr lang="en-ZA" sz="1800" b="1" kern="1200" dirty="0">
                  <a:solidFill>
                    <a:schemeClr val="bg2"/>
                  </a:solidFill>
                  <a:latin typeface="Arial" panose="020B0604020202020204" pitchFamily="34" charset="0"/>
                  <a:cs typeface="Times New Roman" panose="02020603050405020304" pitchFamily="18" charset="0"/>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203200" y="998920"/>
                <a:ext cx="8534400" cy="5627159"/>
              </a:xfrm>
              <a:blipFill>
                <a:blip r:embed="rId3"/>
                <a:stretch>
                  <a:fillRect l="-429" t="-650"/>
                </a:stretch>
              </a:blipFill>
            </p:spPr>
            <p:txBody>
              <a:bodyPr/>
              <a:lstStyle/>
              <a:p>
                <a:r>
                  <a:rPr lang="en-US">
                    <a:noFill/>
                  </a:rPr>
                  <a:t> </a:t>
                </a:r>
              </a:p>
            </p:txBody>
          </p:sp>
        </mc:Fallback>
      </mc:AlternateContent>
    </p:spTree>
    <p:extLst>
      <p:ext uri="{BB962C8B-B14F-4D97-AF65-F5344CB8AC3E}">
        <p14:creationId xmlns:p14="http://schemas.microsoft.com/office/powerpoint/2010/main" val="1680989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06400" y="90150"/>
            <a:ext cx="877996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Cochran-Armitage Trend Test (CATT)</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203200" y="998920"/>
            <a:ext cx="8534400" cy="5627159"/>
          </a:xfrm>
        </p:spPr>
        <p:txBody>
          <a:bodyPr/>
          <a:lstStyle/>
          <a:p>
            <a:pPr marL="0" indent="0">
              <a:buNone/>
            </a:pPr>
            <a:r>
              <a:rPr lang="en-ZA" sz="1600" i="1" dirty="0" err="1">
                <a:solidFill>
                  <a:srgbClr val="000000"/>
                </a:solidFill>
                <a:latin typeface="Arial" panose="020B0604020202020204" pitchFamily="34" charset="0"/>
                <a:cs typeface="Arial" panose="020B0604020202020204" pitchFamily="34" charset="0"/>
              </a:rPr>
              <a:t>install.packages</a:t>
            </a:r>
            <a:r>
              <a:rPr lang="en-ZA" sz="1600" i="1" dirty="0">
                <a:solidFill>
                  <a:srgbClr val="000000"/>
                </a:solidFill>
                <a:latin typeface="Arial" panose="020B0604020202020204" pitchFamily="34" charset="0"/>
                <a:cs typeface="Arial" panose="020B0604020202020204" pitchFamily="34" charset="0"/>
              </a:rPr>
              <a:t>("coin")</a:t>
            </a:r>
            <a:br>
              <a:rPr lang="en-ZA" sz="1600" i="1" dirty="0">
                <a:solidFill>
                  <a:srgbClr val="000000"/>
                </a:solidFill>
                <a:latin typeface="Arial" panose="020B0604020202020204" pitchFamily="34" charset="0"/>
                <a:cs typeface="Arial" panose="020B0604020202020204" pitchFamily="34" charset="0"/>
              </a:rPr>
            </a:br>
            <a:r>
              <a:rPr lang="en-ZA" sz="1600" i="1" dirty="0">
                <a:solidFill>
                  <a:srgbClr val="000000"/>
                </a:solidFill>
                <a:latin typeface="Arial" panose="020B0604020202020204" pitchFamily="34" charset="0"/>
                <a:cs typeface="Arial" panose="020B0604020202020204" pitchFamily="34" charset="0"/>
              </a:rPr>
              <a:t>library(coin</a:t>
            </a:r>
            <a:r>
              <a:rPr lang="en-ZA" sz="1600" i="1" dirty="0" smtClean="0">
                <a:solidFill>
                  <a:srgbClr val="000000"/>
                </a:solidFill>
                <a:latin typeface="Arial" panose="020B0604020202020204" pitchFamily="34" charset="0"/>
                <a:cs typeface="Arial" panose="020B0604020202020204" pitchFamily="34" charset="0"/>
              </a:rPr>
              <a:t>)</a:t>
            </a:r>
          </a:p>
          <a:p>
            <a:pPr marL="0" indent="0">
              <a:buNone/>
            </a:pPr>
            <a:r>
              <a:rPr lang="en-ZA" sz="1600" i="1" dirty="0">
                <a:solidFill>
                  <a:srgbClr val="000000"/>
                </a:solidFill>
                <a:latin typeface="Arial" panose="020B0604020202020204" pitchFamily="34" charset="0"/>
                <a:cs typeface="Arial" panose="020B0604020202020204" pitchFamily="34" charset="0"/>
              </a:rPr>
              <a:t/>
            </a:r>
            <a:br>
              <a:rPr lang="en-ZA" sz="1600" i="1" dirty="0">
                <a:solidFill>
                  <a:srgbClr val="000000"/>
                </a:solidFill>
                <a:latin typeface="Arial" panose="020B0604020202020204" pitchFamily="34" charset="0"/>
                <a:cs typeface="Arial" panose="020B0604020202020204" pitchFamily="34" charset="0"/>
              </a:rPr>
            </a:br>
            <a:r>
              <a:rPr lang="en-ZA" sz="1600" b="1" dirty="0">
                <a:solidFill>
                  <a:srgbClr val="000000"/>
                </a:solidFill>
                <a:latin typeface="Arial" panose="020B0604020202020204" pitchFamily="34" charset="0"/>
                <a:cs typeface="Arial" panose="020B0604020202020204" pitchFamily="34" charset="0"/>
              </a:rPr>
              <a:t>We then define our genotype and trait variables without needing to exclude</a:t>
            </a:r>
            <a:br>
              <a:rPr lang="en-ZA" sz="1600" b="1" dirty="0">
                <a:solidFill>
                  <a:srgbClr val="000000"/>
                </a:solidFill>
                <a:latin typeface="Arial" panose="020B0604020202020204" pitchFamily="34" charset="0"/>
                <a:cs typeface="Arial" panose="020B0604020202020204" pitchFamily="34" charset="0"/>
              </a:rPr>
            </a:br>
            <a:r>
              <a:rPr lang="en-ZA" sz="1600" b="1" dirty="0">
                <a:solidFill>
                  <a:srgbClr val="000000"/>
                </a:solidFill>
                <a:latin typeface="Arial" panose="020B0604020202020204" pitchFamily="34" charset="0"/>
                <a:cs typeface="Arial" panose="020B0604020202020204" pitchFamily="34" charset="0"/>
              </a:rPr>
              <a:t>observations with missing genotypes:</a:t>
            </a:r>
            <a:br>
              <a:rPr lang="en-ZA" sz="1600" b="1" dirty="0">
                <a:solidFill>
                  <a:srgbClr val="000000"/>
                </a:solidFill>
                <a:latin typeface="Arial" panose="020B0604020202020204" pitchFamily="34" charset="0"/>
                <a:cs typeface="Arial" panose="020B0604020202020204" pitchFamily="34" charset="0"/>
              </a:rPr>
            </a:br>
            <a:r>
              <a:rPr lang="en-ZA" sz="1600" i="1" dirty="0">
                <a:solidFill>
                  <a:srgbClr val="000000"/>
                </a:solidFill>
                <a:latin typeface="Arial" panose="020B0604020202020204" pitchFamily="34" charset="0"/>
                <a:cs typeface="Arial" panose="020B0604020202020204" pitchFamily="34" charset="0"/>
              </a:rPr>
              <a:t>attach(</a:t>
            </a:r>
            <a:r>
              <a:rPr lang="en-ZA" sz="1600" i="1" dirty="0" err="1">
                <a:solidFill>
                  <a:srgbClr val="000000"/>
                </a:solidFill>
                <a:latin typeface="Arial" panose="020B0604020202020204" pitchFamily="34" charset="0"/>
                <a:cs typeface="Arial" panose="020B0604020202020204" pitchFamily="34" charset="0"/>
              </a:rPr>
              <a:t>fms</a:t>
            </a:r>
            <a:r>
              <a:rPr lang="en-ZA" sz="1600" i="1" dirty="0">
                <a:solidFill>
                  <a:srgbClr val="000000"/>
                </a:solidFill>
                <a:latin typeface="Arial" panose="020B0604020202020204" pitchFamily="34" charset="0"/>
                <a:cs typeface="Arial" panose="020B0604020202020204" pitchFamily="34" charset="0"/>
              </a:rPr>
              <a:t>)</a:t>
            </a:r>
            <a:br>
              <a:rPr lang="en-ZA" sz="1600" i="1" dirty="0">
                <a:solidFill>
                  <a:srgbClr val="000000"/>
                </a:solidFill>
                <a:latin typeface="Arial" panose="020B0604020202020204" pitchFamily="34" charset="0"/>
                <a:cs typeface="Arial" panose="020B0604020202020204" pitchFamily="34" charset="0"/>
              </a:rPr>
            </a:br>
            <a:r>
              <a:rPr lang="en-ZA" sz="1600" i="1" dirty="0">
                <a:solidFill>
                  <a:srgbClr val="000000"/>
                </a:solidFill>
                <a:latin typeface="Arial" panose="020B0604020202020204" pitchFamily="34" charset="0"/>
                <a:cs typeface="Arial" panose="020B0604020202020204" pitchFamily="34" charset="0"/>
              </a:rPr>
              <a:t>Geno &lt;- esr1_rs1042717</a:t>
            </a:r>
            <a:br>
              <a:rPr lang="en-ZA" sz="1600" i="1" dirty="0">
                <a:solidFill>
                  <a:srgbClr val="000000"/>
                </a:solidFill>
                <a:latin typeface="Arial" panose="020B0604020202020204" pitchFamily="34" charset="0"/>
                <a:cs typeface="Arial" panose="020B0604020202020204" pitchFamily="34" charset="0"/>
              </a:rPr>
            </a:br>
            <a:r>
              <a:rPr lang="en-ZA" sz="1600" i="1" dirty="0">
                <a:solidFill>
                  <a:srgbClr val="000000"/>
                </a:solidFill>
                <a:latin typeface="Arial" panose="020B0604020202020204" pitchFamily="34" charset="0"/>
                <a:cs typeface="Arial" panose="020B0604020202020204" pitchFamily="34" charset="0"/>
              </a:rPr>
              <a:t>Trait &lt;- </a:t>
            </a:r>
            <a:r>
              <a:rPr lang="en-ZA" sz="1600" i="1" dirty="0" err="1">
                <a:solidFill>
                  <a:srgbClr val="000000"/>
                </a:solidFill>
                <a:latin typeface="Arial" panose="020B0604020202020204" pitchFamily="34" charset="0"/>
                <a:cs typeface="Arial" panose="020B0604020202020204" pitchFamily="34" charset="0"/>
              </a:rPr>
              <a:t>as.numeric</a:t>
            </a:r>
            <a:r>
              <a:rPr lang="en-ZA" sz="1600" i="1" dirty="0">
                <a:solidFill>
                  <a:srgbClr val="000000"/>
                </a:solidFill>
                <a:latin typeface="Arial" panose="020B0604020202020204" pitchFamily="34" charset="0"/>
                <a:cs typeface="Arial" panose="020B0604020202020204" pitchFamily="34" charset="0"/>
              </a:rPr>
              <a:t>(</a:t>
            </a:r>
            <a:r>
              <a:rPr lang="en-ZA" sz="1600" i="1" dirty="0" err="1">
                <a:solidFill>
                  <a:srgbClr val="000000"/>
                </a:solidFill>
                <a:latin typeface="Arial" panose="020B0604020202020204" pitchFamily="34" charset="0"/>
                <a:cs typeface="Arial" panose="020B0604020202020204" pitchFamily="34" charset="0"/>
              </a:rPr>
              <a:t>pre.BMI</a:t>
            </a:r>
            <a:r>
              <a:rPr lang="en-ZA" sz="1600" i="1" dirty="0">
                <a:solidFill>
                  <a:srgbClr val="000000"/>
                </a:solidFill>
                <a:latin typeface="Arial" panose="020B0604020202020204" pitchFamily="34" charset="0"/>
                <a:cs typeface="Arial" panose="020B0604020202020204" pitchFamily="34" charset="0"/>
              </a:rPr>
              <a:t>&gt;25</a:t>
            </a:r>
            <a:r>
              <a:rPr lang="en-ZA" sz="1600" i="1" dirty="0" smtClean="0">
                <a:solidFill>
                  <a:srgbClr val="000000"/>
                </a:solidFill>
                <a:latin typeface="Arial" panose="020B0604020202020204" pitchFamily="34" charset="0"/>
                <a:cs typeface="Arial" panose="020B0604020202020204" pitchFamily="34" charset="0"/>
              </a:rPr>
              <a:t>)</a:t>
            </a:r>
          </a:p>
          <a:p>
            <a:pPr marL="0" indent="0">
              <a:buNone/>
            </a:pPr>
            <a:r>
              <a:rPr lang="en-ZA" sz="1600" i="1" dirty="0">
                <a:solidFill>
                  <a:srgbClr val="000000"/>
                </a:solidFill>
                <a:latin typeface="Arial" panose="020B0604020202020204" pitchFamily="34" charset="0"/>
                <a:cs typeface="Arial" panose="020B0604020202020204" pitchFamily="34" charset="0"/>
              </a:rPr>
              <a:t/>
            </a:r>
            <a:br>
              <a:rPr lang="en-ZA" sz="1600" i="1" dirty="0">
                <a:solidFill>
                  <a:srgbClr val="000000"/>
                </a:solidFill>
                <a:latin typeface="Arial" panose="020B0604020202020204" pitchFamily="34" charset="0"/>
                <a:cs typeface="Arial" panose="020B0604020202020204" pitchFamily="34" charset="0"/>
              </a:rPr>
            </a:br>
            <a:r>
              <a:rPr lang="en-ZA" sz="1600" b="1" dirty="0">
                <a:solidFill>
                  <a:srgbClr val="000000"/>
                </a:solidFill>
                <a:latin typeface="Arial" panose="020B0604020202020204" pitchFamily="34" charset="0"/>
                <a:cs typeface="Arial" panose="020B0604020202020204" pitchFamily="34" charset="0"/>
              </a:rPr>
              <a:t>The </a:t>
            </a:r>
            <a:r>
              <a:rPr lang="en-ZA" sz="1600" i="1" dirty="0">
                <a:solidFill>
                  <a:srgbClr val="000000"/>
                </a:solidFill>
                <a:latin typeface="Arial" panose="020B0604020202020204" pitchFamily="34" charset="0"/>
                <a:cs typeface="Arial" panose="020B0604020202020204" pitchFamily="34" charset="0"/>
              </a:rPr>
              <a:t>independence test() function</a:t>
            </a:r>
            <a:r>
              <a:rPr lang="en-ZA" sz="1600" b="1" dirty="0">
                <a:solidFill>
                  <a:srgbClr val="000000"/>
                </a:solidFill>
                <a:latin typeface="Arial" panose="020B0604020202020204" pitchFamily="34" charset="0"/>
                <a:cs typeface="Arial" panose="020B0604020202020204" pitchFamily="34" charset="0"/>
              </a:rPr>
              <a:t>, with the option </a:t>
            </a:r>
            <a:r>
              <a:rPr lang="en-ZA" sz="1600" b="1" dirty="0" err="1">
                <a:solidFill>
                  <a:srgbClr val="000000"/>
                </a:solidFill>
                <a:latin typeface="Arial" panose="020B0604020202020204" pitchFamily="34" charset="0"/>
                <a:cs typeface="Arial" panose="020B0604020202020204" pitchFamily="34" charset="0"/>
              </a:rPr>
              <a:t>testat</a:t>
            </a:r>
            <a:r>
              <a:rPr lang="en-ZA" sz="1600" b="1" dirty="0">
                <a:solidFill>
                  <a:srgbClr val="000000"/>
                </a:solidFill>
                <a:latin typeface="Arial" panose="020B0604020202020204" pitchFamily="34" charset="0"/>
                <a:cs typeface="Arial" panose="020B0604020202020204" pitchFamily="34" charset="0"/>
              </a:rPr>
              <a:t>="quad" specified, can then be applied to conduct the C-A trend test. Here we use the</a:t>
            </a:r>
            <a:br>
              <a:rPr lang="en-ZA" sz="1600" b="1" dirty="0">
                <a:solidFill>
                  <a:srgbClr val="000000"/>
                </a:solidFill>
                <a:latin typeface="Arial" panose="020B0604020202020204" pitchFamily="34" charset="0"/>
                <a:cs typeface="Arial" panose="020B0604020202020204" pitchFamily="34" charset="0"/>
              </a:rPr>
            </a:br>
            <a:r>
              <a:rPr lang="en-ZA" sz="1600" b="1" dirty="0">
                <a:solidFill>
                  <a:srgbClr val="000000"/>
                </a:solidFill>
                <a:latin typeface="Arial" panose="020B0604020202020204" pitchFamily="34" charset="0"/>
                <a:cs typeface="Arial" panose="020B0604020202020204" pitchFamily="34" charset="0"/>
              </a:rPr>
              <a:t>ordered() function to specify that the genotypes are ordered. The scores</a:t>
            </a:r>
            <a:br>
              <a:rPr lang="en-ZA" sz="1600" b="1" dirty="0">
                <a:solidFill>
                  <a:srgbClr val="000000"/>
                </a:solidFill>
                <a:latin typeface="Arial" panose="020B0604020202020204" pitchFamily="34" charset="0"/>
                <a:cs typeface="Arial" panose="020B0604020202020204" pitchFamily="34" charset="0"/>
              </a:rPr>
            </a:br>
            <a:r>
              <a:rPr lang="en-ZA" sz="1600" b="1" dirty="0">
                <a:solidFill>
                  <a:srgbClr val="000000"/>
                </a:solidFill>
                <a:latin typeface="Arial" panose="020B0604020202020204" pitchFamily="34" charset="0"/>
                <a:cs typeface="Arial" panose="020B0604020202020204" pitchFamily="34" charset="0"/>
              </a:rPr>
              <a:t>option allows us to specify the relationship between different levels of our</a:t>
            </a:r>
            <a:br>
              <a:rPr lang="en-ZA" sz="1600" b="1" dirty="0">
                <a:solidFill>
                  <a:srgbClr val="000000"/>
                </a:solidFill>
                <a:latin typeface="Arial" panose="020B0604020202020204" pitchFamily="34" charset="0"/>
                <a:cs typeface="Arial" panose="020B0604020202020204" pitchFamily="34" charset="0"/>
              </a:rPr>
            </a:br>
            <a:r>
              <a:rPr lang="en-ZA" sz="1600" b="1" dirty="0">
                <a:solidFill>
                  <a:srgbClr val="000000"/>
                </a:solidFill>
                <a:latin typeface="Arial" panose="020B0604020202020204" pitchFamily="34" charset="0"/>
                <a:cs typeface="Arial" panose="020B0604020202020204" pitchFamily="34" charset="0"/>
              </a:rPr>
              <a:t>genotype</a:t>
            </a:r>
            <a:r>
              <a:rPr lang="en-ZA" sz="1600" b="1" dirty="0" smtClean="0">
                <a:solidFill>
                  <a:srgbClr val="000000"/>
                </a:solidFill>
                <a:latin typeface="Arial" panose="020B0604020202020204" pitchFamily="34" charset="0"/>
                <a:cs typeface="Arial" panose="020B0604020202020204" pitchFamily="34" charset="0"/>
              </a:rPr>
              <a:t>:</a:t>
            </a:r>
          </a:p>
          <a:p>
            <a:pPr marL="0" indent="0">
              <a:buNone/>
            </a:pPr>
            <a:r>
              <a:rPr lang="en-ZA" sz="1600" b="1" i="1" dirty="0">
                <a:solidFill>
                  <a:srgbClr val="000000"/>
                </a:solidFill>
                <a:latin typeface="Arial" panose="020B0604020202020204" pitchFamily="34" charset="0"/>
                <a:cs typeface="Arial" panose="020B0604020202020204" pitchFamily="34" charset="0"/>
              </a:rPr>
              <a:t/>
            </a:r>
            <a:br>
              <a:rPr lang="en-ZA" sz="1600" b="1" i="1" dirty="0">
                <a:solidFill>
                  <a:srgbClr val="000000"/>
                </a:solidFill>
                <a:latin typeface="Arial" panose="020B0604020202020204" pitchFamily="34" charset="0"/>
                <a:cs typeface="Arial" panose="020B0604020202020204" pitchFamily="34" charset="0"/>
              </a:rPr>
            </a:br>
            <a:r>
              <a:rPr lang="en-ZA" sz="1600" i="1" dirty="0" err="1">
                <a:solidFill>
                  <a:srgbClr val="000000"/>
                </a:solidFill>
                <a:latin typeface="Arial" panose="020B0604020202020204" pitchFamily="34" charset="0"/>
                <a:cs typeface="Arial" panose="020B0604020202020204" pitchFamily="34" charset="0"/>
              </a:rPr>
              <a:t>GenoOrd</a:t>
            </a:r>
            <a:r>
              <a:rPr lang="en-ZA" sz="1600" i="1" dirty="0">
                <a:solidFill>
                  <a:srgbClr val="000000"/>
                </a:solidFill>
                <a:latin typeface="Arial" panose="020B0604020202020204" pitchFamily="34" charset="0"/>
                <a:cs typeface="Arial" panose="020B0604020202020204" pitchFamily="34" charset="0"/>
              </a:rPr>
              <a:t> &lt;- ordered(Geno)</a:t>
            </a:r>
            <a:br>
              <a:rPr lang="en-ZA" sz="1600" i="1" dirty="0">
                <a:solidFill>
                  <a:srgbClr val="000000"/>
                </a:solidFill>
                <a:latin typeface="Arial" panose="020B0604020202020204" pitchFamily="34" charset="0"/>
                <a:cs typeface="Arial" panose="020B0604020202020204" pitchFamily="34" charset="0"/>
              </a:rPr>
            </a:br>
            <a:r>
              <a:rPr lang="en-ZA" sz="1600" i="1" dirty="0" err="1">
                <a:solidFill>
                  <a:srgbClr val="000000"/>
                </a:solidFill>
                <a:latin typeface="Arial" panose="020B0604020202020204" pitchFamily="34" charset="0"/>
                <a:cs typeface="Arial" panose="020B0604020202020204" pitchFamily="34" charset="0"/>
              </a:rPr>
              <a:t>independence_test</a:t>
            </a:r>
            <a:r>
              <a:rPr lang="en-ZA" sz="1600" i="1" dirty="0">
                <a:solidFill>
                  <a:srgbClr val="000000"/>
                </a:solidFill>
                <a:latin typeface="Arial" panose="020B0604020202020204" pitchFamily="34" charset="0"/>
                <a:cs typeface="Arial" panose="020B0604020202020204" pitchFamily="34" charset="0"/>
              </a:rPr>
              <a:t>(</a:t>
            </a:r>
            <a:r>
              <a:rPr lang="en-ZA" sz="1600" i="1" dirty="0" err="1">
                <a:solidFill>
                  <a:srgbClr val="000000"/>
                </a:solidFill>
                <a:latin typeface="Arial" panose="020B0604020202020204" pitchFamily="34" charset="0"/>
                <a:cs typeface="Arial" panose="020B0604020202020204" pitchFamily="34" charset="0"/>
              </a:rPr>
              <a:t>Trait~GenoOrd,teststat</a:t>
            </a:r>
            <a:r>
              <a:rPr lang="en-ZA" sz="1600" i="1" dirty="0">
                <a:solidFill>
                  <a:srgbClr val="000000"/>
                </a:solidFill>
                <a:latin typeface="Arial" panose="020B0604020202020204" pitchFamily="34" charset="0"/>
                <a:cs typeface="Arial" panose="020B0604020202020204" pitchFamily="34" charset="0"/>
              </a:rPr>
              <a:t>="quad", scores=list(</a:t>
            </a:r>
            <a:r>
              <a:rPr lang="en-ZA" sz="1600" i="1" dirty="0" err="1">
                <a:solidFill>
                  <a:srgbClr val="000000"/>
                </a:solidFill>
                <a:latin typeface="Arial" panose="020B0604020202020204" pitchFamily="34" charset="0"/>
                <a:cs typeface="Arial" panose="020B0604020202020204" pitchFamily="34" charset="0"/>
              </a:rPr>
              <a:t>GenoOrd</a:t>
            </a:r>
            <a:r>
              <a:rPr lang="en-ZA" sz="1600" i="1" dirty="0">
                <a:solidFill>
                  <a:srgbClr val="000000"/>
                </a:solidFill>
                <a:latin typeface="Arial" panose="020B0604020202020204" pitchFamily="34" charset="0"/>
                <a:cs typeface="Arial" panose="020B0604020202020204" pitchFamily="34" charset="0"/>
              </a:rPr>
              <a:t>=c(0,1,2)))</a:t>
            </a:r>
            <a:br>
              <a:rPr lang="en-ZA" sz="1600" i="1" dirty="0">
                <a:solidFill>
                  <a:srgbClr val="000000"/>
                </a:solidFill>
                <a:latin typeface="Arial" panose="020B0604020202020204" pitchFamily="34" charset="0"/>
                <a:cs typeface="Arial" panose="020B0604020202020204" pitchFamily="34" charset="0"/>
              </a:rPr>
            </a:br>
            <a:r>
              <a:rPr lang="en-ZA" sz="1600" i="1" dirty="0" smtClean="0">
                <a:solidFill>
                  <a:srgbClr val="000000"/>
                </a:solidFill>
                <a:latin typeface="Arial" panose="020B0604020202020204" pitchFamily="34" charset="0"/>
                <a:cs typeface="Arial" panose="020B0604020202020204" pitchFamily="34" charset="0"/>
              </a:rPr>
              <a:t>#</a:t>
            </a:r>
            <a:r>
              <a:rPr lang="en-ZA" sz="1600" dirty="0" smtClean="0">
                <a:solidFill>
                  <a:srgbClr val="000000"/>
                </a:solidFill>
                <a:latin typeface="Arial" panose="020B0604020202020204" pitchFamily="34" charset="0"/>
                <a:cs typeface="Arial" panose="020B0604020202020204" pitchFamily="34" charset="0"/>
              </a:rPr>
              <a:t>Asymptotic </a:t>
            </a:r>
            <a:r>
              <a:rPr lang="en-ZA" sz="1600" dirty="0">
                <a:solidFill>
                  <a:srgbClr val="000000"/>
                </a:solidFill>
                <a:latin typeface="Arial" panose="020B0604020202020204" pitchFamily="34" charset="0"/>
                <a:cs typeface="Arial" panose="020B0604020202020204" pitchFamily="34" charset="0"/>
              </a:rPr>
              <a:t>General Independence Test</a:t>
            </a:r>
            <a:br>
              <a:rPr lang="en-ZA" sz="1600" dirty="0">
                <a:solidFill>
                  <a:srgbClr val="000000"/>
                </a:solidFill>
                <a:latin typeface="Arial" panose="020B0604020202020204" pitchFamily="34" charset="0"/>
                <a:cs typeface="Arial" panose="020B0604020202020204" pitchFamily="34" charset="0"/>
              </a:rPr>
            </a:br>
            <a:r>
              <a:rPr lang="en-ZA" sz="1600" dirty="0" smtClean="0">
                <a:solidFill>
                  <a:srgbClr val="000000"/>
                </a:solidFill>
                <a:latin typeface="Arial" panose="020B0604020202020204" pitchFamily="34" charset="0"/>
                <a:cs typeface="Arial" panose="020B0604020202020204" pitchFamily="34" charset="0"/>
              </a:rPr>
              <a:t>#</a:t>
            </a:r>
            <a:r>
              <a:rPr lang="en-ZA" sz="1600" i="1" dirty="0" smtClean="0">
                <a:solidFill>
                  <a:srgbClr val="000000"/>
                </a:solidFill>
                <a:latin typeface="Arial" panose="020B0604020202020204" pitchFamily="34" charset="0"/>
                <a:cs typeface="Arial" panose="020B0604020202020204" pitchFamily="34" charset="0"/>
              </a:rPr>
              <a:t>data</a:t>
            </a:r>
            <a:r>
              <a:rPr lang="en-ZA" sz="1600" i="1" dirty="0">
                <a:solidFill>
                  <a:srgbClr val="000000"/>
                </a:solidFill>
                <a:latin typeface="Arial" panose="020B0604020202020204" pitchFamily="34" charset="0"/>
                <a:cs typeface="Arial" panose="020B0604020202020204" pitchFamily="34" charset="0"/>
              </a:rPr>
              <a:t>: Trait by </a:t>
            </a:r>
            <a:r>
              <a:rPr lang="en-ZA" sz="1600" i="1" dirty="0" err="1">
                <a:solidFill>
                  <a:srgbClr val="000000"/>
                </a:solidFill>
                <a:latin typeface="Arial" panose="020B0604020202020204" pitchFamily="34" charset="0"/>
                <a:cs typeface="Arial" panose="020B0604020202020204" pitchFamily="34" charset="0"/>
              </a:rPr>
              <a:t>Geno.or</a:t>
            </a:r>
            <a:r>
              <a:rPr lang="en-ZA" sz="1600" i="1" dirty="0">
                <a:solidFill>
                  <a:srgbClr val="000000"/>
                </a:solidFill>
                <a:latin typeface="Arial" panose="020B0604020202020204" pitchFamily="34" charset="0"/>
                <a:cs typeface="Arial" panose="020B0604020202020204" pitchFamily="34" charset="0"/>
              </a:rPr>
              <a:t> (AA &lt; GA &lt; GG)</a:t>
            </a:r>
            <a:br>
              <a:rPr lang="en-ZA" sz="1600" i="1" dirty="0">
                <a:solidFill>
                  <a:srgbClr val="000000"/>
                </a:solidFill>
                <a:latin typeface="Arial" panose="020B0604020202020204" pitchFamily="34" charset="0"/>
                <a:cs typeface="Arial" panose="020B0604020202020204" pitchFamily="34" charset="0"/>
              </a:rPr>
            </a:br>
            <a:r>
              <a:rPr lang="en-ZA" sz="1600" i="1" dirty="0">
                <a:solidFill>
                  <a:srgbClr val="000000"/>
                </a:solidFill>
                <a:latin typeface="Arial" panose="020B0604020202020204" pitchFamily="34" charset="0"/>
                <a:cs typeface="Arial" panose="020B0604020202020204" pitchFamily="34" charset="0"/>
              </a:rPr>
              <a:t>chi-squared = 4.4921, df = 1, p-value = 0.03405</a:t>
            </a:r>
          </a:p>
        </p:txBody>
      </p:sp>
    </p:spTree>
    <p:extLst>
      <p:ext uri="{BB962C8B-B14F-4D97-AF65-F5344CB8AC3E}">
        <p14:creationId xmlns:p14="http://schemas.microsoft.com/office/powerpoint/2010/main" val="19498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447800" y="76200"/>
            <a:ext cx="547137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Sample Size Calculation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70AFBE37-40B8-4179-A16A-CBC4DD5892C3}"/>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For the calculation of required sample sizes, the different causal models leading to genetic association have to be taken into account. </a:t>
                </a:r>
              </a:p>
              <a:p>
                <a:r>
                  <a:rPr lang="en-ZA" sz="1800" b="1" kern="1200" dirty="0">
                    <a:solidFill>
                      <a:schemeClr val="bg2"/>
                    </a:solidFill>
                    <a:latin typeface="Arial" panose="020B0604020202020204" pitchFamily="34" charset="0"/>
                    <a:cs typeface="Times New Roman" panose="02020603050405020304" pitchFamily="18" charset="0"/>
                  </a:rPr>
                  <a:t>Specifically, in the case of direct association, we assume that the genetic marker under investigation is identical to the disease locus and that the risk allele at the marker is directly causative for the disease status. </a:t>
                </a:r>
              </a:p>
              <a:p>
                <a:r>
                  <a:rPr lang="en-ZA" sz="1800" b="1" kern="1200" dirty="0">
                    <a:solidFill>
                      <a:schemeClr val="bg2"/>
                    </a:solidFill>
                    <a:latin typeface="Arial" panose="020B0604020202020204" pitchFamily="34" charset="0"/>
                    <a:cs typeface="Times New Roman" panose="02020603050405020304" pitchFamily="18" charset="0"/>
                  </a:rPr>
                  <a:t>In this situation, the sample size calculation is straightforward, as usual formulae can be utilized.</a:t>
                </a:r>
              </a:p>
              <a:p>
                <a:r>
                  <a:rPr lang="en-ZA" sz="1800" b="1" kern="1200" dirty="0">
                    <a:solidFill>
                      <a:schemeClr val="bg2"/>
                    </a:solidFill>
                    <a:latin typeface="Arial" panose="020B0604020202020204" pitchFamily="34" charset="0"/>
                    <a:cs typeface="Times New Roman" panose="02020603050405020304" pitchFamily="18" charset="0"/>
                  </a:rPr>
                  <a:t>The required sample size to test for association is approximately given by</a:t>
                </a:r>
              </a:p>
              <a:p>
                <a:pPr marL="0" indent="0">
                  <a:buNone/>
                </a:pPr>
                <a14:m>
                  <m:oMathPara xmlns:m="http://schemas.openxmlformats.org/officeDocument/2006/math">
                    <m:oMathParaPr>
                      <m:jc m:val="centerGroup"/>
                    </m:oMathParaPr>
                    <m:oMath xmlns:m="http://schemas.openxmlformats.org/officeDocument/2006/math">
                      <m:r>
                        <a:rPr lang="en-ZA" sz="1800" b="1" kern="1200">
                          <a:solidFill>
                            <a:schemeClr val="bg2"/>
                          </a:solidFill>
                          <a:latin typeface="Cambria Math" panose="02040503050406030204" pitchFamily="18" charset="0"/>
                        </a:rPr>
                        <m:t>𝑛</m:t>
                      </m:r>
                      <m:r>
                        <a:rPr lang="en-ZA" sz="1800" b="1" kern="1200">
                          <a:solidFill>
                            <a:schemeClr val="bg2"/>
                          </a:solidFill>
                          <a:latin typeface="Cambria Math" panose="02040503050406030204" pitchFamily="18" charset="0"/>
                        </a:rPr>
                        <m:t> &gt;2 . </m:t>
                      </m:r>
                      <m:f>
                        <m:fPr>
                          <m:ctrlPr>
                            <a:rPr lang="en-ZA" sz="1800" b="1" i="1" kern="1200">
                              <a:solidFill>
                                <a:schemeClr val="bg2"/>
                              </a:solidFill>
                              <a:latin typeface="Cambria Math" panose="02040503050406030204" pitchFamily="18" charset="0"/>
                            </a:rPr>
                          </m:ctrlPr>
                        </m:fPr>
                        <m:num>
                          <m:sSup>
                            <m:sSupPr>
                              <m:ctrlPr>
                                <a:rPr lang="en-ZA" sz="1800" b="1" i="1" kern="1200">
                                  <a:solidFill>
                                    <a:schemeClr val="bg2"/>
                                  </a:solidFill>
                                  <a:latin typeface="Cambria Math" panose="02040503050406030204" pitchFamily="18" charset="0"/>
                                </a:rPr>
                              </m:ctrlPr>
                            </m:sSupPr>
                            <m:e>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𝑧</m:t>
                                      </m:r>
                                    </m:e>
                                    <m:sub>
                                      <m:r>
                                        <a:rPr lang="en-ZA" sz="1800" b="1" kern="1200">
                                          <a:solidFill>
                                            <a:schemeClr val="bg2"/>
                                          </a:solidFill>
                                          <a:latin typeface="Cambria Math" panose="02040503050406030204" pitchFamily="18" charset="0"/>
                                        </a:rPr>
                                        <m:t>1</m:t>
                                      </m:r>
                                    </m:sub>
                                  </m:sSub>
                                  <m:r>
                                    <a:rPr lang="en-ZA" sz="1800" b="1" kern="1200">
                                      <a:solidFill>
                                        <a:schemeClr val="bg2"/>
                                      </a:solidFill>
                                      <a:latin typeface="Cambria Math" panose="02040503050406030204" pitchFamily="18" charset="0"/>
                                    </a:rPr>
                                    <m:t>−</m:t>
                                  </m:r>
                                  <m:f>
                                    <m:fPr>
                                      <m:type m:val="lin"/>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𝛼</m:t>
                                      </m:r>
                                    </m:num>
                                    <m:den>
                                      <m:r>
                                        <a:rPr lang="en-ZA" sz="1800" b="1" kern="1200">
                                          <a:solidFill>
                                            <a:schemeClr val="bg2"/>
                                          </a:solidFill>
                                          <a:latin typeface="Cambria Math" panose="02040503050406030204" pitchFamily="18" charset="0"/>
                                        </a:rPr>
                                        <m:t>2</m:t>
                                      </m:r>
                                    </m:den>
                                  </m:f>
                                  <m:rad>
                                    <m:radPr>
                                      <m:degHide m:val="on"/>
                                      <m:ctrlPr>
                                        <a:rPr lang="en-ZA" sz="1800" b="1" i="1" kern="1200">
                                          <a:solidFill>
                                            <a:schemeClr val="bg2"/>
                                          </a:solidFill>
                                          <a:latin typeface="Cambria Math" panose="02040503050406030204" pitchFamily="18" charset="0"/>
                                        </a:rPr>
                                      </m:ctrlPr>
                                    </m:radPr>
                                    <m:deg/>
                                    <m:e>
                                      <m:r>
                                        <a:rPr lang="en-ZA" sz="1800" b="1" kern="1200">
                                          <a:solidFill>
                                            <a:schemeClr val="bg2"/>
                                          </a:solidFill>
                                          <a:latin typeface="Cambria Math" panose="02040503050406030204" pitchFamily="18" charset="0"/>
                                        </a:rPr>
                                        <m:t>2</m:t>
                                      </m:r>
                                      <m:acc>
                                        <m:accPr>
                                          <m:chr m:val="̅"/>
                                          <m:ctrlPr>
                                            <a:rPr lang="en-ZA" sz="1800" b="1" i="1" kern="1200">
                                              <a:solidFill>
                                                <a:schemeClr val="bg2"/>
                                              </a:solidFill>
                                              <a:latin typeface="Cambria Math" panose="02040503050406030204" pitchFamily="18" charset="0"/>
                                            </a:rPr>
                                          </m:ctrlPr>
                                        </m:accPr>
                                        <m:e>
                                          <m:r>
                                            <a:rPr lang="en-ZA" sz="1800" b="1" kern="1200">
                                              <a:solidFill>
                                                <a:schemeClr val="bg2"/>
                                              </a:solidFill>
                                              <a:latin typeface="Cambria Math" panose="02040503050406030204" pitchFamily="18" charset="0"/>
                                            </a:rPr>
                                            <m:t>𝑝</m:t>
                                          </m:r>
                                        </m:e>
                                      </m:acc>
                                      <m:d>
                                        <m:dPr>
                                          <m:ctrlPr>
                                            <a:rPr lang="en-ZA" sz="1800" b="1" i="1" kern="1200">
                                              <a:solidFill>
                                                <a:schemeClr val="bg2"/>
                                              </a:solidFill>
                                              <a:latin typeface="Cambria Math" panose="02040503050406030204" pitchFamily="18" charset="0"/>
                                            </a:rPr>
                                          </m:ctrlPr>
                                        </m:dPr>
                                        <m:e>
                                          <m:r>
                                            <a:rPr lang="en-ZA" sz="1800" b="1" kern="1200">
                                              <a:solidFill>
                                                <a:schemeClr val="bg2"/>
                                              </a:solidFill>
                                              <a:latin typeface="Cambria Math" panose="02040503050406030204" pitchFamily="18" charset="0"/>
                                            </a:rPr>
                                            <m:t>1−</m:t>
                                          </m:r>
                                          <m:acc>
                                            <m:accPr>
                                              <m:chr m:val="̅"/>
                                              <m:ctrlPr>
                                                <a:rPr lang="en-ZA" sz="1800" b="1" i="1" kern="1200">
                                                  <a:solidFill>
                                                    <a:schemeClr val="bg2"/>
                                                  </a:solidFill>
                                                  <a:latin typeface="Cambria Math" panose="02040503050406030204" pitchFamily="18" charset="0"/>
                                                </a:rPr>
                                              </m:ctrlPr>
                                            </m:accPr>
                                            <m:e>
                                              <m:r>
                                                <a:rPr lang="en-ZA" sz="1800" b="1" kern="1200">
                                                  <a:solidFill>
                                                    <a:schemeClr val="bg2"/>
                                                  </a:solidFill>
                                                  <a:latin typeface="Cambria Math" panose="02040503050406030204" pitchFamily="18" charset="0"/>
                                                </a:rPr>
                                                <m:t>𝑝</m:t>
                                              </m:r>
                                            </m:e>
                                          </m:acc>
                                        </m:e>
                                      </m:d>
                                    </m:e>
                                  </m:rad>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𝑧</m:t>
                                      </m:r>
                                    </m:e>
                                    <m:sub>
                                      <m:r>
                                        <a:rPr lang="en-ZA" sz="1800" b="1" kern="1200">
                                          <a:solidFill>
                                            <a:schemeClr val="bg2"/>
                                          </a:solidFill>
                                          <a:latin typeface="Cambria Math" panose="02040503050406030204" pitchFamily="18" charset="0"/>
                                        </a:rPr>
                                        <m:t>1</m:t>
                                      </m:r>
                                    </m:sub>
                                  </m:sSub>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𝛽</m:t>
                                  </m:r>
                                  <m:rad>
                                    <m:radPr>
                                      <m:degHide m:val="on"/>
                                      <m:ctrlPr>
                                        <a:rPr lang="en-ZA" sz="1800" b="1" i="1" kern="1200">
                                          <a:solidFill>
                                            <a:schemeClr val="bg2"/>
                                          </a:solidFill>
                                          <a:latin typeface="Cambria Math" panose="02040503050406030204" pitchFamily="18" charset="0"/>
                                        </a:rPr>
                                      </m:ctrlPr>
                                    </m:radPr>
                                    <m:deg/>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𝑎</m:t>
                                          </m:r>
                                        </m:sub>
                                      </m:sSub>
                                      <m:d>
                                        <m:dPr>
                                          <m:ctrlPr>
                                            <a:rPr lang="en-ZA" sz="1800" b="1" i="1" kern="1200">
                                              <a:solidFill>
                                                <a:schemeClr val="bg2"/>
                                              </a:solidFill>
                                              <a:latin typeface="Cambria Math" panose="02040503050406030204" pitchFamily="18" charset="0"/>
                                            </a:rPr>
                                          </m:ctrlPr>
                                        </m:dPr>
                                        <m:e>
                                          <m:r>
                                            <a:rPr lang="en-ZA" sz="1800" b="1" kern="1200">
                                              <a:solidFill>
                                                <a:schemeClr val="bg2"/>
                                              </a:solidFill>
                                              <a:latin typeface="Cambria Math" panose="02040503050406030204" pitchFamily="18" charset="0"/>
                                            </a:rPr>
                                            <m:t>1−</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𝑎</m:t>
                                              </m:r>
                                            </m:sub>
                                          </m:sSub>
                                        </m:e>
                                      </m:d>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r>
                                        <a:rPr lang="en-ZA" sz="1800" b="1" kern="1200">
                                          <a:solidFill>
                                            <a:schemeClr val="bg2"/>
                                          </a:solidFill>
                                          <a:latin typeface="Cambria Math" panose="02040503050406030204" pitchFamily="18" charset="0"/>
                                        </a:rPr>
                                        <m:t>(1−</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r>
                                        <a:rPr lang="en-ZA" sz="1800" b="1" kern="1200">
                                          <a:solidFill>
                                            <a:schemeClr val="bg2"/>
                                          </a:solidFill>
                                          <a:latin typeface="Cambria Math" panose="02040503050406030204" pitchFamily="18" charset="0"/>
                                        </a:rPr>
                                        <m:t>)</m:t>
                                      </m:r>
                                    </m:e>
                                  </m:rad>
                                </m:e>
                              </m:d>
                            </m:e>
                            <m:sup>
                              <m:r>
                                <a:rPr lang="en-ZA" sz="1800" b="1" kern="1200">
                                  <a:solidFill>
                                    <a:schemeClr val="bg2"/>
                                  </a:solidFill>
                                  <a:latin typeface="Cambria Math" panose="02040503050406030204" pitchFamily="18" charset="0"/>
                                </a:rPr>
                                <m:t>2</m:t>
                              </m:r>
                            </m:sup>
                          </m:sSup>
                        </m:num>
                        <m:den>
                          <m:sSup>
                            <m:sSupPr>
                              <m:ctrlPr>
                                <a:rPr lang="en-ZA" sz="1800" b="1" i="1" kern="1200">
                                  <a:solidFill>
                                    <a:schemeClr val="bg2"/>
                                  </a:solidFill>
                                  <a:latin typeface="Cambria Math" panose="02040503050406030204" pitchFamily="18" charset="0"/>
                                </a:rPr>
                              </m:ctrlPr>
                            </m:sSupPr>
                            <m:e>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𝑎</m:t>
                                      </m:r>
                                    </m:sub>
                                  </m:sSub>
                                  <m:r>
                                    <a:rPr lang="en-ZA" sz="1800" b="1" kern="1200">
                                      <a:solidFill>
                                        <a:schemeClr val="bg2"/>
                                      </a:solidFill>
                                      <a:latin typeface="Cambria Math" panose="02040503050406030204" pitchFamily="18" charset="0"/>
                                    </a:rPr>
                                    <m:t>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e>
                              </m:d>
                            </m:e>
                            <m:sup>
                              <m:r>
                                <a:rPr lang="en-ZA" sz="1800" b="1" kern="1200">
                                  <a:solidFill>
                                    <a:schemeClr val="bg2"/>
                                  </a:solidFill>
                                  <a:latin typeface="Cambria Math" panose="02040503050406030204" pitchFamily="18" charset="0"/>
                                </a:rPr>
                                <m:t>2</m:t>
                              </m:r>
                            </m:sup>
                          </m:sSup>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With the allele frequency in the affected cases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𝑎</m:t>
                        </m:r>
                      </m:sub>
                    </m:sSub>
                  </m:oMath>
                </a14:m>
                <a:r>
                  <a:rPr lang="en-ZA" sz="1800" b="1" kern="1200" dirty="0">
                    <a:solidFill>
                      <a:schemeClr val="bg2"/>
                    </a:solidFill>
                    <a:latin typeface="Arial" panose="020B0604020202020204" pitchFamily="34" charset="0"/>
                    <a:cs typeface="Times New Roman" panose="02020603050405020304" pitchFamily="18" charset="0"/>
                  </a:rPr>
                  <a:t> and the mean allele frequency </a:t>
                </a:r>
                <a14:m>
                  <m:oMath xmlns:m="http://schemas.openxmlformats.org/officeDocument/2006/math">
                    <m:acc>
                      <m:accPr>
                        <m:chr m:val="̅"/>
                        <m:ctrlPr>
                          <a:rPr lang="en-ZA" sz="1800" b="1" i="1" kern="1200">
                            <a:solidFill>
                              <a:schemeClr val="bg2"/>
                            </a:solidFill>
                            <a:latin typeface="Cambria Math" panose="02040503050406030204" pitchFamily="18" charset="0"/>
                          </a:rPr>
                        </m:ctrlPr>
                      </m:accPr>
                      <m:e>
                        <m:r>
                          <a:rPr lang="en-ZA" sz="1800" b="1" kern="1200">
                            <a:solidFill>
                              <a:schemeClr val="bg2"/>
                            </a:solidFill>
                            <a:latin typeface="Cambria Math" panose="02040503050406030204" pitchFamily="18" charset="0"/>
                          </a:rPr>
                          <m:t>𝑝</m:t>
                        </m:r>
                      </m:e>
                    </m:acc>
                  </m:oMath>
                </a14:m>
                <a:r>
                  <a:rPr lang="en-ZA" sz="1800" b="1" kern="1200" dirty="0">
                    <a:solidFill>
                      <a:schemeClr val="bg2"/>
                    </a:solidFill>
                    <a:latin typeface="Arial" panose="020B0604020202020204" pitchFamily="34" charset="0"/>
                    <a:cs typeface="Times New Roman" panose="02020603050405020304" pitchFamily="18" charset="0"/>
                  </a:rPr>
                  <a:t>.</a:t>
                </a:r>
              </a:p>
              <a:p>
                <a:pPr marL="0" indent="0">
                  <a:buNone/>
                </a:pPr>
                <a:r>
                  <a:rPr lang="en-ZA" sz="1800" b="1" kern="1200" dirty="0">
                    <a:solidFill>
                      <a:schemeClr val="bg2"/>
                    </a:solidFill>
                  </a:rPr>
                  <a:t>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𝑎</m:t>
                        </m:r>
                      </m:sub>
                    </m:sSub>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r>
                          <a:rPr lang="en-ZA" sz="1800" b="1" kern="1200">
                            <a:solidFill>
                              <a:schemeClr val="bg2"/>
                            </a:solidFill>
                            <a:latin typeface="Cambria Math" panose="02040503050406030204" pitchFamily="18" charset="0"/>
                          </a:rPr>
                          <m:t> .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𝑶𝑹</m:t>
                            </m:r>
                          </m:e>
                          <m:sub>
                            <m:r>
                              <a:rPr lang="en-ZA" sz="1800" b="1" kern="1200">
                                <a:solidFill>
                                  <a:schemeClr val="bg2"/>
                                </a:solidFill>
                                <a:latin typeface="Cambria Math" panose="02040503050406030204" pitchFamily="18" charset="0"/>
                              </a:rPr>
                              <m:t>𝐴</m:t>
                            </m:r>
                          </m:sub>
                        </m:sSub>
                      </m:num>
                      <m:den>
                        <m:r>
                          <a:rPr lang="en-ZA" sz="1800" b="1" kern="1200">
                            <a:solidFill>
                              <a:schemeClr val="bg2"/>
                            </a:solidFill>
                            <a:latin typeface="Cambria Math" panose="02040503050406030204" pitchFamily="18" charset="0"/>
                          </a:rPr>
                          <m:t>1+</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r>
                          <a:rPr lang="en-ZA" sz="1800" b="1" kern="1200">
                            <a:solidFill>
                              <a:schemeClr val="bg2"/>
                            </a:solidFill>
                            <a:latin typeface="Cambria Math" panose="02040503050406030204" pitchFamily="18" charset="0"/>
                          </a:rPr>
                          <m:t> .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𝑶𝑹</m:t>
                            </m:r>
                          </m:e>
                          <m:sub>
                            <m:r>
                              <a:rPr lang="en-ZA" sz="1800" b="1" kern="1200">
                                <a:solidFill>
                                  <a:schemeClr val="bg2"/>
                                </a:solidFill>
                                <a:latin typeface="Cambria Math" panose="02040503050406030204" pitchFamily="18" charset="0"/>
                              </a:rPr>
                              <m:t>𝐴</m:t>
                            </m:r>
                          </m:sub>
                        </m:sSub>
                        <m:r>
                          <a:rPr lang="en-ZA" sz="1800" b="1" kern="1200">
                            <a:solidFill>
                              <a:schemeClr val="bg2"/>
                            </a:solidFill>
                            <a:latin typeface="Cambria Math" panose="02040503050406030204" pitchFamily="18" charset="0"/>
                          </a:rPr>
                          <m:t> −1)</m:t>
                        </m:r>
                      </m:den>
                    </m:f>
                  </m:oMath>
                </a14:m>
                <a:r>
                  <a:rPr lang="en-ZA" sz="18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acc>
                      <m:accPr>
                        <m:chr m:val="̅"/>
                        <m:ctrlPr>
                          <a:rPr lang="en-ZA" sz="1800" b="1" i="1" kern="1200">
                            <a:solidFill>
                              <a:schemeClr val="bg2"/>
                            </a:solidFill>
                            <a:latin typeface="Cambria Math" panose="02040503050406030204" pitchFamily="18" charset="0"/>
                          </a:rPr>
                        </m:ctrlPr>
                      </m:accPr>
                      <m:e>
                        <m:r>
                          <a:rPr lang="en-ZA" sz="1800" b="1" kern="1200">
                            <a:solidFill>
                              <a:schemeClr val="bg2"/>
                            </a:solidFill>
                            <a:latin typeface="Cambria Math" panose="02040503050406030204" pitchFamily="18" charset="0"/>
                          </a:rPr>
                          <m:t>𝑝</m:t>
                        </m:r>
                      </m:e>
                    </m:acc>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1</m:t>
                        </m:r>
                      </m:num>
                      <m:den>
                        <m:r>
                          <a:rPr lang="en-ZA" sz="1800" b="1" kern="1200">
                            <a:solidFill>
                              <a:schemeClr val="bg2"/>
                            </a:solidFill>
                            <a:latin typeface="Cambria Math" panose="02040503050406030204" pitchFamily="18" charset="0"/>
                          </a:rPr>
                          <m:t>2</m:t>
                        </m:r>
                      </m:den>
                    </m:f>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𝑎</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e>
                    </m:d>
                  </m:oMath>
                </a14:m>
                <a:endParaRPr lang="en-ZA" sz="1800" b="1" kern="1200" dirty="0">
                  <a:solidFill>
                    <a:schemeClr val="bg2"/>
                  </a:solidFill>
                  <a:latin typeface="Arial" panose="020B0604020202020204" pitchFamily="34" charset="0"/>
                  <a:cs typeface="Times New Roman" panose="02020603050405020304" pitchFamily="18" charset="0"/>
                </a:endParaRPr>
              </a:p>
            </p:txBody>
          </p:sp>
        </mc:Choice>
        <mc:Fallback xmlns="">
          <p:sp>
            <p:nvSpPr>
              <p:cNvPr id="4" name="Content Placeholder 2">
                <a:extLst>
                  <a:ext uri="{FF2B5EF4-FFF2-40B4-BE49-F238E27FC236}">
                    <a16:creationId xmlns:a16="http://schemas.microsoft.com/office/drawing/2014/main" id="{70AFBE37-40B8-4179-A16A-CBC4DD5892C3}"/>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3"/>
                <a:stretch>
                  <a:fillRect l="-421" t="-532"/>
                </a:stretch>
              </a:blipFill>
            </p:spPr>
            <p:txBody>
              <a:bodyPr/>
              <a:lstStyle/>
              <a:p>
                <a:r>
                  <a:rPr lang="en-ZA">
                    <a:noFill/>
                  </a:rPr>
                  <a:t> </a:t>
                </a:r>
              </a:p>
            </p:txBody>
          </p:sp>
        </mc:Fallback>
      </mc:AlternateContent>
    </p:spTree>
    <p:extLst>
      <p:ext uri="{BB962C8B-B14F-4D97-AF65-F5344CB8AC3E}">
        <p14:creationId xmlns:p14="http://schemas.microsoft.com/office/powerpoint/2010/main" val="1338698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57428" y="172030"/>
            <a:ext cx="9034846" cy="4247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2400" dirty="0">
                <a:latin typeface="Comic Sans MS" panose="030F0702030302020204" pitchFamily="66" charset="0"/>
                <a:cs typeface="Times New Roman" panose="02020603050405020304" pitchFamily="18" charset="0"/>
              </a:rPr>
              <a:t>Example of Resulting Sample Sizes for Different Scenarios</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AF337B4-564C-4A48-B4AF-D2F3B86AD2D1}"/>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Examples for resulting sample sizes for different scenarios are given in the following table:</a:t>
            </a:r>
          </a:p>
        </p:txBody>
      </p:sp>
      <mc:AlternateContent xmlns:mc="http://schemas.openxmlformats.org/markup-compatibility/2006" xmlns:a14="http://schemas.microsoft.com/office/drawing/2010/main">
        <mc:Choice Requires="a14">
          <p:graphicFrame>
            <p:nvGraphicFramePr>
              <p:cNvPr id="2" name="Table 2">
                <a:extLst>
                  <a:ext uri="{FF2B5EF4-FFF2-40B4-BE49-F238E27FC236}">
                    <a16:creationId xmlns:a16="http://schemas.microsoft.com/office/drawing/2014/main" id="{8D308190-BD02-4AC9-B3D8-B17F5E6C4100}"/>
                  </a:ext>
                </a:extLst>
              </p:cNvPr>
              <p:cNvGraphicFramePr>
                <a:graphicFrameLocks noGrp="1"/>
              </p:cNvGraphicFramePr>
              <p:nvPr/>
            </p:nvGraphicFramePr>
            <p:xfrm>
              <a:off x="623015" y="1615675"/>
              <a:ext cx="7975603" cy="2226945"/>
            </p:xfrm>
            <a:graphic>
              <a:graphicData uri="http://schemas.openxmlformats.org/drawingml/2006/table">
                <a:tbl>
                  <a:tblPr firstRow="1" bandRow="1">
                    <a:tableStyleId>{5C22544A-7EE6-4342-B048-85BDC9FD1C3A}</a:tableStyleId>
                  </a:tblPr>
                  <a:tblGrid>
                    <a:gridCol w="718170">
                      <a:extLst>
                        <a:ext uri="{9D8B030D-6E8A-4147-A177-3AD203B41FA5}">
                          <a16:colId xmlns:a16="http://schemas.microsoft.com/office/drawing/2014/main" val="158579651"/>
                        </a:ext>
                      </a:extLst>
                    </a:gridCol>
                    <a:gridCol w="922408">
                      <a:extLst>
                        <a:ext uri="{9D8B030D-6E8A-4147-A177-3AD203B41FA5}">
                          <a16:colId xmlns:a16="http://schemas.microsoft.com/office/drawing/2014/main" val="3420991352"/>
                        </a:ext>
                      </a:extLst>
                    </a:gridCol>
                    <a:gridCol w="922408">
                      <a:extLst>
                        <a:ext uri="{9D8B030D-6E8A-4147-A177-3AD203B41FA5}">
                          <a16:colId xmlns:a16="http://schemas.microsoft.com/office/drawing/2014/main" val="3742098082"/>
                        </a:ext>
                      </a:extLst>
                    </a:gridCol>
                    <a:gridCol w="922408">
                      <a:extLst>
                        <a:ext uri="{9D8B030D-6E8A-4147-A177-3AD203B41FA5}">
                          <a16:colId xmlns:a16="http://schemas.microsoft.com/office/drawing/2014/main" val="3289293443"/>
                        </a:ext>
                      </a:extLst>
                    </a:gridCol>
                    <a:gridCol w="922408">
                      <a:extLst>
                        <a:ext uri="{9D8B030D-6E8A-4147-A177-3AD203B41FA5}">
                          <a16:colId xmlns:a16="http://schemas.microsoft.com/office/drawing/2014/main" val="419393936"/>
                        </a:ext>
                      </a:extLst>
                    </a:gridCol>
                    <a:gridCol w="922408">
                      <a:extLst>
                        <a:ext uri="{9D8B030D-6E8A-4147-A177-3AD203B41FA5}">
                          <a16:colId xmlns:a16="http://schemas.microsoft.com/office/drawing/2014/main" val="1993260360"/>
                        </a:ext>
                      </a:extLst>
                    </a:gridCol>
                    <a:gridCol w="922408">
                      <a:extLst>
                        <a:ext uri="{9D8B030D-6E8A-4147-A177-3AD203B41FA5}">
                          <a16:colId xmlns:a16="http://schemas.microsoft.com/office/drawing/2014/main" val="853203349"/>
                        </a:ext>
                      </a:extLst>
                    </a:gridCol>
                    <a:gridCol w="913373">
                      <a:extLst>
                        <a:ext uri="{9D8B030D-6E8A-4147-A177-3AD203B41FA5}">
                          <a16:colId xmlns:a16="http://schemas.microsoft.com/office/drawing/2014/main" val="2295035858"/>
                        </a:ext>
                      </a:extLst>
                    </a:gridCol>
                    <a:gridCol w="809612">
                      <a:extLst>
                        <a:ext uri="{9D8B030D-6E8A-4147-A177-3AD203B41FA5}">
                          <a16:colId xmlns:a16="http://schemas.microsoft.com/office/drawing/2014/main" val="26076431"/>
                        </a:ext>
                      </a:extLst>
                    </a:gridCol>
                  </a:tblGrid>
                  <a:tr h="370840">
                    <a:tc>
                      <a:txBody>
                        <a:bodyPr/>
                        <a:lstStyle/>
                        <a:p>
                          <a:endParaRPr lang="en-ZA" dirty="0"/>
                        </a:p>
                      </a:txBody>
                      <a:tcPr/>
                    </a:tc>
                    <a:tc gridSpan="8">
                      <a:txBody>
                        <a:bodyPr/>
                        <a:lstStyle/>
                        <a:p>
                          <a:pPr algn="ctr"/>
                          <a14:m>
                            <m:oMathPara xmlns:m="http://schemas.openxmlformats.org/officeDocument/2006/math">
                              <m:oMathParaPr>
                                <m:jc m:val="centerGroup"/>
                              </m:oMathParaPr>
                              <m:oMath xmlns:m="http://schemas.openxmlformats.org/officeDocument/2006/math">
                                <m:sSub>
                                  <m:sSubPr>
                                    <m:ctrlPr>
                                      <a:rPr lang="en-ZA" sz="1800" i="1" smtClean="0">
                                        <a:latin typeface="Cambria Math" panose="02040503050406030204" pitchFamily="18" charset="0"/>
                                        <a:ea typeface="Cambria Math" panose="02040503050406030204" pitchFamily="18" charset="0"/>
                                      </a:rPr>
                                    </m:ctrlPr>
                                  </m:sSubPr>
                                  <m:e>
                                    <m:r>
                                      <a:rPr lang="en-ZA" sz="1800" i="1">
                                        <a:latin typeface="Cambria Math" panose="02040503050406030204" pitchFamily="18" charset="0"/>
                                        <a:ea typeface="Cambria Math" panose="02040503050406030204" pitchFamily="18" charset="0"/>
                                      </a:rPr>
                                      <m:t>𝑝</m:t>
                                    </m:r>
                                  </m:e>
                                  <m:sub>
                                    <m:r>
                                      <a:rPr lang="en-ZA" sz="1800" i="1">
                                        <a:latin typeface="Cambria Math" panose="02040503050406030204" pitchFamily="18" charset="0"/>
                                        <a:ea typeface="Cambria Math" panose="02040503050406030204" pitchFamily="18" charset="0"/>
                                      </a:rPr>
                                      <m:t>𝐴</m:t>
                                    </m:r>
                                    <m:r>
                                      <a:rPr lang="en-ZA" sz="1800" i="1">
                                        <a:latin typeface="Cambria Math" panose="02040503050406030204" pitchFamily="18" charset="0"/>
                                        <a:ea typeface="Cambria Math" panose="02040503050406030204" pitchFamily="18" charset="0"/>
                                      </a:rPr>
                                      <m:t>,</m:t>
                                    </m:r>
                                    <m:r>
                                      <a:rPr lang="en-ZA" sz="1800" i="1">
                                        <a:latin typeface="Cambria Math" panose="02040503050406030204" pitchFamily="18" charset="0"/>
                                        <a:ea typeface="Cambria Math" panose="02040503050406030204" pitchFamily="18" charset="0"/>
                                      </a:rPr>
                                      <m:t>𝑢</m:t>
                                    </m:r>
                                  </m:sub>
                                </m:sSub>
                              </m:oMath>
                            </m:oMathPara>
                          </a14:m>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extLst>
                      <a:ext uri="{0D108BD9-81ED-4DB2-BD59-A6C34878D82A}">
                        <a16:rowId xmlns:a16="http://schemas.microsoft.com/office/drawing/2014/main" val="286745086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ZA" sz="1800" b="0" i="1" smtClean="0">
                                        <a:latin typeface="Cambria Math" panose="02040503050406030204" pitchFamily="18" charset="0"/>
                                        <a:ea typeface="Cambria Math" panose="02040503050406030204" pitchFamily="18" charset="0"/>
                                      </a:rPr>
                                    </m:ctrlPr>
                                  </m:sSubPr>
                                  <m:e>
                                    <m:r>
                                      <a:rPr lang="en-ZA" sz="1800" b="1" i="1" smtClean="0">
                                        <a:latin typeface="Cambria Math" panose="02040503050406030204" pitchFamily="18" charset="0"/>
                                        <a:ea typeface="Cambria Math" panose="02040503050406030204" pitchFamily="18" charset="0"/>
                                      </a:rPr>
                                      <m:t>𝑶𝑹</m:t>
                                    </m:r>
                                  </m:e>
                                  <m:sub>
                                    <m:r>
                                      <a:rPr lang="en-ZA" sz="1800" b="0" i="1" smtClean="0">
                                        <a:latin typeface="Cambria Math" panose="02040503050406030204" pitchFamily="18" charset="0"/>
                                        <a:ea typeface="Cambria Math" panose="02040503050406030204" pitchFamily="18" charset="0"/>
                                      </a:rPr>
                                      <m:t>𝐴</m:t>
                                    </m:r>
                                  </m:sub>
                                </m:sSub>
                              </m:oMath>
                            </m:oMathPara>
                          </a14:m>
                          <a:endParaRPr lang="en-ZA" dirty="0"/>
                        </a:p>
                      </a:txBody>
                      <a:tcPr/>
                    </a:tc>
                    <a:tc>
                      <a:txBody>
                        <a:bodyPr/>
                        <a:lstStyle/>
                        <a:p>
                          <a:r>
                            <a:rPr lang="en-ZA" dirty="0"/>
                            <a:t>0.05</a:t>
                          </a:r>
                        </a:p>
                      </a:txBody>
                      <a:tcPr/>
                    </a:tc>
                    <a:tc>
                      <a:txBody>
                        <a:bodyPr/>
                        <a:lstStyle/>
                        <a:p>
                          <a:r>
                            <a:rPr lang="en-ZA" dirty="0"/>
                            <a:t>0.1</a:t>
                          </a:r>
                        </a:p>
                      </a:txBody>
                      <a:tcPr/>
                    </a:tc>
                    <a:tc>
                      <a:txBody>
                        <a:bodyPr/>
                        <a:lstStyle/>
                        <a:p>
                          <a:r>
                            <a:rPr lang="en-ZA" dirty="0"/>
                            <a:t>0.15</a:t>
                          </a:r>
                        </a:p>
                      </a:txBody>
                      <a:tcPr/>
                    </a:tc>
                    <a:tc>
                      <a:txBody>
                        <a:bodyPr/>
                        <a:lstStyle/>
                        <a:p>
                          <a:r>
                            <a:rPr lang="en-ZA" dirty="0"/>
                            <a:t>0.2</a:t>
                          </a:r>
                        </a:p>
                      </a:txBody>
                      <a:tcPr/>
                    </a:tc>
                    <a:tc>
                      <a:txBody>
                        <a:bodyPr/>
                        <a:lstStyle/>
                        <a:p>
                          <a:r>
                            <a:rPr lang="en-ZA" dirty="0"/>
                            <a:t>0.25</a:t>
                          </a:r>
                        </a:p>
                      </a:txBody>
                      <a:tcPr/>
                    </a:tc>
                    <a:tc>
                      <a:txBody>
                        <a:bodyPr/>
                        <a:lstStyle/>
                        <a:p>
                          <a:r>
                            <a:rPr lang="en-ZA" dirty="0"/>
                            <a:t>0.3</a:t>
                          </a:r>
                        </a:p>
                      </a:txBody>
                      <a:tcPr/>
                    </a:tc>
                    <a:tc>
                      <a:txBody>
                        <a:bodyPr/>
                        <a:lstStyle/>
                        <a:p>
                          <a:r>
                            <a:rPr lang="en-ZA" dirty="0"/>
                            <a:t>0.35</a:t>
                          </a:r>
                        </a:p>
                      </a:txBody>
                      <a:tcPr/>
                    </a:tc>
                    <a:tc>
                      <a:txBody>
                        <a:bodyPr/>
                        <a:lstStyle/>
                        <a:p>
                          <a:r>
                            <a:rPr lang="en-ZA" dirty="0"/>
                            <a:t>0.4</a:t>
                          </a:r>
                        </a:p>
                      </a:txBody>
                      <a:tcPr/>
                    </a:tc>
                    <a:extLst>
                      <a:ext uri="{0D108BD9-81ED-4DB2-BD59-A6C34878D82A}">
                        <a16:rowId xmlns:a16="http://schemas.microsoft.com/office/drawing/2014/main" val="1644301165"/>
                      </a:ext>
                    </a:extLst>
                  </a:tr>
                  <a:tr h="175881">
                    <a:tc>
                      <a:txBody>
                        <a:bodyPr/>
                        <a:lstStyle/>
                        <a:p>
                          <a:r>
                            <a:rPr lang="en-ZA" dirty="0"/>
                            <a:t>1.2</a:t>
                          </a:r>
                        </a:p>
                      </a:txBody>
                      <a:tcPr/>
                    </a:tc>
                    <a:tc>
                      <a:txBody>
                        <a:bodyPr/>
                        <a:lstStyle/>
                        <a:p>
                          <a:r>
                            <a:rPr lang="en-ZA" dirty="0"/>
                            <a:t>52,354</a:t>
                          </a:r>
                        </a:p>
                      </a:txBody>
                      <a:tcPr/>
                    </a:tc>
                    <a:tc>
                      <a:txBody>
                        <a:bodyPr/>
                        <a:lstStyle/>
                        <a:p>
                          <a:r>
                            <a:rPr lang="en-ZA" dirty="0"/>
                            <a:t>27,893</a:t>
                          </a:r>
                        </a:p>
                      </a:txBody>
                      <a:tcPr/>
                    </a:tc>
                    <a:tc>
                      <a:txBody>
                        <a:bodyPr/>
                        <a:lstStyle/>
                        <a:p>
                          <a:r>
                            <a:rPr lang="en-ZA" dirty="0"/>
                            <a:t>19,875</a:t>
                          </a:r>
                        </a:p>
                      </a:txBody>
                      <a:tcPr/>
                    </a:tc>
                    <a:tc>
                      <a:txBody>
                        <a:bodyPr/>
                        <a:lstStyle/>
                        <a:p>
                          <a:r>
                            <a:rPr lang="en-ZA" dirty="0"/>
                            <a:t>15,986</a:t>
                          </a:r>
                        </a:p>
                      </a:txBody>
                      <a:tcPr/>
                    </a:tc>
                    <a:tc>
                      <a:txBody>
                        <a:bodyPr/>
                        <a:lstStyle/>
                        <a:p>
                          <a:r>
                            <a:rPr lang="en-ZA" dirty="0"/>
                            <a:t>13,769</a:t>
                          </a:r>
                        </a:p>
                      </a:txBody>
                      <a:tcPr/>
                    </a:tc>
                    <a:tc>
                      <a:txBody>
                        <a:bodyPr/>
                        <a:lstStyle/>
                        <a:p>
                          <a:r>
                            <a:rPr lang="en-ZA" dirty="0"/>
                            <a:t>12,409</a:t>
                          </a:r>
                        </a:p>
                      </a:txBody>
                      <a:tcPr/>
                    </a:tc>
                    <a:tc>
                      <a:txBody>
                        <a:bodyPr/>
                        <a:lstStyle/>
                        <a:p>
                          <a:r>
                            <a:rPr lang="en-ZA" dirty="0"/>
                            <a:t>11,560</a:t>
                          </a:r>
                        </a:p>
                      </a:txBody>
                      <a:tcPr/>
                    </a:tc>
                    <a:tc>
                      <a:txBody>
                        <a:bodyPr/>
                        <a:lstStyle/>
                        <a:p>
                          <a:r>
                            <a:rPr lang="en-ZA" dirty="0"/>
                            <a:t>11,060</a:t>
                          </a:r>
                        </a:p>
                      </a:txBody>
                      <a:tcPr/>
                    </a:tc>
                    <a:extLst>
                      <a:ext uri="{0D108BD9-81ED-4DB2-BD59-A6C34878D82A}">
                        <a16:rowId xmlns:a16="http://schemas.microsoft.com/office/drawing/2014/main" val="99658232"/>
                      </a:ext>
                    </a:extLst>
                  </a:tr>
                  <a:tr h="370840">
                    <a:tc>
                      <a:txBody>
                        <a:bodyPr/>
                        <a:lstStyle/>
                        <a:p>
                          <a:r>
                            <a:rPr lang="en-ZA" dirty="0"/>
                            <a:t>1.5</a:t>
                          </a:r>
                        </a:p>
                      </a:txBody>
                      <a:tcPr/>
                    </a:tc>
                    <a:tc>
                      <a:txBody>
                        <a:bodyPr/>
                        <a:lstStyle/>
                        <a:p>
                          <a:r>
                            <a:rPr lang="en-ZA" dirty="0"/>
                            <a:t>9,639</a:t>
                          </a:r>
                        </a:p>
                      </a:txBody>
                      <a:tcPr/>
                    </a:tc>
                    <a:tc>
                      <a:txBody>
                        <a:bodyPr/>
                        <a:lstStyle/>
                        <a:p>
                          <a:r>
                            <a:rPr lang="en-ZA" dirty="0"/>
                            <a:t>5,200</a:t>
                          </a:r>
                        </a:p>
                      </a:txBody>
                      <a:tcPr/>
                    </a:tc>
                    <a:tc>
                      <a:txBody>
                        <a:bodyPr/>
                        <a:lstStyle/>
                        <a:p>
                          <a:r>
                            <a:rPr lang="en-ZA" dirty="0"/>
                            <a:t>3,750</a:t>
                          </a:r>
                        </a:p>
                      </a:txBody>
                      <a:tcPr/>
                    </a:tc>
                    <a:tc>
                      <a:txBody>
                        <a:bodyPr/>
                        <a:lstStyle/>
                        <a:p>
                          <a:r>
                            <a:rPr lang="en-ZA" dirty="0"/>
                            <a:t>3,053</a:t>
                          </a:r>
                        </a:p>
                      </a:txBody>
                      <a:tcPr/>
                    </a:tc>
                    <a:tc>
                      <a:txBody>
                        <a:bodyPr/>
                        <a:lstStyle/>
                        <a:p>
                          <a:r>
                            <a:rPr lang="en-ZA" dirty="0"/>
                            <a:t>2,661</a:t>
                          </a:r>
                        </a:p>
                      </a:txBody>
                      <a:tcPr/>
                    </a:tc>
                    <a:tc>
                      <a:txBody>
                        <a:bodyPr/>
                        <a:lstStyle/>
                        <a:p>
                          <a:r>
                            <a:rPr lang="en-ZA" dirty="0"/>
                            <a:t>2,427</a:t>
                          </a:r>
                        </a:p>
                      </a:txBody>
                      <a:tcPr/>
                    </a:tc>
                    <a:tc>
                      <a:txBody>
                        <a:bodyPr/>
                        <a:lstStyle/>
                        <a:p>
                          <a:r>
                            <a:rPr lang="en-ZA" dirty="0"/>
                            <a:t>2,287</a:t>
                          </a:r>
                        </a:p>
                      </a:txBody>
                      <a:tcPr/>
                    </a:tc>
                    <a:tc>
                      <a:txBody>
                        <a:bodyPr/>
                        <a:lstStyle/>
                        <a:p>
                          <a:r>
                            <a:rPr lang="en-ZA" dirty="0"/>
                            <a:t>2,214</a:t>
                          </a:r>
                        </a:p>
                      </a:txBody>
                      <a:tcPr/>
                    </a:tc>
                    <a:extLst>
                      <a:ext uri="{0D108BD9-81ED-4DB2-BD59-A6C34878D82A}">
                        <a16:rowId xmlns:a16="http://schemas.microsoft.com/office/drawing/2014/main" val="534367231"/>
                      </a:ext>
                    </a:extLst>
                  </a:tr>
                  <a:tr h="370840">
                    <a:tc>
                      <a:txBody>
                        <a:bodyPr/>
                        <a:lstStyle/>
                        <a:p>
                          <a:r>
                            <a:rPr lang="en-ZA" dirty="0"/>
                            <a:t>2</a:t>
                          </a:r>
                        </a:p>
                      </a:txBody>
                      <a:tcPr/>
                    </a:tc>
                    <a:tc>
                      <a:txBody>
                        <a:bodyPr/>
                        <a:lstStyle/>
                        <a:p>
                          <a:r>
                            <a:rPr lang="en-ZA" dirty="0"/>
                            <a:t>2,944</a:t>
                          </a:r>
                        </a:p>
                      </a:txBody>
                      <a:tcPr/>
                    </a:tc>
                    <a:tc>
                      <a:txBody>
                        <a:bodyPr/>
                        <a:lstStyle/>
                        <a:p>
                          <a:r>
                            <a:rPr lang="en-ZA" dirty="0"/>
                            <a:t>1,616</a:t>
                          </a:r>
                        </a:p>
                      </a:txBody>
                      <a:tcPr/>
                    </a:tc>
                    <a:tc>
                      <a:txBody>
                        <a:bodyPr/>
                        <a:lstStyle/>
                        <a:p>
                          <a:r>
                            <a:rPr lang="en-ZA" dirty="0"/>
                            <a:t>1,186</a:t>
                          </a:r>
                        </a:p>
                      </a:txBody>
                      <a:tcPr/>
                    </a:tc>
                    <a:tc>
                      <a:txBody>
                        <a:bodyPr/>
                        <a:lstStyle/>
                        <a:p>
                          <a:r>
                            <a:rPr lang="en-ZA" dirty="0"/>
                            <a:t>982</a:t>
                          </a:r>
                        </a:p>
                      </a:txBody>
                      <a:tcPr/>
                    </a:tc>
                    <a:tc>
                      <a:txBody>
                        <a:bodyPr/>
                        <a:lstStyle/>
                        <a:p>
                          <a:r>
                            <a:rPr lang="en-ZA" dirty="0"/>
                            <a:t>870</a:t>
                          </a:r>
                        </a:p>
                      </a:txBody>
                      <a:tcPr/>
                    </a:tc>
                    <a:tc>
                      <a:txBody>
                        <a:bodyPr/>
                        <a:lstStyle/>
                        <a:p>
                          <a:r>
                            <a:rPr lang="en-ZA" dirty="0"/>
                            <a:t>806</a:t>
                          </a:r>
                        </a:p>
                      </a:txBody>
                      <a:tcPr/>
                    </a:tc>
                    <a:tc>
                      <a:txBody>
                        <a:bodyPr/>
                        <a:lstStyle/>
                        <a:p>
                          <a:r>
                            <a:rPr lang="en-ZA" dirty="0"/>
                            <a:t>771</a:t>
                          </a:r>
                        </a:p>
                      </a:txBody>
                      <a:tcPr/>
                    </a:tc>
                    <a:tc>
                      <a:txBody>
                        <a:bodyPr/>
                        <a:lstStyle/>
                        <a:p>
                          <a:r>
                            <a:rPr lang="en-ZA" dirty="0"/>
                            <a:t>758</a:t>
                          </a:r>
                        </a:p>
                      </a:txBody>
                      <a:tcPr/>
                    </a:tc>
                    <a:extLst>
                      <a:ext uri="{0D108BD9-81ED-4DB2-BD59-A6C34878D82A}">
                        <a16:rowId xmlns:a16="http://schemas.microsoft.com/office/drawing/2014/main" val="360611100"/>
                      </a:ext>
                    </a:extLst>
                  </a:tr>
                  <a:tr h="370840">
                    <a:tc>
                      <a:txBody>
                        <a:bodyPr/>
                        <a:lstStyle/>
                        <a:p>
                          <a:r>
                            <a:rPr lang="en-ZA" dirty="0"/>
                            <a:t>3</a:t>
                          </a:r>
                        </a:p>
                      </a:txBody>
                      <a:tcPr/>
                    </a:tc>
                    <a:tc>
                      <a:txBody>
                        <a:bodyPr/>
                        <a:lstStyle/>
                        <a:p>
                          <a:r>
                            <a:rPr lang="en-ZA" dirty="0"/>
                            <a:t>1,011</a:t>
                          </a:r>
                        </a:p>
                      </a:txBody>
                      <a:tcPr/>
                    </a:tc>
                    <a:tc>
                      <a:txBody>
                        <a:bodyPr/>
                        <a:lstStyle/>
                        <a:p>
                          <a:r>
                            <a:rPr lang="en-ZA" dirty="0"/>
                            <a:t>571</a:t>
                          </a:r>
                        </a:p>
                      </a:txBody>
                      <a:tcPr/>
                    </a:tc>
                    <a:tc>
                      <a:txBody>
                        <a:bodyPr/>
                        <a:lstStyle/>
                        <a:p>
                          <a:r>
                            <a:rPr lang="en-ZA" dirty="0"/>
                            <a:t>431</a:t>
                          </a:r>
                        </a:p>
                      </a:txBody>
                      <a:tcPr/>
                    </a:tc>
                    <a:tc>
                      <a:txBody>
                        <a:bodyPr/>
                        <a:lstStyle/>
                        <a:p>
                          <a:r>
                            <a:rPr lang="en-ZA" dirty="0"/>
                            <a:t>366</a:t>
                          </a:r>
                        </a:p>
                      </a:txBody>
                      <a:tcPr/>
                    </a:tc>
                    <a:tc>
                      <a:txBody>
                        <a:bodyPr/>
                        <a:lstStyle/>
                        <a:p>
                          <a:r>
                            <a:rPr lang="en-ZA" dirty="0"/>
                            <a:t>332</a:t>
                          </a:r>
                        </a:p>
                      </a:txBody>
                      <a:tcPr/>
                    </a:tc>
                    <a:tc>
                      <a:txBody>
                        <a:bodyPr/>
                        <a:lstStyle/>
                        <a:p>
                          <a:r>
                            <a:rPr lang="en-ZA" dirty="0"/>
                            <a:t>315</a:t>
                          </a:r>
                        </a:p>
                      </a:txBody>
                      <a:tcPr/>
                    </a:tc>
                    <a:tc>
                      <a:txBody>
                        <a:bodyPr/>
                        <a:lstStyle/>
                        <a:p>
                          <a:r>
                            <a:rPr lang="en-ZA" dirty="0"/>
                            <a:t>309 </a:t>
                          </a:r>
                        </a:p>
                      </a:txBody>
                      <a:tcPr/>
                    </a:tc>
                    <a:tc>
                      <a:txBody>
                        <a:bodyPr/>
                        <a:lstStyle/>
                        <a:p>
                          <a:r>
                            <a:rPr lang="en-ZA" dirty="0"/>
                            <a:t>310</a:t>
                          </a:r>
                        </a:p>
                      </a:txBody>
                      <a:tcPr/>
                    </a:tc>
                    <a:extLst>
                      <a:ext uri="{0D108BD9-81ED-4DB2-BD59-A6C34878D82A}">
                        <a16:rowId xmlns:a16="http://schemas.microsoft.com/office/drawing/2014/main" val="3904374135"/>
                      </a:ext>
                    </a:extLst>
                  </a:tr>
                </a:tbl>
              </a:graphicData>
            </a:graphic>
          </p:graphicFrame>
        </mc:Choice>
        <mc:Fallback xmlns="">
          <p:graphicFrame>
            <p:nvGraphicFramePr>
              <p:cNvPr id="2" name="Table 2">
                <a:extLst>
                  <a:ext uri="{FF2B5EF4-FFF2-40B4-BE49-F238E27FC236}">
                    <a16:creationId xmlns:a16="http://schemas.microsoft.com/office/drawing/2014/main" id="{8D308190-BD02-4AC9-B3D8-B17F5E6C4100}"/>
                  </a:ext>
                </a:extLst>
              </p:cNvPr>
              <p:cNvGraphicFramePr>
                <a:graphicFrameLocks noGrp="1"/>
              </p:cNvGraphicFramePr>
              <p:nvPr>
                <p:extLst>
                  <p:ext uri="{D42A27DB-BD31-4B8C-83A1-F6EECF244321}">
                    <p14:modId xmlns:p14="http://schemas.microsoft.com/office/powerpoint/2010/main" val="1431650002"/>
                  </p:ext>
                </p:extLst>
              </p:nvPr>
            </p:nvGraphicFramePr>
            <p:xfrm>
              <a:off x="623015" y="1615675"/>
              <a:ext cx="7975603" cy="2226945"/>
            </p:xfrm>
            <a:graphic>
              <a:graphicData uri="http://schemas.openxmlformats.org/drawingml/2006/table">
                <a:tbl>
                  <a:tblPr firstRow="1" bandRow="1">
                    <a:tableStyleId>{5C22544A-7EE6-4342-B048-85BDC9FD1C3A}</a:tableStyleId>
                  </a:tblPr>
                  <a:tblGrid>
                    <a:gridCol w="718170">
                      <a:extLst>
                        <a:ext uri="{9D8B030D-6E8A-4147-A177-3AD203B41FA5}">
                          <a16:colId xmlns:a16="http://schemas.microsoft.com/office/drawing/2014/main" val="158579651"/>
                        </a:ext>
                      </a:extLst>
                    </a:gridCol>
                    <a:gridCol w="922408">
                      <a:extLst>
                        <a:ext uri="{9D8B030D-6E8A-4147-A177-3AD203B41FA5}">
                          <a16:colId xmlns:a16="http://schemas.microsoft.com/office/drawing/2014/main" val="3420991352"/>
                        </a:ext>
                      </a:extLst>
                    </a:gridCol>
                    <a:gridCol w="922408">
                      <a:extLst>
                        <a:ext uri="{9D8B030D-6E8A-4147-A177-3AD203B41FA5}">
                          <a16:colId xmlns:a16="http://schemas.microsoft.com/office/drawing/2014/main" val="3742098082"/>
                        </a:ext>
                      </a:extLst>
                    </a:gridCol>
                    <a:gridCol w="922408">
                      <a:extLst>
                        <a:ext uri="{9D8B030D-6E8A-4147-A177-3AD203B41FA5}">
                          <a16:colId xmlns:a16="http://schemas.microsoft.com/office/drawing/2014/main" val="3289293443"/>
                        </a:ext>
                      </a:extLst>
                    </a:gridCol>
                    <a:gridCol w="922408">
                      <a:extLst>
                        <a:ext uri="{9D8B030D-6E8A-4147-A177-3AD203B41FA5}">
                          <a16:colId xmlns:a16="http://schemas.microsoft.com/office/drawing/2014/main" val="419393936"/>
                        </a:ext>
                      </a:extLst>
                    </a:gridCol>
                    <a:gridCol w="922408">
                      <a:extLst>
                        <a:ext uri="{9D8B030D-6E8A-4147-A177-3AD203B41FA5}">
                          <a16:colId xmlns:a16="http://schemas.microsoft.com/office/drawing/2014/main" val="1993260360"/>
                        </a:ext>
                      </a:extLst>
                    </a:gridCol>
                    <a:gridCol w="922408">
                      <a:extLst>
                        <a:ext uri="{9D8B030D-6E8A-4147-A177-3AD203B41FA5}">
                          <a16:colId xmlns:a16="http://schemas.microsoft.com/office/drawing/2014/main" val="853203349"/>
                        </a:ext>
                      </a:extLst>
                    </a:gridCol>
                    <a:gridCol w="913373">
                      <a:extLst>
                        <a:ext uri="{9D8B030D-6E8A-4147-A177-3AD203B41FA5}">
                          <a16:colId xmlns:a16="http://schemas.microsoft.com/office/drawing/2014/main" val="2295035858"/>
                        </a:ext>
                      </a:extLst>
                    </a:gridCol>
                    <a:gridCol w="809612">
                      <a:extLst>
                        <a:ext uri="{9D8B030D-6E8A-4147-A177-3AD203B41FA5}">
                          <a16:colId xmlns:a16="http://schemas.microsoft.com/office/drawing/2014/main" val="26076431"/>
                        </a:ext>
                      </a:extLst>
                    </a:gridCol>
                  </a:tblGrid>
                  <a:tr h="377825">
                    <a:tc>
                      <a:txBody>
                        <a:bodyPr/>
                        <a:lstStyle/>
                        <a:p>
                          <a:endParaRPr lang="en-ZA" dirty="0"/>
                        </a:p>
                      </a:txBody>
                      <a:tcPr/>
                    </a:tc>
                    <a:tc gridSpan="8">
                      <a:txBody>
                        <a:bodyPr/>
                        <a:lstStyle/>
                        <a:p>
                          <a:endParaRPr lang="en-US"/>
                        </a:p>
                      </a:txBody>
                      <a:tcPr>
                        <a:blipFill>
                          <a:blip r:embed="rId3"/>
                          <a:stretch>
                            <a:fillRect l="-9992" t="-3226" r="-336" b="-514516"/>
                          </a:stretch>
                        </a:blipFill>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extLst>
                      <a:ext uri="{0D108BD9-81ED-4DB2-BD59-A6C34878D82A}">
                        <a16:rowId xmlns:a16="http://schemas.microsoft.com/office/drawing/2014/main" val="2867450860"/>
                      </a:ext>
                    </a:extLst>
                  </a:tr>
                  <a:tr h="370840">
                    <a:tc>
                      <a:txBody>
                        <a:bodyPr/>
                        <a:lstStyle/>
                        <a:p>
                          <a:endParaRPr lang="en-US"/>
                        </a:p>
                      </a:txBody>
                      <a:tcPr>
                        <a:blipFill>
                          <a:blip r:embed="rId3"/>
                          <a:stretch>
                            <a:fillRect l="-847" t="-104918" r="-1012712" b="-422951"/>
                          </a:stretch>
                        </a:blipFill>
                      </a:tcPr>
                    </a:tc>
                    <a:tc>
                      <a:txBody>
                        <a:bodyPr/>
                        <a:lstStyle/>
                        <a:p>
                          <a:r>
                            <a:rPr lang="en-ZA" dirty="0"/>
                            <a:t>0.05</a:t>
                          </a:r>
                        </a:p>
                      </a:txBody>
                      <a:tcPr/>
                    </a:tc>
                    <a:tc>
                      <a:txBody>
                        <a:bodyPr/>
                        <a:lstStyle/>
                        <a:p>
                          <a:r>
                            <a:rPr lang="en-ZA" dirty="0"/>
                            <a:t>0.1</a:t>
                          </a:r>
                        </a:p>
                      </a:txBody>
                      <a:tcPr/>
                    </a:tc>
                    <a:tc>
                      <a:txBody>
                        <a:bodyPr/>
                        <a:lstStyle/>
                        <a:p>
                          <a:r>
                            <a:rPr lang="en-ZA" dirty="0"/>
                            <a:t>0.15</a:t>
                          </a:r>
                        </a:p>
                      </a:txBody>
                      <a:tcPr/>
                    </a:tc>
                    <a:tc>
                      <a:txBody>
                        <a:bodyPr/>
                        <a:lstStyle/>
                        <a:p>
                          <a:r>
                            <a:rPr lang="en-ZA" dirty="0"/>
                            <a:t>0.2</a:t>
                          </a:r>
                        </a:p>
                      </a:txBody>
                      <a:tcPr/>
                    </a:tc>
                    <a:tc>
                      <a:txBody>
                        <a:bodyPr/>
                        <a:lstStyle/>
                        <a:p>
                          <a:r>
                            <a:rPr lang="en-ZA" dirty="0"/>
                            <a:t>0.25</a:t>
                          </a:r>
                        </a:p>
                      </a:txBody>
                      <a:tcPr/>
                    </a:tc>
                    <a:tc>
                      <a:txBody>
                        <a:bodyPr/>
                        <a:lstStyle/>
                        <a:p>
                          <a:r>
                            <a:rPr lang="en-ZA" dirty="0"/>
                            <a:t>0.3</a:t>
                          </a:r>
                        </a:p>
                      </a:txBody>
                      <a:tcPr/>
                    </a:tc>
                    <a:tc>
                      <a:txBody>
                        <a:bodyPr/>
                        <a:lstStyle/>
                        <a:p>
                          <a:r>
                            <a:rPr lang="en-ZA" dirty="0"/>
                            <a:t>0.35</a:t>
                          </a:r>
                        </a:p>
                      </a:txBody>
                      <a:tcPr/>
                    </a:tc>
                    <a:tc>
                      <a:txBody>
                        <a:bodyPr/>
                        <a:lstStyle/>
                        <a:p>
                          <a:r>
                            <a:rPr lang="en-ZA" dirty="0"/>
                            <a:t>0.4</a:t>
                          </a:r>
                        </a:p>
                      </a:txBody>
                      <a:tcPr/>
                    </a:tc>
                    <a:extLst>
                      <a:ext uri="{0D108BD9-81ED-4DB2-BD59-A6C34878D82A}">
                        <a16:rowId xmlns:a16="http://schemas.microsoft.com/office/drawing/2014/main" val="1644301165"/>
                      </a:ext>
                    </a:extLst>
                  </a:tr>
                  <a:tr h="365760">
                    <a:tc>
                      <a:txBody>
                        <a:bodyPr/>
                        <a:lstStyle/>
                        <a:p>
                          <a:r>
                            <a:rPr lang="en-ZA" dirty="0"/>
                            <a:t>1.2</a:t>
                          </a:r>
                        </a:p>
                      </a:txBody>
                      <a:tcPr/>
                    </a:tc>
                    <a:tc>
                      <a:txBody>
                        <a:bodyPr/>
                        <a:lstStyle/>
                        <a:p>
                          <a:r>
                            <a:rPr lang="en-ZA" dirty="0"/>
                            <a:t>52,354</a:t>
                          </a:r>
                        </a:p>
                      </a:txBody>
                      <a:tcPr/>
                    </a:tc>
                    <a:tc>
                      <a:txBody>
                        <a:bodyPr/>
                        <a:lstStyle/>
                        <a:p>
                          <a:r>
                            <a:rPr lang="en-ZA" dirty="0"/>
                            <a:t>27,893</a:t>
                          </a:r>
                        </a:p>
                      </a:txBody>
                      <a:tcPr/>
                    </a:tc>
                    <a:tc>
                      <a:txBody>
                        <a:bodyPr/>
                        <a:lstStyle/>
                        <a:p>
                          <a:r>
                            <a:rPr lang="en-ZA" dirty="0"/>
                            <a:t>19,875</a:t>
                          </a:r>
                        </a:p>
                      </a:txBody>
                      <a:tcPr/>
                    </a:tc>
                    <a:tc>
                      <a:txBody>
                        <a:bodyPr/>
                        <a:lstStyle/>
                        <a:p>
                          <a:r>
                            <a:rPr lang="en-ZA" dirty="0"/>
                            <a:t>15,986</a:t>
                          </a:r>
                        </a:p>
                      </a:txBody>
                      <a:tcPr/>
                    </a:tc>
                    <a:tc>
                      <a:txBody>
                        <a:bodyPr/>
                        <a:lstStyle/>
                        <a:p>
                          <a:r>
                            <a:rPr lang="en-ZA" dirty="0"/>
                            <a:t>13,769</a:t>
                          </a:r>
                        </a:p>
                      </a:txBody>
                      <a:tcPr/>
                    </a:tc>
                    <a:tc>
                      <a:txBody>
                        <a:bodyPr/>
                        <a:lstStyle/>
                        <a:p>
                          <a:r>
                            <a:rPr lang="en-ZA" dirty="0"/>
                            <a:t>12,409</a:t>
                          </a:r>
                        </a:p>
                      </a:txBody>
                      <a:tcPr/>
                    </a:tc>
                    <a:tc>
                      <a:txBody>
                        <a:bodyPr/>
                        <a:lstStyle/>
                        <a:p>
                          <a:r>
                            <a:rPr lang="en-ZA" dirty="0"/>
                            <a:t>11,560</a:t>
                          </a:r>
                        </a:p>
                      </a:txBody>
                      <a:tcPr/>
                    </a:tc>
                    <a:tc>
                      <a:txBody>
                        <a:bodyPr/>
                        <a:lstStyle/>
                        <a:p>
                          <a:r>
                            <a:rPr lang="en-ZA" dirty="0"/>
                            <a:t>11,060</a:t>
                          </a:r>
                        </a:p>
                      </a:txBody>
                      <a:tcPr/>
                    </a:tc>
                    <a:extLst>
                      <a:ext uri="{0D108BD9-81ED-4DB2-BD59-A6C34878D82A}">
                        <a16:rowId xmlns:a16="http://schemas.microsoft.com/office/drawing/2014/main" val="99658232"/>
                      </a:ext>
                    </a:extLst>
                  </a:tr>
                  <a:tr h="370840">
                    <a:tc>
                      <a:txBody>
                        <a:bodyPr/>
                        <a:lstStyle/>
                        <a:p>
                          <a:r>
                            <a:rPr lang="en-ZA" dirty="0"/>
                            <a:t>1.5</a:t>
                          </a:r>
                        </a:p>
                      </a:txBody>
                      <a:tcPr/>
                    </a:tc>
                    <a:tc>
                      <a:txBody>
                        <a:bodyPr/>
                        <a:lstStyle/>
                        <a:p>
                          <a:r>
                            <a:rPr lang="en-ZA" dirty="0"/>
                            <a:t>9,639</a:t>
                          </a:r>
                        </a:p>
                      </a:txBody>
                      <a:tcPr/>
                    </a:tc>
                    <a:tc>
                      <a:txBody>
                        <a:bodyPr/>
                        <a:lstStyle/>
                        <a:p>
                          <a:r>
                            <a:rPr lang="en-ZA" dirty="0"/>
                            <a:t>5,200</a:t>
                          </a:r>
                        </a:p>
                      </a:txBody>
                      <a:tcPr/>
                    </a:tc>
                    <a:tc>
                      <a:txBody>
                        <a:bodyPr/>
                        <a:lstStyle/>
                        <a:p>
                          <a:r>
                            <a:rPr lang="en-ZA" dirty="0"/>
                            <a:t>3,750</a:t>
                          </a:r>
                        </a:p>
                      </a:txBody>
                      <a:tcPr/>
                    </a:tc>
                    <a:tc>
                      <a:txBody>
                        <a:bodyPr/>
                        <a:lstStyle/>
                        <a:p>
                          <a:r>
                            <a:rPr lang="en-ZA" dirty="0"/>
                            <a:t>3,053</a:t>
                          </a:r>
                        </a:p>
                      </a:txBody>
                      <a:tcPr/>
                    </a:tc>
                    <a:tc>
                      <a:txBody>
                        <a:bodyPr/>
                        <a:lstStyle/>
                        <a:p>
                          <a:r>
                            <a:rPr lang="en-ZA" dirty="0"/>
                            <a:t>2,661</a:t>
                          </a:r>
                        </a:p>
                      </a:txBody>
                      <a:tcPr/>
                    </a:tc>
                    <a:tc>
                      <a:txBody>
                        <a:bodyPr/>
                        <a:lstStyle/>
                        <a:p>
                          <a:r>
                            <a:rPr lang="en-ZA" dirty="0"/>
                            <a:t>2,427</a:t>
                          </a:r>
                        </a:p>
                      </a:txBody>
                      <a:tcPr/>
                    </a:tc>
                    <a:tc>
                      <a:txBody>
                        <a:bodyPr/>
                        <a:lstStyle/>
                        <a:p>
                          <a:r>
                            <a:rPr lang="en-ZA" dirty="0"/>
                            <a:t>2,287</a:t>
                          </a:r>
                        </a:p>
                      </a:txBody>
                      <a:tcPr/>
                    </a:tc>
                    <a:tc>
                      <a:txBody>
                        <a:bodyPr/>
                        <a:lstStyle/>
                        <a:p>
                          <a:r>
                            <a:rPr lang="en-ZA" dirty="0"/>
                            <a:t>2,214</a:t>
                          </a:r>
                        </a:p>
                      </a:txBody>
                      <a:tcPr/>
                    </a:tc>
                    <a:extLst>
                      <a:ext uri="{0D108BD9-81ED-4DB2-BD59-A6C34878D82A}">
                        <a16:rowId xmlns:a16="http://schemas.microsoft.com/office/drawing/2014/main" val="534367231"/>
                      </a:ext>
                    </a:extLst>
                  </a:tr>
                  <a:tr h="370840">
                    <a:tc>
                      <a:txBody>
                        <a:bodyPr/>
                        <a:lstStyle/>
                        <a:p>
                          <a:r>
                            <a:rPr lang="en-ZA" dirty="0"/>
                            <a:t>2</a:t>
                          </a:r>
                        </a:p>
                      </a:txBody>
                      <a:tcPr/>
                    </a:tc>
                    <a:tc>
                      <a:txBody>
                        <a:bodyPr/>
                        <a:lstStyle/>
                        <a:p>
                          <a:r>
                            <a:rPr lang="en-ZA" dirty="0"/>
                            <a:t>2,944</a:t>
                          </a:r>
                        </a:p>
                      </a:txBody>
                      <a:tcPr/>
                    </a:tc>
                    <a:tc>
                      <a:txBody>
                        <a:bodyPr/>
                        <a:lstStyle/>
                        <a:p>
                          <a:r>
                            <a:rPr lang="en-ZA" dirty="0"/>
                            <a:t>1,616</a:t>
                          </a:r>
                        </a:p>
                      </a:txBody>
                      <a:tcPr/>
                    </a:tc>
                    <a:tc>
                      <a:txBody>
                        <a:bodyPr/>
                        <a:lstStyle/>
                        <a:p>
                          <a:r>
                            <a:rPr lang="en-ZA" dirty="0"/>
                            <a:t>1,186</a:t>
                          </a:r>
                        </a:p>
                      </a:txBody>
                      <a:tcPr/>
                    </a:tc>
                    <a:tc>
                      <a:txBody>
                        <a:bodyPr/>
                        <a:lstStyle/>
                        <a:p>
                          <a:r>
                            <a:rPr lang="en-ZA" dirty="0"/>
                            <a:t>982</a:t>
                          </a:r>
                        </a:p>
                      </a:txBody>
                      <a:tcPr/>
                    </a:tc>
                    <a:tc>
                      <a:txBody>
                        <a:bodyPr/>
                        <a:lstStyle/>
                        <a:p>
                          <a:r>
                            <a:rPr lang="en-ZA" dirty="0"/>
                            <a:t>870</a:t>
                          </a:r>
                        </a:p>
                      </a:txBody>
                      <a:tcPr/>
                    </a:tc>
                    <a:tc>
                      <a:txBody>
                        <a:bodyPr/>
                        <a:lstStyle/>
                        <a:p>
                          <a:r>
                            <a:rPr lang="en-ZA" dirty="0"/>
                            <a:t>806</a:t>
                          </a:r>
                        </a:p>
                      </a:txBody>
                      <a:tcPr/>
                    </a:tc>
                    <a:tc>
                      <a:txBody>
                        <a:bodyPr/>
                        <a:lstStyle/>
                        <a:p>
                          <a:r>
                            <a:rPr lang="en-ZA" dirty="0"/>
                            <a:t>771</a:t>
                          </a:r>
                        </a:p>
                      </a:txBody>
                      <a:tcPr/>
                    </a:tc>
                    <a:tc>
                      <a:txBody>
                        <a:bodyPr/>
                        <a:lstStyle/>
                        <a:p>
                          <a:r>
                            <a:rPr lang="en-ZA" dirty="0"/>
                            <a:t>758</a:t>
                          </a:r>
                        </a:p>
                      </a:txBody>
                      <a:tcPr/>
                    </a:tc>
                    <a:extLst>
                      <a:ext uri="{0D108BD9-81ED-4DB2-BD59-A6C34878D82A}">
                        <a16:rowId xmlns:a16="http://schemas.microsoft.com/office/drawing/2014/main" val="360611100"/>
                      </a:ext>
                    </a:extLst>
                  </a:tr>
                  <a:tr h="370840">
                    <a:tc>
                      <a:txBody>
                        <a:bodyPr/>
                        <a:lstStyle/>
                        <a:p>
                          <a:r>
                            <a:rPr lang="en-ZA" dirty="0"/>
                            <a:t>3</a:t>
                          </a:r>
                        </a:p>
                      </a:txBody>
                      <a:tcPr/>
                    </a:tc>
                    <a:tc>
                      <a:txBody>
                        <a:bodyPr/>
                        <a:lstStyle/>
                        <a:p>
                          <a:r>
                            <a:rPr lang="en-ZA" dirty="0"/>
                            <a:t>1,011</a:t>
                          </a:r>
                        </a:p>
                      </a:txBody>
                      <a:tcPr/>
                    </a:tc>
                    <a:tc>
                      <a:txBody>
                        <a:bodyPr/>
                        <a:lstStyle/>
                        <a:p>
                          <a:r>
                            <a:rPr lang="en-ZA" dirty="0"/>
                            <a:t>571</a:t>
                          </a:r>
                        </a:p>
                      </a:txBody>
                      <a:tcPr/>
                    </a:tc>
                    <a:tc>
                      <a:txBody>
                        <a:bodyPr/>
                        <a:lstStyle/>
                        <a:p>
                          <a:r>
                            <a:rPr lang="en-ZA" dirty="0"/>
                            <a:t>431</a:t>
                          </a:r>
                        </a:p>
                      </a:txBody>
                      <a:tcPr/>
                    </a:tc>
                    <a:tc>
                      <a:txBody>
                        <a:bodyPr/>
                        <a:lstStyle/>
                        <a:p>
                          <a:r>
                            <a:rPr lang="en-ZA" dirty="0"/>
                            <a:t>366</a:t>
                          </a:r>
                        </a:p>
                      </a:txBody>
                      <a:tcPr/>
                    </a:tc>
                    <a:tc>
                      <a:txBody>
                        <a:bodyPr/>
                        <a:lstStyle/>
                        <a:p>
                          <a:r>
                            <a:rPr lang="en-ZA" dirty="0"/>
                            <a:t>332</a:t>
                          </a:r>
                        </a:p>
                      </a:txBody>
                      <a:tcPr/>
                    </a:tc>
                    <a:tc>
                      <a:txBody>
                        <a:bodyPr/>
                        <a:lstStyle/>
                        <a:p>
                          <a:r>
                            <a:rPr lang="en-ZA" dirty="0"/>
                            <a:t>315</a:t>
                          </a:r>
                        </a:p>
                      </a:txBody>
                      <a:tcPr/>
                    </a:tc>
                    <a:tc>
                      <a:txBody>
                        <a:bodyPr/>
                        <a:lstStyle/>
                        <a:p>
                          <a:r>
                            <a:rPr lang="en-ZA" dirty="0"/>
                            <a:t>309 </a:t>
                          </a:r>
                        </a:p>
                      </a:txBody>
                      <a:tcPr/>
                    </a:tc>
                    <a:tc>
                      <a:txBody>
                        <a:bodyPr/>
                        <a:lstStyle/>
                        <a:p>
                          <a:r>
                            <a:rPr lang="en-ZA" dirty="0"/>
                            <a:t>310</a:t>
                          </a:r>
                        </a:p>
                      </a:txBody>
                      <a:tcPr/>
                    </a:tc>
                    <a:extLst>
                      <a:ext uri="{0D108BD9-81ED-4DB2-BD59-A6C34878D82A}">
                        <a16:rowId xmlns:a16="http://schemas.microsoft.com/office/drawing/2014/main" val="3904374135"/>
                      </a:ext>
                    </a:extLst>
                  </a:tr>
                </a:tbl>
              </a:graphicData>
            </a:graphic>
          </p:graphicFrame>
        </mc:Fallback>
      </mc:AlternateContent>
      <p:sp>
        <p:nvSpPr>
          <p:cNvPr id="7" name="TextBox 6">
            <a:extLst>
              <a:ext uri="{FF2B5EF4-FFF2-40B4-BE49-F238E27FC236}">
                <a16:creationId xmlns:a16="http://schemas.microsoft.com/office/drawing/2014/main" id="{6E7E8108-C2F6-4B81-9E1C-0F8C8FE1ED20}"/>
              </a:ext>
            </a:extLst>
          </p:cNvPr>
          <p:cNvSpPr txBox="1"/>
          <p:nvPr/>
        </p:nvSpPr>
        <p:spPr>
          <a:xfrm>
            <a:off x="623015" y="3875061"/>
            <a:ext cx="7975603" cy="461665"/>
          </a:xfrm>
          <a:prstGeom prst="rect">
            <a:avLst/>
          </a:prstGeom>
          <a:noFill/>
        </p:spPr>
        <p:txBody>
          <a:bodyPr wrap="square">
            <a:spAutoFit/>
          </a:bodyPr>
          <a:lstStyle/>
          <a:p>
            <a:r>
              <a:rPr lang="en-ZA" sz="1200" dirty="0"/>
              <a:t>Tab. 7: Required sample sizes to detect an odds ratio ORA for the allele A with an allele frequency </a:t>
            </a:r>
            <a:r>
              <a:rPr lang="en-ZA" sz="1200" dirty="0" err="1"/>
              <a:t>pA,u</a:t>
            </a:r>
            <a:r>
              <a:rPr lang="en-ZA" sz="1200" dirty="0"/>
              <a:t> in unaffected controls at a significance level alpha = 0.0001 and a power of 80%.</a:t>
            </a:r>
          </a:p>
        </p:txBody>
      </p:sp>
    </p:spTree>
    <p:extLst>
      <p:ext uri="{BB962C8B-B14F-4D97-AF65-F5344CB8AC3E}">
        <p14:creationId xmlns:p14="http://schemas.microsoft.com/office/powerpoint/2010/main" val="1997419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85344"/>
            <a:ext cx="8816837" cy="4801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2800" dirty="0">
                <a:latin typeface="Comic Sans MS" panose="030F0702030302020204" pitchFamily="66" charset="0"/>
                <a:cs typeface="Times New Roman" panose="02020603050405020304" pitchFamily="18" charset="0"/>
              </a:rPr>
              <a:t>Sample Size for the Case of Indirect Association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6127597-616C-41D1-BE4A-CCD2588CAC60}"/>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In the case of indirect association, the approach from above needs to be extended slightly.</a:t>
                </a:r>
              </a:p>
              <a:p>
                <a:r>
                  <a:rPr lang="en-ZA" sz="1800" b="1" kern="1200" dirty="0">
                    <a:solidFill>
                      <a:schemeClr val="bg2"/>
                    </a:solidFill>
                    <a:latin typeface="Arial" panose="020B0604020202020204" pitchFamily="34" charset="0"/>
                    <a:cs typeface="Times New Roman" panose="02020603050405020304" pitchFamily="18" charset="0"/>
                  </a:rPr>
                  <a:t>Here, it is assumed that the association with a marker allele is observed because the marker locus is in LD with the disease locus, which is, in turn, the causal determinant for the disease. Therefore, the sample size depends on the effects at both the marker and the disease locus and on the LD between the two loci.</a:t>
                </a:r>
              </a:p>
              <a:p>
                <a:r>
                  <a:rPr lang="en-ZA" sz="1800" b="1" kern="1200" dirty="0">
                    <a:solidFill>
                      <a:schemeClr val="bg2"/>
                    </a:solidFill>
                    <a:latin typeface="Arial" panose="020B0604020202020204" pitchFamily="34" charset="0"/>
                    <a:cs typeface="Times New Roman" panose="02020603050405020304" pitchFamily="18" charset="0"/>
                  </a:rPr>
                  <a:t>the sample size calculation for the allelic odds ratio ORA, the OR at the marker locus ORA can be calculated from the OR at the disease locus ORD, if the allele frequencies at both loci and the LD are known, by</a:t>
                </a:r>
              </a:p>
              <a:p>
                <a:pPr marL="0" indent="0">
                  <a:buNone/>
                </a:pPr>
                <a14:m>
                  <m:oMathPara xmlns:m="http://schemas.openxmlformats.org/officeDocument/2006/math">
                    <m:oMathParaPr>
                      <m:jc m:val="centerGroup"/>
                    </m:oMathParaPr>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𝑂𝑅</m:t>
                          </m:r>
                        </m:e>
                        <m:sub>
                          <m:r>
                            <a:rPr lang="en-ZA" sz="1800" b="1" kern="1200">
                              <a:solidFill>
                                <a:schemeClr val="bg2"/>
                              </a:solidFill>
                              <a:latin typeface="Cambria Math" panose="02040503050406030204" pitchFamily="18" charset="0"/>
                            </a:rPr>
                            <m:t>𝐴</m:t>
                          </m:r>
                        </m:sub>
                      </m:sSub>
                      <m:r>
                        <a:rPr lang="en-ZA" sz="1800" b="1" kern="1200">
                          <a:solidFill>
                            <a:schemeClr val="bg2"/>
                          </a:solidFill>
                          <a:latin typeface="Cambria Math" panose="02040503050406030204" pitchFamily="18" charset="0"/>
                        </a:rPr>
                        <m:t>=1+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𝐷</m:t>
                          </m:r>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𝑂𝑅</m:t>
                              </m:r>
                            </m:e>
                            <m:sub>
                              <m:r>
                                <a:rPr lang="en-ZA" sz="1800" b="1" kern="1200">
                                  <a:solidFill>
                                    <a:schemeClr val="bg2"/>
                                  </a:solidFill>
                                  <a:latin typeface="Cambria Math" panose="02040503050406030204" pitchFamily="18" charset="0"/>
                                </a:rPr>
                                <m:t>𝐷</m:t>
                              </m:r>
                            </m:sub>
                          </m:sSub>
                          <m:r>
                            <a:rPr lang="en-ZA" sz="1800" b="1" kern="1200">
                              <a:solidFill>
                                <a:schemeClr val="bg2"/>
                              </a:solidFill>
                              <a:latin typeface="Cambria Math" panose="02040503050406030204" pitchFamily="18" charset="0"/>
                            </a:rPr>
                            <m:t>−1)</m:t>
                          </m:r>
                        </m:num>
                        <m:den>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d>
                            <m:dPr>
                              <m:ctrlPr>
                                <a:rPr lang="en-ZA" sz="1800" b="1" i="1" kern="1200">
                                  <a:solidFill>
                                    <a:schemeClr val="bg2"/>
                                  </a:solidFill>
                                  <a:latin typeface="Cambria Math" panose="02040503050406030204" pitchFamily="18" charset="0"/>
                                </a:rPr>
                              </m:ctrlPr>
                            </m:dPr>
                            <m:e>
                              <m:d>
                                <m:dPr>
                                  <m:ctrlPr>
                                    <a:rPr lang="en-ZA" sz="1800" b="1" i="1" kern="1200">
                                      <a:solidFill>
                                        <a:schemeClr val="bg2"/>
                                      </a:solidFill>
                                      <a:latin typeface="Cambria Math" panose="02040503050406030204" pitchFamily="18" charset="0"/>
                                    </a:rPr>
                                  </m:ctrlPr>
                                </m:dPr>
                                <m:e>
                                  <m:r>
                                    <a:rPr lang="en-ZA" sz="1800" b="1" kern="1200">
                                      <a:solidFill>
                                        <a:schemeClr val="bg2"/>
                                      </a:solidFill>
                                      <a:latin typeface="Cambria Math" panose="02040503050406030204" pitchFamily="18" charset="0"/>
                                    </a:rPr>
                                    <m:t>1−</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e>
                              </m:d>
                              <m:r>
                                <a:rPr lang="en-ZA" sz="1800" b="1" kern="1200">
                                  <a:solidFill>
                                    <a:schemeClr val="bg2"/>
                                  </a:solidFill>
                                  <a:latin typeface="Cambria Math" panose="02040503050406030204" pitchFamily="18" charset="0"/>
                                </a:rPr>
                                <m:t>+ </m:t>
                              </m:r>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𝐷</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d>
                                    <m:dPr>
                                      <m:ctrlPr>
                                        <a:rPr lang="en-ZA" sz="1800" b="1" i="1" kern="1200">
                                          <a:solidFill>
                                            <a:schemeClr val="bg2"/>
                                          </a:solidFill>
                                          <a:latin typeface="Cambria Math" panose="02040503050406030204" pitchFamily="18" charset="0"/>
                                        </a:rPr>
                                      </m:ctrlPr>
                                    </m:dPr>
                                    <m:e>
                                      <m:r>
                                        <a:rPr lang="en-ZA" sz="1800" b="1" kern="1200">
                                          <a:solidFill>
                                            <a:schemeClr val="bg2"/>
                                          </a:solidFill>
                                          <a:latin typeface="Cambria Math" panose="02040503050406030204" pitchFamily="18" charset="0"/>
                                        </a:rPr>
                                        <m:t>1−</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e>
                                  </m:d>
                                  <m:r>
                                    <a:rPr lang="en-ZA" sz="1800" b="1" kern="1200">
                                      <a:solidFill>
                                        <a:schemeClr val="bg2"/>
                                      </a:solidFill>
                                      <a:latin typeface="Cambria Math" panose="02040503050406030204" pitchFamily="18" charset="0"/>
                                    </a:rPr>
                                    <m:t> −</m:t>
                                  </m:r>
                                  <m:r>
                                    <a:rPr lang="en-ZA" sz="1800" b="1" kern="1200">
                                      <a:solidFill>
                                        <a:schemeClr val="bg2"/>
                                      </a:solidFill>
                                      <a:latin typeface="Cambria Math" panose="02040503050406030204" pitchFamily="18" charset="0"/>
                                    </a:rPr>
                                    <m:t>𝐷</m:t>
                                  </m:r>
                                </m:e>
                              </m:d>
                              <m:d>
                                <m:dPr>
                                  <m:ctrlPr>
                                    <a:rPr lang="en-ZA" sz="1800" b="1" i="1" kern="1200">
                                      <a:solidFill>
                                        <a:schemeClr val="bg2"/>
                                      </a:solidFill>
                                      <a:latin typeface="Cambria Math" panose="02040503050406030204" pitchFamily="18" charset="0"/>
                                    </a:rPr>
                                  </m:ctrlPr>
                                </m:dP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𝑂𝑅</m:t>
                                      </m:r>
                                    </m:e>
                                    <m:sub>
                                      <m:r>
                                        <a:rPr lang="en-ZA" sz="1800" b="1" kern="1200">
                                          <a:solidFill>
                                            <a:schemeClr val="bg2"/>
                                          </a:solidFill>
                                          <a:latin typeface="Cambria Math" panose="02040503050406030204" pitchFamily="18" charset="0"/>
                                        </a:rPr>
                                        <m:t>𝐷</m:t>
                                      </m:r>
                                    </m:sub>
                                  </m:sSub>
                                  <m:r>
                                    <a:rPr lang="en-ZA" sz="1800" b="1" kern="1200">
                                      <a:solidFill>
                                        <a:schemeClr val="bg2"/>
                                      </a:solidFill>
                                      <a:latin typeface="Cambria Math" panose="02040503050406030204" pitchFamily="18" charset="0"/>
                                    </a:rPr>
                                    <m:t>−1</m:t>
                                  </m:r>
                                </m:e>
                              </m:d>
                            </m:e>
                          </m:d>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a:p>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with D giving the LD between the loci and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oMath>
                </a14:m>
                <a:r>
                  <a:rPr lang="en-ZA" sz="18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𝐷</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oMath>
                </a14:m>
                <a:r>
                  <a:rPr lang="en-ZA" sz="1800" b="1" kern="1200" dirty="0">
                    <a:solidFill>
                      <a:schemeClr val="bg2"/>
                    </a:solidFill>
                    <a:latin typeface="Arial" panose="020B0604020202020204" pitchFamily="34" charset="0"/>
                    <a:cs typeface="Times New Roman" panose="02020603050405020304" pitchFamily="18" charset="0"/>
                  </a:rPr>
                  <a:t> as the allele frequencies at the marker and the disease locus, respectively. Utilizing this, the sample size may then be estimated as before based on the OR and allele frequencies at the marker locus.</a:t>
                </a:r>
              </a:p>
            </p:txBody>
          </p:sp>
        </mc:Choice>
        <mc:Fallback xmlns="">
          <p:sp>
            <p:nvSpPr>
              <p:cNvPr id="4" name="Content Placeholder 2">
                <a:extLst>
                  <a:ext uri="{FF2B5EF4-FFF2-40B4-BE49-F238E27FC236}">
                    <a16:creationId xmlns:a16="http://schemas.microsoft.com/office/drawing/2014/main" id="{B6127597-616C-41D1-BE4A-CCD2588CAC60}"/>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3"/>
                <a:stretch>
                  <a:fillRect l="-421" t="-532" r="-772"/>
                </a:stretch>
              </a:blipFill>
            </p:spPr>
            <p:txBody>
              <a:bodyPr/>
              <a:lstStyle/>
              <a:p>
                <a:r>
                  <a:rPr lang="en-ZA">
                    <a:noFill/>
                  </a:rPr>
                  <a:t> </a:t>
                </a:r>
              </a:p>
            </p:txBody>
          </p:sp>
        </mc:Fallback>
      </mc:AlternateContent>
    </p:spTree>
    <p:extLst>
      <p:ext uri="{BB962C8B-B14F-4D97-AF65-F5344CB8AC3E}">
        <p14:creationId xmlns:p14="http://schemas.microsoft.com/office/powerpoint/2010/main" val="2658199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303844" y="129883"/>
            <a:ext cx="8536311" cy="4801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2800" dirty="0">
                <a:latin typeface="Comic Sans MS" panose="030F0702030302020204" pitchFamily="66" charset="0"/>
                <a:cs typeface="Times New Roman" panose="02020603050405020304" pitchFamily="18" charset="0"/>
              </a:rPr>
              <a:t>Resulting Sample Sizes for Indirect Association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D7F78C7-32E7-4B21-94E1-24808639F94D}"/>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The table below shows the required sample sizes to detect an odds ratio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𝑂𝑅</m:t>
                        </m:r>
                      </m:e>
                      <m:sub>
                        <m:r>
                          <a:rPr lang="en-ZA" sz="1800" b="1" kern="1200">
                            <a:solidFill>
                              <a:schemeClr val="bg2"/>
                            </a:solidFill>
                            <a:latin typeface="Cambria Math" panose="02040503050406030204" pitchFamily="18" charset="0"/>
                            <a:cs typeface="Times New Roman" panose="02020603050405020304" pitchFamily="18" charset="0"/>
                          </a:rPr>
                          <m:t>𝐷</m:t>
                        </m:r>
                      </m:sub>
                    </m:sSub>
                  </m:oMath>
                </a14:m>
                <a:r>
                  <a:rPr lang="en-ZA" sz="1800" b="1" kern="1200" dirty="0">
                    <a:solidFill>
                      <a:schemeClr val="bg2"/>
                    </a:solidFill>
                    <a:latin typeface="Arial" panose="020B0604020202020204" pitchFamily="34" charset="0"/>
                    <a:cs typeface="Times New Roman" panose="02020603050405020304" pitchFamily="18" charset="0"/>
                  </a:rPr>
                  <a:t> for the disease allele D with an allele frequency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𝑝</m:t>
                        </m:r>
                      </m:e>
                      <m:sub>
                        <m:r>
                          <a:rPr lang="en-ZA" sz="1800" b="1" kern="1200">
                            <a:solidFill>
                              <a:schemeClr val="bg2"/>
                            </a:solidFill>
                            <a:latin typeface="Cambria Math" panose="02040503050406030204" pitchFamily="18" charset="0"/>
                            <a:cs typeface="Times New Roman" panose="02020603050405020304" pitchFamily="18" charset="0"/>
                          </a:rPr>
                          <m:t>𝐴</m:t>
                        </m:r>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𝑢</m:t>
                        </m:r>
                      </m:sub>
                    </m:sSub>
                  </m:oMath>
                </a14:m>
                <a:r>
                  <a:rPr lang="en-ZA" sz="1800" b="1" kern="1200" dirty="0">
                    <a:solidFill>
                      <a:schemeClr val="bg2"/>
                    </a:solidFill>
                    <a:latin typeface="Arial" panose="020B0604020202020204" pitchFamily="34" charset="0"/>
                    <a:cs typeface="Times New Roman" panose="02020603050405020304" pitchFamily="18" charset="0"/>
                  </a:rPr>
                  <a:t> and disease allele frequency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𝑝</m:t>
                        </m:r>
                      </m:e>
                      <m:sub>
                        <m:r>
                          <a:rPr lang="en-ZA" sz="1800" b="1" kern="1200">
                            <a:solidFill>
                              <a:schemeClr val="bg2"/>
                            </a:solidFill>
                            <a:latin typeface="Cambria Math" panose="02040503050406030204" pitchFamily="18" charset="0"/>
                            <a:cs typeface="Times New Roman" panose="02020603050405020304" pitchFamily="18" charset="0"/>
                          </a:rPr>
                          <m:t>𝐷</m:t>
                        </m:r>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𝑢</m:t>
                        </m:r>
                      </m:sub>
                    </m:sSub>
                  </m:oMath>
                </a14:m>
                <a:r>
                  <a:rPr lang="en-ZA" sz="1800" b="1" kern="1200" dirty="0">
                    <a:solidFill>
                      <a:schemeClr val="bg2"/>
                    </a:solidFill>
                    <a:latin typeface="Arial" panose="020B0604020202020204" pitchFamily="34" charset="0"/>
                    <a:cs typeface="Times New Roman" panose="02020603050405020304" pitchFamily="18" charset="0"/>
                  </a:rPr>
                  <a:t> in unaffected controls at </a:t>
                </a:r>
                <a14:m>
                  <m:oMath xmlns:m="http://schemas.openxmlformats.org/officeDocument/2006/math">
                    <m:r>
                      <a:rPr lang="en-ZA" sz="1800" b="1" kern="1200">
                        <a:solidFill>
                          <a:schemeClr val="bg2"/>
                        </a:solidFill>
                        <a:latin typeface="Cambria Math" panose="02040503050406030204" pitchFamily="18" charset="0"/>
                        <a:cs typeface="Times New Roman" panose="02020603050405020304" pitchFamily="18" charset="0"/>
                      </a:rPr>
                      <m:t>𝐷</m:t>
                    </m:r>
                    <m:r>
                      <a:rPr lang="en-ZA" sz="1800" b="1" kern="1200">
                        <a:solidFill>
                          <a:schemeClr val="bg2"/>
                        </a:solidFill>
                        <a:latin typeface="Cambria Math" panose="02040503050406030204" pitchFamily="18" charset="0"/>
                        <a:cs typeface="Times New Roman" panose="02020603050405020304" pitchFamily="18" charset="0"/>
                      </a:rPr>
                      <m:t>= </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𝐷</m:t>
                        </m:r>
                      </m:e>
                      <m:sub>
                        <m:r>
                          <a:rPr lang="en-ZA" sz="1800" b="1" kern="1200">
                            <a:solidFill>
                              <a:schemeClr val="bg2"/>
                            </a:solidFill>
                            <a:latin typeface="Cambria Math" panose="02040503050406030204" pitchFamily="18" charset="0"/>
                            <a:cs typeface="Times New Roman" panose="02020603050405020304" pitchFamily="18" charset="0"/>
                          </a:rPr>
                          <m:t>𝑚𝑎𝑥</m:t>
                        </m:r>
                      </m:sub>
                    </m:sSub>
                  </m:oMath>
                </a14:m>
                <a:r>
                  <a:rPr lang="en-ZA" sz="1800" b="1" kern="1200" dirty="0">
                    <a:solidFill>
                      <a:schemeClr val="bg2"/>
                    </a:solidFill>
                    <a:latin typeface="Arial" panose="020B0604020202020204" pitchFamily="34" charset="0"/>
                    <a:cs typeface="Times New Roman" panose="02020603050405020304" pitchFamily="18" charset="0"/>
                  </a:rPr>
                  <a:t>, a significance level </a:t>
                </a:r>
                <a14:m>
                  <m:oMath xmlns:m="http://schemas.openxmlformats.org/officeDocument/2006/math">
                    <m:r>
                      <a:rPr lang="en-ZA" sz="1800" b="1" kern="1200">
                        <a:solidFill>
                          <a:schemeClr val="bg2"/>
                        </a:solidFill>
                        <a:latin typeface="Cambria Math" panose="02040503050406030204" pitchFamily="18" charset="0"/>
                        <a:cs typeface="Times New Roman" panose="02020603050405020304" pitchFamily="18" charset="0"/>
                      </a:rPr>
                      <m:t>𝛼</m:t>
                    </m:r>
                    <m:r>
                      <a:rPr lang="en-ZA" sz="1800" b="1" kern="1200">
                        <a:solidFill>
                          <a:schemeClr val="bg2"/>
                        </a:solidFill>
                        <a:latin typeface="Cambria Math" panose="02040503050406030204" pitchFamily="18" charset="0"/>
                        <a:cs typeface="Times New Roman" panose="02020603050405020304" pitchFamily="18" charset="0"/>
                      </a:rPr>
                      <m:t>=0.0001</m:t>
                    </m:r>
                  </m:oMath>
                </a14:m>
                <a:r>
                  <a:rPr lang="en-ZA" sz="1800" b="1" kern="1200" dirty="0">
                    <a:solidFill>
                      <a:schemeClr val="bg2"/>
                    </a:solidFill>
                    <a:latin typeface="Arial" panose="020B0604020202020204" pitchFamily="34" charset="0"/>
                    <a:cs typeface="Times New Roman" panose="02020603050405020304" pitchFamily="18" charset="0"/>
                  </a:rPr>
                  <a:t>, and a power of 80%</a:t>
                </a:r>
              </a:p>
            </p:txBody>
          </p:sp>
        </mc:Choice>
        <mc:Fallback xmlns="">
          <p:sp>
            <p:nvSpPr>
              <p:cNvPr id="4" name="Content Placeholder 2">
                <a:extLst>
                  <a:ext uri="{FF2B5EF4-FFF2-40B4-BE49-F238E27FC236}">
                    <a16:creationId xmlns:a16="http://schemas.microsoft.com/office/drawing/2014/main" id="{4D7F78C7-32E7-4B21-94E1-24808639F94D}"/>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3"/>
                <a:stretch>
                  <a:fillRect l="-421" t="-532"/>
                </a:stretch>
              </a:blipFill>
            </p:spPr>
            <p:txBody>
              <a:bodyPr/>
              <a:lstStyle/>
              <a:p>
                <a:r>
                  <a:rPr lang="en-ZA">
                    <a:noFill/>
                  </a:rPr>
                  <a:t> </a:t>
                </a:r>
              </a:p>
            </p:txBody>
          </p:sp>
        </mc:Fallback>
      </mc:AlternateContent>
      <p:pic>
        <p:nvPicPr>
          <p:cNvPr id="5" name="Picture 4" descr="A picture containing text, black&#10;&#10;Description automatically generated">
            <a:extLst>
              <a:ext uri="{FF2B5EF4-FFF2-40B4-BE49-F238E27FC236}">
                <a16:creationId xmlns:a16="http://schemas.microsoft.com/office/drawing/2014/main" id="{001EC3D3-AC84-4086-83DA-40B66A207B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5899" y="2236681"/>
            <a:ext cx="6172200" cy="4086225"/>
          </a:xfrm>
          <a:prstGeom prst="rect">
            <a:avLst/>
          </a:prstGeom>
        </p:spPr>
      </p:pic>
    </p:spTree>
    <p:extLst>
      <p:ext uri="{BB962C8B-B14F-4D97-AF65-F5344CB8AC3E}">
        <p14:creationId xmlns:p14="http://schemas.microsoft.com/office/powerpoint/2010/main" val="2834730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93800" y="85344"/>
            <a:ext cx="81564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Example of Sample Size Calculation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CBF819A3-88DB-4229-8090-0547FA788C3D}"/>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Consider the case of comparing allele frequencies between cases and controls. When the disease-causing variant is investigated directly, an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𝑂𝑅</m:t>
                        </m:r>
                      </m:e>
                      <m:sub>
                        <m:r>
                          <a:rPr lang="en-ZA" sz="1800" b="1" kern="1200">
                            <a:solidFill>
                              <a:schemeClr val="bg2"/>
                            </a:solidFill>
                            <a:latin typeface="Cambria Math" panose="02040503050406030204" pitchFamily="18" charset="0"/>
                            <a:cs typeface="Times New Roman" panose="02020603050405020304" pitchFamily="18" charset="0"/>
                          </a:rPr>
                          <m:t>𝐴</m:t>
                        </m:r>
                      </m:sub>
                    </m:sSub>
                  </m:oMath>
                </a14:m>
                <a:r>
                  <a:rPr lang="en-ZA" sz="1800" b="1" kern="1200" dirty="0">
                    <a:solidFill>
                      <a:schemeClr val="bg2"/>
                    </a:solidFill>
                    <a:latin typeface="Arial" panose="020B0604020202020204" pitchFamily="34" charset="0"/>
                    <a:cs typeface="Times New Roman" panose="02020603050405020304" pitchFamily="18" charset="0"/>
                  </a:rPr>
                  <a:t> = 2 is assumed for an allele with a frequency of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𝑝</m:t>
                        </m:r>
                      </m:e>
                      <m:sub>
                        <m:r>
                          <a:rPr lang="en-ZA" sz="1800" b="1" kern="1200">
                            <a:solidFill>
                              <a:schemeClr val="bg2"/>
                            </a:solidFill>
                            <a:latin typeface="Cambria Math" panose="02040503050406030204" pitchFamily="18" charset="0"/>
                            <a:cs typeface="Times New Roman" panose="02020603050405020304" pitchFamily="18" charset="0"/>
                          </a:rPr>
                          <m:t>𝐴</m:t>
                        </m:r>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𝑢</m:t>
                        </m:r>
                      </m:sub>
                    </m:sSub>
                  </m:oMath>
                </a14:m>
                <a:r>
                  <a:rPr lang="en-ZA" sz="1800" b="1" kern="1200" dirty="0">
                    <a:solidFill>
                      <a:schemeClr val="bg2"/>
                    </a:solidFill>
                    <a:latin typeface="Arial" panose="020B0604020202020204" pitchFamily="34" charset="0"/>
                    <a:cs typeface="Times New Roman" panose="02020603050405020304" pitchFamily="18" charset="0"/>
                  </a:rPr>
                  <a:t> = 0.1 in the control population. Hence, the expected allele frequency in the cases and the mean allele frequency are</a:t>
                </a:r>
              </a:p>
              <a:p>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US" sz="1800" b="1" kern="1200">
                            <a:solidFill>
                              <a:schemeClr val="bg2"/>
                            </a:solidFill>
                            <a:latin typeface="Cambria Math" panose="02040503050406030204" pitchFamily="18" charset="0"/>
                            <a:cs typeface="Times New Roman" panose="02020603050405020304" pitchFamily="18" charset="0"/>
                          </a:rPr>
                          <m:t>                 </m:t>
                        </m:r>
                        <m:r>
                          <a:rPr lang="en-ZA" sz="1800" b="1" kern="1200">
                            <a:solidFill>
                              <a:schemeClr val="bg2"/>
                            </a:solidFill>
                            <a:latin typeface="Cambria Math" panose="02040503050406030204" pitchFamily="18" charset="0"/>
                            <a:cs typeface="Times New Roman" panose="02020603050405020304" pitchFamily="18" charset="0"/>
                          </a:rPr>
                          <m:t>𝑝</m:t>
                        </m:r>
                      </m:e>
                      <m:sub>
                        <m:r>
                          <a:rPr lang="en-ZA" sz="1800" b="1" kern="1200">
                            <a:solidFill>
                              <a:schemeClr val="bg2"/>
                            </a:solidFill>
                            <a:latin typeface="Cambria Math" panose="02040503050406030204" pitchFamily="18" charset="0"/>
                            <a:cs typeface="Times New Roman" panose="02020603050405020304" pitchFamily="18" charset="0"/>
                          </a:rPr>
                          <m:t>𝐴</m:t>
                        </m:r>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𝑎</m:t>
                        </m:r>
                      </m:sub>
                    </m:sSub>
                    <m:r>
                      <a:rPr lang="en-ZA" sz="1800" b="1" kern="1200">
                        <a:solidFill>
                          <a:schemeClr val="bg2"/>
                        </a:solidFill>
                        <a:latin typeface="Cambria Math" panose="02040503050406030204" pitchFamily="18" charset="0"/>
                        <a:cs typeface="Times New Roman" panose="02020603050405020304" pitchFamily="18" charset="0"/>
                      </a:rPr>
                      <m:t>= </m:t>
                    </m:r>
                    <m:f>
                      <m:fPr>
                        <m:ctrlPr>
                          <a:rPr lang="en-ZA" sz="1800" b="1" i="1" kern="1200">
                            <a:solidFill>
                              <a:schemeClr val="bg2"/>
                            </a:solidFill>
                            <a:latin typeface="Cambria Math" panose="02040503050406030204" pitchFamily="18" charset="0"/>
                            <a:cs typeface="Times New Roman" panose="02020603050405020304" pitchFamily="18" charset="0"/>
                          </a:rPr>
                        </m:ctrlPr>
                      </m:fPr>
                      <m:num>
                        <m:r>
                          <a:rPr lang="en-ZA" sz="1800" b="1" kern="1200">
                            <a:solidFill>
                              <a:schemeClr val="bg2"/>
                            </a:solidFill>
                            <a:latin typeface="Cambria Math" panose="02040503050406030204" pitchFamily="18" charset="0"/>
                            <a:cs typeface="Times New Roman" panose="02020603050405020304" pitchFamily="18" charset="0"/>
                          </a:rPr>
                          <m:t>0.1 . 2</m:t>
                        </m:r>
                      </m:num>
                      <m:den>
                        <m:r>
                          <a:rPr lang="en-ZA" sz="1800" b="1" kern="1200">
                            <a:solidFill>
                              <a:schemeClr val="bg2"/>
                            </a:solidFill>
                            <a:latin typeface="Cambria Math" panose="02040503050406030204" pitchFamily="18" charset="0"/>
                            <a:cs typeface="Times New Roman" panose="02020603050405020304" pitchFamily="18" charset="0"/>
                          </a:rPr>
                          <m:t>1+0.1 . (2−1)</m:t>
                        </m:r>
                      </m:den>
                    </m:f>
                    <m:r>
                      <a:rPr lang="en-ZA" sz="1800" b="1" kern="1200">
                        <a:solidFill>
                          <a:schemeClr val="bg2"/>
                        </a:solidFill>
                        <a:latin typeface="Cambria Math" panose="02040503050406030204" pitchFamily="18" charset="0"/>
                        <a:cs typeface="Times New Roman" panose="02020603050405020304" pitchFamily="18" charset="0"/>
                      </a:rPr>
                      <m:t>=0.18</m:t>
                    </m:r>
                  </m:oMath>
                </a14:m>
                <a:r>
                  <a:rPr lang="en-ZA" sz="18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acc>
                      <m:accPr>
                        <m:chr m:val="̅"/>
                        <m:ctrlPr>
                          <a:rPr lang="en-ZA" sz="1800" b="1" i="1" kern="1200">
                            <a:solidFill>
                              <a:schemeClr val="bg2"/>
                            </a:solidFill>
                            <a:latin typeface="Cambria Math" panose="02040503050406030204" pitchFamily="18" charset="0"/>
                            <a:cs typeface="Times New Roman" panose="02020603050405020304" pitchFamily="18" charset="0"/>
                          </a:rPr>
                        </m:ctrlPr>
                      </m:accPr>
                      <m:e>
                        <m:r>
                          <a:rPr lang="en-ZA" sz="1800" b="1" kern="1200">
                            <a:solidFill>
                              <a:schemeClr val="bg2"/>
                            </a:solidFill>
                            <a:latin typeface="Cambria Math" panose="02040503050406030204" pitchFamily="18" charset="0"/>
                            <a:cs typeface="Times New Roman" panose="02020603050405020304" pitchFamily="18" charset="0"/>
                          </a:rPr>
                          <m:t>𝑝</m:t>
                        </m:r>
                      </m:e>
                    </m:acc>
                    <m:r>
                      <a:rPr lang="en-ZA" sz="1800" b="1" kern="1200">
                        <a:solidFill>
                          <a:schemeClr val="bg2"/>
                        </a:solidFill>
                        <a:latin typeface="Cambria Math" panose="02040503050406030204" pitchFamily="18" charset="0"/>
                        <a:cs typeface="Times New Roman" panose="02020603050405020304" pitchFamily="18" charset="0"/>
                      </a:rPr>
                      <m:t>= </m:t>
                    </m:r>
                    <m:f>
                      <m:fPr>
                        <m:ctrlPr>
                          <a:rPr lang="en-ZA" sz="1800" b="1" i="1" kern="1200">
                            <a:solidFill>
                              <a:schemeClr val="bg2"/>
                            </a:solidFill>
                            <a:latin typeface="Cambria Math" panose="02040503050406030204" pitchFamily="18" charset="0"/>
                            <a:cs typeface="Times New Roman" panose="02020603050405020304" pitchFamily="18" charset="0"/>
                          </a:rPr>
                        </m:ctrlPr>
                      </m:fPr>
                      <m:num>
                        <m:r>
                          <a:rPr lang="en-ZA" sz="1800" b="1" kern="1200">
                            <a:solidFill>
                              <a:schemeClr val="bg2"/>
                            </a:solidFill>
                            <a:latin typeface="Cambria Math" panose="02040503050406030204" pitchFamily="18" charset="0"/>
                            <a:cs typeface="Times New Roman" panose="02020603050405020304" pitchFamily="18" charset="0"/>
                          </a:rPr>
                          <m:t>1</m:t>
                        </m:r>
                      </m:num>
                      <m:den>
                        <m:r>
                          <a:rPr lang="en-ZA" sz="1800" b="1" kern="1200">
                            <a:solidFill>
                              <a:schemeClr val="bg2"/>
                            </a:solidFill>
                            <a:latin typeface="Cambria Math" panose="02040503050406030204" pitchFamily="18" charset="0"/>
                            <a:cs typeface="Times New Roman" panose="02020603050405020304" pitchFamily="18" charset="0"/>
                          </a:rPr>
                          <m:t>2</m:t>
                        </m:r>
                      </m:den>
                    </m:f>
                    <m:d>
                      <m:dPr>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0.18+0.1</m:t>
                        </m:r>
                      </m:e>
                    </m:d>
                    <m:r>
                      <a:rPr lang="en-ZA" sz="1800" b="1" kern="1200">
                        <a:solidFill>
                          <a:schemeClr val="bg2"/>
                        </a:solidFill>
                        <a:latin typeface="Cambria Math" panose="02040503050406030204" pitchFamily="18" charset="0"/>
                        <a:cs typeface="Times New Roman" panose="02020603050405020304" pitchFamily="18" charset="0"/>
                      </a:rPr>
                      <m:t>=0.14</m:t>
                    </m:r>
                  </m:oMath>
                </a14:m>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To detect this effect in a two-sided test with a power of </a:t>
                </a:r>
                <a14:m>
                  <m:oMath xmlns:m="http://schemas.openxmlformats.org/officeDocument/2006/math">
                    <m:d>
                      <m:dPr>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1 − </m:t>
                        </m:r>
                        <m:r>
                          <a:rPr lang="en-ZA" sz="1800" b="1" kern="1200">
                            <a:solidFill>
                              <a:schemeClr val="bg2"/>
                            </a:solidFill>
                            <a:latin typeface="Cambria Math" panose="02040503050406030204" pitchFamily="18" charset="0"/>
                            <a:cs typeface="Times New Roman" panose="02020603050405020304" pitchFamily="18" charset="0"/>
                          </a:rPr>
                          <m:t>𝛽</m:t>
                        </m:r>
                      </m:e>
                    </m:d>
                    <m:r>
                      <a:rPr lang="en-ZA" sz="1800" b="1" kern="1200">
                        <a:solidFill>
                          <a:schemeClr val="bg2"/>
                        </a:solidFill>
                        <a:latin typeface="Cambria Math" panose="02040503050406030204" pitchFamily="18" charset="0"/>
                        <a:cs typeface="Times New Roman" panose="02020603050405020304" pitchFamily="18" charset="0"/>
                      </a:rPr>
                      <m:t>=0.8</m:t>
                    </m:r>
                  </m:oMath>
                </a14:m>
                <a:r>
                  <a:rPr lang="en-ZA" sz="1800" b="1" kern="1200" dirty="0">
                    <a:solidFill>
                      <a:schemeClr val="bg2"/>
                    </a:solidFill>
                    <a:latin typeface="Arial" panose="020B0604020202020204" pitchFamily="34" charset="0"/>
                    <a:cs typeface="Times New Roman" panose="02020603050405020304" pitchFamily="18" charset="0"/>
                  </a:rPr>
                  <a:t> at a significance level of </a:t>
                </a:r>
                <a14:m>
                  <m:oMath xmlns:m="http://schemas.openxmlformats.org/officeDocument/2006/math">
                    <m:r>
                      <a:rPr lang="en-ZA" sz="1800" b="1" kern="1200">
                        <a:solidFill>
                          <a:schemeClr val="bg2"/>
                        </a:solidFill>
                        <a:latin typeface="Cambria Math" panose="02040503050406030204" pitchFamily="18" charset="0"/>
                        <a:cs typeface="Times New Roman" panose="02020603050405020304" pitchFamily="18" charset="0"/>
                      </a:rPr>
                      <m:t>𝛼</m:t>
                    </m:r>
                    <m:r>
                      <a:rPr lang="en-ZA" sz="1800" b="1" kern="1200">
                        <a:solidFill>
                          <a:schemeClr val="bg2"/>
                        </a:solidFill>
                        <a:latin typeface="Cambria Math" panose="02040503050406030204" pitchFamily="18" charset="0"/>
                        <a:cs typeface="Times New Roman" panose="02020603050405020304" pitchFamily="18" charset="0"/>
                      </a:rPr>
                      <m:t>=0.05</m:t>
                    </m:r>
                  </m:oMath>
                </a14:m>
                <a:r>
                  <a:rPr lang="en-ZA" sz="1800" b="1" kern="1200" dirty="0">
                    <a:solidFill>
                      <a:schemeClr val="bg2"/>
                    </a:solidFill>
                    <a:latin typeface="Arial" panose="020B0604020202020204" pitchFamily="34" charset="0"/>
                    <a:cs typeface="Times New Roman" panose="02020603050405020304" pitchFamily="18" charset="0"/>
                  </a:rPr>
                  <a:t>,</a:t>
                </a:r>
              </a:p>
              <a:p>
                <a:r>
                  <a:rPr lang="en-ZA" sz="1800" b="1" kern="1200" dirty="0">
                    <a:solidFill>
                      <a:schemeClr val="bg2"/>
                    </a:solidFill>
                    <a:latin typeface="Arial" panose="020B0604020202020204" pitchFamily="34" charset="0"/>
                    <a:cs typeface="Times New Roman" panose="02020603050405020304" pitchFamily="18" charset="0"/>
                  </a:rPr>
                  <a:t>                 </a:t>
                </a:r>
                <a14:m>
                  <m:oMath xmlns:m="http://schemas.openxmlformats.org/officeDocument/2006/math">
                    <m:r>
                      <a:rPr lang="en-ZA" sz="1800" b="1" kern="1200">
                        <a:solidFill>
                          <a:schemeClr val="bg2"/>
                        </a:solidFill>
                        <a:latin typeface="Cambria Math" panose="02040503050406030204" pitchFamily="18" charset="0"/>
                        <a:cs typeface="Times New Roman" panose="02020603050405020304" pitchFamily="18" charset="0"/>
                      </a:rPr>
                      <m:t>𝑛</m:t>
                    </m:r>
                    <m:r>
                      <a:rPr lang="en-ZA" sz="1800" b="1" kern="1200">
                        <a:solidFill>
                          <a:schemeClr val="bg2"/>
                        </a:solidFill>
                        <a:latin typeface="Cambria Math" panose="02040503050406030204" pitchFamily="18" charset="0"/>
                        <a:cs typeface="Times New Roman" panose="02020603050405020304" pitchFamily="18" charset="0"/>
                      </a:rPr>
                      <m:t> &gt;2 . </m:t>
                    </m:r>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1.96</m:t>
                                </m:r>
                                <m:rad>
                                  <m:radPr>
                                    <m:degHide m:val="on"/>
                                    <m:ctrlPr>
                                      <a:rPr lang="en-ZA" sz="1800" b="1" i="1" kern="1200">
                                        <a:solidFill>
                                          <a:schemeClr val="bg2"/>
                                        </a:solidFill>
                                        <a:latin typeface="Cambria Math" panose="02040503050406030204" pitchFamily="18" charset="0"/>
                                        <a:cs typeface="Times New Roman" panose="02020603050405020304" pitchFamily="18" charset="0"/>
                                      </a:rPr>
                                    </m:ctrlPr>
                                  </m:radPr>
                                  <m:deg/>
                                  <m:e>
                                    <m:r>
                                      <a:rPr lang="en-ZA" sz="1800" b="1" kern="1200">
                                        <a:solidFill>
                                          <a:schemeClr val="bg2"/>
                                        </a:solidFill>
                                        <a:latin typeface="Cambria Math" panose="02040503050406030204" pitchFamily="18" charset="0"/>
                                        <a:cs typeface="Times New Roman" panose="02020603050405020304" pitchFamily="18" charset="0"/>
                                      </a:rPr>
                                      <m:t>2 . 0.14 (1−0.14)</m:t>
                                    </m:r>
                                  </m:e>
                                </m:rad>
                                <m:r>
                                  <a:rPr lang="en-ZA" sz="1800" b="1" kern="1200">
                                    <a:solidFill>
                                      <a:schemeClr val="bg2"/>
                                    </a:solidFill>
                                    <a:latin typeface="Cambria Math" panose="02040503050406030204" pitchFamily="18" charset="0"/>
                                    <a:cs typeface="Times New Roman" panose="02020603050405020304" pitchFamily="18" charset="0"/>
                                  </a:rPr>
                                  <m:t>+0.84</m:t>
                                </m:r>
                                <m:rad>
                                  <m:radPr>
                                    <m:degHide m:val="on"/>
                                    <m:ctrlPr>
                                      <a:rPr lang="en-ZA" sz="1800" b="1" i="1" kern="1200">
                                        <a:solidFill>
                                          <a:schemeClr val="bg2"/>
                                        </a:solidFill>
                                        <a:latin typeface="Cambria Math" panose="02040503050406030204" pitchFamily="18" charset="0"/>
                                        <a:cs typeface="Times New Roman" panose="02020603050405020304" pitchFamily="18" charset="0"/>
                                      </a:rPr>
                                    </m:ctrlPr>
                                  </m:radPr>
                                  <m:deg/>
                                  <m:e>
                                    <m:r>
                                      <a:rPr lang="en-ZA" sz="1800" b="1" kern="1200">
                                        <a:solidFill>
                                          <a:schemeClr val="bg2"/>
                                        </a:solidFill>
                                        <a:latin typeface="Cambria Math" panose="02040503050406030204" pitchFamily="18" charset="0"/>
                                        <a:cs typeface="Times New Roman" panose="02020603050405020304" pitchFamily="18" charset="0"/>
                                      </a:rPr>
                                      <m:t>0.18</m:t>
                                    </m:r>
                                    <m:d>
                                      <m:dPr>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1−0.18</m:t>
                                        </m:r>
                                      </m:e>
                                    </m:d>
                                    <m:r>
                                      <a:rPr lang="en-ZA" sz="1800" b="1" kern="1200">
                                        <a:solidFill>
                                          <a:schemeClr val="bg2"/>
                                        </a:solidFill>
                                        <a:latin typeface="Cambria Math" panose="02040503050406030204" pitchFamily="18" charset="0"/>
                                        <a:cs typeface="Times New Roman" panose="02020603050405020304" pitchFamily="18" charset="0"/>
                                      </a:rPr>
                                      <m:t>+0.10(1−0.10)</m:t>
                                    </m:r>
                                  </m:e>
                                </m:rad>
                              </m:e>
                            </m:d>
                          </m:e>
                          <m:sup>
                            <m:r>
                              <a:rPr lang="en-ZA" sz="1800" b="1" kern="1200">
                                <a:solidFill>
                                  <a:schemeClr val="bg2"/>
                                </a:solidFill>
                                <a:latin typeface="Cambria Math" panose="02040503050406030204" pitchFamily="18" charset="0"/>
                                <a:cs typeface="Times New Roman" panose="02020603050405020304" pitchFamily="18" charset="0"/>
                              </a:rPr>
                              <m:t>2</m:t>
                            </m:r>
                          </m:sup>
                        </m:sSup>
                      </m:num>
                      <m:den>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d>
                              <m:dPr>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0.18 −0.10</m:t>
                                </m:r>
                              </m:e>
                            </m:d>
                          </m:e>
                          <m:sup>
                            <m:r>
                              <a:rPr lang="en-ZA" sz="1800" b="1" kern="1200">
                                <a:solidFill>
                                  <a:schemeClr val="bg2"/>
                                </a:solidFill>
                                <a:latin typeface="Cambria Math" panose="02040503050406030204" pitchFamily="18" charset="0"/>
                                <a:cs typeface="Times New Roman" panose="02020603050405020304" pitchFamily="18" charset="0"/>
                              </a:rPr>
                              <m:t>2</m:t>
                            </m:r>
                          </m:sup>
                        </m:sSup>
                      </m:den>
                    </m:f>
                    <m:r>
                      <a:rPr lang="en-ZA" sz="1800" b="1" kern="1200">
                        <a:solidFill>
                          <a:schemeClr val="bg2"/>
                        </a:solidFill>
                        <a:latin typeface="Cambria Math" panose="02040503050406030204" pitchFamily="18" charset="0"/>
                        <a:cs typeface="Times New Roman" panose="02020603050405020304" pitchFamily="18" charset="0"/>
                      </a:rPr>
                      <m:t> ≥566</m:t>
                    </m:r>
                  </m:oMath>
                </a14:m>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case and control alleles are required. It should be noted that because allele frequencies are tested in this case, this refers to the number of alleles, not individuals. Hence, 283 case and 283 control alleles are needed, leading to the recruitment of 142 cases and 142 controls.</a:t>
                </a:r>
              </a:p>
              <a:p>
                <a:r>
                  <a:rPr lang="en-ZA" sz="1800" b="1" kern="1200" dirty="0">
                    <a:solidFill>
                      <a:schemeClr val="bg2"/>
                    </a:solidFill>
                    <a:latin typeface="Arial" panose="020B0604020202020204" pitchFamily="34" charset="0"/>
                    <a:cs typeface="Times New Roman" panose="02020603050405020304" pitchFamily="18" charset="0"/>
                  </a:rPr>
                  <a:t>What would be the consequence if, instead of the disease locus, a </a:t>
                </a:r>
                <a:r>
                  <a:rPr lang="en-ZA" sz="1800" b="1" kern="1200" dirty="0" err="1">
                    <a:solidFill>
                      <a:schemeClr val="bg2"/>
                    </a:solidFill>
                    <a:latin typeface="Arial" panose="020B0604020202020204" pitchFamily="34" charset="0"/>
                    <a:cs typeface="Times New Roman" panose="02020603050405020304" pitchFamily="18" charset="0"/>
                  </a:rPr>
                  <a:t>neighboring</a:t>
                </a:r>
                <a:r>
                  <a:rPr lang="en-ZA" sz="1800" b="1" kern="1200" dirty="0">
                    <a:solidFill>
                      <a:schemeClr val="bg2"/>
                    </a:solidFill>
                    <a:latin typeface="Arial" panose="020B0604020202020204" pitchFamily="34" charset="0"/>
                    <a:cs typeface="Times New Roman" panose="02020603050405020304" pitchFamily="18" charset="0"/>
                  </a:rPr>
                  <a:t> marker were genotyped? Assuming that the allele frequency at the marker locus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𝑝</m:t>
                        </m:r>
                      </m:e>
                      <m:sub>
                        <m:r>
                          <a:rPr lang="en-ZA" sz="1800" b="1" kern="1200">
                            <a:solidFill>
                              <a:schemeClr val="bg2"/>
                            </a:solidFill>
                            <a:latin typeface="Cambria Math" panose="02040503050406030204" pitchFamily="18" charset="0"/>
                            <a:cs typeface="Times New Roman" panose="02020603050405020304" pitchFamily="18" charset="0"/>
                          </a:rPr>
                          <m:t>𝐴</m:t>
                        </m:r>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𝑢</m:t>
                        </m:r>
                      </m:sub>
                    </m:sSub>
                  </m:oMath>
                </a14:m>
                <a:r>
                  <a:rPr lang="en-ZA" sz="1800" b="1" kern="1200" dirty="0">
                    <a:solidFill>
                      <a:schemeClr val="bg2"/>
                    </a:solidFill>
                    <a:latin typeface="Arial" panose="020B0604020202020204" pitchFamily="34" charset="0"/>
                    <a:cs typeface="Times New Roman" panose="02020603050405020304" pitchFamily="18" charset="0"/>
                  </a:rPr>
                  <a:t> = 0.3, the maximal LD between the disease and the marker locus is given by max(D) =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𝐷</m:t>
                        </m:r>
                      </m:e>
                      <m:sub>
                        <m:r>
                          <a:rPr lang="en-ZA" sz="1800" b="1" kern="1200">
                            <a:solidFill>
                              <a:schemeClr val="bg2"/>
                            </a:solidFill>
                            <a:latin typeface="Cambria Math" panose="02040503050406030204" pitchFamily="18" charset="0"/>
                            <a:cs typeface="Times New Roman" panose="02020603050405020304" pitchFamily="18" charset="0"/>
                          </a:rPr>
                          <m:t>𝑚𝑎𝑥</m:t>
                        </m:r>
                      </m:sub>
                    </m:sSub>
                    <m:r>
                      <a:rPr lang="en-ZA" sz="1800" b="1" kern="1200">
                        <a:solidFill>
                          <a:schemeClr val="bg2"/>
                        </a:solidFill>
                        <a:latin typeface="Cambria Math" panose="02040503050406030204" pitchFamily="18" charset="0"/>
                        <a:cs typeface="Times New Roman" panose="02020603050405020304" pitchFamily="18" charset="0"/>
                      </a:rPr>
                      <m:t>=</m:t>
                    </m:r>
                    <m:r>
                      <m:rPr>
                        <m:sty m:val="p"/>
                      </m:rPr>
                      <a:rPr lang="en-ZA" sz="1800" b="1" kern="1200">
                        <a:solidFill>
                          <a:schemeClr val="bg2"/>
                        </a:solidFill>
                        <a:latin typeface="Cambria Math" panose="02040503050406030204" pitchFamily="18" charset="0"/>
                        <a:cs typeface="Times New Roman" panose="02020603050405020304" pitchFamily="18" charset="0"/>
                      </a:rPr>
                      <m:t>min</m:t>
                    </m:r>
                    <m:r>
                      <a:rPr lang="en-ZA" sz="1800" b="1" kern="1200">
                        <a:solidFill>
                          <a:schemeClr val="bg2"/>
                        </a:solidFill>
                        <a:latin typeface="Cambria Math" panose="02040503050406030204" pitchFamily="18" charset="0"/>
                        <a:cs typeface="Times New Roman" panose="02020603050405020304" pitchFamily="18" charset="0"/>
                      </a:rPr>
                      <m:t> </m:t>
                    </m:r>
                    <m:d>
                      <m:dPr>
                        <m:begChr m:val="{"/>
                        <m:endChr m:val="}"/>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0.1</m:t>
                        </m:r>
                        <m:d>
                          <m:dPr>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1−0.3</m:t>
                            </m:r>
                          </m:e>
                        </m:d>
                        <m:r>
                          <a:rPr lang="en-ZA" sz="1800" b="1" kern="1200">
                            <a:solidFill>
                              <a:schemeClr val="bg2"/>
                            </a:solidFill>
                            <a:latin typeface="Cambria Math" panose="02040503050406030204" pitchFamily="18" charset="0"/>
                            <a:cs typeface="Times New Roman" panose="02020603050405020304" pitchFamily="18" charset="0"/>
                          </a:rPr>
                          <m:t>, 0.3 </m:t>
                        </m:r>
                        <m:d>
                          <m:dPr>
                            <m:ctrlPr>
                              <a:rPr lang="en-ZA" sz="1800" b="1" i="1" kern="1200">
                                <a:solidFill>
                                  <a:schemeClr val="bg2"/>
                                </a:solidFill>
                                <a:latin typeface="Cambria Math" panose="02040503050406030204" pitchFamily="18" charset="0"/>
                                <a:cs typeface="Times New Roman" panose="02020603050405020304" pitchFamily="18" charset="0"/>
                              </a:rPr>
                            </m:ctrlPr>
                          </m:dPr>
                          <m:e>
                            <m:r>
                              <a:rPr lang="en-ZA" sz="1800" b="1" kern="1200">
                                <a:solidFill>
                                  <a:schemeClr val="bg2"/>
                                </a:solidFill>
                                <a:latin typeface="Cambria Math" panose="02040503050406030204" pitchFamily="18" charset="0"/>
                                <a:cs typeface="Times New Roman" panose="02020603050405020304" pitchFamily="18" charset="0"/>
                              </a:rPr>
                              <m:t>1−0.1</m:t>
                            </m:r>
                          </m:e>
                        </m:d>
                      </m:e>
                    </m:d>
                    <m:r>
                      <a:rPr lang="en-ZA" sz="1800" b="1" kern="1200">
                        <a:solidFill>
                          <a:schemeClr val="bg2"/>
                        </a:solidFill>
                        <a:latin typeface="Cambria Math" panose="02040503050406030204" pitchFamily="18" charset="0"/>
                        <a:cs typeface="Times New Roman" panose="02020603050405020304" pitchFamily="18" charset="0"/>
                      </a:rPr>
                      <m:t>=0.07</m:t>
                    </m:r>
                  </m:oMath>
                </a14:m>
                <a:endParaRPr lang="en-ZA" sz="1800" b="1" kern="1200" dirty="0">
                  <a:solidFill>
                    <a:schemeClr val="bg2"/>
                  </a:solidFill>
                  <a:latin typeface="Arial" panose="020B0604020202020204" pitchFamily="34" charset="0"/>
                  <a:cs typeface="Times New Roman" panose="02020603050405020304" pitchFamily="18" charset="0"/>
                </a:endParaRPr>
              </a:p>
            </p:txBody>
          </p:sp>
        </mc:Choice>
        <mc:Fallback xmlns="">
          <p:sp>
            <p:nvSpPr>
              <p:cNvPr id="6" name="Content Placeholder 2">
                <a:extLst>
                  <a:ext uri="{FF2B5EF4-FFF2-40B4-BE49-F238E27FC236}">
                    <a16:creationId xmlns:a16="http://schemas.microsoft.com/office/drawing/2014/main" id="{CBF819A3-88DB-4229-8090-0547FA788C3D}"/>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3"/>
                <a:stretch>
                  <a:fillRect l="-421" t="-532" r="-1123" b="-1596"/>
                </a:stretch>
              </a:blipFill>
            </p:spPr>
            <p:txBody>
              <a:bodyPr/>
              <a:lstStyle/>
              <a:p>
                <a:r>
                  <a:rPr lang="en-ZA">
                    <a:noFill/>
                  </a:rPr>
                  <a:t> </a:t>
                </a:r>
              </a:p>
            </p:txBody>
          </p:sp>
        </mc:Fallback>
      </mc:AlternateContent>
    </p:spTree>
    <p:extLst>
      <p:ext uri="{BB962C8B-B14F-4D97-AF65-F5344CB8AC3E}">
        <p14:creationId xmlns:p14="http://schemas.microsoft.com/office/powerpoint/2010/main" val="3697388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93800" y="85344"/>
            <a:ext cx="81564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Example of Sample Size Calculation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CBF819A3-88DB-4229-8090-0547FA788C3D}"/>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In the situation that the LD is maximal, the OR at the marker locus would therefore be reduced to</a:t>
                </a:r>
              </a:p>
              <a:p>
                <a:pPr marL="0" indent="0">
                  <a:buNone/>
                </a:pPr>
                <a14:m>
                  <m:oMathPara xmlns:m="http://schemas.openxmlformats.org/officeDocument/2006/math">
                    <m:oMathParaPr>
                      <m:jc m:val="centerGroup"/>
                    </m:oMathParaPr>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𝑂𝑅</m:t>
                          </m:r>
                        </m:e>
                        <m:sub>
                          <m:r>
                            <a:rPr lang="en-ZA" sz="1800" b="1" kern="1200">
                              <a:solidFill>
                                <a:schemeClr val="bg2"/>
                              </a:solidFill>
                              <a:latin typeface="Cambria Math" panose="02040503050406030204" pitchFamily="18" charset="0"/>
                            </a:rPr>
                            <m:t>𝐴</m:t>
                          </m:r>
                        </m:sub>
                      </m:sSub>
                      <m:r>
                        <a:rPr lang="en-ZA" sz="1800" b="1" kern="1200">
                          <a:solidFill>
                            <a:schemeClr val="bg2"/>
                          </a:solidFill>
                          <a:latin typeface="Cambria Math" panose="02040503050406030204" pitchFamily="18" charset="0"/>
                        </a:rPr>
                        <m:t>=1+ </m:t>
                      </m:r>
                      <m:f>
                        <m:fPr>
                          <m:ctrlPr>
                            <a:rPr lang="en-ZA" sz="1800" b="1" i="1" kern="1200">
                              <a:solidFill>
                                <a:schemeClr val="bg2"/>
                              </a:solidFill>
                              <a:latin typeface="Cambria Math" panose="02040503050406030204" pitchFamily="18" charset="0"/>
                            </a:rPr>
                          </m:ctrlPr>
                        </m:fPr>
                        <m:num>
                          <m:r>
                            <a:rPr lang="en-ZA" sz="1800" b="1" kern="1200">
                              <a:solidFill>
                                <a:schemeClr val="bg2"/>
                              </a:solidFill>
                              <a:latin typeface="Cambria Math" panose="02040503050406030204" pitchFamily="18" charset="0"/>
                            </a:rPr>
                            <m:t>0.07(2−1)</m:t>
                          </m:r>
                        </m:num>
                        <m:den>
                          <m:r>
                            <a:rPr lang="en-ZA" sz="1800" b="1" kern="1200">
                              <a:solidFill>
                                <a:schemeClr val="bg2"/>
                              </a:solidFill>
                              <a:latin typeface="Cambria Math" panose="02040503050406030204" pitchFamily="18" charset="0"/>
                            </a:rPr>
                            <m:t>0.3</m:t>
                          </m:r>
                          <m:d>
                            <m:dPr>
                              <m:ctrlPr>
                                <a:rPr lang="en-ZA" sz="1800" b="1" i="1" kern="1200">
                                  <a:solidFill>
                                    <a:schemeClr val="bg2"/>
                                  </a:solidFill>
                                  <a:latin typeface="Cambria Math" panose="02040503050406030204" pitchFamily="18" charset="0"/>
                                </a:rPr>
                              </m:ctrlPr>
                            </m:dPr>
                            <m:e>
                              <m:d>
                                <m:dPr>
                                  <m:ctrlPr>
                                    <a:rPr lang="en-ZA" sz="1800" b="1" i="1" kern="1200">
                                      <a:solidFill>
                                        <a:schemeClr val="bg2"/>
                                      </a:solidFill>
                                      <a:latin typeface="Cambria Math" panose="02040503050406030204" pitchFamily="18" charset="0"/>
                                    </a:rPr>
                                  </m:ctrlPr>
                                </m:dPr>
                                <m:e>
                                  <m:r>
                                    <a:rPr lang="en-ZA" sz="1800" b="1" kern="1200">
                                      <a:solidFill>
                                        <a:schemeClr val="bg2"/>
                                      </a:solidFill>
                                      <a:latin typeface="Cambria Math" panose="02040503050406030204" pitchFamily="18" charset="0"/>
                                    </a:rPr>
                                    <m:t>1−0.3</m:t>
                                  </m:r>
                                </m:e>
                              </m:d>
                              <m:r>
                                <a:rPr lang="en-ZA" sz="1800" b="1" kern="1200">
                                  <a:solidFill>
                                    <a:schemeClr val="bg2"/>
                                  </a:solidFill>
                                  <a:latin typeface="Cambria Math" panose="02040503050406030204" pitchFamily="18" charset="0"/>
                                </a:rPr>
                                <m:t>+ </m:t>
                              </m:r>
                              <m:d>
                                <m:dPr>
                                  <m:ctrlPr>
                                    <a:rPr lang="en-ZA" sz="1800" b="1" i="1" kern="1200">
                                      <a:solidFill>
                                        <a:schemeClr val="bg2"/>
                                      </a:solidFill>
                                      <a:latin typeface="Cambria Math" panose="02040503050406030204" pitchFamily="18" charset="0"/>
                                    </a:rPr>
                                  </m:ctrlPr>
                                </m:dPr>
                                <m:e>
                                  <m:r>
                                    <a:rPr lang="en-ZA" sz="1800" b="1" kern="1200">
                                      <a:solidFill>
                                        <a:schemeClr val="bg2"/>
                                      </a:solidFill>
                                      <a:latin typeface="Cambria Math" panose="02040503050406030204" pitchFamily="18" charset="0"/>
                                    </a:rPr>
                                    <m:t>0.1</m:t>
                                  </m:r>
                                  <m:d>
                                    <m:dPr>
                                      <m:ctrlPr>
                                        <a:rPr lang="en-ZA" sz="1800" b="1" i="1" kern="1200">
                                          <a:solidFill>
                                            <a:schemeClr val="bg2"/>
                                          </a:solidFill>
                                          <a:latin typeface="Cambria Math" panose="02040503050406030204" pitchFamily="18" charset="0"/>
                                        </a:rPr>
                                      </m:ctrlPr>
                                    </m:dPr>
                                    <m:e>
                                      <m:r>
                                        <a:rPr lang="en-ZA" sz="1800" b="1" kern="1200">
                                          <a:solidFill>
                                            <a:schemeClr val="bg2"/>
                                          </a:solidFill>
                                          <a:latin typeface="Cambria Math" panose="02040503050406030204" pitchFamily="18" charset="0"/>
                                        </a:rPr>
                                        <m:t>1−0.3</m:t>
                                      </m:r>
                                    </m:e>
                                  </m:d>
                                  <m:r>
                                    <a:rPr lang="en-ZA" sz="1800" b="1" kern="1200">
                                      <a:solidFill>
                                        <a:schemeClr val="bg2"/>
                                      </a:solidFill>
                                      <a:latin typeface="Cambria Math" panose="02040503050406030204" pitchFamily="18" charset="0"/>
                                    </a:rPr>
                                    <m:t> −2</m:t>
                                  </m:r>
                                </m:e>
                              </m:d>
                              <m:d>
                                <m:dPr>
                                  <m:ctrlPr>
                                    <a:rPr lang="en-ZA" sz="1800" b="1" i="1" kern="1200">
                                      <a:solidFill>
                                        <a:schemeClr val="bg2"/>
                                      </a:solidFill>
                                      <a:latin typeface="Cambria Math" panose="02040503050406030204" pitchFamily="18" charset="0"/>
                                    </a:rPr>
                                  </m:ctrlPr>
                                </m:dPr>
                                <m:e>
                                  <m:r>
                                    <a:rPr lang="en-ZA" sz="1800" b="1" kern="1200">
                                      <a:solidFill>
                                        <a:schemeClr val="bg2"/>
                                      </a:solidFill>
                                      <a:latin typeface="Cambria Math" panose="02040503050406030204" pitchFamily="18" charset="0"/>
                                    </a:rPr>
                                    <m:t>2−1</m:t>
                                  </m:r>
                                </m:e>
                              </m:d>
                            </m:e>
                          </m:d>
                        </m:den>
                      </m:f>
                      <m:r>
                        <a:rPr lang="en-ZA" sz="1800" b="1" kern="1200">
                          <a:solidFill>
                            <a:schemeClr val="bg2"/>
                          </a:solidFill>
                          <a:latin typeface="Cambria Math" panose="02040503050406030204" pitchFamily="18" charset="0"/>
                        </a:rPr>
                        <m:t>=1.33</m:t>
                      </m:r>
                    </m:oMath>
                  </m:oMathPara>
                </a14:m>
                <a:endParaRPr lang="en-ZA" sz="1800" b="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Fitting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𝑂𝑅</m:t>
                        </m:r>
                      </m:e>
                      <m:sub>
                        <m:r>
                          <a:rPr lang="en-ZA" sz="1800" b="1" kern="1200">
                            <a:solidFill>
                              <a:schemeClr val="bg2"/>
                            </a:solidFill>
                            <a:latin typeface="Cambria Math" panose="02040503050406030204" pitchFamily="18" charset="0"/>
                          </a:rPr>
                          <m:t>𝐴</m:t>
                        </m:r>
                      </m:sub>
                    </m:sSub>
                  </m:oMath>
                </a14:m>
                <a:r>
                  <a:rPr lang="en-ZA" sz="18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r>
                          <a:rPr lang="en-ZA" sz="1800" b="1" kern="1200">
                            <a:solidFill>
                              <a:schemeClr val="bg2"/>
                            </a:solidFill>
                            <a:latin typeface="Cambria Math" panose="02040503050406030204" pitchFamily="18" charset="0"/>
                          </a:rPr>
                          <m:t>,</m:t>
                        </m:r>
                        <m:r>
                          <a:rPr lang="en-ZA" sz="1800" b="1" kern="1200">
                            <a:solidFill>
                              <a:schemeClr val="bg2"/>
                            </a:solidFill>
                            <a:latin typeface="Cambria Math" panose="02040503050406030204" pitchFamily="18" charset="0"/>
                          </a:rPr>
                          <m:t>𝑢</m:t>
                        </m:r>
                      </m:sub>
                    </m:sSub>
                  </m:oMath>
                </a14:m>
                <a:r>
                  <a:rPr lang="en-ZA" sz="1800" b="1" kern="1200" dirty="0">
                    <a:solidFill>
                      <a:schemeClr val="bg2"/>
                    </a:solidFill>
                    <a:latin typeface="Arial" panose="020B0604020202020204" pitchFamily="34" charset="0"/>
                    <a:cs typeface="Times New Roman" panose="02020603050405020304" pitchFamily="18" charset="0"/>
                  </a:rPr>
                  <a:t> into the sample size equation demonstrates the effect: instead of 566 case and control alleles, 1,720 are required in this setting of indirect association, corresponding to 430 cases and 430 controls.</a:t>
                </a:r>
              </a:p>
            </p:txBody>
          </p:sp>
        </mc:Choice>
        <mc:Fallback xmlns="">
          <p:sp>
            <p:nvSpPr>
              <p:cNvPr id="6" name="Content Placeholder 2">
                <a:extLst>
                  <a:ext uri="{FF2B5EF4-FFF2-40B4-BE49-F238E27FC236}">
                    <a16:creationId xmlns:a16="http://schemas.microsoft.com/office/drawing/2014/main" id="{CBF819A3-88DB-4229-8090-0547FA788C3D}"/>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3"/>
                <a:stretch>
                  <a:fillRect l="-421" t="-532" r="-281"/>
                </a:stretch>
              </a:blipFill>
            </p:spPr>
            <p:txBody>
              <a:bodyPr/>
              <a:lstStyle/>
              <a:p>
                <a:r>
                  <a:rPr lang="en-ZA">
                    <a:noFill/>
                  </a:rPr>
                  <a:t> </a:t>
                </a:r>
              </a:p>
            </p:txBody>
          </p:sp>
        </mc:Fallback>
      </mc:AlternateContent>
    </p:spTree>
    <p:extLst>
      <p:ext uri="{BB962C8B-B14F-4D97-AF65-F5344CB8AC3E}">
        <p14:creationId xmlns:p14="http://schemas.microsoft.com/office/powerpoint/2010/main" val="4288067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93800" y="85344"/>
            <a:ext cx="814197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Hardy-Weinberg Equilibrium (HWE)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CBF819A3-88DB-4229-8090-0547FA788C3D}"/>
                  </a:ext>
                </a:extLst>
              </p:cNvPr>
              <p:cNvSpPr>
                <a:spLocks noGrp="1"/>
              </p:cNvSpPr>
              <p:nvPr>
                <p:ph idx="1"/>
              </p:nvPr>
            </p:nvSpPr>
            <p:spPr>
              <a:xfrm>
                <a:off x="203200" y="879651"/>
                <a:ext cx="87899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HWE is a measure of allelic association between two homologous chromosomes at a single site.</a:t>
                </a:r>
              </a:p>
              <a:p>
                <a:r>
                  <a:rPr lang="en-ZA" sz="1800" b="1" kern="1200" dirty="0">
                    <a:solidFill>
                      <a:schemeClr val="bg2"/>
                    </a:solidFill>
                    <a:latin typeface="Arial" panose="020B0604020202020204" pitchFamily="34" charset="0"/>
                    <a:cs typeface="Times New Roman" panose="02020603050405020304" pitchFamily="18" charset="0"/>
                  </a:rPr>
                  <a:t>Consider for example the simple case of one biallelic SNP with genotypes AA, Aa and aa.</a:t>
                </a:r>
              </a:p>
              <a:p>
                <a:r>
                  <a:rPr lang="en-ZA" sz="1800" b="1" kern="1200" dirty="0">
                    <a:solidFill>
                      <a:schemeClr val="bg2"/>
                    </a:solidFill>
                    <a:latin typeface="Arial" panose="020B0604020202020204" pitchFamily="34" charset="0"/>
                    <a:cs typeface="Times New Roman" panose="02020603050405020304" pitchFamily="18" charset="0"/>
                  </a:rPr>
                  <a:t>HWE implies that the probability of an allele occurring on one homolog does not depend on which allele is present on the second homolog. </a:t>
                </a:r>
              </a:p>
              <a:p>
                <a:r>
                  <a:rPr lang="en-ZA" sz="1800" b="1" kern="1200" dirty="0">
                    <a:solidFill>
                      <a:schemeClr val="bg2"/>
                    </a:solidFill>
                    <a:latin typeface="Arial" panose="020B0604020202020204" pitchFamily="34" charset="0"/>
                    <a:cs typeface="Times New Roman" panose="02020603050405020304" pitchFamily="18" charset="0"/>
                  </a:rPr>
                  <a:t>Two approaches to testing for the HWE are Person’s </a:t>
                </a:r>
                <a14:m>
                  <m:oMath xmlns:m="http://schemas.openxmlformats.org/officeDocument/2006/math">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𝑥</m:t>
                        </m:r>
                      </m:e>
                      <m:sup>
                        <m:r>
                          <a:rPr lang="en-ZA" sz="1800" b="1" kern="1200">
                            <a:solidFill>
                              <a:schemeClr val="bg2"/>
                            </a:solidFill>
                            <a:latin typeface="Cambria Math" panose="02040503050406030204" pitchFamily="18" charset="0"/>
                          </a:rPr>
                          <m:t>2</m:t>
                        </m:r>
                      </m:sup>
                    </m:sSup>
                  </m:oMath>
                </a14:m>
                <a:r>
                  <a:rPr lang="en-ZA" sz="1800" b="1" kern="1200" dirty="0">
                    <a:solidFill>
                      <a:schemeClr val="bg2"/>
                    </a:solidFill>
                    <a:latin typeface="Arial" panose="020B0604020202020204" pitchFamily="34" charset="0"/>
                    <a:cs typeface="Times New Roman" panose="02020603050405020304" pitchFamily="18" charset="0"/>
                  </a:rPr>
                  <a:t>-test and Fisher’s exact test.</a:t>
                </a:r>
              </a:p>
              <a:p>
                <a:r>
                  <a:rPr lang="en-ZA" sz="1800" b="1" kern="1200" dirty="0">
                    <a:solidFill>
                      <a:schemeClr val="bg2"/>
                    </a:solidFill>
                    <a:latin typeface="Arial" panose="020B0604020202020204" pitchFamily="34" charset="0"/>
                    <a:cs typeface="Times New Roman" panose="02020603050405020304" pitchFamily="18" charset="0"/>
                  </a:rPr>
                  <a:t>The </a:t>
                </a:r>
                <a14:m>
                  <m:oMath xmlns:m="http://schemas.openxmlformats.org/officeDocument/2006/math">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𝑥</m:t>
                        </m:r>
                      </m:e>
                      <m:sup>
                        <m:r>
                          <a:rPr lang="en-ZA" sz="1800" b="1" kern="1200">
                            <a:solidFill>
                              <a:schemeClr val="bg2"/>
                            </a:solidFill>
                            <a:latin typeface="Cambria Math" panose="02040503050406030204" pitchFamily="18" charset="0"/>
                          </a:rPr>
                          <m:t>2</m:t>
                        </m:r>
                      </m:sup>
                    </m:sSup>
                  </m:oMath>
                </a14:m>
                <a:r>
                  <a:rPr lang="en-ZA" sz="1800" b="1" kern="1200" dirty="0">
                    <a:solidFill>
                      <a:schemeClr val="bg2"/>
                    </a:solidFill>
                    <a:latin typeface="Arial" panose="020B0604020202020204" pitchFamily="34" charset="0"/>
                    <a:cs typeface="Times New Roman" panose="02020603050405020304" pitchFamily="18" charset="0"/>
                  </a:rPr>
                  <a:t>-test is computationally advantageous but relies on asymptotic theory.</a:t>
                </a:r>
              </a:p>
              <a:p>
                <a:r>
                  <a:rPr lang="en-ZA" sz="1800" b="1" kern="1200" dirty="0">
                    <a:solidFill>
                      <a:schemeClr val="bg2"/>
                    </a:solidFill>
                    <a:latin typeface="Arial" panose="020B0604020202020204" pitchFamily="34" charset="0"/>
                    <a:cs typeface="Times New Roman" panose="02020603050405020304" pitchFamily="18" charset="0"/>
                  </a:rPr>
                  <a:t>Thus, when more than 20% of the expected counts are less than five, Fisher’s exact test is preferable.</a:t>
                </a:r>
              </a:p>
              <a:p>
                <a:r>
                  <a:rPr lang="en-ZA" sz="1800" b="1" kern="1200" dirty="0">
                    <a:solidFill>
                      <a:schemeClr val="bg2"/>
                    </a:solidFill>
                    <a:latin typeface="Arial" panose="020B0604020202020204" pitchFamily="34" charset="0"/>
                    <a:cs typeface="Times New Roman" panose="02020603050405020304" pitchFamily="18" charset="0"/>
                  </a:rPr>
                  <a:t>Consider the 2 × 2 table of genotypes at a single locus given below. Here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11</m:t>
                        </m:r>
                      </m:sub>
                    </m:sSub>
                  </m:oMath>
                </a14:m>
                <a:r>
                  <a:rPr lang="en-ZA" sz="18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22</m:t>
                        </m:r>
                      </m:sub>
                    </m:sSub>
                  </m:oMath>
                </a14:m>
                <a:r>
                  <a:rPr lang="en-ZA" sz="1800" b="1" kern="1200" dirty="0">
                    <a:solidFill>
                      <a:schemeClr val="bg2"/>
                    </a:solidFill>
                    <a:latin typeface="Arial" panose="020B0604020202020204" pitchFamily="34" charset="0"/>
                    <a:cs typeface="Times New Roman" panose="02020603050405020304" pitchFamily="18" charset="0"/>
                  </a:rPr>
                  <a:t> are the number of individuals with genotypes AA and aa, respectively, and these counts are observed. Notably, the genotypes Aa and </a:t>
                </a:r>
                <a:r>
                  <a:rPr lang="en-ZA" sz="1800" b="1" kern="1200" dirty="0" err="1">
                    <a:solidFill>
                      <a:schemeClr val="bg2"/>
                    </a:solidFill>
                    <a:latin typeface="Arial" panose="020B0604020202020204" pitchFamily="34" charset="0"/>
                    <a:cs typeface="Times New Roman" panose="02020603050405020304" pitchFamily="18" charset="0"/>
                  </a:rPr>
                  <a:t>aA</a:t>
                </a:r>
                <a:r>
                  <a:rPr lang="en-ZA" sz="1800" b="1" kern="1200" dirty="0">
                    <a:solidFill>
                      <a:schemeClr val="bg2"/>
                    </a:solidFill>
                    <a:latin typeface="Arial" panose="020B0604020202020204" pitchFamily="34" charset="0"/>
                    <a:cs typeface="Times New Roman" panose="02020603050405020304" pitchFamily="18" charset="0"/>
                  </a:rPr>
                  <a:t> are indistinguishable in population-based investigations, and thus we only observe the sum </a:t>
                </a:r>
                <a14:m>
                  <m:oMath xmlns:m="http://schemas.openxmlformats.org/officeDocument/2006/math">
                    <m:sSubSup>
                      <m:sSubSupPr>
                        <m:ctrlPr>
                          <a:rPr lang="en-ZA" sz="1800" b="1" i="1" kern="1200">
                            <a:solidFill>
                              <a:schemeClr val="bg2"/>
                            </a:solidFill>
                            <a:latin typeface="Cambria Math" panose="02040503050406030204" pitchFamily="18" charset="0"/>
                          </a:rPr>
                        </m:ctrlPr>
                      </m:sSubSup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12</m:t>
                        </m:r>
                      </m:sub>
                      <m:sup>
                        <m:r>
                          <a:rPr lang="en-ZA" sz="1800" b="1" kern="1200">
                            <a:solidFill>
                              <a:schemeClr val="bg2"/>
                            </a:solidFill>
                            <a:latin typeface="Cambria Math" panose="02040503050406030204" pitchFamily="18" charset="0"/>
                          </a:rPr>
                          <m:t>∗</m:t>
                        </m:r>
                      </m:sup>
                    </m:sSubSup>
                  </m:oMath>
                </a14:m>
                <a:r>
                  <a:rPr lang="en-ZA" sz="1800" b="1" kern="1200" dirty="0">
                    <a:solidFill>
                      <a:schemeClr val="bg2"/>
                    </a:solidFill>
                    <a:latin typeface="Arial" panose="020B0604020202020204" pitchFamily="34" charset="0"/>
                    <a:cs typeface="Times New Roman" panose="02020603050405020304" pitchFamily="18" charset="0"/>
                  </a:rPr>
                  <a:t>=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21</m:t>
                        </m:r>
                      </m:sub>
                    </m:sSub>
                  </m:oMath>
                </a14:m>
                <a:r>
                  <a:rPr lang="en-ZA" sz="1800" b="1" kern="1200" dirty="0">
                    <a:solidFill>
                      <a:schemeClr val="bg2"/>
                    </a:solidFill>
                    <a:latin typeface="Arial" panose="020B0604020202020204" pitchFamily="34" charset="0"/>
                    <a:cs typeface="Times New Roman" panose="02020603050405020304" pitchFamily="18" charset="0"/>
                  </a:rPr>
                  <a:t> +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12</m:t>
                        </m:r>
                      </m:sub>
                    </m:sSub>
                  </m:oMath>
                </a14:m>
                <a:r>
                  <a:rPr lang="en-ZA" sz="1800" b="1" kern="1200" dirty="0">
                    <a:solidFill>
                      <a:schemeClr val="bg2"/>
                    </a:solidFill>
                    <a:latin typeface="Arial" panose="020B0604020202020204" pitchFamily="34" charset="0"/>
                    <a:cs typeface="Times New Roman" panose="02020603050405020304" pitchFamily="18" charset="0"/>
                  </a:rPr>
                  <a:t> and not the individual cell counts,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21</m:t>
                        </m:r>
                      </m:sub>
                    </m:sSub>
                  </m:oMath>
                </a14:m>
                <a:r>
                  <a:rPr lang="en-ZA" sz="18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12</m:t>
                        </m:r>
                      </m:sub>
                    </m:sSub>
                  </m:oMath>
                </a14:m>
                <a:r>
                  <a:rPr lang="en-ZA" sz="1800" b="1" kern="1200" dirty="0">
                    <a:solidFill>
                      <a:schemeClr val="bg2"/>
                    </a:solidFill>
                    <a:latin typeface="Arial" panose="020B0604020202020204" pitchFamily="34" charset="0"/>
                    <a:cs typeface="Times New Roman" panose="02020603050405020304" pitchFamily="18" charset="0"/>
                  </a:rPr>
                  <a:t>.</a:t>
                </a:r>
                <a:br>
                  <a:rPr lang="en-ZA" sz="1800" b="1" kern="1200" dirty="0">
                    <a:solidFill>
                      <a:schemeClr val="bg2"/>
                    </a:solidFill>
                    <a:latin typeface="Arial" panose="020B0604020202020204" pitchFamily="34" charset="0"/>
                    <a:cs typeface="Times New Roman" panose="02020603050405020304" pitchFamily="18" charset="0"/>
                  </a:rPr>
                </a:br>
                <a:endParaRPr lang="en-ZA" sz="1800" b="1" kern="1200" dirty="0">
                  <a:solidFill>
                    <a:schemeClr val="bg2"/>
                  </a:solidFill>
                  <a:latin typeface="Arial" panose="020B0604020202020204" pitchFamily="34" charset="0"/>
                  <a:cs typeface="Times New Roman" panose="02020603050405020304" pitchFamily="18" charset="0"/>
                </a:endParaRPr>
              </a:p>
            </p:txBody>
          </p:sp>
        </mc:Choice>
        <mc:Fallback xmlns="">
          <p:sp>
            <p:nvSpPr>
              <p:cNvPr id="6" name="Content Placeholder 2">
                <a:extLst>
                  <a:ext uri="{FF2B5EF4-FFF2-40B4-BE49-F238E27FC236}">
                    <a16:creationId xmlns:a16="http://schemas.microsoft.com/office/drawing/2014/main" id="{CBF819A3-88DB-4229-8090-0547FA788C3D}"/>
                  </a:ext>
                </a:extLst>
              </p:cNvPr>
              <p:cNvSpPr>
                <a:spLocks noGrp="1" noRot="1" noChangeAspect="1" noMove="1" noResize="1" noEditPoints="1" noAdjustHandles="1" noChangeArrowheads="1" noChangeShapeType="1" noTextEdit="1"/>
              </p:cNvSpPr>
              <p:nvPr>
                <p:ph idx="1"/>
              </p:nvPr>
            </p:nvSpPr>
            <p:spPr>
              <a:xfrm>
                <a:off x="203200" y="879651"/>
                <a:ext cx="8789968" cy="5726799"/>
              </a:xfrm>
              <a:blipFill>
                <a:blip r:embed="rId3"/>
                <a:stretch>
                  <a:fillRect l="-416" t="-532" r="-1040"/>
                </a:stretch>
              </a:blipFill>
            </p:spPr>
            <p:txBody>
              <a:bodyPr/>
              <a:lstStyle/>
              <a:p>
                <a:r>
                  <a:rPr lang="en-ZA">
                    <a:noFill/>
                  </a:rPr>
                  <a:t> </a:t>
                </a:r>
              </a:p>
            </p:txBody>
          </p:sp>
        </mc:Fallback>
      </mc:AlternateContent>
    </p:spTree>
    <p:extLst>
      <p:ext uri="{BB962C8B-B14F-4D97-AF65-F5344CB8AC3E}">
        <p14:creationId xmlns:p14="http://schemas.microsoft.com/office/powerpoint/2010/main" val="35095244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93800" y="85344"/>
            <a:ext cx="814197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Hardy-Weinberg Equilibrium (HWE)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CBF819A3-88DB-4229-8090-0547FA788C3D}"/>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The expected counts corresponding to these three observed counts,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11</m:t>
                        </m:r>
                      </m:sub>
                    </m:sSub>
                  </m:oMath>
                </a14:m>
                <a:r>
                  <a:rPr lang="en-ZA" sz="1800" b="1" kern="1200" dirty="0">
                    <a:solidFill>
                      <a:schemeClr val="bg2"/>
                    </a:solidFill>
                    <a:latin typeface="Arial" panose="020B0604020202020204" pitchFamily="34" charset="0"/>
                    <a:cs typeface="Times New Roman" panose="02020603050405020304" pitchFamily="18" charset="0"/>
                  </a:rPr>
                  <a:t>, </a:t>
                </a:r>
                <a14:m>
                  <m:oMath xmlns:m="http://schemas.openxmlformats.org/officeDocument/2006/math">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12</m:t>
                        </m:r>
                      </m:sub>
                      <m:sup>
                        <m:r>
                          <a:rPr lang="en-ZA" sz="1800" b="1" kern="1200">
                            <a:solidFill>
                              <a:schemeClr val="bg2"/>
                            </a:solidFill>
                            <a:latin typeface="Cambria Math" panose="02040503050406030204" pitchFamily="18" charset="0"/>
                            <a:cs typeface="Times New Roman" panose="02020603050405020304" pitchFamily="18" charset="0"/>
                          </a:rPr>
                          <m:t>∗</m:t>
                        </m:r>
                      </m:sup>
                    </m:sSubSup>
                  </m:oMath>
                </a14:m>
                <a:r>
                  <a:rPr lang="en-ZA" sz="1800" b="1" kern="1200" dirty="0">
                    <a:solidFill>
                      <a:schemeClr val="bg2"/>
                    </a:solidFill>
                    <a:latin typeface="Arial" panose="020B0604020202020204" pitchFamily="34" charset="0"/>
                    <a:cs typeface="Times New Roman" panose="02020603050405020304" pitchFamily="18" charset="0"/>
                  </a:rPr>
                  <a:t>,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22</m:t>
                        </m:r>
                      </m:sub>
                    </m:sSub>
                  </m:oMath>
                </a14:m>
                <a:r>
                  <a:rPr lang="en-ZA" sz="1800" b="1" kern="1200" dirty="0">
                    <a:solidFill>
                      <a:schemeClr val="bg2"/>
                    </a:solidFill>
                    <a:latin typeface="Arial" panose="020B0604020202020204" pitchFamily="34" charset="0"/>
                    <a:cs typeface="Times New Roman" panose="02020603050405020304" pitchFamily="18" charset="0"/>
                  </a:rPr>
                  <a:t>, are given respectively by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𝐸</m:t>
                        </m:r>
                      </m:e>
                      <m:sub>
                        <m:r>
                          <a:rPr lang="en-ZA" sz="1800" b="1" kern="1200">
                            <a:solidFill>
                              <a:schemeClr val="bg2"/>
                            </a:solidFill>
                            <a:latin typeface="Cambria Math" panose="02040503050406030204" pitchFamily="18" charset="0"/>
                            <a:cs typeface="Times New Roman" panose="02020603050405020304" pitchFamily="18" charset="0"/>
                          </a:rPr>
                          <m:t>11</m:t>
                        </m:r>
                      </m:sub>
                    </m:sSub>
                  </m:oMath>
                </a14:m>
                <a:r>
                  <a:rPr lang="en-ZA" sz="1800" b="1" kern="1200" dirty="0">
                    <a:solidFill>
                      <a:schemeClr val="bg2"/>
                    </a:solidFill>
                    <a:latin typeface="Arial" panose="020B0604020202020204" pitchFamily="34" charset="0"/>
                    <a:cs typeface="Times New Roman" panose="02020603050405020304" pitchFamily="18" charset="0"/>
                  </a:rPr>
                  <a:t> =</a:t>
                </a:r>
                <a14:m>
                  <m:oMath xmlns:m="http://schemas.openxmlformats.org/officeDocument/2006/math">
                    <m:r>
                      <a:rPr lang="en-US" sz="1800" b="1" kern="1200" dirty="0">
                        <a:solidFill>
                          <a:schemeClr val="bg2"/>
                        </a:solidFill>
                        <a:latin typeface="Cambria Math" panose="02040503050406030204" pitchFamily="18" charset="0"/>
                        <a:cs typeface="Times New Roman" panose="02020603050405020304" pitchFamily="18" charset="0"/>
                      </a:rPr>
                      <m:t> </m:t>
                    </m:r>
                    <m:r>
                      <a:rPr lang="en-ZA" sz="1800" b="1" kern="1200" dirty="0">
                        <a:solidFill>
                          <a:schemeClr val="bg2"/>
                        </a:solidFill>
                        <a:latin typeface="Cambria Math" panose="02040503050406030204" pitchFamily="18" charset="0"/>
                        <a:cs typeface="Times New Roman" panose="02020603050405020304" pitchFamily="18" charset="0"/>
                      </a:rPr>
                      <m:t>𝑁</m:t>
                    </m:r>
                    <m:sSubSup>
                      <m:sSubSupPr>
                        <m:ctrlPr>
                          <a:rPr lang="en-ZA" sz="1800" b="1" i="1" kern="1200" dirty="0">
                            <a:solidFill>
                              <a:schemeClr val="bg2"/>
                            </a:solidFill>
                            <a:latin typeface="Cambria Math" panose="02040503050406030204" pitchFamily="18" charset="0"/>
                            <a:cs typeface="Times New Roman" panose="02020603050405020304" pitchFamily="18" charset="0"/>
                          </a:rPr>
                        </m:ctrlPr>
                      </m:sSubSupPr>
                      <m:e>
                        <m:r>
                          <a:rPr lang="en-ZA" sz="1800" b="1" kern="1200" dirty="0">
                            <a:solidFill>
                              <a:schemeClr val="bg2"/>
                            </a:solidFill>
                            <a:latin typeface="Cambria Math" panose="02040503050406030204" pitchFamily="18" charset="0"/>
                            <a:cs typeface="Times New Roman" panose="02020603050405020304" pitchFamily="18" charset="0"/>
                          </a:rPr>
                          <m:t>𝑝</m:t>
                        </m:r>
                      </m:e>
                      <m:sub>
                        <m:r>
                          <a:rPr lang="en-ZA" sz="1800" b="1" kern="1200" dirty="0">
                            <a:solidFill>
                              <a:schemeClr val="bg2"/>
                            </a:solidFill>
                            <a:latin typeface="Cambria Math" panose="02040503050406030204" pitchFamily="18" charset="0"/>
                            <a:cs typeface="Times New Roman" panose="02020603050405020304" pitchFamily="18" charset="0"/>
                          </a:rPr>
                          <m:t>𝐴</m:t>
                        </m:r>
                      </m:sub>
                      <m:sup>
                        <m:r>
                          <a:rPr lang="en-ZA" sz="1800" b="1" kern="1200" dirty="0">
                            <a:solidFill>
                              <a:schemeClr val="bg2"/>
                            </a:solidFill>
                            <a:latin typeface="Cambria Math" panose="02040503050406030204" pitchFamily="18" charset="0"/>
                            <a:cs typeface="Times New Roman" panose="02020603050405020304" pitchFamily="18" charset="0"/>
                          </a:rPr>
                          <m:t>2</m:t>
                        </m:r>
                      </m:sup>
                    </m:sSubSup>
                  </m:oMath>
                </a14:m>
                <a:r>
                  <a:rPr lang="en-ZA" sz="1800" b="1" kern="1200" dirty="0">
                    <a:solidFill>
                      <a:schemeClr val="bg2"/>
                    </a:solidFill>
                    <a:latin typeface="Arial" panose="020B0604020202020204" pitchFamily="34" charset="0"/>
                    <a:cs typeface="Times New Roman" panose="02020603050405020304" pitchFamily="18" charset="0"/>
                  </a:rPr>
                  <a:t>,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𝐸</m:t>
                        </m:r>
                      </m:e>
                      <m:sub>
                        <m:r>
                          <a:rPr lang="en-ZA" sz="1800" b="1" kern="1200">
                            <a:solidFill>
                              <a:schemeClr val="bg2"/>
                            </a:solidFill>
                            <a:latin typeface="Cambria Math" panose="02040503050406030204" pitchFamily="18" charset="0"/>
                            <a:cs typeface="Times New Roman" panose="02020603050405020304" pitchFamily="18" charset="0"/>
                          </a:rPr>
                          <m:t>12</m:t>
                        </m:r>
                      </m:sub>
                    </m:sSub>
                  </m:oMath>
                </a14:m>
                <a:r>
                  <a:rPr lang="en-ZA" sz="1800" b="1" kern="1200" dirty="0">
                    <a:solidFill>
                      <a:schemeClr val="bg2"/>
                    </a:solidFill>
                    <a:latin typeface="Arial" panose="020B0604020202020204" pitchFamily="34" charset="0"/>
                    <a:cs typeface="Times New Roman" panose="02020603050405020304" pitchFamily="18" charset="0"/>
                  </a:rPr>
                  <a:t> = </a:t>
                </a:r>
                <a14:m>
                  <m:oMath xmlns:m="http://schemas.openxmlformats.org/officeDocument/2006/math">
                    <m:r>
                      <a:rPr lang="en-ZA" sz="1800" b="1" kern="1200">
                        <a:solidFill>
                          <a:schemeClr val="bg2"/>
                        </a:solidFill>
                        <a:latin typeface="Cambria Math" panose="02040503050406030204" pitchFamily="18" charset="0"/>
                        <a:cs typeface="Times New Roman" panose="02020603050405020304" pitchFamily="18" charset="0"/>
                      </a:rPr>
                      <m:t>2</m:t>
                    </m:r>
                    <m:r>
                      <a:rPr lang="en-ZA" sz="1800" b="1" kern="1200">
                        <a:solidFill>
                          <a:schemeClr val="bg2"/>
                        </a:solidFill>
                        <a:latin typeface="Cambria Math" panose="02040503050406030204" pitchFamily="18" charset="0"/>
                        <a:cs typeface="Times New Roman" panose="02020603050405020304" pitchFamily="18" charset="0"/>
                      </a:rPr>
                      <m:t>𝑁</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𝑝</m:t>
                        </m:r>
                      </m:e>
                      <m:sub>
                        <m:r>
                          <a:rPr lang="en-ZA" sz="1800" b="1" kern="1200">
                            <a:solidFill>
                              <a:schemeClr val="bg2"/>
                            </a:solidFill>
                            <a:latin typeface="Cambria Math" panose="02040503050406030204" pitchFamily="18" charset="0"/>
                            <a:cs typeface="Times New Roman" panose="02020603050405020304" pitchFamily="18" charset="0"/>
                          </a:rPr>
                          <m:t>𝐴</m:t>
                        </m:r>
                      </m:sub>
                    </m:sSub>
                  </m:oMath>
                </a14:m>
                <a:r>
                  <a:rPr lang="en-ZA" sz="1800" b="1" kern="1200" dirty="0">
                    <a:solidFill>
                      <a:schemeClr val="bg2"/>
                    </a:solidFill>
                    <a:latin typeface="Arial" panose="020B0604020202020204" pitchFamily="34" charset="0"/>
                    <a:cs typeface="Times New Roman" panose="02020603050405020304" pitchFamily="18" charset="0"/>
                  </a:rPr>
                  <a:t>(1 -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𝑝</m:t>
                        </m:r>
                      </m:e>
                      <m:sub>
                        <m:r>
                          <a:rPr lang="en-ZA" sz="1800" b="1" kern="1200">
                            <a:solidFill>
                              <a:schemeClr val="bg2"/>
                            </a:solidFill>
                            <a:latin typeface="Cambria Math" panose="02040503050406030204" pitchFamily="18" charset="0"/>
                            <a:cs typeface="Times New Roman" panose="02020603050405020304" pitchFamily="18" charset="0"/>
                          </a:rPr>
                          <m:t>𝐴</m:t>
                        </m:r>
                      </m:sub>
                    </m:sSub>
                  </m:oMath>
                </a14:m>
                <a:r>
                  <a:rPr lang="en-ZA" sz="1800" b="1" kern="1200" dirty="0">
                    <a:solidFill>
                      <a:schemeClr val="bg2"/>
                    </a:solidFill>
                    <a:latin typeface="Arial" panose="020B0604020202020204" pitchFamily="34" charset="0"/>
                    <a:cs typeface="Times New Roman" panose="02020603050405020304" pitchFamily="18" charset="0"/>
                  </a:rPr>
                  <a:t>) and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𝐸</m:t>
                        </m:r>
                      </m:e>
                      <m:sub>
                        <m:r>
                          <a:rPr lang="en-ZA" sz="1800" b="1" kern="1200">
                            <a:solidFill>
                              <a:schemeClr val="bg2"/>
                            </a:solidFill>
                            <a:latin typeface="Cambria Math" panose="02040503050406030204" pitchFamily="18" charset="0"/>
                            <a:cs typeface="Times New Roman" panose="02020603050405020304" pitchFamily="18" charset="0"/>
                          </a:rPr>
                          <m:t>22</m:t>
                        </m:r>
                      </m:sub>
                    </m:sSub>
                  </m:oMath>
                </a14:m>
                <a:r>
                  <a:rPr lang="en-ZA" sz="1800" b="1" kern="1200" dirty="0">
                    <a:solidFill>
                      <a:schemeClr val="bg2"/>
                    </a:solidFill>
                    <a:latin typeface="Arial" panose="020B0604020202020204" pitchFamily="34" charset="0"/>
                    <a:cs typeface="Times New Roman" panose="02020603050405020304" pitchFamily="18" charset="0"/>
                  </a:rPr>
                  <a:t> = N(1-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𝑝</m:t>
                        </m:r>
                      </m:e>
                      <m:sub>
                        <m:r>
                          <a:rPr lang="en-ZA" sz="1800" b="1" kern="1200">
                            <a:solidFill>
                              <a:schemeClr val="bg2"/>
                            </a:solidFill>
                            <a:latin typeface="Cambria Math" panose="02040503050406030204" pitchFamily="18" charset="0"/>
                            <a:cs typeface="Times New Roman" panose="02020603050405020304" pitchFamily="18" charset="0"/>
                          </a:rPr>
                          <m:t>𝐴</m:t>
                        </m:r>
                      </m:sub>
                    </m:sSub>
                  </m:oMath>
                </a14:m>
                <a:r>
                  <a:rPr lang="en-ZA" sz="1800" b="1" kern="1200" dirty="0">
                    <a:solidFill>
                      <a:schemeClr val="bg2"/>
                    </a:solidFill>
                    <a:latin typeface="Arial" panose="020B0604020202020204" pitchFamily="34" charset="0"/>
                    <a:cs typeface="Times New Roman" panose="02020603050405020304" pitchFamily="18" charset="0"/>
                  </a:rPr>
                  <a:t>)2, where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𝑝</m:t>
                        </m:r>
                      </m:e>
                      <m:sub>
                        <m:r>
                          <a:rPr lang="en-ZA" sz="1800" b="1" kern="1200">
                            <a:solidFill>
                              <a:schemeClr val="bg2"/>
                            </a:solidFill>
                            <a:latin typeface="Cambria Math" panose="02040503050406030204" pitchFamily="18" charset="0"/>
                            <a:cs typeface="Times New Roman" panose="02020603050405020304" pitchFamily="18" charset="0"/>
                          </a:rPr>
                          <m:t>𝐴</m:t>
                        </m:r>
                      </m:sub>
                    </m:sSub>
                  </m:oMath>
                </a14:m>
                <a:r>
                  <a:rPr lang="en-ZA" sz="1800" b="1" kern="1200" dirty="0">
                    <a:solidFill>
                      <a:schemeClr val="bg2"/>
                    </a:solidFill>
                    <a:latin typeface="Arial" panose="020B0604020202020204" pitchFamily="34" charset="0"/>
                    <a:cs typeface="Times New Roman" panose="02020603050405020304" pitchFamily="18" charset="0"/>
                  </a:rPr>
                  <a:t> is the probability of A and is estimated based on the observed allele count. That is, we let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𝑝</m:t>
                        </m:r>
                      </m:e>
                      <m:sub>
                        <m:r>
                          <a:rPr lang="en-ZA" sz="1800" b="1" kern="1200">
                            <a:solidFill>
                              <a:schemeClr val="bg2"/>
                            </a:solidFill>
                            <a:latin typeface="Cambria Math" panose="02040503050406030204" pitchFamily="18" charset="0"/>
                            <a:cs typeface="Times New Roman" panose="02020603050405020304" pitchFamily="18" charset="0"/>
                          </a:rPr>
                          <m:t>𝐴</m:t>
                        </m:r>
                      </m:sub>
                    </m:sSub>
                  </m:oMath>
                </a14:m>
                <a:r>
                  <a:rPr lang="en-ZA" sz="1800" b="1" kern="1200" dirty="0">
                    <a:solidFill>
                      <a:schemeClr val="bg2"/>
                    </a:solidFill>
                    <a:latin typeface="Arial" panose="020B0604020202020204" pitchFamily="34" charset="0"/>
                    <a:cs typeface="Times New Roman" panose="02020603050405020304" pitchFamily="18" charset="0"/>
                  </a:rPr>
                  <a:t> = (2 </a:t>
                </a:r>
                <a14:m>
                  <m:oMath xmlns:m="http://schemas.openxmlformats.org/officeDocument/2006/math">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11</m:t>
                        </m:r>
                      </m:sub>
                    </m:sSub>
                  </m:oMath>
                </a14:m>
                <a:r>
                  <a:rPr lang="en-ZA" sz="1800" b="1" kern="1200" dirty="0">
                    <a:solidFill>
                      <a:schemeClr val="bg2"/>
                    </a:solidFill>
                    <a:latin typeface="Arial" panose="020B0604020202020204" pitchFamily="34" charset="0"/>
                    <a:cs typeface="Times New Roman" panose="02020603050405020304" pitchFamily="18" charset="0"/>
                  </a:rPr>
                  <a:t> + </a:t>
                </a:r>
                <a14:m>
                  <m:oMath xmlns:m="http://schemas.openxmlformats.org/officeDocument/2006/math">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𝑛</m:t>
                        </m:r>
                      </m:e>
                      <m:sub>
                        <m:r>
                          <a:rPr lang="en-ZA" sz="1800" b="1" kern="1200">
                            <a:solidFill>
                              <a:schemeClr val="bg2"/>
                            </a:solidFill>
                            <a:latin typeface="Cambria Math" panose="02040503050406030204" pitchFamily="18" charset="0"/>
                            <a:cs typeface="Times New Roman" panose="02020603050405020304" pitchFamily="18" charset="0"/>
                          </a:rPr>
                          <m:t>12</m:t>
                        </m:r>
                      </m:sub>
                      <m:sup>
                        <m:r>
                          <a:rPr lang="en-ZA" sz="1800" b="1" kern="1200">
                            <a:solidFill>
                              <a:schemeClr val="bg2"/>
                            </a:solidFill>
                            <a:latin typeface="Cambria Math" panose="02040503050406030204" pitchFamily="18" charset="0"/>
                            <a:cs typeface="Times New Roman" panose="02020603050405020304" pitchFamily="18" charset="0"/>
                          </a:rPr>
                          <m:t>∗</m:t>
                        </m:r>
                      </m:sup>
                    </m:sSubSup>
                  </m:oMath>
                </a14:m>
                <a:r>
                  <a:rPr lang="en-ZA" sz="1800" b="1" kern="1200" dirty="0">
                    <a:solidFill>
                      <a:schemeClr val="bg2"/>
                    </a:solidFill>
                    <a:latin typeface="Arial" panose="020B0604020202020204" pitchFamily="34" charset="0"/>
                    <a:cs typeface="Times New Roman" panose="02020603050405020304" pitchFamily="18" charset="0"/>
                  </a:rPr>
                  <a:t>) = (2N). The χ2-test statistic is then constructed as following:</a:t>
                </a:r>
              </a:p>
              <a:p>
                <a:pPr marL="0" indent="0">
                  <a:buNone/>
                </a:pPr>
                <a14:m>
                  <m:oMathPara xmlns:m="http://schemas.openxmlformats.org/officeDocument/2006/math">
                    <m:oMathParaPr>
                      <m:jc m:val="centerGroup"/>
                    </m:oMathParaPr>
                    <m:oMath xmlns:m="http://schemas.openxmlformats.org/officeDocument/2006/math">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r>
                            <a:rPr lang="en-ZA" sz="1800" b="1" kern="1200">
                              <a:solidFill>
                                <a:schemeClr val="bg2"/>
                              </a:solidFill>
                              <a:latin typeface="Cambria Math" panose="02040503050406030204" pitchFamily="18" charset="0"/>
                              <a:cs typeface="Times New Roman" panose="02020603050405020304" pitchFamily="18" charset="0"/>
                            </a:rPr>
                            <m:t>𝑥</m:t>
                          </m:r>
                        </m:e>
                        <m:sup>
                          <m:r>
                            <a:rPr lang="en-ZA" sz="1800" b="1" kern="1200">
                              <a:solidFill>
                                <a:schemeClr val="bg2"/>
                              </a:solidFill>
                              <a:latin typeface="Cambria Math" panose="02040503050406030204" pitchFamily="18" charset="0"/>
                              <a:cs typeface="Times New Roman" panose="02020603050405020304" pitchFamily="18" charset="0"/>
                            </a:rPr>
                            <m:t>2</m:t>
                          </m:r>
                        </m:sup>
                      </m:sSup>
                      <m:r>
                        <a:rPr lang="en-ZA" sz="1800" b="1" kern="1200">
                          <a:solidFill>
                            <a:schemeClr val="bg2"/>
                          </a:solidFill>
                          <a:latin typeface="Cambria Math" panose="02040503050406030204" pitchFamily="18" charset="0"/>
                          <a:cs typeface="Times New Roman" panose="02020603050405020304" pitchFamily="18" charset="0"/>
                        </a:rPr>
                        <m:t>=</m:t>
                      </m:r>
                      <m:nary>
                        <m:naryPr>
                          <m:chr m:val="∑"/>
                          <m:supHide m:val="on"/>
                          <m:ctrlPr>
                            <a:rPr lang="en-ZA" sz="1800" b="1" i="1" kern="1200">
                              <a:solidFill>
                                <a:schemeClr val="bg2"/>
                              </a:solidFill>
                              <a:latin typeface="Cambria Math" panose="02040503050406030204" pitchFamily="18" charset="0"/>
                              <a:cs typeface="Times New Roman" panose="02020603050405020304" pitchFamily="18" charset="0"/>
                            </a:rPr>
                          </m:ctrlPr>
                        </m:naryPr>
                        <m:sub>
                          <m:r>
                            <m:rPr>
                              <m:brk m:alnAt="7"/>
                            </m:rPr>
                            <a:rPr lang="en-ZA" sz="1800" b="1" kern="1200">
                              <a:solidFill>
                                <a:schemeClr val="bg2"/>
                              </a:solidFill>
                              <a:latin typeface="Cambria Math" panose="02040503050406030204" pitchFamily="18" charset="0"/>
                              <a:cs typeface="Times New Roman" panose="02020603050405020304" pitchFamily="18" charset="0"/>
                            </a:rPr>
                            <m:t>𝑖</m:t>
                          </m:r>
                          <m:r>
                            <a:rPr lang="en-ZA" sz="1800" b="1" kern="1200">
                              <a:solidFill>
                                <a:schemeClr val="bg2"/>
                              </a:solidFill>
                              <a:latin typeface="Cambria Math" panose="02040503050406030204" pitchFamily="18" charset="0"/>
                              <a:cs typeface="Times New Roman" panose="02020603050405020304" pitchFamily="18" charset="0"/>
                            </a:rPr>
                            <m:t>,</m:t>
                          </m:r>
                          <m:r>
                            <a:rPr lang="en-ZA" sz="1800" b="1" kern="1200">
                              <a:solidFill>
                                <a:schemeClr val="bg2"/>
                              </a:solidFill>
                              <a:latin typeface="Cambria Math" panose="02040503050406030204" pitchFamily="18" charset="0"/>
                              <a:cs typeface="Times New Roman" panose="02020603050405020304" pitchFamily="18" charset="0"/>
                            </a:rPr>
                            <m:t>𝑗</m:t>
                          </m:r>
                          <m:r>
                            <a:rPr lang="en-ZA" sz="1800" b="1" kern="1200">
                              <a:solidFill>
                                <a:schemeClr val="bg2"/>
                              </a:solidFill>
                              <a:latin typeface="Cambria Math" panose="02040503050406030204" pitchFamily="18" charset="0"/>
                              <a:cs typeface="Times New Roman" panose="02020603050405020304" pitchFamily="18" charset="0"/>
                            </a:rPr>
                            <m:t> ∈</m:t>
                          </m:r>
                          <m:r>
                            <a:rPr lang="en-ZA" sz="1800" b="1" kern="1200">
                              <a:solidFill>
                                <a:schemeClr val="bg2"/>
                              </a:solidFill>
                              <a:latin typeface="Cambria Math" panose="02040503050406030204" pitchFamily="18" charset="0"/>
                              <a:cs typeface="Times New Roman" panose="02020603050405020304" pitchFamily="18" charset="0"/>
                            </a:rPr>
                            <m:t>𝐶</m:t>
                          </m:r>
                        </m:sub>
                        <m:sup/>
                        <m:e>
                          <m:f>
                            <m:fPr>
                              <m:ctrlPr>
                                <a:rPr lang="en-ZA" sz="1800" b="1" i="1" kern="1200">
                                  <a:solidFill>
                                    <a:schemeClr val="bg2"/>
                                  </a:solidFill>
                                  <a:latin typeface="Cambria Math" panose="02040503050406030204" pitchFamily="18" charset="0"/>
                                  <a:cs typeface="Times New Roman" panose="02020603050405020304" pitchFamily="18" charset="0"/>
                                </a:rPr>
                              </m:ctrlPr>
                            </m:fPr>
                            <m:num>
                              <m:sSup>
                                <m:sSupPr>
                                  <m:ctrlPr>
                                    <a:rPr lang="en-ZA" sz="1800" b="1" i="1" kern="1200">
                                      <a:solidFill>
                                        <a:schemeClr val="bg2"/>
                                      </a:solidFill>
                                      <a:latin typeface="Cambria Math" panose="02040503050406030204" pitchFamily="18" charset="0"/>
                                      <a:cs typeface="Times New Roman" panose="02020603050405020304" pitchFamily="18" charset="0"/>
                                    </a:rPr>
                                  </m:ctrlPr>
                                </m:sSupPr>
                                <m:e>
                                  <m:r>
                                    <a:rPr lang="en-ZA" sz="1800" b="1" kern="1200">
                                      <a:solidFill>
                                        <a:schemeClr val="bg2"/>
                                      </a:solidFill>
                                      <a:latin typeface="Cambria Math" panose="02040503050406030204" pitchFamily="18" charset="0"/>
                                      <a:cs typeface="Times New Roman" panose="02020603050405020304" pitchFamily="18" charset="0"/>
                                    </a:rPr>
                                    <m:t>(</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𝑂</m:t>
                                      </m:r>
                                    </m:e>
                                    <m:sub>
                                      <m:r>
                                        <a:rPr lang="en-ZA" sz="1800" b="1" kern="1200">
                                          <a:solidFill>
                                            <a:schemeClr val="bg2"/>
                                          </a:solidFill>
                                          <a:latin typeface="Cambria Math" panose="02040503050406030204" pitchFamily="18" charset="0"/>
                                          <a:cs typeface="Times New Roman" panose="02020603050405020304" pitchFamily="18" charset="0"/>
                                        </a:rPr>
                                        <m:t>𝑖𝑗</m:t>
                                      </m:r>
                                    </m:sub>
                                  </m:sSub>
                                  <m:r>
                                    <a:rPr lang="en-ZA" sz="1800" b="1" kern="1200">
                                      <a:solidFill>
                                        <a:schemeClr val="bg2"/>
                                      </a:solidFill>
                                      <a:latin typeface="Cambria Math" panose="02040503050406030204" pitchFamily="18" charset="0"/>
                                      <a:cs typeface="Times New Roman" panose="02020603050405020304" pitchFamily="18" charset="0"/>
                                    </a:rPr>
                                    <m:t> − </m:t>
                                  </m:r>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𝐸</m:t>
                                      </m:r>
                                    </m:e>
                                    <m:sub>
                                      <m:r>
                                        <a:rPr lang="en-ZA" sz="1800" b="1" kern="1200">
                                          <a:solidFill>
                                            <a:schemeClr val="bg2"/>
                                          </a:solidFill>
                                          <a:latin typeface="Cambria Math" panose="02040503050406030204" pitchFamily="18" charset="0"/>
                                          <a:cs typeface="Times New Roman" panose="02020603050405020304" pitchFamily="18" charset="0"/>
                                        </a:rPr>
                                        <m:t>𝑖𝑗</m:t>
                                      </m:r>
                                    </m:sub>
                                  </m:sSub>
                                  <m:r>
                                    <a:rPr lang="en-ZA" sz="1800" b="1" kern="1200">
                                      <a:solidFill>
                                        <a:schemeClr val="bg2"/>
                                      </a:solidFill>
                                      <a:latin typeface="Cambria Math" panose="02040503050406030204" pitchFamily="18" charset="0"/>
                                      <a:cs typeface="Times New Roman" panose="02020603050405020304" pitchFamily="18" charset="0"/>
                                    </a:rPr>
                                    <m:t>)</m:t>
                                  </m:r>
                                </m:e>
                                <m:sup>
                                  <m:r>
                                    <a:rPr lang="en-ZA" sz="1800" b="1" kern="1200">
                                      <a:solidFill>
                                        <a:schemeClr val="bg2"/>
                                      </a:solidFill>
                                      <a:latin typeface="Cambria Math" panose="02040503050406030204" pitchFamily="18" charset="0"/>
                                      <a:cs typeface="Times New Roman" panose="02020603050405020304" pitchFamily="18" charset="0"/>
                                    </a:rPr>
                                    <m:t>2</m:t>
                                  </m:r>
                                </m:sup>
                              </m:sSup>
                            </m:num>
                            <m:den>
                              <m:sSub>
                                <m:sSubPr>
                                  <m:ctrlPr>
                                    <a:rPr lang="en-ZA" sz="1800" b="1" i="1" kern="1200">
                                      <a:solidFill>
                                        <a:schemeClr val="bg2"/>
                                      </a:solidFill>
                                      <a:latin typeface="Cambria Math" panose="02040503050406030204" pitchFamily="18" charset="0"/>
                                      <a:cs typeface="Times New Roman" panose="02020603050405020304" pitchFamily="18" charset="0"/>
                                    </a:rPr>
                                  </m:ctrlPr>
                                </m:sSubPr>
                                <m:e>
                                  <m:r>
                                    <a:rPr lang="en-ZA" sz="1800" b="1" kern="1200">
                                      <a:solidFill>
                                        <a:schemeClr val="bg2"/>
                                      </a:solidFill>
                                      <a:latin typeface="Cambria Math" panose="02040503050406030204" pitchFamily="18" charset="0"/>
                                      <a:cs typeface="Times New Roman" panose="02020603050405020304" pitchFamily="18" charset="0"/>
                                    </a:rPr>
                                    <m:t>𝐸</m:t>
                                  </m:r>
                                </m:e>
                                <m:sub>
                                  <m:r>
                                    <a:rPr lang="en-ZA" sz="1800" b="1" kern="1200">
                                      <a:solidFill>
                                        <a:schemeClr val="bg2"/>
                                      </a:solidFill>
                                      <a:latin typeface="Cambria Math" panose="02040503050406030204" pitchFamily="18" charset="0"/>
                                      <a:cs typeface="Times New Roman" panose="02020603050405020304" pitchFamily="18" charset="0"/>
                                    </a:rPr>
                                    <m:t>𝑖𝑗</m:t>
                                  </m:r>
                                </m:sub>
                              </m:sSub>
                            </m:den>
                          </m:f>
                        </m:e>
                      </m:nary>
                      <m:r>
                        <a:rPr lang="en-ZA" sz="1800" b="1" kern="1200">
                          <a:solidFill>
                            <a:schemeClr val="bg2"/>
                          </a:solidFill>
                          <a:latin typeface="Cambria Math" panose="02040503050406030204" pitchFamily="18" charset="0"/>
                          <a:cs typeface="Times New Roman" panose="02020603050405020304" pitchFamily="18" charset="0"/>
                        </a:rPr>
                        <m:t> ~ </m:t>
                      </m:r>
                      <m:sSubSup>
                        <m:sSubSupPr>
                          <m:ctrlPr>
                            <a:rPr lang="en-ZA" sz="1800" b="1" i="1" kern="1200">
                              <a:solidFill>
                                <a:schemeClr val="bg2"/>
                              </a:solidFill>
                              <a:latin typeface="Cambria Math" panose="02040503050406030204" pitchFamily="18" charset="0"/>
                              <a:cs typeface="Times New Roman" panose="02020603050405020304" pitchFamily="18" charset="0"/>
                            </a:rPr>
                          </m:ctrlPr>
                        </m:sSubSupPr>
                        <m:e>
                          <m:r>
                            <a:rPr lang="en-ZA" sz="1800" b="1" kern="1200">
                              <a:solidFill>
                                <a:schemeClr val="bg2"/>
                              </a:solidFill>
                              <a:latin typeface="Cambria Math" panose="02040503050406030204" pitchFamily="18" charset="0"/>
                              <a:cs typeface="Times New Roman" panose="02020603050405020304" pitchFamily="18" charset="0"/>
                            </a:rPr>
                            <m:t>𝑥</m:t>
                          </m:r>
                        </m:e>
                        <m:sub>
                          <m:r>
                            <a:rPr lang="en-ZA" sz="1800" b="1" kern="1200">
                              <a:solidFill>
                                <a:schemeClr val="bg2"/>
                              </a:solidFill>
                              <a:latin typeface="Cambria Math" panose="02040503050406030204" pitchFamily="18" charset="0"/>
                              <a:cs typeface="Times New Roman" panose="02020603050405020304" pitchFamily="18" charset="0"/>
                            </a:rPr>
                            <m:t>1</m:t>
                          </m:r>
                        </m:sub>
                        <m:sup>
                          <m:r>
                            <a:rPr lang="en-ZA" sz="1800" b="1" kern="1200">
                              <a:solidFill>
                                <a:schemeClr val="bg2"/>
                              </a:solidFill>
                              <a:latin typeface="Cambria Math" panose="02040503050406030204" pitchFamily="18" charset="0"/>
                              <a:cs typeface="Times New Roman" panose="02020603050405020304" pitchFamily="18" charset="0"/>
                            </a:rPr>
                            <m:t>2</m:t>
                          </m:r>
                        </m:sup>
                      </m:sSubSup>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endParaRPr lang="en-ZA" sz="1800" dirty="0">
                  <a:solidFill>
                    <a:schemeClr val="bg2"/>
                  </a:solidFill>
                </a:endParaRPr>
              </a:p>
              <a:p>
                <a:pPr marL="0" indent="0">
                  <a:buNone/>
                </a:pPr>
                <a:r>
                  <a:rPr lang="en-ZA" sz="1800" dirty="0">
                    <a:solidFill>
                      <a:schemeClr val="bg2"/>
                    </a:solidFill>
                  </a:rPr>
                  <a:t/>
                </a:r>
                <a:br>
                  <a:rPr lang="en-ZA" sz="1800" dirty="0">
                    <a:solidFill>
                      <a:schemeClr val="bg2"/>
                    </a:solidFill>
                  </a:rPr>
                </a:br>
                <a:endParaRPr lang="en-ZA" sz="1800" dirty="0">
                  <a:solidFill>
                    <a:schemeClr val="bg2"/>
                  </a:solidFill>
                </a:endParaRPr>
              </a:p>
            </p:txBody>
          </p:sp>
        </mc:Choice>
        <mc:Fallback xmlns="">
          <p:sp>
            <p:nvSpPr>
              <p:cNvPr id="6" name="Content Placeholder 2">
                <a:extLst>
                  <a:ext uri="{FF2B5EF4-FFF2-40B4-BE49-F238E27FC236}">
                    <a16:creationId xmlns:a16="http://schemas.microsoft.com/office/drawing/2014/main" id="{CBF819A3-88DB-4229-8090-0547FA788C3D}"/>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3"/>
                <a:stretch>
                  <a:fillRect l="-421" t="-532"/>
                </a:stretch>
              </a:blipFill>
            </p:spPr>
            <p:txBody>
              <a:bodyPr/>
              <a:lstStyle/>
              <a:p>
                <a:r>
                  <a:rPr lang="en-ZA">
                    <a:noFill/>
                  </a:rPr>
                  <a:t> </a:t>
                </a:r>
              </a:p>
            </p:txBody>
          </p:sp>
        </mc:Fallback>
      </mc:AlternateContent>
      <p:pic>
        <p:nvPicPr>
          <p:cNvPr id="3" name="Picture 2">
            <a:extLst>
              <a:ext uri="{FF2B5EF4-FFF2-40B4-BE49-F238E27FC236}">
                <a16:creationId xmlns:a16="http://schemas.microsoft.com/office/drawing/2014/main" id="{ADCBA06A-E061-48A7-8BD0-877690C239E9}"/>
              </a:ext>
            </a:extLst>
          </p:cNvPr>
          <p:cNvPicPr>
            <a:picLocks noChangeAspect="1"/>
          </p:cNvPicPr>
          <p:nvPr/>
        </p:nvPicPr>
        <p:blipFill>
          <a:blip r:embed="rId4"/>
          <a:stretch>
            <a:fillRect/>
          </a:stretch>
        </p:blipFill>
        <p:spPr>
          <a:xfrm>
            <a:off x="2095500" y="3145316"/>
            <a:ext cx="4953000" cy="2952750"/>
          </a:xfrm>
          <a:prstGeom prst="rect">
            <a:avLst/>
          </a:prstGeom>
        </p:spPr>
      </p:pic>
      <p:sp>
        <p:nvSpPr>
          <p:cNvPr id="8" name="TextBox 7">
            <a:extLst>
              <a:ext uri="{FF2B5EF4-FFF2-40B4-BE49-F238E27FC236}">
                <a16:creationId xmlns:a16="http://schemas.microsoft.com/office/drawing/2014/main" id="{B4F2E1FE-2CD2-4F22-AFFF-DC6E3BF9ADE9}"/>
              </a:ext>
            </a:extLst>
          </p:cNvPr>
          <p:cNvSpPr txBox="1"/>
          <p:nvPr/>
        </p:nvSpPr>
        <p:spPr>
          <a:xfrm>
            <a:off x="2476500" y="5978349"/>
            <a:ext cx="4572000" cy="276999"/>
          </a:xfrm>
          <a:prstGeom prst="rect">
            <a:avLst/>
          </a:prstGeom>
          <a:noFill/>
        </p:spPr>
        <p:txBody>
          <a:bodyPr wrap="square">
            <a:spAutoFit/>
          </a:bodyPr>
          <a:lstStyle/>
          <a:p>
            <a:r>
              <a:rPr lang="en-ZA" sz="1200" i="0" dirty="0">
                <a:solidFill>
                  <a:srgbClr val="000000"/>
                </a:solidFill>
                <a:effectLst/>
                <a:latin typeface="+mj-lt"/>
              </a:rPr>
              <a:t>Tab. 9 Genotype counts for two homologous chromosomes</a:t>
            </a:r>
            <a:r>
              <a:rPr lang="en-ZA" sz="1200" dirty="0">
                <a:latin typeface="+mj-lt"/>
              </a:rPr>
              <a:t> </a:t>
            </a:r>
          </a:p>
        </p:txBody>
      </p:sp>
    </p:spTree>
    <p:extLst>
      <p:ext uri="{BB962C8B-B14F-4D97-AF65-F5344CB8AC3E}">
        <p14:creationId xmlns:p14="http://schemas.microsoft.com/office/powerpoint/2010/main" val="10832086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93800" y="85344"/>
            <a:ext cx="814197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Hardy-Weinberg Equilibrium (HWE)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Content Placeholder 2">
            <a:extLst>
              <a:ext uri="{FF2B5EF4-FFF2-40B4-BE49-F238E27FC236}">
                <a16:creationId xmlns:a16="http://schemas.microsoft.com/office/drawing/2014/main" id="{CBF819A3-88DB-4229-8090-0547FA788C3D}"/>
              </a:ext>
            </a:extLst>
          </p:cNvPr>
          <p:cNvSpPr>
            <a:spLocks noGrp="1"/>
          </p:cNvSpPr>
          <p:nvPr>
            <p:ph idx="1"/>
          </p:nvPr>
        </p:nvSpPr>
        <p:spPr>
          <a:xfrm>
            <a:off x="304800" y="879651"/>
            <a:ext cx="8688368" cy="5726799"/>
          </a:xfrm>
        </p:spPr>
        <p:txBody>
          <a:bodyPr/>
          <a:lstStyle/>
          <a:p>
            <a:r>
              <a:rPr lang="en-ZA" sz="1600" b="1" kern="1200" dirty="0">
                <a:solidFill>
                  <a:schemeClr val="bg2"/>
                </a:solidFill>
                <a:latin typeface="Arial" panose="020B0604020202020204" pitchFamily="34" charset="0"/>
                <a:cs typeface="Times New Roman" panose="02020603050405020304" pitchFamily="18" charset="0"/>
              </a:rPr>
              <a:t>Example: (Testing for HWE using Pearson’s χ2-test). Suppose we are interested in testing for HWE for the SNP </a:t>
            </a:r>
            <a:r>
              <a:rPr lang="en-ZA" sz="1600" b="1" kern="1200" dirty="0" err="1">
                <a:solidFill>
                  <a:schemeClr val="bg2"/>
                </a:solidFill>
                <a:latin typeface="Arial" panose="020B0604020202020204" pitchFamily="34" charset="0"/>
                <a:cs typeface="Times New Roman" panose="02020603050405020304" pitchFamily="18" charset="0"/>
              </a:rPr>
              <a:t>labeled</a:t>
            </a:r>
            <a:r>
              <a:rPr lang="en-ZA" sz="1600" b="1" kern="1200" dirty="0">
                <a:solidFill>
                  <a:schemeClr val="bg2"/>
                </a:solidFill>
                <a:latin typeface="Arial" panose="020B0604020202020204" pitchFamily="34" charset="0"/>
                <a:cs typeface="Times New Roman" panose="02020603050405020304" pitchFamily="18" charset="0"/>
              </a:rPr>
              <a:t> </a:t>
            </a:r>
            <a:r>
              <a:rPr lang="en-ZA" sz="1600" b="1" i="1" kern="1200" dirty="0">
                <a:solidFill>
                  <a:schemeClr val="bg2"/>
                </a:solidFill>
                <a:latin typeface="Arial" panose="020B0604020202020204" pitchFamily="34" charset="0"/>
                <a:cs typeface="Times New Roman" panose="02020603050405020304" pitchFamily="18" charset="0"/>
              </a:rPr>
              <a:t>AKT1.C0756A</a:t>
            </a:r>
            <a:r>
              <a:rPr lang="en-ZA" sz="1600" b="1" kern="1200" dirty="0">
                <a:solidFill>
                  <a:schemeClr val="bg2"/>
                </a:solidFill>
                <a:latin typeface="Arial" panose="020B0604020202020204" pitchFamily="34" charset="0"/>
                <a:cs typeface="Times New Roman" panose="02020603050405020304" pitchFamily="18" charset="0"/>
              </a:rPr>
              <a:t> in the HGDP data. To do this, we first need to calculate the observed and expected genotype counts. This can be done as follows: </a:t>
            </a:r>
          </a:p>
          <a:p>
            <a:r>
              <a:rPr lang="en-ZA" sz="1600" i="1" kern="1200" dirty="0">
                <a:solidFill>
                  <a:schemeClr val="bg2"/>
                </a:solidFill>
                <a:latin typeface="Arial" panose="020B0604020202020204" pitchFamily="34" charset="0"/>
                <a:cs typeface="Times New Roman" panose="02020603050405020304" pitchFamily="18" charset="0"/>
              </a:rPr>
              <a:t>attach(</a:t>
            </a:r>
            <a:r>
              <a:rPr lang="en-ZA" sz="1600" i="1" kern="1200" dirty="0" err="1">
                <a:solidFill>
                  <a:schemeClr val="bg2"/>
                </a:solidFill>
                <a:latin typeface="Arial" panose="020B0604020202020204" pitchFamily="34" charset="0"/>
                <a:cs typeface="Times New Roman" panose="02020603050405020304" pitchFamily="18" charset="0"/>
              </a:rPr>
              <a:t>hgdp</a:t>
            </a:r>
            <a:r>
              <a:rPr lang="en-ZA" sz="1600" i="1" kern="1200" dirty="0">
                <a:solidFill>
                  <a:schemeClr val="bg2"/>
                </a:solidFill>
                <a:latin typeface="Arial" panose="020B0604020202020204" pitchFamily="34" charset="0"/>
                <a:cs typeface="Times New Roman" panose="02020603050405020304" pitchFamily="18" charset="0"/>
              </a:rPr>
              <a:t>) </a:t>
            </a:r>
          </a:p>
          <a:p>
            <a:r>
              <a:rPr lang="en-ZA" sz="1600" i="1" kern="1200" dirty="0">
                <a:solidFill>
                  <a:schemeClr val="bg2"/>
                </a:solidFill>
                <a:latin typeface="Arial" panose="020B0604020202020204" pitchFamily="34" charset="0"/>
                <a:cs typeface="Times New Roman" panose="02020603050405020304" pitchFamily="18" charset="0"/>
              </a:rPr>
              <a:t>Akt1Snp1 &lt;- AKT1.C0756A </a:t>
            </a:r>
          </a:p>
          <a:p>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 &lt;- table(Akt1Snp1) </a:t>
            </a:r>
          </a:p>
          <a:p>
            <a:r>
              <a:rPr lang="en-ZA" sz="1600" i="1" kern="1200" dirty="0">
                <a:solidFill>
                  <a:schemeClr val="bg2"/>
                </a:solidFill>
                <a:latin typeface="Arial" panose="020B0604020202020204" pitchFamily="34" charset="0"/>
                <a:cs typeface="Times New Roman" panose="02020603050405020304" pitchFamily="18" charset="0"/>
              </a:rPr>
              <a:t>Nobs &lt;- sum(</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 </a:t>
            </a:r>
          </a:p>
          <a:p>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 </a:t>
            </a:r>
          </a:p>
          <a:p>
            <a:r>
              <a:rPr lang="en-ZA" sz="1600" i="1" kern="1200" dirty="0" err="1">
                <a:solidFill>
                  <a:schemeClr val="bg2"/>
                </a:solidFill>
                <a:latin typeface="Arial" panose="020B0604020202020204" pitchFamily="34" charset="0"/>
                <a:cs typeface="Times New Roman" panose="02020603050405020304" pitchFamily="18" charset="0"/>
              </a:rPr>
              <a:t>FreqC</a:t>
            </a:r>
            <a:r>
              <a:rPr lang="en-ZA" sz="1600" i="1" kern="1200" dirty="0">
                <a:solidFill>
                  <a:schemeClr val="bg2"/>
                </a:solidFill>
                <a:latin typeface="Arial" panose="020B0604020202020204" pitchFamily="34" charset="0"/>
                <a:cs typeface="Times New Roman" panose="02020603050405020304" pitchFamily="18" charset="0"/>
              </a:rPr>
              <a:t> &lt;- (2 * </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[3] + </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[2])/(2*Nobs) </a:t>
            </a:r>
          </a:p>
          <a:p>
            <a:r>
              <a:rPr lang="en-ZA" sz="1600" i="1" kern="1200" dirty="0" err="1">
                <a:solidFill>
                  <a:schemeClr val="bg2"/>
                </a:solidFill>
                <a:latin typeface="Arial" panose="020B0604020202020204" pitchFamily="34" charset="0"/>
                <a:cs typeface="Times New Roman" panose="02020603050405020304" pitchFamily="18" charset="0"/>
              </a:rPr>
              <a:t>ExpCount</a:t>
            </a:r>
            <a:r>
              <a:rPr lang="en-ZA" sz="1600" i="1" kern="1200" dirty="0">
                <a:solidFill>
                  <a:schemeClr val="bg2"/>
                </a:solidFill>
                <a:latin typeface="Arial" panose="020B0604020202020204" pitchFamily="34" charset="0"/>
                <a:cs typeface="Times New Roman" panose="02020603050405020304" pitchFamily="18" charset="0"/>
              </a:rPr>
              <a:t> &lt;- c(Nobs*(1-FreqC)^2, 2*Nobs*</a:t>
            </a:r>
            <a:r>
              <a:rPr lang="en-ZA" sz="1600" i="1" kern="1200" dirty="0" err="1">
                <a:solidFill>
                  <a:schemeClr val="bg2"/>
                </a:solidFill>
                <a:latin typeface="Arial" panose="020B0604020202020204" pitchFamily="34" charset="0"/>
                <a:cs typeface="Times New Roman" panose="02020603050405020304" pitchFamily="18" charset="0"/>
              </a:rPr>
              <a:t>FreqC</a:t>
            </a:r>
            <a:r>
              <a:rPr lang="en-ZA" sz="1600" i="1" kern="1200" dirty="0">
                <a:solidFill>
                  <a:schemeClr val="bg2"/>
                </a:solidFill>
                <a:latin typeface="Arial" panose="020B0604020202020204" pitchFamily="34" charset="0"/>
                <a:cs typeface="Times New Roman" panose="02020603050405020304" pitchFamily="18" charset="0"/>
              </a:rPr>
              <a:t>*(1-FreqC),Nobs*FreqC^2) </a:t>
            </a:r>
          </a:p>
          <a:p>
            <a:r>
              <a:rPr lang="en-ZA" sz="1600" i="1" kern="1200" dirty="0" err="1">
                <a:solidFill>
                  <a:schemeClr val="bg2"/>
                </a:solidFill>
                <a:latin typeface="Arial" panose="020B0604020202020204" pitchFamily="34" charset="0"/>
                <a:cs typeface="Times New Roman" panose="02020603050405020304" pitchFamily="18" charset="0"/>
              </a:rPr>
              <a:t>ExpCount</a:t>
            </a:r>
            <a:r>
              <a:rPr lang="en-ZA" sz="1600" i="1" kern="1200" dirty="0">
                <a:solidFill>
                  <a:schemeClr val="bg2"/>
                </a:solidFill>
                <a:latin typeface="Arial" panose="020B0604020202020204" pitchFamily="34" charset="0"/>
                <a:cs typeface="Times New Roman" panose="02020603050405020304" pitchFamily="18" charset="0"/>
              </a:rPr>
              <a:t> </a:t>
            </a:r>
            <a:endParaRPr lang="en-ZA" sz="1600" i="1" kern="1200" dirty="0" smtClean="0">
              <a:solidFill>
                <a:schemeClr val="bg2"/>
              </a:solidFill>
              <a:latin typeface="Arial" panose="020B0604020202020204" pitchFamily="34" charset="0"/>
              <a:cs typeface="Times New Roman" panose="02020603050405020304" pitchFamily="18" charset="0"/>
            </a:endParaRPr>
          </a:p>
          <a:p>
            <a:endParaRPr lang="en-ZA" sz="1600" i="1" kern="1200" dirty="0">
              <a:solidFill>
                <a:schemeClr val="bg2"/>
              </a:solidFill>
              <a:latin typeface="Arial" panose="020B0604020202020204" pitchFamily="34" charset="0"/>
              <a:cs typeface="Times New Roman" panose="02020603050405020304" pitchFamily="18" charset="0"/>
            </a:endParaRPr>
          </a:p>
          <a:p>
            <a:r>
              <a:rPr lang="en-ZA" sz="1600" b="1" kern="1200" dirty="0">
                <a:solidFill>
                  <a:schemeClr val="bg2"/>
                </a:solidFill>
                <a:latin typeface="Arial" panose="020B0604020202020204" pitchFamily="34" charset="0"/>
                <a:cs typeface="Times New Roman" panose="02020603050405020304" pitchFamily="18" charset="0"/>
              </a:rPr>
              <a:t>In this example, vectors of observed and expected counts are for the genotypes AA, CA and CC, respectively. The χ2-statistic is calculated using the formula of previous Equation and the following R code</a:t>
            </a:r>
            <a:r>
              <a:rPr lang="en-ZA" sz="1600" b="1" kern="1200" dirty="0" smtClean="0">
                <a:solidFill>
                  <a:schemeClr val="bg2"/>
                </a:solidFill>
                <a:latin typeface="Arial" panose="020B0604020202020204" pitchFamily="34" charset="0"/>
                <a:cs typeface="Times New Roman" panose="02020603050405020304" pitchFamily="18" charset="0"/>
              </a:rPr>
              <a:t>:</a:t>
            </a:r>
          </a:p>
          <a:p>
            <a:endParaRPr lang="en-ZA" sz="1600" b="1" kern="1200" dirty="0">
              <a:solidFill>
                <a:schemeClr val="bg2"/>
              </a:solidFill>
              <a:latin typeface="Arial" panose="020B0604020202020204" pitchFamily="34" charset="0"/>
              <a:cs typeface="Times New Roman" panose="02020603050405020304" pitchFamily="18" charset="0"/>
            </a:endParaRPr>
          </a:p>
          <a:p>
            <a:r>
              <a:rPr lang="en-ZA" sz="1600" i="1" kern="1200" dirty="0" err="1">
                <a:solidFill>
                  <a:schemeClr val="bg2"/>
                </a:solidFill>
                <a:latin typeface="Arial" panose="020B0604020202020204" pitchFamily="34" charset="0"/>
                <a:cs typeface="Times New Roman" panose="02020603050405020304" pitchFamily="18" charset="0"/>
              </a:rPr>
              <a:t>ChiSqStat</a:t>
            </a:r>
            <a:r>
              <a:rPr lang="en-ZA" sz="1600" i="1" kern="1200" dirty="0">
                <a:solidFill>
                  <a:schemeClr val="bg2"/>
                </a:solidFill>
                <a:latin typeface="Arial" panose="020B0604020202020204" pitchFamily="34" charset="0"/>
                <a:cs typeface="Times New Roman" panose="02020603050405020304" pitchFamily="18" charset="0"/>
              </a:rPr>
              <a:t> &lt;- sum((</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 - </a:t>
            </a:r>
            <a:r>
              <a:rPr lang="en-ZA" sz="1600" i="1" kern="1200" dirty="0" err="1">
                <a:solidFill>
                  <a:schemeClr val="bg2"/>
                </a:solidFill>
                <a:latin typeface="Arial" panose="020B0604020202020204" pitchFamily="34" charset="0"/>
                <a:cs typeface="Times New Roman" panose="02020603050405020304" pitchFamily="18" charset="0"/>
              </a:rPr>
              <a:t>ExpCount</a:t>
            </a:r>
            <a:r>
              <a:rPr lang="en-ZA" sz="1600" i="1" kern="1200" dirty="0">
                <a:solidFill>
                  <a:schemeClr val="bg2"/>
                </a:solidFill>
                <a:latin typeface="Arial" panose="020B0604020202020204" pitchFamily="34" charset="0"/>
                <a:cs typeface="Times New Roman" panose="02020603050405020304" pitchFamily="18" charset="0"/>
              </a:rPr>
              <a:t>)^2/</a:t>
            </a:r>
            <a:r>
              <a:rPr lang="en-ZA" sz="1600" i="1" kern="1200" dirty="0" err="1">
                <a:solidFill>
                  <a:schemeClr val="bg2"/>
                </a:solidFill>
                <a:latin typeface="Arial" panose="020B0604020202020204" pitchFamily="34" charset="0"/>
                <a:cs typeface="Times New Roman" panose="02020603050405020304" pitchFamily="18" charset="0"/>
              </a:rPr>
              <a:t>ExpCount</a:t>
            </a:r>
            <a:r>
              <a:rPr lang="en-ZA" sz="1600" i="1" kern="1200" dirty="0">
                <a:solidFill>
                  <a:schemeClr val="bg2"/>
                </a:solidFill>
                <a:latin typeface="Arial" panose="020B0604020202020204" pitchFamily="34" charset="0"/>
                <a:cs typeface="Times New Roman" panose="02020603050405020304" pitchFamily="18" charset="0"/>
              </a:rPr>
              <a:t>) </a:t>
            </a:r>
          </a:p>
          <a:p>
            <a:r>
              <a:rPr lang="en-ZA" sz="1600" i="1" kern="1200" dirty="0" err="1">
                <a:solidFill>
                  <a:schemeClr val="bg2"/>
                </a:solidFill>
                <a:latin typeface="Arial" panose="020B0604020202020204" pitchFamily="34" charset="0"/>
                <a:cs typeface="Times New Roman" panose="02020603050405020304" pitchFamily="18" charset="0"/>
              </a:rPr>
              <a:t>ChiSqStat</a:t>
            </a:r>
            <a:r>
              <a:rPr lang="en-ZA" sz="1600" i="1" kern="1200" dirty="0">
                <a:solidFill>
                  <a:schemeClr val="bg2"/>
                </a:solidFill>
                <a:latin typeface="Arial" panose="020B0604020202020204" pitchFamily="34" charset="0"/>
                <a:cs typeface="Times New Roman" panose="02020603050405020304" pitchFamily="18" charset="0"/>
              </a:rPr>
              <a:t> </a:t>
            </a:r>
          </a:p>
          <a:p>
            <a:endParaRPr lang="en-ZA" sz="1600" i="1" kern="1200" dirty="0">
              <a:solidFill>
                <a:schemeClr val="bg2"/>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220921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93800" y="85344"/>
            <a:ext cx="814197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Hardy-Weinberg Equilibrium (HWE)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Content Placeholder 2">
            <a:extLst>
              <a:ext uri="{FF2B5EF4-FFF2-40B4-BE49-F238E27FC236}">
                <a16:creationId xmlns:a16="http://schemas.microsoft.com/office/drawing/2014/main" id="{CBF819A3-88DB-4229-8090-0547FA788C3D}"/>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Alternatively, the </a:t>
            </a:r>
            <a:r>
              <a:rPr lang="en-ZA" sz="2000" i="1" kern="1200" dirty="0" err="1">
                <a:solidFill>
                  <a:schemeClr val="bg2"/>
                </a:solidFill>
                <a:latin typeface="Arial" panose="020B0604020202020204" pitchFamily="34" charset="0"/>
                <a:cs typeface="Times New Roman" panose="02020603050405020304" pitchFamily="18" charset="0"/>
              </a:rPr>
              <a:t>HWE.chisq</a:t>
            </a:r>
            <a:r>
              <a:rPr lang="en-ZA" sz="2000" i="1" kern="1200" dirty="0">
                <a:solidFill>
                  <a:schemeClr val="bg2"/>
                </a:solidFill>
                <a:latin typeface="Arial" panose="020B0604020202020204" pitchFamily="34" charset="0"/>
                <a:cs typeface="Times New Roman" panose="02020603050405020304" pitchFamily="18" charset="0"/>
              </a:rPr>
              <a:t>() </a:t>
            </a:r>
            <a:r>
              <a:rPr lang="en-ZA" sz="1800" b="1" kern="1200" dirty="0">
                <a:solidFill>
                  <a:schemeClr val="bg2"/>
                </a:solidFill>
                <a:latin typeface="Arial" panose="020B0604020202020204" pitchFamily="34" charset="0"/>
                <a:cs typeface="Times New Roman" panose="02020603050405020304" pitchFamily="18" charset="0"/>
              </a:rPr>
              <a:t>function in the genetics package can be used to calculate this statistic. In this case, we first use the </a:t>
            </a:r>
            <a:r>
              <a:rPr lang="en-ZA" sz="1800" i="1" kern="1200" dirty="0">
                <a:solidFill>
                  <a:schemeClr val="bg2"/>
                </a:solidFill>
                <a:latin typeface="Arial" panose="020B0604020202020204" pitchFamily="34" charset="0"/>
                <a:cs typeface="Times New Roman" panose="02020603050405020304" pitchFamily="18" charset="0"/>
              </a:rPr>
              <a:t>genotype() </a:t>
            </a:r>
            <a:r>
              <a:rPr lang="en-ZA" sz="1800" b="1" kern="1200" dirty="0">
                <a:solidFill>
                  <a:schemeClr val="bg2"/>
                </a:solidFill>
                <a:latin typeface="Arial" panose="020B0604020202020204" pitchFamily="34" charset="0"/>
                <a:cs typeface="Times New Roman" panose="02020603050405020304" pitchFamily="18" charset="0"/>
              </a:rPr>
              <a:t>function to create a genotype object as follows</a:t>
            </a:r>
            <a:r>
              <a:rPr lang="en-ZA" sz="1800" b="1" kern="1200" dirty="0" smtClean="0">
                <a:solidFill>
                  <a:schemeClr val="bg2"/>
                </a:solidFill>
                <a:latin typeface="Arial" panose="020B0604020202020204" pitchFamily="34" charset="0"/>
                <a:cs typeface="Times New Roman" panose="02020603050405020304" pitchFamily="18" charset="0"/>
              </a:rPr>
              <a:t>:</a:t>
            </a:r>
          </a:p>
          <a:p>
            <a:endParaRPr lang="en-ZA" sz="1800" b="1" kern="1200" dirty="0">
              <a:solidFill>
                <a:schemeClr val="bg2"/>
              </a:solidFill>
              <a:latin typeface="Arial" panose="020B0604020202020204" pitchFamily="34" charset="0"/>
              <a:cs typeface="Times New Roman" panose="02020603050405020304" pitchFamily="18" charset="0"/>
            </a:endParaRPr>
          </a:p>
          <a:p>
            <a:r>
              <a:rPr lang="en-ZA" sz="1800" i="1" kern="1200" dirty="0">
                <a:solidFill>
                  <a:schemeClr val="bg2"/>
                </a:solidFill>
                <a:latin typeface="Arial" panose="020B0604020202020204" pitchFamily="34" charset="0"/>
                <a:cs typeface="Times New Roman" panose="02020603050405020304" pitchFamily="18" charset="0"/>
              </a:rPr>
              <a:t>library(genetics) </a:t>
            </a:r>
          </a:p>
          <a:p>
            <a:r>
              <a:rPr lang="en-ZA" sz="1800" i="1" kern="1200" dirty="0" err="1">
                <a:solidFill>
                  <a:schemeClr val="bg2"/>
                </a:solidFill>
                <a:latin typeface="Arial" panose="020B0604020202020204" pitchFamily="34" charset="0"/>
                <a:cs typeface="Times New Roman" panose="02020603050405020304" pitchFamily="18" charset="0"/>
              </a:rPr>
              <a:t>e</a:t>
            </a:r>
            <a:r>
              <a:rPr lang="en-ZA" sz="1800" i="1" kern="1200" dirty="0" err="1" smtClean="0">
                <a:solidFill>
                  <a:schemeClr val="bg2"/>
                </a:solidFill>
                <a:latin typeface="Arial" panose="020B0604020202020204" pitchFamily="34" charset="0"/>
                <a:cs typeface="Times New Roman" panose="02020603050405020304" pitchFamily="18" charset="0"/>
              </a:rPr>
              <a:t>xample.data</a:t>
            </a:r>
            <a:r>
              <a:rPr lang="en-ZA" sz="1800" i="1" kern="1200" dirty="0" smtClean="0">
                <a:solidFill>
                  <a:schemeClr val="bg2"/>
                </a:solidFill>
                <a:latin typeface="Arial" panose="020B0604020202020204" pitchFamily="34" charset="0"/>
                <a:cs typeface="Times New Roman" panose="02020603050405020304" pitchFamily="18" charset="0"/>
              </a:rPr>
              <a:t> </a:t>
            </a:r>
            <a:r>
              <a:rPr lang="en-ZA" sz="1800" i="1" kern="1200" dirty="0">
                <a:solidFill>
                  <a:schemeClr val="bg2"/>
                </a:solidFill>
                <a:latin typeface="Arial" panose="020B0604020202020204" pitchFamily="34" charset="0"/>
                <a:cs typeface="Times New Roman" panose="02020603050405020304" pitchFamily="18" charset="0"/>
              </a:rPr>
              <a:t>&lt;- </a:t>
            </a:r>
            <a:r>
              <a:rPr lang="nn-NO" sz="1800" i="1" kern="1200" dirty="0">
                <a:solidFill>
                  <a:schemeClr val="bg2"/>
                </a:solidFill>
                <a:latin typeface="Arial" panose="020B0604020202020204" pitchFamily="34" charset="0"/>
                <a:cs typeface="Times New Roman" panose="02020603050405020304" pitchFamily="18" charset="0"/>
              </a:rPr>
              <a:t>c("D/D","D/I","D/D","I/I","D/D","D/D","D/D","D/D","I/I","")</a:t>
            </a:r>
            <a:r>
              <a:rPr lang="en-ZA" sz="1800" i="1" kern="1200" dirty="0">
                <a:solidFill>
                  <a:schemeClr val="bg2"/>
                </a:solidFill>
                <a:latin typeface="Arial" panose="020B0604020202020204" pitchFamily="34" charset="0"/>
                <a:cs typeface="Times New Roman" panose="02020603050405020304" pitchFamily="18" charset="0"/>
              </a:rPr>
              <a:t> </a:t>
            </a:r>
          </a:p>
          <a:p>
            <a:r>
              <a:rPr lang="en-ZA" sz="1800" i="1" kern="1200" dirty="0">
                <a:solidFill>
                  <a:schemeClr val="bg2"/>
                </a:solidFill>
                <a:latin typeface="Arial" panose="020B0604020202020204" pitchFamily="34" charset="0"/>
                <a:cs typeface="Times New Roman" panose="02020603050405020304" pitchFamily="18" charset="0"/>
              </a:rPr>
              <a:t>g1 &lt;- </a:t>
            </a:r>
            <a:r>
              <a:rPr lang="en-ZA" sz="1800" i="1" kern="1200" dirty="0" smtClean="0">
                <a:solidFill>
                  <a:schemeClr val="bg2"/>
                </a:solidFill>
                <a:latin typeface="Arial" panose="020B0604020202020204" pitchFamily="34" charset="0"/>
                <a:cs typeface="Times New Roman" panose="02020603050405020304" pitchFamily="18" charset="0"/>
              </a:rPr>
              <a:t>genotype(</a:t>
            </a:r>
            <a:r>
              <a:rPr lang="en-ZA" sz="1800" i="1" kern="1200" dirty="0" err="1">
                <a:solidFill>
                  <a:schemeClr val="bg2"/>
                </a:solidFill>
                <a:latin typeface="Arial" panose="020B0604020202020204" pitchFamily="34" charset="0"/>
                <a:cs typeface="Times New Roman" panose="02020603050405020304" pitchFamily="18" charset="0"/>
              </a:rPr>
              <a:t>E</a:t>
            </a:r>
            <a:r>
              <a:rPr lang="en-ZA" sz="1800" i="1" kern="1200" dirty="0" err="1" smtClean="0">
                <a:solidFill>
                  <a:schemeClr val="bg2"/>
                </a:solidFill>
                <a:latin typeface="Arial" panose="020B0604020202020204" pitchFamily="34" charset="0"/>
                <a:cs typeface="Times New Roman" panose="02020603050405020304" pitchFamily="18" charset="0"/>
              </a:rPr>
              <a:t>xample.data</a:t>
            </a:r>
            <a:r>
              <a:rPr lang="en-ZA" sz="1800" i="1" kern="1200" dirty="0">
                <a:solidFill>
                  <a:schemeClr val="bg2"/>
                </a:solidFill>
                <a:latin typeface="Arial" panose="020B0604020202020204" pitchFamily="34" charset="0"/>
                <a:cs typeface="Times New Roman" panose="02020603050405020304" pitchFamily="18" charset="0"/>
              </a:rPr>
              <a:t>) </a:t>
            </a:r>
          </a:p>
          <a:p>
            <a:r>
              <a:rPr lang="en-ZA" sz="1800" i="1" kern="1200" dirty="0">
                <a:solidFill>
                  <a:schemeClr val="bg2"/>
                </a:solidFill>
                <a:latin typeface="Arial" panose="020B0604020202020204" pitchFamily="34" charset="0"/>
                <a:cs typeface="Times New Roman" panose="02020603050405020304" pitchFamily="18" charset="0"/>
              </a:rPr>
              <a:t>g1</a:t>
            </a:r>
          </a:p>
          <a:p>
            <a:r>
              <a:rPr lang="en-ZA" sz="1800" i="1" kern="1200" dirty="0" err="1">
                <a:solidFill>
                  <a:schemeClr val="bg2"/>
                </a:solidFill>
                <a:latin typeface="Arial" panose="020B0604020202020204" pitchFamily="34" charset="0"/>
                <a:cs typeface="Times New Roman" panose="02020603050405020304" pitchFamily="18" charset="0"/>
              </a:rPr>
              <a:t>HWE.chisq</a:t>
            </a:r>
            <a:r>
              <a:rPr lang="en-ZA" sz="1800" i="1" kern="1200" dirty="0">
                <a:solidFill>
                  <a:schemeClr val="bg2"/>
                </a:solidFill>
                <a:latin typeface="Arial" panose="020B0604020202020204" pitchFamily="34" charset="0"/>
                <a:cs typeface="Times New Roman" panose="02020603050405020304" pitchFamily="18" charset="0"/>
              </a:rPr>
              <a:t>(g1)</a:t>
            </a:r>
          </a:p>
          <a:p>
            <a:pPr marL="0" indent="0">
              <a:buNone/>
            </a:pPr>
            <a:r>
              <a:rPr lang="en-US" altLang="en-US" sz="1800" b="1" kern="1200" dirty="0">
                <a:solidFill>
                  <a:schemeClr val="bg2"/>
                </a:solidFill>
                <a:latin typeface="Arial" panose="020B0604020202020204" pitchFamily="34" charset="0"/>
                <a:cs typeface="Times New Roman" panose="02020603050405020304" pitchFamily="18" charset="0"/>
              </a:rPr>
              <a:t>	</a:t>
            </a:r>
            <a:r>
              <a:rPr lang="en-US" altLang="en-US" sz="1800" i="1" kern="1200" dirty="0">
                <a:solidFill>
                  <a:schemeClr val="bg2"/>
                </a:solidFill>
                <a:latin typeface="Arial" panose="020B0604020202020204" pitchFamily="34" charset="0"/>
                <a:cs typeface="Times New Roman" panose="02020603050405020304" pitchFamily="18" charset="0"/>
              </a:rPr>
              <a:t>Pearson's Chi-squared test with simulated p-value (based on 10000 	replicates) data: tab X-squared = 4.7056, df = NA, p-value = </a:t>
            </a:r>
            <a:r>
              <a:rPr lang="en-US" altLang="en-US" sz="1800" i="1" kern="1200" dirty="0" smtClean="0">
                <a:solidFill>
                  <a:schemeClr val="bg2"/>
                </a:solidFill>
                <a:latin typeface="Arial" panose="020B0604020202020204" pitchFamily="34" charset="0"/>
                <a:cs typeface="Times New Roman" panose="02020603050405020304" pitchFamily="18" charset="0"/>
              </a:rPr>
              <a:t>0.0377</a:t>
            </a:r>
          </a:p>
          <a:p>
            <a:pPr marL="0" indent="0">
              <a:buNone/>
            </a:pPr>
            <a:endParaRPr lang="en-US" altLang="en-US" sz="1800" b="1" i="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We would reject the null hypothesis of HWE at this SNP locus and conclude instead that the alleles on the two homologous chromosomes are associated with one another.</a:t>
            </a:r>
            <a:br>
              <a:rPr lang="en-ZA" sz="1800" b="1" kern="1200" dirty="0">
                <a:solidFill>
                  <a:schemeClr val="bg2"/>
                </a:solidFill>
                <a:latin typeface="Arial" panose="020B0604020202020204" pitchFamily="34" charset="0"/>
                <a:cs typeface="Times New Roman" panose="02020603050405020304" pitchFamily="18" charset="0"/>
              </a:rPr>
            </a:br>
            <a:endParaRPr lang="en-ZA" sz="1800" b="1" kern="1200" dirty="0">
              <a:solidFill>
                <a:schemeClr val="bg2"/>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26932585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93800" y="85344"/>
            <a:ext cx="814197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Hardy-Weinberg Equilibrium (HWE)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CBF819A3-88DB-4229-8090-0547FA788C3D}"/>
                  </a:ext>
                </a:extLst>
              </p:cNvPr>
              <p:cNvSpPr>
                <a:spLocks noGrp="1"/>
              </p:cNvSpPr>
              <p:nvPr>
                <p:ph idx="1"/>
              </p:nvPr>
            </p:nvSpPr>
            <p:spPr>
              <a:xfrm>
                <a:off x="304800" y="879651"/>
                <a:ext cx="8688368" cy="5726799"/>
              </a:xfrm>
            </p:spPr>
            <p:txBody>
              <a:bodyPr/>
              <a:lstStyle/>
              <a:p>
                <a:r>
                  <a:rPr lang="en-ZA" sz="2400" b="1" kern="1200" dirty="0">
                    <a:solidFill>
                      <a:schemeClr val="bg2"/>
                    </a:solidFill>
                    <a:latin typeface="Arial" panose="020B0604020202020204" pitchFamily="34" charset="0"/>
                    <a:cs typeface="Times New Roman" panose="02020603050405020304" pitchFamily="18" charset="0"/>
                  </a:rPr>
                  <a:t>Fisher’s exact test: </a:t>
                </a:r>
                <a:r>
                  <a:rPr lang="en-ZA" sz="1800" b="1" kern="1200" dirty="0">
                    <a:solidFill>
                      <a:schemeClr val="bg2"/>
                    </a:solidFill>
                    <a:latin typeface="Arial" panose="020B0604020202020204" pitchFamily="34" charset="0"/>
                    <a:cs typeface="Times New Roman" panose="02020603050405020304" pitchFamily="18" charset="0"/>
                  </a:rPr>
                  <a:t>is based on summing the exact probabilities of seeing the observed count data or something more extreme in the direction of the alternative hypothesis. </a:t>
                </a:r>
              </a:p>
              <a:p>
                <a:r>
                  <a:rPr lang="en-ZA" sz="1800" b="1" kern="1200" dirty="0">
                    <a:solidFill>
                      <a:schemeClr val="bg2"/>
                    </a:solidFill>
                    <a:latin typeface="Arial" panose="020B0604020202020204" pitchFamily="34" charset="0"/>
                    <a:cs typeface="Times New Roman" panose="02020603050405020304" pitchFamily="18" charset="0"/>
                  </a:rPr>
                  <a:t>Fisher’s exact test can be obtained from a contingency table as follow:</a:t>
                </a:r>
              </a:p>
              <a:p>
                <a:pPr marL="0" indent="0">
                  <a:buNone/>
                </a:pPr>
                <a14:m>
                  <m:oMathPara xmlns:m="http://schemas.openxmlformats.org/officeDocument/2006/math">
                    <m:oMathParaPr>
                      <m:jc m:val="centerGroup"/>
                    </m:oMathParaPr>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sub>
                      </m:sSub>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d>
                            <m:dPr>
                              <m:ctrlPr>
                                <a:rPr lang="en-ZA" sz="1800" b="1" i="1" kern="1200">
                                  <a:solidFill>
                                    <a:schemeClr val="bg2"/>
                                  </a:solidFill>
                                  <a:latin typeface="Cambria Math" panose="02040503050406030204" pitchFamily="18" charset="0"/>
                                </a:rPr>
                              </m:ctrlPr>
                            </m:dPr>
                            <m:e>
                              <m:m>
                                <m:mPr>
                                  <m:mcs>
                                    <m:mc>
                                      <m:mcPr>
                                        <m:count m:val="1"/>
                                        <m:mcJc m:val="center"/>
                                      </m:mcPr>
                                    </m:mc>
                                  </m:mcs>
                                  <m:ctrlPr>
                                    <a:rPr lang="en-ZA" sz="1800" b="1" i="1" kern="1200">
                                      <a:solidFill>
                                        <a:schemeClr val="bg2"/>
                                      </a:solidFill>
                                      <a:latin typeface="Cambria Math" panose="02040503050406030204" pitchFamily="18" charset="0"/>
                                    </a:rPr>
                                  </m:ctrlPr>
                                </m:mPr>
                                <m:m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e>
                                </m:mr>
                                <m:m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11</m:t>
                                        </m:r>
                                      </m:sub>
                                    </m:sSub>
                                  </m:e>
                                </m:mr>
                              </m:m>
                            </m:e>
                          </m:d>
                          <m:d>
                            <m:dPr>
                              <m:ctrlPr>
                                <a:rPr lang="en-ZA" sz="1800" b="1" i="1" kern="1200">
                                  <a:solidFill>
                                    <a:schemeClr val="bg2"/>
                                  </a:solidFill>
                                  <a:latin typeface="Cambria Math" panose="02040503050406030204" pitchFamily="18" charset="0"/>
                                </a:rPr>
                              </m:ctrlPr>
                            </m:dPr>
                            <m:e>
                              <m:m>
                                <m:mPr>
                                  <m:mcs>
                                    <m:mc>
                                      <m:mcPr>
                                        <m:count m:val="1"/>
                                        <m:mcJc m:val="center"/>
                                      </m:mcPr>
                                    </m:mc>
                                  </m:mcs>
                                  <m:ctrlPr>
                                    <a:rPr lang="en-ZA" sz="1800" b="1" i="1" kern="1200">
                                      <a:solidFill>
                                        <a:schemeClr val="bg2"/>
                                      </a:solidFill>
                                      <a:latin typeface="Cambria Math" panose="02040503050406030204" pitchFamily="18" charset="0"/>
                                    </a:rPr>
                                  </m:ctrlPr>
                                </m:mPr>
                                <m:m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m:t>
                                        </m:r>
                                      </m:sub>
                                    </m:sSub>
                                  </m:e>
                                </m:mr>
                                <m:m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21</m:t>
                                        </m:r>
                                      </m:sub>
                                    </m:sSub>
                                  </m:e>
                                </m:mr>
                              </m:m>
                            </m:e>
                          </m:d>
                        </m:num>
                        <m:den>
                          <m:d>
                            <m:dPr>
                              <m:ctrlPr>
                                <a:rPr lang="en-ZA" sz="1800" b="1" i="1" kern="1200">
                                  <a:solidFill>
                                    <a:schemeClr val="bg2"/>
                                  </a:solidFill>
                                  <a:latin typeface="Cambria Math" panose="02040503050406030204" pitchFamily="18" charset="0"/>
                                </a:rPr>
                              </m:ctrlPr>
                            </m:dPr>
                            <m:e>
                              <m:m>
                                <m:mPr>
                                  <m:mcs>
                                    <m:mc>
                                      <m:mcPr>
                                        <m:count m:val="1"/>
                                        <m:mcJc m:val="center"/>
                                      </m:mcPr>
                                    </m:mc>
                                  </m:mcs>
                                  <m:ctrlPr>
                                    <a:rPr lang="en-ZA" sz="1800" b="1" i="1" kern="1200">
                                      <a:solidFill>
                                        <a:schemeClr val="bg2"/>
                                      </a:solidFill>
                                      <a:latin typeface="Cambria Math" panose="02040503050406030204" pitchFamily="18" charset="0"/>
                                    </a:rPr>
                                  </m:ctrlPr>
                                </m:mPr>
                                <m:mr>
                                  <m:e>
                                    <m:r>
                                      <m:rPr>
                                        <m:brk m:alnAt="7"/>
                                      </m:rPr>
                                      <a:rPr lang="en-ZA" sz="1800" b="1" kern="1200">
                                        <a:solidFill>
                                          <a:schemeClr val="bg2"/>
                                        </a:solidFill>
                                        <a:latin typeface="Cambria Math" panose="02040503050406030204" pitchFamily="18" charset="0"/>
                                      </a:rPr>
                                      <m:t>𝑁</m:t>
                                    </m:r>
                                  </m:e>
                                </m:mr>
                                <m:m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e>
                                </m:mr>
                              </m:m>
                            </m:e>
                          </m:d>
                        </m:den>
                      </m:f>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m:t>
                              </m:r>
                            </m:sub>
                          </m:sSub>
                          <m:r>
                            <a:rPr lang="en-ZA" sz="1800" b="1" kern="1200">
                              <a:solidFill>
                                <a:schemeClr val="bg2"/>
                              </a:solidFill>
                              <a:latin typeface="Cambria Math" panose="02040503050406030204" pitchFamily="18" charset="0"/>
                            </a:rPr>
                            <m:t>!</m:t>
                          </m:r>
                        </m:num>
                        <m:den>
                          <m:r>
                            <a:rPr lang="en-ZA" sz="1800" b="1" kern="1200">
                              <a:solidFill>
                                <a:schemeClr val="bg2"/>
                              </a:solidFill>
                              <a:latin typeface="Cambria Math" panose="02040503050406030204" pitchFamily="18" charset="0"/>
                            </a:rPr>
                            <m:t>𝑁</m:t>
                          </m:r>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11</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12</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21</m:t>
                              </m:r>
                            </m:sub>
                          </m:sSub>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22</m:t>
                              </m:r>
                            </m:sub>
                          </m:sSub>
                          <m:r>
                            <a:rPr lang="en-ZA" sz="1800" b="1" kern="1200">
                              <a:solidFill>
                                <a:schemeClr val="bg2"/>
                              </a:solidFill>
                              <a:latin typeface="Cambria Math" panose="02040503050406030204" pitchFamily="18" charset="0"/>
                            </a:rPr>
                            <m:t>!</m:t>
                          </m:r>
                        </m:den>
                      </m:f>
                    </m:oMath>
                  </m:oMathPara>
                </a14:m>
                <a:endParaRPr lang="en-ZA" sz="1800" b="1" kern="1200" dirty="0">
                  <a:solidFill>
                    <a:schemeClr val="bg2"/>
                  </a:solidFill>
                  <a:latin typeface="Arial" panose="020B0604020202020204" pitchFamily="34" charset="0"/>
                  <a:cs typeface="Times New Roman" panose="02020603050405020304" pitchFamily="18" charset="0"/>
                </a:endParaRPr>
              </a:p>
              <a:p>
                <a:pPr marL="0" indent="0">
                  <a:buNone/>
                </a:pPr>
                <a:r>
                  <a:rPr lang="en-ZA" sz="1800" b="1" kern="1200" dirty="0">
                    <a:solidFill>
                      <a:schemeClr val="bg2"/>
                    </a:solidFill>
                    <a:latin typeface="Arial" panose="020B0604020202020204" pitchFamily="34" charset="0"/>
                    <a:cs typeface="Times New Roman" panose="02020603050405020304" pitchFamily="18" charset="0"/>
                  </a:rPr>
                  <a:t>      Assume </a:t>
                </a:r>
                <a14:m>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r>
                      <a:rPr lang="en-ZA" sz="1800" b="1" kern="1200">
                        <a:solidFill>
                          <a:schemeClr val="bg2"/>
                        </a:solidFill>
                        <a:latin typeface="Cambria Math" panose="02040503050406030204" pitchFamily="18" charset="0"/>
                      </a:rPr>
                      <m:t>=2 ∗</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11</m:t>
                        </m:r>
                      </m:sub>
                    </m:sSub>
                    <m:r>
                      <a:rPr lang="en-ZA" sz="1800" b="1" kern="1200">
                        <a:solidFill>
                          <a:schemeClr val="bg2"/>
                        </a:solidFill>
                        <a:latin typeface="Cambria Math" panose="02040503050406030204" pitchFamily="18" charset="0"/>
                      </a:rPr>
                      <m:t>+ </m:t>
                    </m:r>
                    <m:sSubSup>
                      <m:sSubSupPr>
                        <m:ctrlPr>
                          <a:rPr lang="en-ZA" sz="1800" b="1" i="1" kern="1200">
                            <a:solidFill>
                              <a:schemeClr val="bg2"/>
                            </a:solidFill>
                            <a:latin typeface="Cambria Math" panose="02040503050406030204" pitchFamily="18" charset="0"/>
                          </a:rPr>
                        </m:ctrlPr>
                      </m:sSubSup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12</m:t>
                        </m:r>
                      </m:sub>
                      <m:sup>
                        <m:r>
                          <a:rPr lang="en-ZA" sz="1800" b="1" kern="1200">
                            <a:solidFill>
                              <a:schemeClr val="bg2"/>
                            </a:solidFill>
                            <a:latin typeface="Cambria Math" panose="02040503050406030204" pitchFamily="18" charset="0"/>
                          </a:rPr>
                          <m:t>∗</m:t>
                        </m:r>
                      </m:sup>
                    </m:sSubSup>
                  </m:oMath>
                </a14:m>
                <a:r>
                  <a:rPr lang="en-ZA" sz="1800" b="1" kern="1200" dirty="0">
                    <a:solidFill>
                      <a:schemeClr val="bg2"/>
                    </a:solidFill>
                    <a:latin typeface="Arial" panose="020B0604020202020204" pitchFamily="34" charset="0"/>
                    <a:cs typeface="Times New Roman" panose="02020603050405020304" pitchFamily="18" charset="0"/>
                  </a:rPr>
                  <a:t> , we can write this probability as</a:t>
                </a:r>
              </a:p>
              <a:p>
                <a:pPr marL="0" indent="0">
                  <a:buNone/>
                </a:pPr>
                <a14:m>
                  <m:oMathPara xmlns:m="http://schemas.openxmlformats.org/officeDocument/2006/math">
                    <m:oMathParaPr>
                      <m:jc m:val="centerGroup"/>
                    </m:oMathParaPr>
                    <m:oMath xmlns:m="http://schemas.openxmlformats.org/officeDocument/2006/math">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𝑝</m:t>
                          </m:r>
                        </m:e>
                        <m:sub>
                          <m:r>
                            <a:rPr lang="en-ZA" sz="1800" b="1" kern="1200">
                              <a:solidFill>
                                <a:schemeClr val="bg2"/>
                              </a:solidFill>
                              <a:latin typeface="Cambria Math" panose="02040503050406030204" pitchFamily="18" charset="0"/>
                            </a:rPr>
                            <m:t>𝐴</m:t>
                          </m:r>
                        </m:sub>
                      </m:sSub>
                      <m:r>
                        <a:rPr lang="en-ZA" sz="1800" b="1" kern="1200">
                          <a:solidFill>
                            <a:schemeClr val="bg2"/>
                          </a:solidFill>
                          <a:latin typeface="Cambria Math" panose="02040503050406030204" pitchFamily="18" charset="0"/>
                        </a:rPr>
                        <m:t>= </m:t>
                      </m:r>
                      <m:f>
                        <m:fPr>
                          <m:ctrlPr>
                            <a:rPr lang="en-ZA" sz="1800" b="1" i="1" kern="1200">
                              <a:solidFill>
                                <a:schemeClr val="bg2"/>
                              </a:solidFill>
                              <a:latin typeface="Cambria Math" panose="02040503050406030204" pitchFamily="18" charset="0"/>
                            </a:rPr>
                          </m:ctrlPr>
                        </m:fPr>
                        <m:num>
                          <m:d>
                            <m:dPr>
                              <m:ctrlPr>
                                <a:rPr lang="en-ZA" sz="1800" b="1" i="1" kern="1200">
                                  <a:solidFill>
                                    <a:schemeClr val="bg2"/>
                                  </a:solidFill>
                                  <a:latin typeface="Cambria Math" panose="02040503050406030204" pitchFamily="18" charset="0"/>
                                </a:rPr>
                              </m:ctrlPr>
                            </m:dPr>
                            <m:e>
                              <m:m>
                                <m:mPr>
                                  <m:mcs>
                                    <m:mc>
                                      <m:mcPr>
                                        <m:count m:val="1"/>
                                        <m:mcJc m:val="center"/>
                                      </m:mcPr>
                                    </m:mc>
                                  </m:mcs>
                                  <m:ctrlPr>
                                    <a:rPr lang="en-ZA" sz="1800" b="1" i="1" kern="1200">
                                      <a:solidFill>
                                        <a:schemeClr val="bg2"/>
                                      </a:solidFill>
                                      <a:latin typeface="Cambria Math" panose="02040503050406030204" pitchFamily="18" charset="0"/>
                                    </a:rPr>
                                  </m:ctrlPr>
                                </m:mPr>
                                <m:mr>
                                  <m:e>
                                    <m:r>
                                      <m:rPr>
                                        <m:brk m:alnAt="7"/>
                                      </m:rPr>
                                      <a:rPr lang="en-ZA" sz="1800" b="1" kern="1200">
                                        <a:solidFill>
                                          <a:schemeClr val="bg2"/>
                                        </a:solidFill>
                                        <a:latin typeface="Cambria Math" panose="02040503050406030204" pitchFamily="18" charset="0"/>
                                      </a:rPr>
                                      <m:t>𝑛</m:t>
                                    </m:r>
                                  </m:e>
                                </m:mr>
                                <m:m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11</m:t>
                                        </m:r>
                                      </m:sub>
                                    </m:sSub>
                                    <m:r>
                                      <a:rPr lang="en-ZA" sz="1800" b="1" kern="1200">
                                        <a:solidFill>
                                          <a:schemeClr val="bg2"/>
                                        </a:solidFill>
                                        <a:latin typeface="Cambria Math" panose="02040503050406030204" pitchFamily="18" charset="0"/>
                                      </a:rPr>
                                      <m:t>,</m:t>
                                    </m:r>
                                    <m:sSubSup>
                                      <m:sSubSupPr>
                                        <m:ctrlPr>
                                          <a:rPr lang="en-ZA" sz="1800" b="1" i="1" kern="1200">
                                            <a:solidFill>
                                              <a:schemeClr val="bg2"/>
                                            </a:solidFill>
                                            <a:latin typeface="Cambria Math" panose="02040503050406030204" pitchFamily="18" charset="0"/>
                                          </a:rPr>
                                        </m:ctrlPr>
                                      </m:sSubSup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12</m:t>
                                        </m:r>
                                      </m:sub>
                                      <m:sup>
                                        <m:r>
                                          <a:rPr lang="en-ZA" sz="1800" b="1" kern="1200">
                                            <a:solidFill>
                                              <a:schemeClr val="bg2"/>
                                            </a:solidFill>
                                            <a:latin typeface="Cambria Math" panose="02040503050406030204" pitchFamily="18" charset="0"/>
                                          </a:rPr>
                                          <m:t>∗</m:t>
                                        </m:r>
                                      </m:sup>
                                    </m:sSubSup>
                                    <m:r>
                                      <a:rPr lang="en-ZA" sz="1800" b="1" kern="1200">
                                        <a:solidFill>
                                          <a:schemeClr val="bg2"/>
                                        </a:solidFill>
                                        <a:latin typeface="Cambria Math" panose="02040503050406030204" pitchFamily="18" charset="0"/>
                                      </a:rPr>
                                      <m:t>,</m:t>
                                    </m:r>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22</m:t>
                                        </m:r>
                                      </m:sub>
                                    </m:sSub>
                                  </m:e>
                                </m:mr>
                              </m:m>
                            </m:e>
                          </m:d>
                        </m:num>
                        <m:den>
                          <m:d>
                            <m:dPr>
                              <m:ctrlPr>
                                <a:rPr lang="en-ZA" sz="1800" b="1" i="1" kern="1200">
                                  <a:solidFill>
                                    <a:schemeClr val="bg2"/>
                                  </a:solidFill>
                                  <a:latin typeface="Cambria Math" panose="02040503050406030204" pitchFamily="18" charset="0"/>
                                </a:rPr>
                              </m:ctrlPr>
                            </m:dPr>
                            <m:e>
                              <m:m>
                                <m:mPr>
                                  <m:mcs>
                                    <m:mc>
                                      <m:mcPr>
                                        <m:count m:val="1"/>
                                        <m:mcJc m:val="center"/>
                                      </m:mcPr>
                                    </m:mc>
                                  </m:mcs>
                                  <m:ctrlPr>
                                    <a:rPr lang="en-ZA" sz="1800" b="1" i="1" kern="1200">
                                      <a:solidFill>
                                        <a:schemeClr val="bg2"/>
                                      </a:solidFill>
                                      <a:latin typeface="Cambria Math" panose="02040503050406030204" pitchFamily="18" charset="0"/>
                                    </a:rPr>
                                  </m:ctrlPr>
                                </m:mPr>
                                <m:mr>
                                  <m:e>
                                    <m:r>
                                      <m:rPr>
                                        <m:brk m:alnAt="7"/>
                                      </m:rPr>
                                      <a:rPr lang="en-ZA" sz="1800" b="1" kern="1200">
                                        <a:solidFill>
                                          <a:schemeClr val="bg2"/>
                                        </a:solidFill>
                                        <a:latin typeface="Cambria Math" panose="02040503050406030204" pitchFamily="18" charset="0"/>
                                      </a:rPr>
                                      <m:t>2</m:t>
                                    </m:r>
                                    <m:r>
                                      <a:rPr lang="en-ZA" sz="1800" b="1" kern="1200">
                                        <a:solidFill>
                                          <a:schemeClr val="bg2"/>
                                        </a:solidFill>
                                        <a:latin typeface="Cambria Math" panose="02040503050406030204" pitchFamily="18" charset="0"/>
                                      </a:rPr>
                                      <m:t>𝑛</m:t>
                                    </m:r>
                                  </m:e>
                                </m:mr>
                                <m:mr>
                                  <m:e>
                                    <m:sSub>
                                      <m:sSubPr>
                                        <m:ctrlPr>
                                          <a:rPr lang="en-ZA" sz="1800" b="1" i="1" kern="1200">
                                            <a:solidFill>
                                              <a:schemeClr val="bg2"/>
                                            </a:solidFill>
                                            <a:latin typeface="Cambria Math" panose="02040503050406030204" pitchFamily="18" charset="0"/>
                                          </a:rPr>
                                        </m:ctrlPr>
                                      </m:sSub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m:t>
                                        </m:r>
                                      </m:sub>
                                    </m:sSub>
                                  </m:e>
                                </m:mr>
                              </m:m>
                            </m:e>
                          </m:d>
                        </m:den>
                      </m:f>
                      <m:r>
                        <a:rPr lang="en-ZA" sz="1800" b="1" kern="1200">
                          <a:solidFill>
                            <a:schemeClr val="bg2"/>
                          </a:solidFill>
                          <a:latin typeface="Cambria Math" panose="02040503050406030204" pitchFamily="18" charset="0"/>
                        </a:rPr>
                        <m:t> </m:t>
                      </m:r>
                      <m:sSup>
                        <m:sSupPr>
                          <m:ctrlPr>
                            <a:rPr lang="en-ZA" sz="1800" b="1" i="1" kern="1200">
                              <a:solidFill>
                                <a:schemeClr val="bg2"/>
                              </a:solidFill>
                              <a:latin typeface="Cambria Math" panose="02040503050406030204" pitchFamily="18" charset="0"/>
                            </a:rPr>
                          </m:ctrlPr>
                        </m:sSupPr>
                        <m:e>
                          <m:r>
                            <a:rPr lang="en-ZA" sz="1800" b="1" kern="1200">
                              <a:solidFill>
                                <a:schemeClr val="bg2"/>
                              </a:solidFill>
                              <a:latin typeface="Cambria Math" panose="02040503050406030204" pitchFamily="18" charset="0"/>
                            </a:rPr>
                            <m:t>2</m:t>
                          </m:r>
                        </m:e>
                        <m:sup>
                          <m:sSubSup>
                            <m:sSubSupPr>
                              <m:ctrlPr>
                                <a:rPr lang="en-ZA" sz="1800" b="1" i="1" kern="1200">
                                  <a:solidFill>
                                    <a:schemeClr val="bg2"/>
                                  </a:solidFill>
                                  <a:latin typeface="Cambria Math" panose="02040503050406030204" pitchFamily="18" charset="0"/>
                                </a:rPr>
                              </m:ctrlPr>
                            </m:sSubSupPr>
                            <m:e>
                              <m:r>
                                <a:rPr lang="en-ZA" sz="1800" b="1" kern="1200">
                                  <a:solidFill>
                                    <a:schemeClr val="bg2"/>
                                  </a:solidFill>
                                  <a:latin typeface="Cambria Math" panose="02040503050406030204" pitchFamily="18" charset="0"/>
                                </a:rPr>
                                <m:t>𝑛</m:t>
                              </m:r>
                            </m:e>
                            <m:sub>
                              <m:r>
                                <a:rPr lang="en-ZA" sz="1800" b="1" kern="1200">
                                  <a:solidFill>
                                    <a:schemeClr val="bg2"/>
                                  </a:solidFill>
                                  <a:latin typeface="Cambria Math" panose="02040503050406030204" pitchFamily="18" charset="0"/>
                                </a:rPr>
                                <m:t>12</m:t>
                              </m:r>
                            </m:sub>
                            <m:sup>
                              <m:r>
                                <a:rPr lang="en-ZA" sz="1800" b="1" kern="1200">
                                  <a:solidFill>
                                    <a:schemeClr val="bg2"/>
                                  </a:solidFill>
                                  <a:latin typeface="Cambria Math" panose="02040503050406030204" pitchFamily="18" charset="0"/>
                                </a:rPr>
                                <m:t>∗</m:t>
                              </m:r>
                            </m:sup>
                          </m:sSubSup>
                        </m:sup>
                      </m:sSup>
                    </m:oMath>
                  </m:oMathPara>
                </a14:m>
                <a:endParaRPr lang="en-ZA" sz="1800" b="1" kern="1200" dirty="0">
                  <a:solidFill>
                    <a:schemeClr val="bg2"/>
                  </a:solidFill>
                  <a:latin typeface="Arial" panose="020B0604020202020204" pitchFamily="34" charset="0"/>
                  <a:cs typeface="Times New Roman" panose="02020603050405020304" pitchFamily="18" charset="0"/>
                </a:endParaRPr>
              </a:p>
            </p:txBody>
          </p:sp>
        </mc:Choice>
        <mc:Fallback xmlns="">
          <p:sp>
            <p:nvSpPr>
              <p:cNvPr id="6" name="Content Placeholder 2">
                <a:extLst>
                  <a:ext uri="{FF2B5EF4-FFF2-40B4-BE49-F238E27FC236}">
                    <a16:creationId xmlns:a16="http://schemas.microsoft.com/office/drawing/2014/main" id="{CBF819A3-88DB-4229-8090-0547FA788C3D}"/>
                  </a:ext>
                </a:extLst>
              </p:cNvPr>
              <p:cNvSpPr>
                <a:spLocks noGrp="1" noRot="1" noChangeAspect="1" noMove="1" noResize="1" noEditPoints="1" noAdjustHandles="1" noChangeArrowheads="1" noChangeShapeType="1" noTextEdit="1"/>
              </p:cNvSpPr>
              <p:nvPr>
                <p:ph idx="1"/>
              </p:nvPr>
            </p:nvSpPr>
            <p:spPr>
              <a:xfrm>
                <a:off x="304800" y="879651"/>
                <a:ext cx="8688368" cy="5726799"/>
              </a:xfrm>
              <a:blipFill>
                <a:blip r:embed="rId3"/>
                <a:stretch>
                  <a:fillRect l="-912" t="-745"/>
                </a:stretch>
              </a:blipFill>
            </p:spPr>
            <p:txBody>
              <a:bodyPr/>
              <a:lstStyle/>
              <a:p>
                <a:r>
                  <a:rPr lang="en-ZA">
                    <a:noFill/>
                  </a:rPr>
                  <a:t> </a:t>
                </a:r>
              </a:p>
            </p:txBody>
          </p:sp>
        </mc:Fallback>
      </mc:AlternateContent>
    </p:spTree>
    <p:extLst>
      <p:ext uri="{BB962C8B-B14F-4D97-AF65-F5344CB8AC3E}">
        <p14:creationId xmlns:p14="http://schemas.microsoft.com/office/powerpoint/2010/main" val="41899264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93800" y="85344"/>
            <a:ext cx="814197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Hardy-Weinberg equilibrium (HWE)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Content Placeholder 2">
            <a:extLst>
              <a:ext uri="{FF2B5EF4-FFF2-40B4-BE49-F238E27FC236}">
                <a16:creationId xmlns:a16="http://schemas.microsoft.com/office/drawing/2014/main" id="{CBF819A3-88DB-4229-8090-0547FA788C3D}"/>
              </a:ext>
            </a:extLst>
          </p:cNvPr>
          <p:cNvSpPr>
            <a:spLocks noGrp="1"/>
          </p:cNvSpPr>
          <p:nvPr>
            <p:ph idx="1"/>
          </p:nvPr>
        </p:nvSpPr>
        <p:spPr>
          <a:xfrm>
            <a:off x="304800" y="879651"/>
            <a:ext cx="8688368" cy="5726799"/>
          </a:xfrm>
        </p:spPr>
        <p:txBody>
          <a:bodyPr/>
          <a:lstStyle/>
          <a:p>
            <a:r>
              <a:rPr lang="en-ZA" sz="1600" b="1" kern="1200" dirty="0">
                <a:solidFill>
                  <a:schemeClr val="bg2"/>
                </a:solidFill>
                <a:latin typeface="Arial" panose="020B0604020202020204" pitchFamily="34" charset="0"/>
                <a:cs typeface="Times New Roman" panose="02020603050405020304" pitchFamily="18" charset="0"/>
              </a:rPr>
              <a:t>Example: (Testing for HWE using Fisher’s exact test). Now suppose we are interested in testing for a departure from HWE for the same SNP of previous Example but only within the Maya population. This subgroup consists of </a:t>
            </a:r>
            <a:r>
              <a:rPr lang="en-ZA" sz="1600" b="1" kern="1200" dirty="0" smtClean="0">
                <a:solidFill>
                  <a:schemeClr val="bg2"/>
                </a:solidFill>
                <a:latin typeface="Arial" panose="020B0604020202020204" pitchFamily="34" charset="0"/>
                <a:cs typeface="Times New Roman" panose="02020603050405020304" pitchFamily="18" charset="0"/>
              </a:rPr>
              <a:t>n </a:t>
            </a:r>
            <a:r>
              <a:rPr lang="en-ZA" sz="1600" b="1" kern="1200" dirty="0">
                <a:solidFill>
                  <a:schemeClr val="bg2"/>
                </a:solidFill>
                <a:latin typeface="Arial" panose="020B0604020202020204" pitchFamily="34" charset="0"/>
                <a:cs typeface="Times New Roman" panose="02020603050405020304" pitchFamily="18" charset="0"/>
              </a:rPr>
              <a:t>= 25 individuals, and the observed and expected genotype counts are calculated as follows: </a:t>
            </a:r>
          </a:p>
          <a:p>
            <a:r>
              <a:rPr lang="en-ZA" sz="1600" i="1" kern="1200" dirty="0">
                <a:solidFill>
                  <a:schemeClr val="bg2"/>
                </a:solidFill>
                <a:latin typeface="Arial" panose="020B0604020202020204" pitchFamily="34" charset="0"/>
                <a:cs typeface="Times New Roman" panose="02020603050405020304" pitchFamily="18" charset="0"/>
              </a:rPr>
              <a:t>attach(</a:t>
            </a:r>
            <a:r>
              <a:rPr lang="en-ZA" sz="1600" i="1" kern="1200" dirty="0" err="1">
                <a:solidFill>
                  <a:schemeClr val="bg2"/>
                </a:solidFill>
                <a:latin typeface="Arial" panose="020B0604020202020204" pitchFamily="34" charset="0"/>
                <a:cs typeface="Times New Roman" panose="02020603050405020304" pitchFamily="18" charset="0"/>
              </a:rPr>
              <a:t>hgdp</a:t>
            </a:r>
            <a:r>
              <a:rPr lang="en-ZA" sz="1600" i="1" kern="1200" dirty="0">
                <a:solidFill>
                  <a:schemeClr val="bg2"/>
                </a:solidFill>
                <a:latin typeface="Arial" panose="020B0604020202020204" pitchFamily="34" charset="0"/>
                <a:cs typeface="Times New Roman" panose="02020603050405020304" pitchFamily="18" charset="0"/>
              </a:rPr>
              <a:t>) </a:t>
            </a:r>
          </a:p>
          <a:p>
            <a:r>
              <a:rPr lang="en-ZA" sz="1600" i="1" kern="1200" dirty="0">
                <a:solidFill>
                  <a:schemeClr val="bg2"/>
                </a:solidFill>
                <a:latin typeface="Arial" panose="020B0604020202020204" pitchFamily="34" charset="0"/>
                <a:cs typeface="Times New Roman" panose="02020603050405020304" pitchFamily="18" charset="0"/>
              </a:rPr>
              <a:t>Akt1Snp1Maya &lt;- AKT1.C0756A[Population=="Maya"] </a:t>
            </a:r>
          </a:p>
          <a:p>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 &lt;- table(Akt1Snp1Maya) </a:t>
            </a:r>
          </a:p>
          <a:p>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 </a:t>
            </a:r>
          </a:p>
          <a:p>
            <a:r>
              <a:rPr lang="en-ZA" sz="1600" i="1" kern="1200" dirty="0">
                <a:solidFill>
                  <a:schemeClr val="bg2"/>
                </a:solidFill>
                <a:latin typeface="Arial" panose="020B0604020202020204" pitchFamily="34" charset="0"/>
                <a:cs typeface="Times New Roman" panose="02020603050405020304" pitchFamily="18" charset="0"/>
              </a:rPr>
              <a:t>Nobs &lt;- sum(</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 </a:t>
            </a:r>
          </a:p>
          <a:p>
            <a:r>
              <a:rPr lang="en-ZA" sz="1600" i="1" kern="1200" dirty="0" err="1">
                <a:solidFill>
                  <a:schemeClr val="bg2"/>
                </a:solidFill>
                <a:latin typeface="Arial" panose="020B0604020202020204" pitchFamily="34" charset="0"/>
                <a:cs typeface="Times New Roman" panose="02020603050405020304" pitchFamily="18" charset="0"/>
              </a:rPr>
              <a:t>FreqC</a:t>
            </a:r>
            <a:r>
              <a:rPr lang="en-ZA" sz="1600" i="1" kern="1200" dirty="0">
                <a:solidFill>
                  <a:schemeClr val="bg2"/>
                </a:solidFill>
                <a:latin typeface="Arial" panose="020B0604020202020204" pitchFamily="34" charset="0"/>
                <a:cs typeface="Times New Roman" panose="02020603050405020304" pitchFamily="18" charset="0"/>
              </a:rPr>
              <a:t> &lt;- (2 * </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[3] + </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[2])/(2*Nobs) </a:t>
            </a:r>
          </a:p>
          <a:p>
            <a:r>
              <a:rPr lang="en-ZA" sz="1600" i="1" kern="1200" dirty="0" err="1">
                <a:solidFill>
                  <a:schemeClr val="bg2"/>
                </a:solidFill>
                <a:latin typeface="Arial" panose="020B0604020202020204" pitchFamily="34" charset="0"/>
                <a:cs typeface="Times New Roman" panose="02020603050405020304" pitchFamily="18" charset="0"/>
              </a:rPr>
              <a:t>ExpCount</a:t>
            </a:r>
            <a:r>
              <a:rPr lang="en-ZA" sz="1600" i="1" kern="1200" dirty="0">
                <a:solidFill>
                  <a:schemeClr val="bg2"/>
                </a:solidFill>
                <a:latin typeface="Arial" panose="020B0604020202020204" pitchFamily="34" charset="0"/>
                <a:cs typeface="Times New Roman" panose="02020603050405020304" pitchFamily="18" charset="0"/>
              </a:rPr>
              <a:t> &lt;- c(Nobs*(1-FreqC)^2, 2*Nobs*</a:t>
            </a:r>
            <a:r>
              <a:rPr lang="en-ZA" sz="1600" i="1" kern="1200" dirty="0" err="1">
                <a:solidFill>
                  <a:schemeClr val="bg2"/>
                </a:solidFill>
                <a:latin typeface="Arial" panose="020B0604020202020204" pitchFamily="34" charset="0"/>
                <a:cs typeface="Times New Roman" panose="02020603050405020304" pitchFamily="18" charset="0"/>
              </a:rPr>
              <a:t>FreqC</a:t>
            </a:r>
            <a:r>
              <a:rPr lang="en-ZA" sz="1600" i="1" kern="1200" dirty="0">
                <a:solidFill>
                  <a:schemeClr val="bg2"/>
                </a:solidFill>
                <a:latin typeface="Arial" panose="020B0604020202020204" pitchFamily="34" charset="0"/>
                <a:cs typeface="Times New Roman" panose="02020603050405020304" pitchFamily="18" charset="0"/>
              </a:rPr>
              <a:t>*(1-FreqC),Nobs*FreqC^2) </a:t>
            </a:r>
          </a:p>
          <a:p>
            <a:r>
              <a:rPr lang="en-ZA" sz="1600" i="1" kern="1200" dirty="0" err="1">
                <a:solidFill>
                  <a:schemeClr val="bg2"/>
                </a:solidFill>
                <a:latin typeface="Arial" panose="020B0604020202020204" pitchFamily="34" charset="0"/>
                <a:cs typeface="Times New Roman" panose="02020603050405020304" pitchFamily="18" charset="0"/>
              </a:rPr>
              <a:t>ExpCount</a:t>
            </a:r>
            <a:r>
              <a:rPr lang="en-ZA" sz="1600" i="1" kern="1200" dirty="0">
                <a:solidFill>
                  <a:schemeClr val="bg2"/>
                </a:solidFill>
                <a:latin typeface="Arial" panose="020B0604020202020204" pitchFamily="34" charset="0"/>
                <a:cs typeface="Times New Roman" panose="02020603050405020304" pitchFamily="18" charset="0"/>
              </a:rPr>
              <a:t> </a:t>
            </a:r>
            <a:endParaRPr lang="en-ZA" sz="1600" i="1" kern="1200" dirty="0" smtClean="0">
              <a:solidFill>
                <a:schemeClr val="bg2"/>
              </a:solidFill>
              <a:latin typeface="Arial" panose="020B0604020202020204" pitchFamily="34" charset="0"/>
              <a:cs typeface="Times New Roman" panose="02020603050405020304" pitchFamily="18" charset="0"/>
            </a:endParaRPr>
          </a:p>
          <a:p>
            <a:endParaRPr lang="en-ZA" sz="1600" i="1" kern="1200" dirty="0">
              <a:solidFill>
                <a:schemeClr val="bg2"/>
              </a:solidFill>
              <a:latin typeface="Arial" panose="020B0604020202020204" pitchFamily="34" charset="0"/>
              <a:cs typeface="Times New Roman" panose="02020603050405020304" pitchFamily="18" charset="0"/>
            </a:endParaRPr>
          </a:p>
          <a:p>
            <a:r>
              <a:rPr lang="en-ZA" sz="1600" b="1" kern="1200" dirty="0">
                <a:solidFill>
                  <a:schemeClr val="bg2"/>
                </a:solidFill>
                <a:latin typeface="Arial" panose="020B0604020202020204" pitchFamily="34" charset="0"/>
                <a:cs typeface="Times New Roman" panose="02020603050405020304" pitchFamily="18" charset="0"/>
              </a:rPr>
              <a:t>Since the expected count for the first cell is less than 5, using Fisher’s exact test to test for HWE is most appropriate. An exact probability of seeing the observed counts, as described in the previous </a:t>
            </a:r>
            <a:r>
              <a:rPr lang="en-ZA" sz="1600" b="1" kern="1200" dirty="0" smtClean="0">
                <a:solidFill>
                  <a:schemeClr val="bg2"/>
                </a:solidFill>
                <a:latin typeface="Arial" panose="020B0604020202020204" pitchFamily="34" charset="0"/>
                <a:cs typeface="Times New Roman" panose="02020603050405020304" pitchFamily="18" charset="0"/>
              </a:rPr>
              <a:t>equation, </a:t>
            </a:r>
            <a:r>
              <a:rPr lang="en-ZA" sz="1600" b="1" kern="1200" dirty="0">
                <a:solidFill>
                  <a:schemeClr val="bg2"/>
                </a:solidFill>
                <a:latin typeface="Arial" panose="020B0604020202020204" pitchFamily="34" charset="0"/>
                <a:cs typeface="Times New Roman" panose="02020603050405020304" pitchFamily="18" charset="0"/>
              </a:rPr>
              <a:t>is given by FisherP1 in the following code example</a:t>
            </a:r>
            <a:r>
              <a:rPr lang="en-ZA" sz="1600" b="1" kern="1200" dirty="0" smtClean="0">
                <a:solidFill>
                  <a:schemeClr val="bg2"/>
                </a:solidFill>
                <a:latin typeface="Arial" panose="020B0604020202020204" pitchFamily="34" charset="0"/>
                <a:cs typeface="Times New Roman" panose="02020603050405020304" pitchFamily="18" charset="0"/>
              </a:rPr>
              <a:t>:</a:t>
            </a:r>
            <a:endParaRPr lang="en-ZA" sz="1600" i="1" kern="1200" dirty="0">
              <a:solidFill>
                <a:schemeClr val="bg2"/>
              </a:solidFill>
              <a:latin typeface="Arial" panose="020B0604020202020204" pitchFamily="34" charset="0"/>
              <a:cs typeface="Times New Roman" panose="02020603050405020304" pitchFamily="18" charset="0"/>
            </a:endParaRPr>
          </a:p>
          <a:p>
            <a:endParaRPr lang="en-ZA" sz="1800" dirty="0">
              <a:solidFill>
                <a:schemeClr val="bg2"/>
              </a:solidFill>
            </a:endParaRPr>
          </a:p>
        </p:txBody>
      </p:sp>
    </p:spTree>
    <p:extLst>
      <p:ext uri="{BB962C8B-B14F-4D97-AF65-F5344CB8AC3E}">
        <p14:creationId xmlns:p14="http://schemas.microsoft.com/office/powerpoint/2010/main" val="22149333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93800" y="85344"/>
            <a:ext cx="814197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Hardy-Weinberg equilibrium (HWE)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Content Placeholder 2">
            <a:extLst>
              <a:ext uri="{FF2B5EF4-FFF2-40B4-BE49-F238E27FC236}">
                <a16:creationId xmlns:a16="http://schemas.microsoft.com/office/drawing/2014/main" id="{CBF819A3-88DB-4229-8090-0547FA788C3D}"/>
              </a:ext>
            </a:extLst>
          </p:cNvPr>
          <p:cNvSpPr>
            <a:spLocks noGrp="1"/>
          </p:cNvSpPr>
          <p:nvPr>
            <p:ph idx="1"/>
          </p:nvPr>
        </p:nvSpPr>
        <p:spPr>
          <a:xfrm>
            <a:off x="304800" y="879651"/>
            <a:ext cx="8688368" cy="5726799"/>
          </a:xfrm>
        </p:spPr>
        <p:txBody>
          <a:bodyPr/>
          <a:lstStyle/>
          <a:p>
            <a:r>
              <a:rPr lang="en-ZA" sz="1600" b="1" kern="1200" dirty="0">
                <a:solidFill>
                  <a:schemeClr val="bg2"/>
                </a:solidFill>
                <a:latin typeface="Arial" panose="020B0604020202020204" pitchFamily="34" charset="0"/>
                <a:cs typeface="Times New Roman" panose="02020603050405020304" pitchFamily="18" charset="0"/>
              </a:rPr>
              <a:t>Example: (Testing for HWE using Fisher’s exact test). Now suppose we are interested in testing for a departure from HWE for the same SNP of previous Example but only within the Maya population. This subgroup consists of </a:t>
            </a:r>
            <a:r>
              <a:rPr lang="en-ZA" sz="1600" b="1" kern="1200" dirty="0" smtClean="0">
                <a:solidFill>
                  <a:schemeClr val="bg2"/>
                </a:solidFill>
                <a:latin typeface="Arial" panose="020B0604020202020204" pitchFamily="34" charset="0"/>
                <a:cs typeface="Times New Roman" panose="02020603050405020304" pitchFamily="18" charset="0"/>
              </a:rPr>
              <a:t>n </a:t>
            </a:r>
            <a:r>
              <a:rPr lang="en-ZA" sz="1600" b="1" kern="1200" dirty="0">
                <a:solidFill>
                  <a:schemeClr val="bg2"/>
                </a:solidFill>
                <a:latin typeface="Arial" panose="020B0604020202020204" pitchFamily="34" charset="0"/>
                <a:cs typeface="Times New Roman" panose="02020603050405020304" pitchFamily="18" charset="0"/>
              </a:rPr>
              <a:t>= 25 individuals, and the observed and expected genotype counts are calculated as follows: </a:t>
            </a:r>
          </a:p>
          <a:p>
            <a:r>
              <a:rPr lang="en-ZA" sz="1600" i="1" kern="1200" dirty="0">
                <a:solidFill>
                  <a:schemeClr val="bg2"/>
                </a:solidFill>
                <a:latin typeface="Arial" panose="020B0604020202020204" pitchFamily="34" charset="0"/>
                <a:cs typeface="Times New Roman" panose="02020603050405020304" pitchFamily="18" charset="0"/>
              </a:rPr>
              <a:t># Hardy-Weinberg Equilibrium (HWE</a:t>
            </a:r>
            <a:r>
              <a:rPr lang="en-ZA" sz="1600" i="1" kern="1200" dirty="0" smtClean="0">
                <a:solidFill>
                  <a:schemeClr val="bg2"/>
                </a:solidFill>
                <a:latin typeface="Arial" panose="020B0604020202020204" pitchFamily="34" charset="0"/>
                <a:cs typeface="Times New Roman" panose="02020603050405020304" pitchFamily="18" charset="0"/>
              </a:rPr>
              <a:t>)</a:t>
            </a:r>
            <a:endParaRPr lang="en-ZA" sz="1600" i="1" kern="1200" dirty="0">
              <a:solidFill>
                <a:schemeClr val="bg2"/>
              </a:solidFill>
              <a:latin typeface="Arial" panose="020B0604020202020204" pitchFamily="34" charset="0"/>
              <a:cs typeface="Times New Roman" panose="02020603050405020304" pitchFamily="18" charset="0"/>
            </a:endParaRPr>
          </a:p>
          <a:p>
            <a:r>
              <a:rPr lang="en-ZA" sz="1600" i="1" kern="1200" dirty="0">
                <a:solidFill>
                  <a:schemeClr val="bg2"/>
                </a:solidFill>
                <a:latin typeface="Arial" panose="020B0604020202020204" pitchFamily="34" charset="0"/>
                <a:cs typeface="Times New Roman" panose="02020603050405020304" pitchFamily="18" charset="0"/>
              </a:rPr>
              <a:t>Akt1Snp1 &lt;- hgdp$AKT1.C0756A</a:t>
            </a:r>
          </a:p>
          <a:p>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 &lt;- table(Akt1Snp1)</a:t>
            </a:r>
          </a:p>
          <a:p>
            <a:r>
              <a:rPr lang="en-ZA" sz="1600" i="1" kern="1200" dirty="0" err="1">
                <a:solidFill>
                  <a:schemeClr val="bg2"/>
                </a:solidFill>
                <a:latin typeface="Arial" panose="020B0604020202020204" pitchFamily="34" charset="0"/>
                <a:cs typeface="Times New Roman" panose="02020603050405020304" pitchFamily="18" charset="0"/>
              </a:rPr>
              <a:t>ObsCount</a:t>
            </a:r>
            <a:endParaRPr lang="en-ZA" sz="1600" i="1" kern="1200" dirty="0">
              <a:solidFill>
                <a:schemeClr val="bg2"/>
              </a:solidFill>
              <a:latin typeface="Arial" panose="020B0604020202020204" pitchFamily="34" charset="0"/>
              <a:cs typeface="Times New Roman" panose="02020603050405020304" pitchFamily="18" charset="0"/>
            </a:endParaRPr>
          </a:p>
          <a:p>
            <a:endParaRPr lang="en-ZA" sz="1600" i="1" kern="1200" dirty="0">
              <a:solidFill>
                <a:schemeClr val="bg2"/>
              </a:solidFill>
              <a:latin typeface="Arial" panose="020B0604020202020204" pitchFamily="34" charset="0"/>
              <a:cs typeface="Times New Roman" panose="02020603050405020304" pitchFamily="18" charset="0"/>
            </a:endParaRPr>
          </a:p>
          <a:p>
            <a:r>
              <a:rPr lang="en-ZA" sz="1600" i="1" kern="1200" dirty="0">
                <a:solidFill>
                  <a:schemeClr val="bg2"/>
                </a:solidFill>
                <a:latin typeface="Arial" panose="020B0604020202020204" pitchFamily="34" charset="0"/>
                <a:cs typeface="Times New Roman" panose="02020603050405020304" pitchFamily="18" charset="0"/>
              </a:rPr>
              <a:t>Nobs &lt;- sum(</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a:t>
            </a:r>
          </a:p>
          <a:p>
            <a:r>
              <a:rPr lang="en-ZA" sz="1600" i="1" kern="1200" dirty="0" err="1">
                <a:solidFill>
                  <a:schemeClr val="bg2"/>
                </a:solidFill>
                <a:latin typeface="Arial" panose="020B0604020202020204" pitchFamily="34" charset="0"/>
                <a:cs typeface="Times New Roman" panose="02020603050405020304" pitchFamily="18" charset="0"/>
              </a:rPr>
              <a:t>FreqC</a:t>
            </a:r>
            <a:r>
              <a:rPr lang="en-ZA" sz="1600" i="1" kern="1200" dirty="0">
                <a:solidFill>
                  <a:schemeClr val="bg2"/>
                </a:solidFill>
                <a:latin typeface="Arial" panose="020B0604020202020204" pitchFamily="34" charset="0"/>
                <a:cs typeface="Times New Roman" panose="02020603050405020304" pitchFamily="18" charset="0"/>
              </a:rPr>
              <a:t> &lt;- (2 * </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[3] + </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[2])/(2*Nobs)</a:t>
            </a:r>
          </a:p>
          <a:p>
            <a:r>
              <a:rPr lang="en-ZA" sz="1600" i="1" kern="1200" dirty="0" err="1">
                <a:solidFill>
                  <a:schemeClr val="bg2"/>
                </a:solidFill>
                <a:latin typeface="Arial" panose="020B0604020202020204" pitchFamily="34" charset="0"/>
                <a:cs typeface="Times New Roman" panose="02020603050405020304" pitchFamily="18" charset="0"/>
              </a:rPr>
              <a:t>ExpCount</a:t>
            </a:r>
            <a:r>
              <a:rPr lang="en-ZA" sz="1600" i="1" kern="1200" dirty="0">
                <a:solidFill>
                  <a:schemeClr val="bg2"/>
                </a:solidFill>
                <a:latin typeface="Arial" panose="020B0604020202020204" pitchFamily="34" charset="0"/>
                <a:cs typeface="Times New Roman" panose="02020603050405020304" pitchFamily="18" charset="0"/>
              </a:rPr>
              <a:t> &lt;- c(Nobs*(1-FreqC)^2, 2*Nobs*</a:t>
            </a:r>
            <a:r>
              <a:rPr lang="en-ZA" sz="1600" i="1" kern="1200" dirty="0" err="1">
                <a:solidFill>
                  <a:schemeClr val="bg2"/>
                </a:solidFill>
                <a:latin typeface="Arial" panose="020B0604020202020204" pitchFamily="34" charset="0"/>
                <a:cs typeface="Times New Roman" panose="02020603050405020304" pitchFamily="18" charset="0"/>
              </a:rPr>
              <a:t>FreqC</a:t>
            </a:r>
            <a:r>
              <a:rPr lang="en-ZA" sz="1600" i="1" kern="1200" dirty="0">
                <a:solidFill>
                  <a:schemeClr val="bg2"/>
                </a:solidFill>
                <a:latin typeface="Arial" panose="020B0604020202020204" pitchFamily="34" charset="0"/>
                <a:cs typeface="Times New Roman" panose="02020603050405020304" pitchFamily="18" charset="0"/>
              </a:rPr>
              <a:t>*(1-FreqC),Nobs*FreqC^2)</a:t>
            </a:r>
          </a:p>
          <a:p>
            <a:r>
              <a:rPr lang="en-ZA" sz="1600" i="1" kern="1200" dirty="0" err="1">
                <a:solidFill>
                  <a:schemeClr val="bg2"/>
                </a:solidFill>
                <a:latin typeface="Arial" panose="020B0604020202020204" pitchFamily="34" charset="0"/>
                <a:cs typeface="Times New Roman" panose="02020603050405020304" pitchFamily="18" charset="0"/>
              </a:rPr>
              <a:t>ExpCount</a:t>
            </a:r>
            <a:endParaRPr lang="en-ZA" sz="1600" i="1" kern="1200" dirty="0">
              <a:solidFill>
                <a:schemeClr val="bg2"/>
              </a:solidFill>
              <a:latin typeface="Arial" panose="020B0604020202020204" pitchFamily="34" charset="0"/>
              <a:cs typeface="Times New Roman" panose="02020603050405020304" pitchFamily="18" charset="0"/>
            </a:endParaRPr>
          </a:p>
          <a:p>
            <a:endParaRPr lang="en-ZA" sz="1600" i="1" kern="1200" dirty="0">
              <a:solidFill>
                <a:schemeClr val="bg2"/>
              </a:solidFill>
              <a:latin typeface="Arial" panose="020B0604020202020204" pitchFamily="34" charset="0"/>
              <a:cs typeface="Times New Roman" panose="02020603050405020304" pitchFamily="18" charset="0"/>
            </a:endParaRPr>
          </a:p>
          <a:p>
            <a:r>
              <a:rPr lang="en-ZA" sz="1600" i="1" kern="1200" dirty="0" err="1">
                <a:solidFill>
                  <a:schemeClr val="bg2"/>
                </a:solidFill>
                <a:latin typeface="Arial" panose="020B0604020202020204" pitchFamily="34" charset="0"/>
                <a:cs typeface="Times New Roman" panose="02020603050405020304" pitchFamily="18" charset="0"/>
              </a:rPr>
              <a:t>ChiSqStat</a:t>
            </a:r>
            <a:r>
              <a:rPr lang="en-ZA" sz="1600" i="1" kern="1200" dirty="0">
                <a:solidFill>
                  <a:schemeClr val="bg2"/>
                </a:solidFill>
                <a:latin typeface="Arial" panose="020B0604020202020204" pitchFamily="34" charset="0"/>
                <a:cs typeface="Times New Roman" panose="02020603050405020304" pitchFamily="18" charset="0"/>
              </a:rPr>
              <a:t> &lt;- sum((</a:t>
            </a:r>
            <a:r>
              <a:rPr lang="en-ZA" sz="1600" i="1" kern="1200" dirty="0" err="1">
                <a:solidFill>
                  <a:schemeClr val="bg2"/>
                </a:solidFill>
                <a:latin typeface="Arial" panose="020B0604020202020204" pitchFamily="34" charset="0"/>
                <a:cs typeface="Times New Roman" panose="02020603050405020304" pitchFamily="18" charset="0"/>
              </a:rPr>
              <a:t>ObsCount</a:t>
            </a:r>
            <a:r>
              <a:rPr lang="en-ZA" sz="1600" i="1" kern="1200" dirty="0">
                <a:solidFill>
                  <a:schemeClr val="bg2"/>
                </a:solidFill>
                <a:latin typeface="Arial" panose="020B0604020202020204" pitchFamily="34" charset="0"/>
                <a:cs typeface="Times New Roman" panose="02020603050405020304" pitchFamily="18" charset="0"/>
              </a:rPr>
              <a:t> - </a:t>
            </a:r>
            <a:r>
              <a:rPr lang="en-ZA" sz="1600" i="1" kern="1200" dirty="0" err="1">
                <a:solidFill>
                  <a:schemeClr val="bg2"/>
                </a:solidFill>
                <a:latin typeface="Arial" panose="020B0604020202020204" pitchFamily="34" charset="0"/>
                <a:cs typeface="Times New Roman" panose="02020603050405020304" pitchFamily="18" charset="0"/>
              </a:rPr>
              <a:t>ExpCount</a:t>
            </a:r>
            <a:r>
              <a:rPr lang="en-ZA" sz="1600" i="1" kern="1200" dirty="0">
                <a:solidFill>
                  <a:schemeClr val="bg2"/>
                </a:solidFill>
                <a:latin typeface="Arial" panose="020B0604020202020204" pitchFamily="34" charset="0"/>
                <a:cs typeface="Times New Roman" panose="02020603050405020304" pitchFamily="18" charset="0"/>
              </a:rPr>
              <a:t>)^2/</a:t>
            </a:r>
            <a:r>
              <a:rPr lang="en-ZA" sz="1600" i="1" kern="1200" dirty="0" err="1">
                <a:solidFill>
                  <a:schemeClr val="bg2"/>
                </a:solidFill>
                <a:latin typeface="Arial" panose="020B0604020202020204" pitchFamily="34" charset="0"/>
                <a:cs typeface="Times New Roman" panose="02020603050405020304" pitchFamily="18" charset="0"/>
              </a:rPr>
              <a:t>ExpCount</a:t>
            </a:r>
            <a:r>
              <a:rPr lang="en-ZA" sz="1600" i="1" kern="1200" dirty="0">
                <a:solidFill>
                  <a:schemeClr val="bg2"/>
                </a:solidFill>
                <a:latin typeface="Arial" panose="020B0604020202020204" pitchFamily="34" charset="0"/>
                <a:cs typeface="Times New Roman" panose="02020603050405020304" pitchFamily="18" charset="0"/>
              </a:rPr>
              <a:t>)</a:t>
            </a:r>
          </a:p>
          <a:p>
            <a:r>
              <a:rPr lang="en-ZA" sz="1600" i="1" kern="1200" dirty="0" err="1">
                <a:solidFill>
                  <a:schemeClr val="bg2"/>
                </a:solidFill>
                <a:latin typeface="Arial" panose="020B0604020202020204" pitchFamily="34" charset="0"/>
                <a:cs typeface="Times New Roman" panose="02020603050405020304" pitchFamily="18" charset="0"/>
              </a:rPr>
              <a:t>ChiSqStat</a:t>
            </a:r>
            <a:endParaRPr lang="en-ZA" sz="1600" i="1" kern="1200" dirty="0">
              <a:solidFill>
                <a:schemeClr val="bg2"/>
              </a:solidFill>
              <a:latin typeface="Arial" panose="020B0604020202020204" pitchFamily="34" charset="0"/>
              <a:cs typeface="Times New Roman" panose="02020603050405020304" pitchFamily="18" charset="0"/>
            </a:endParaRPr>
          </a:p>
          <a:p>
            <a:pPr marL="0" indent="0">
              <a:buNone/>
            </a:pPr>
            <a:r>
              <a:rPr lang="en-ZA" sz="1600" i="1" kern="1200" dirty="0" smtClean="0">
                <a:solidFill>
                  <a:schemeClr val="bg2"/>
                </a:solidFill>
                <a:latin typeface="Arial" panose="020B0604020202020204" pitchFamily="34" charset="0"/>
                <a:cs typeface="Times New Roman" panose="02020603050405020304" pitchFamily="18" charset="0"/>
              </a:rPr>
              <a:t> </a:t>
            </a:r>
            <a:endParaRPr lang="en-ZA" sz="1600" i="1" kern="1200" dirty="0">
              <a:solidFill>
                <a:schemeClr val="bg2"/>
              </a:solidFill>
              <a:latin typeface="Arial" panose="020B0604020202020204" pitchFamily="34" charset="0"/>
              <a:cs typeface="Times New Roman" panose="02020603050405020304" pitchFamily="18" charset="0"/>
            </a:endParaRPr>
          </a:p>
          <a:p>
            <a:endParaRPr lang="en-ZA" sz="1800" dirty="0">
              <a:solidFill>
                <a:schemeClr val="bg2"/>
              </a:solidFill>
            </a:endParaRPr>
          </a:p>
        </p:txBody>
      </p:sp>
    </p:spTree>
    <p:extLst>
      <p:ext uri="{BB962C8B-B14F-4D97-AF65-F5344CB8AC3E}">
        <p14:creationId xmlns:p14="http://schemas.microsoft.com/office/powerpoint/2010/main" val="373302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93800" y="85344"/>
            <a:ext cx="814197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Hardy-Weinberg Equilibrium (HWE)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Content Placeholder 2">
            <a:extLst>
              <a:ext uri="{FF2B5EF4-FFF2-40B4-BE49-F238E27FC236}">
                <a16:creationId xmlns:a16="http://schemas.microsoft.com/office/drawing/2014/main" id="{CBF819A3-88DB-4229-8090-0547FA788C3D}"/>
              </a:ext>
            </a:extLst>
          </p:cNvPr>
          <p:cNvSpPr>
            <a:spLocks noGrp="1"/>
          </p:cNvSpPr>
          <p:nvPr>
            <p:ph idx="1"/>
          </p:nvPr>
        </p:nvSpPr>
        <p:spPr>
          <a:xfrm>
            <a:off x="304800" y="879651"/>
            <a:ext cx="8688368" cy="5726799"/>
          </a:xfrm>
        </p:spPr>
        <p:txBody>
          <a:bodyPr/>
          <a:lstStyle/>
          <a:p>
            <a:r>
              <a:rPr lang="en-ZA" sz="1800" b="1" kern="1200" dirty="0">
                <a:solidFill>
                  <a:schemeClr val="bg2"/>
                </a:solidFill>
                <a:latin typeface="Arial" panose="020B0604020202020204" pitchFamily="34" charset="0"/>
                <a:cs typeface="Times New Roman" panose="02020603050405020304" pitchFamily="18" charset="0"/>
              </a:rPr>
              <a:t>The function </a:t>
            </a:r>
            <a:r>
              <a:rPr lang="en-ZA" sz="2000" i="1" kern="1200" dirty="0" err="1">
                <a:solidFill>
                  <a:schemeClr val="bg2"/>
                </a:solidFill>
                <a:latin typeface="Arial" panose="020B0604020202020204" pitchFamily="34" charset="0"/>
                <a:cs typeface="Times New Roman" panose="02020603050405020304" pitchFamily="18" charset="0"/>
              </a:rPr>
              <a:t>HWE.exact</a:t>
            </a:r>
            <a:r>
              <a:rPr lang="en-ZA" sz="2000" i="1" kern="1200" dirty="0">
                <a:solidFill>
                  <a:schemeClr val="bg2"/>
                </a:solidFill>
                <a:latin typeface="Arial" panose="020B0604020202020204" pitchFamily="34" charset="0"/>
                <a:cs typeface="Times New Roman" panose="02020603050405020304" pitchFamily="18" charset="0"/>
              </a:rPr>
              <a:t>() </a:t>
            </a:r>
            <a:r>
              <a:rPr lang="en-ZA" sz="1800" b="1" kern="1200" dirty="0">
                <a:solidFill>
                  <a:schemeClr val="bg2"/>
                </a:solidFill>
                <a:latin typeface="Arial" panose="020B0604020202020204" pitchFamily="34" charset="0"/>
                <a:cs typeface="Times New Roman" panose="02020603050405020304" pitchFamily="18" charset="0"/>
              </a:rPr>
              <a:t>from the </a:t>
            </a:r>
            <a:r>
              <a:rPr lang="en-ZA" sz="1800" i="1" kern="1200" dirty="0">
                <a:solidFill>
                  <a:schemeClr val="bg2"/>
                </a:solidFill>
                <a:latin typeface="Arial" panose="020B0604020202020204" pitchFamily="34" charset="0"/>
                <a:cs typeface="Times New Roman" panose="02020603050405020304" pitchFamily="18" charset="0"/>
              </a:rPr>
              <a:t>genetics</a:t>
            </a:r>
            <a:r>
              <a:rPr lang="en-ZA" sz="1800" b="1" kern="1200" dirty="0">
                <a:solidFill>
                  <a:schemeClr val="bg2"/>
                </a:solidFill>
                <a:latin typeface="Arial" panose="020B0604020202020204" pitchFamily="34" charset="0"/>
                <a:cs typeface="Times New Roman" panose="02020603050405020304" pitchFamily="18" charset="0"/>
              </a:rPr>
              <a:t> package can also be used to calculate this exact p-value, as illustrated below:</a:t>
            </a:r>
          </a:p>
          <a:p>
            <a:r>
              <a:rPr lang="en-ZA" sz="1800" i="1" kern="1200" dirty="0">
                <a:solidFill>
                  <a:schemeClr val="bg2"/>
                </a:solidFill>
                <a:latin typeface="Arial" panose="020B0604020202020204" pitchFamily="34" charset="0"/>
                <a:cs typeface="Times New Roman" panose="02020603050405020304" pitchFamily="18" charset="0"/>
              </a:rPr>
              <a:t>library(genetics) </a:t>
            </a:r>
          </a:p>
          <a:p>
            <a:r>
              <a:rPr lang="en-ZA" sz="1800" i="1" kern="1200" dirty="0" err="1">
                <a:solidFill>
                  <a:schemeClr val="bg2"/>
                </a:solidFill>
                <a:latin typeface="Arial" panose="020B0604020202020204" pitchFamily="34" charset="0"/>
                <a:cs typeface="Times New Roman" panose="02020603050405020304" pitchFamily="18" charset="0"/>
              </a:rPr>
              <a:t>Example.data</a:t>
            </a:r>
            <a:r>
              <a:rPr lang="en-ZA" sz="1800" i="1" kern="1200" dirty="0">
                <a:solidFill>
                  <a:schemeClr val="bg2"/>
                </a:solidFill>
                <a:latin typeface="Arial" panose="020B0604020202020204" pitchFamily="34" charset="0"/>
                <a:cs typeface="Times New Roman" panose="02020603050405020304" pitchFamily="18" charset="0"/>
              </a:rPr>
              <a:t> &lt;- </a:t>
            </a:r>
            <a:r>
              <a:rPr lang="nn-NO" sz="1800" i="1" kern="1200" dirty="0">
                <a:solidFill>
                  <a:schemeClr val="bg2"/>
                </a:solidFill>
                <a:latin typeface="Arial" panose="020B0604020202020204" pitchFamily="34" charset="0"/>
                <a:cs typeface="Times New Roman" panose="02020603050405020304" pitchFamily="18" charset="0"/>
              </a:rPr>
              <a:t>c("D/D","D/I","D/D","I/I","D/D","D/D","D/D","D/D","I/I","")</a:t>
            </a:r>
            <a:r>
              <a:rPr lang="en-ZA" sz="1800" i="1" kern="1200" dirty="0">
                <a:solidFill>
                  <a:schemeClr val="bg2"/>
                </a:solidFill>
                <a:latin typeface="Arial" panose="020B0604020202020204" pitchFamily="34" charset="0"/>
                <a:cs typeface="Times New Roman" panose="02020603050405020304" pitchFamily="18" charset="0"/>
              </a:rPr>
              <a:t> </a:t>
            </a:r>
          </a:p>
          <a:p>
            <a:r>
              <a:rPr lang="en-ZA" sz="1800" i="1" kern="1200" dirty="0">
                <a:solidFill>
                  <a:schemeClr val="bg2"/>
                </a:solidFill>
                <a:latin typeface="Arial" panose="020B0604020202020204" pitchFamily="34" charset="0"/>
                <a:cs typeface="Times New Roman" panose="02020603050405020304" pitchFamily="18" charset="0"/>
              </a:rPr>
              <a:t>g1 &lt;- </a:t>
            </a:r>
            <a:r>
              <a:rPr lang="en-ZA" sz="1800" i="1" kern="1200" dirty="0" smtClean="0">
                <a:solidFill>
                  <a:schemeClr val="bg2"/>
                </a:solidFill>
                <a:latin typeface="Arial" panose="020B0604020202020204" pitchFamily="34" charset="0"/>
                <a:cs typeface="Times New Roman" panose="02020603050405020304" pitchFamily="18" charset="0"/>
              </a:rPr>
              <a:t>genotype(</a:t>
            </a:r>
            <a:r>
              <a:rPr lang="en-ZA" sz="1800" i="1" kern="1200" dirty="0" err="1">
                <a:solidFill>
                  <a:schemeClr val="bg2"/>
                </a:solidFill>
                <a:latin typeface="Arial" panose="020B0604020202020204" pitchFamily="34" charset="0"/>
                <a:cs typeface="Times New Roman" panose="02020603050405020304" pitchFamily="18" charset="0"/>
              </a:rPr>
              <a:t>E</a:t>
            </a:r>
            <a:r>
              <a:rPr lang="en-ZA" sz="1800" i="1" kern="1200" dirty="0" err="1" smtClean="0">
                <a:solidFill>
                  <a:schemeClr val="bg2"/>
                </a:solidFill>
                <a:latin typeface="Arial" panose="020B0604020202020204" pitchFamily="34" charset="0"/>
                <a:cs typeface="Times New Roman" panose="02020603050405020304" pitchFamily="18" charset="0"/>
              </a:rPr>
              <a:t>xample.data</a:t>
            </a:r>
            <a:r>
              <a:rPr lang="en-ZA" sz="1800" i="1" kern="1200" dirty="0">
                <a:solidFill>
                  <a:schemeClr val="bg2"/>
                </a:solidFill>
                <a:latin typeface="Arial" panose="020B0604020202020204" pitchFamily="34" charset="0"/>
                <a:cs typeface="Times New Roman" panose="02020603050405020304" pitchFamily="18" charset="0"/>
              </a:rPr>
              <a:t>) </a:t>
            </a:r>
          </a:p>
          <a:p>
            <a:r>
              <a:rPr lang="en-ZA" sz="1800" i="1" kern="1200" dirty="0">
                <a:solidFill>
                  <a:schemeClr val="bg2"/>
                </a:solidFill>
                <a:latin typeface="Arial" panose="020B0604020202020204" pitchFamily="34" charset="0"/>
                <a:cs typeface="Times New Roman" panose="02020603050405020304" pitchFamily="18" charset="0"/>
              </a:rPr>
              <a:t>g1</a:t>
            </a:r>
          </a:p>
          <a:p>
            <a:r>
              <a:rPr lang="en-ZA" sz="1800" i="1" kern="1200" dirty="0" err="1">
                <a:solidFill>
                  <a:schemeClr val="bg2"/>
                </a:solidFill>
                <a:latin typeface="Arial" panose="020B0604020202020204" pitchFamily="34" charset="0"/>
                <a:cs typeface="Times New Roman" panose="02020603050405020304" pitchFamily="18" charset="0"/>
              </a:rPr>
              <a:t>HWE.exact</a:t>
            </a:r>
            <a:r>
              <a:rPr lang="en-ZA" sz="1800" i="1" kern="1200" dirty="0">
                <a:solidFill>
                  <a:schemeClr val="bg2"/>
                </a:solidFill>
                <a:latin typeface="Arial" panose="020B0604020202020204" pitchFamily="34" charset="0"/>
                <a:cs typeface="Times New Roman" panose="02020603050405020304" pitchFamily="18" charset="0"/>
              </a:rPr>
              <a:t>(g1)</a:t>
            </a:r>
          </a:p>
          <a:p>
            <a:pPr marL="0" indent="0">
              <a:buNone/>
            </a:pPr>
            <a:r>
              <a:rPr lang="en-US" altLang="en-US" sz="1800" i="1" kern="1200" dirty="0">
                <a:solidFill>
                  <a:schemeClr val="bg2"/>
                </a:solidFill>
                <a:latin typeface="Arial" panose="020B0604020202020204" pitchFamily="34" charset="0"/>
                <a:cs typeface="Times New Roman" panose="02020603050405020304" pitchFamily="18" charset="0"/>
              </a:rPr>
              <a:t>	Exact Test for Hardy-Weinberg Equilibrium data: g1 N11 = 6, N12 = 1, 	N22 = 2, N1 = 13, N2 = 5, p-value = </a:t>
            </a:r>
            <a:r>
              <a:rPr lang="en-US" altLang="en-US" sz="1800" i="1" kern="1200" dirty="0" smtClean="0">
                <a:solidFill>
                  <a:schemeClr val="bg2"/>
                </a:solidFill>
                <a:latin typeface="Arial" panose="020B0604020202020204" pitchFamily="34" charset="0"/>
                <a:cs typeface="Times New Roman" panose="02020603050405020304" pitchFamily="18" charset="0"/>
              </a:rPr>
              <a:t>0.05882</a:t>
            </a:r>
          </a:p>
          <a:p>
            <a:pPr marL="0" indent="0">
              <a:buNone/>
            </a:pPr>
            <a:endParaRPr lang="en-ZA" sz="1800" i="1" kern="1200" dirty="0">
              <a:solidFill>
                <a:schemeClr val="bg2"/>
              </a:solidFill>
              <a:latin typeface="Arial" panose="020B0604020202020204" pitchFamily="34" charset="0"/>
              <a:cs typeface="Times New Roman" panose="02020603050405020304" pitchFamily="18" charset="0"/>
            </a:endParaRPr>
          </a:p>
          <a:p>
            <a:r>
              <a:rPr lang="en-ZA" sz="1800" b="1" kern="1200" dirty="0">
                <a:solidFill>
                  <a:schemeClr val="bg2"/>
                </a:solidFill>
                <a:latin typeface="Arial" panose="020B0604020202020204" pitchFamily="34" charset="0"/>
                <a:cs typeface="Times New Roman" panose="02020603050405020304" pitchFamily="18" charset="0"/>
              </a:rPr>
              <a:t>Based on this output, we see that the exact p-value is 0.05882 and we are unable to reject the null hypothesis that there is a departure from HWE in this population.</a:t>
            </a:r>
            <a:br>
              <a:rPr lang="en-ZA" sz="1800" b="1" kern="1200" dirty="0">
                <a:solidFill>
                  <a:schemeClr val="bg2"/>
                </a:solidFill>
                <a:latin typeface="Arial" panose="020B0604020202020204" pitchFamily="34" charset="0"/>
                <a:cs typeface="Times New Roman" panose="02020603050405020304" pitchFamily="18" charset="0"/>
              </a:rPr>
            </a:br>
            <a:endParaRPr lang="en-ZA" sz="1800" b="1" kern="1200" dirty="0">
              <a:solidFill>
                <a:schemeClr val="bg2"/>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17194699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Multiple Comparison Procedure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r>
              <a:rPr lang="en-ZA" sz="1800" dirty="0">
                <a:solidFill>
                  <a:schemeClr val="bg2"/>
                </a:solidFill>
                <a:latin typeface="Arial" panose="020B0604020202020204" pitchFamily="34" charset="0"/>
                <a:cs typeface="Arial" panose="020B0604020202020204" pitchFamily="34" charset="0"/>
              </a:rPr>
              <a:t>Several traditional statistical methods were described for testing for an association between a genotype and a trait.</a:t>
            </a:r>
          </a:p>
          <a:p>
            <a:r>
              <a:rPr lang="en-ZA" sz="1800" dirty="0">
                <a:solidFill>
                  <a:schemeClr val="bg2"/>
                </a:solidFill>
                <a:latin typeface="Arial" panose="020B0604020202020204" pitchFamily="34" charset="0"/>
                <a:cs typeface="Arial" panose="020B0604020202020204" pitchFamily="34" charset="0"/>
              </a:rPr>
              <a:t>These methods generally require comparing a test statistic to its known (or simulated) distribution in order to quantify the probability of seeing what we do or something more extreme under the assumption that the null hypothesis is true.</a:t>
            </a:r>
          </a:p>
          <a:p>
            <a:r>
              <a:rPr lang="en-ZA" sz="1800" dirty="0">
                <a:solidFill>
                  <a:schemeClr val="bg2"/>
                </a:solidFill>
                <a:latin typeface="Arial" panose="020B0604020202020204" pitchFamily="34" charset="0"/>
                <a:cs typeface="Arial" panose="020B0604020202020204" pitchFamily="34" charset="0"/>
              </a:rPr>
              <a:t>Our decision to accept or reject the null then rests on a comparison of this quantity, called the p-value, to a threshold based on a previously determined acceptable level of error.</a:t>
            </a:r>
          </a:p>
          <a:p>
            <a:r>
              <a:rPr lang="en-ZA" sz="1800" dirty="0">
                <a:solidFill>
                  <a:schemeClr val="bg2"/>
                </a:solidFill>
                <a:latin typeface="Arial" panose="020B0604020202020204" pitchFamily="34" charset="0"/>
                <a:cs typeface="Arial" panose="020B0604020202020204" pitchFamily="34" charset="0"/>
              </a:rPr>
              <a:t>There are several methods for adjusting for multiple comparisons describes controlling one of two error rates: the family-wise error rate (FWER) and the false discovery rate (FDR).</a:t>
            </a:r>
          </a:p>
          <a:p>
            <a:endParaRPr lang="en-ZA" sz="1800" dirty="0">
              <a:solidFill>
                <a:schemeClr val="bg2"/>
              </a:solidFill>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graphicFrame>
            <p:nvGraphicFramePr>
              <p:cNvPr id="2" name="Table 2">
                <a:extLst>
                  <a:ext uri="{FF2B5EF4-FFF2-40B4-BE49-F238E27FC236}">
                    <a16:creationId xmlns:a16="http://schemas.microsoft.com/office/drawing/2014/main" id="{22E8B433-3672-42AE-AB48-B209102910A1}"/>
                  </a:ext>
                </a:extLst>
              </p:cNvPr>
              <p:cNvGraphicFramePr>
                <a:graphicFrameLocks noGrp="1"/>
              </p:cNvGraphicFramePr>
              <p:nvPr>
                <p:extLst>
                  <p:ext uri="{D42A27DB-BD31-4B8C-83A1-F6EECF244321}">
                    <p14:modId xmlns:p14="http://schemas.microsoft.com/office/powerpoint/2010/main" val="148570286"/>
                  </p:ext>
                </p:extLst>
              </p:nvPr>
            </p:nvGraphicFramePr>
            <p:xfrm>
              <a:off x="1539461" y="4375720"/>
              <a:ext cx="628523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69796335"/>
                        </a:ext>
                      </a:extLst>
                    </a:gridCol>
                    <a:gridCol w="1524000">
                      <a:extLst>
                        <a:ext uri="{9D8B030D-6E8A-4147-A177-3AD203B41FA5}">
                          <a16:colId xmlns:a16="http://schemas.microsoft.com/office/drawing/2014/main" val="3386351809"/>
                        </a:ext>
                      </a:extLst>
                    </a:gridCol>
                    <a:gridCol w="1713230">
                      <a:extLst>
                        <a:ext uri="{9D8B030D-6E8A-4147-A177-3AD203B41FA5}">
                          <a16:colId xmlns:a16="http://schemas.microsoft.com/office/drawing/2014/main" val="1661114167"/>
                        </a:ext>
                      </a:extLst>
                    </a:gridCol>
                    <a:gridCol w="1524000">
                      <a:extLst>
                        <a:ext uri="{9D8B030D-6E8A-4147-A177-3AD203B41FA5}">
                          <a16:colId xmlns:a16="http://schemas.microsoft.com/office/drawing/2014/main" val="250466662"/>
                        </a:ext>
                      </a:extLst>
                    </a:gridCol>
                  </a:tblGrid>
                  <a:tr h="370840">
                    <a:tc rowSpan="2" gridSpan="2">
                      <a:txBody>
                        <a:bodyPr/>
                        <a:lstStyle/>
                        <a:p>
                          <a:endParaRPr lang="en-ZA" dirty="0"/>
                        </a:p>
                      </a:txBody>
                      <a:tcPr/>
                    </a:tc>
                    <a:tc rowSpan="2" hMerge="1">
                      <a:txBody>
                        <a:bodyPr/>
                        <a:lstStyle/>
                        <a:p>
                          <a:endParaRPr lang="en-ZA" dirty="0"/>
                        </a:p>
                      </a:txBody>
                      <a:tcPr/>
                    </a:tc>
                    <a:tc gridSpan="2">
                      <a:txBody>
                        <a:bodyPr/>
                        <a:lstStyle/>
                        <a:p>
                          <a:r>
                            <a:rPr lang="en-ZA" dirty="0"/>
                            <a:t>Test</a:t>
                          </a:r>
                        </a:p>
                      </a:txBody>
                      <a:tcPr/>
                    </a:tc>
                    <a:tc hMerge="1">
                      <a:txBody>
                        <a:bodyPr/>
                        <a:lstStyle/>
                        <a:p>
                          <a:endParaRPr lang="en-ZA" dirty="0"/>
                        </a:p>
                      </a:txBody>
                      <a:tcPr/>
                    </a:tc>
                    <a:extLst>
                      <a:ext uri="{0D108BD9-81ED-4DB2-BD59-A6C34878D82A}">
                        <a16:rowId xmlns:a16="http://schemas.microsoft.com/office/drawing/2014/main" val="1834161017"/>
                      </a:ext>
                    </a:extLst>
                  </a:tr>
                  <a:tr h="370840">
                    <a:tc gridSpan="2" vMerge="1">
                      <a:txBody>
                        <a:bodyPr/>
                        <a:lstStyle/>
                        <a:p>
                          <a:endParaRPr lang="en-ZA" dirty="0"/>
                        </a:p>
                      </a:txBody>
                      <a:tcPr/>
                    </a:tc>
                    <a:tc hMerge="1" vMerge="1">
                      <a:txBody>
                        <a:bodyPr/>
                        <a:lstStyle/>
                        <a:p>
                          <a:endParaRPr lang="en-ZA" dirty="0"/>
                        </a:p>
                      </a:txBody>
                      <a:tcPr/>
                    </a:tc>
                    <a:tc>
                      <a:txBody>
                        <a:bodyPr/>
                        <a:lstStyle/>
                        <a:p>
                          <a:r>
                            <a:rPr lang="en-ZA" dirty="0"/>
                            <a:t>Non-Significant</a:t>
                          </a:r>
                        </a:p>
                      </a:txBody>
                      <a:tcPr/>
                    </a:tc>
                    <a:tc>
                      <a:txBody>
                        <a:bodyPr/>
                        <a:lstStyle/>
                        <a:p>
                          <a:r>
                            <a:rPr lang="en-ZA" dirty="0"/>
                            <a:t>Significant</a:t>
                          </a:r>
                        </a:p>
                      </a:txBody>
                      <a:tcPr/>
                    </a:tc>
                    <a:extLst>
                      <a:ext uri="{0D108BD9-81ED-4DB2-BD59-A6C34878D82A}">
                        <a16:rowId xmlns:a16="http://schemas.microsoft.com/office/drawing/2014/main" val="3012567768"/>
                      </a:ext>
                    </a:extLst>
                  </a:tr>
                  <a:tr h="370840">
                    <a:tc rowSpan="2">
                      <a:txBody>
                        <a:bodyPr/>
                        <a:lstStyle/>
                        <a:p>
                          <a:r>
                            <a:rPr lang="en-ZA" dirty="0"/>
                            <a:t>Truth</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𝐻</m:t>
                                    </m:r>
                                  </m:e>
                                  <m:sub>
                                    <m:r>
                                      <a:rPr lang="en-ZA" b="0" i="1" smtClean="0">
                                        <a:latin typeface="Cambria Math" panose="02040503050406030204" pitchFamily="18" charset="0"/>
                                      </a:rPr>
                                      <m:t>0</m:t>
                                    </m:r>
                                  </m:sub>
                                </m:sSub>
                              </m:oMath>
                            </m:oMathPara>
                          </a14:m>
                          <a:endParaRPr lang="en-ZA" dirty="0"/>
                        </a:p>
                      </a:txBody>
                      <a:tcPr/>
                    </a:tc>
                    <a:tc>
                      <a:txBody>
                        <a:bodyPr/>
                        <a:lstStyle/>
                        <a:p>
                          <a:r>
                            <a:rPr lang="en-ZA" dirty="0"/>
                            <a:t>True Negative</a:t>
                          </a:r>
                        </a:p>
                      </a:txBody>
                      <a:tcPr/>
                    </a:tc>
                    <a:tc>
                      <a:txBody>
                        <a:bodyPr/>
                        <a:lstStyle/>
                        <a:p>
                          <a:r>
                            <a:rPr lang="en-ZA" b="1" dirty="0"/>
                            <a:t>Type-1 Error</a:t>
                          </a:r>
                        </a:p>
                      </a:txBody>
                      <a:tcPr/>
                    </a:tc>
                    <a:extLst>
                      <a:ext uri="{0D108BD9-81ED-4DB2-BD59-A6C34878D82A}">
                        <a16:rowId xmlns:a16="http://schemas.microsoft.com/office/drawing/2014/main" val="151499491"/>
                      </a:ext>
                    </a:extLst>
                  </a:tr>
                  <a:tr h="370840">
                    <a:tc vMerge="1">
                      <a:txBody>
                        <a:bodyPr/>
                        <a:lstStyle/>
                        <a:p>
                          <a:endParaRPr lang="en-ZA"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𝐻</m:t>
                                    </m:r>
                                  </m:e>
                                  <m:sub>
                                    <m:r>
                                      <a:rPr lang="en-ZA" b="0" i="1" smtClean="0">
                                        <a:latin typeface="Cambria Math" panose="02040503050406030204" pitchFamily="18" charset="0"/>
                                      </a:rPr>
                                      <m:t>𝐴</m:t>
                                    </m:r>
                                  </m:sub>
                                </m:sSub>
                              </m:oMath>
                            </m:oMathPara>
                          </a14:m>
                          <a:endParaRPr lang="en-ZA" dirty="0"/>
                        </a:p>
                      </a:txBody>
                      <a:tcPr/>
                    </a:tc>
                    <a:tc>
                      <a:txBody>
                        <a:bodyPr/>
                        <a:lstStyle/>
                        <a:p>
                          <a:r>
                            <a:rPr lang="en-ZA" b="1" dirty="0"/>
                            <a:t>Type-2 Error</a:t>
                          </a:r>
                        </a:p>
                      </a:txBody>
                      <a:tcPr/>
                    </a:tc>
                    <a:tc>
                      <a:txBody>
                        <a:bodyPr/>
                        <a:lstStyle/>
                        <a:p>
                          <a:r>
                            <a:rPr lang="en-ZA" dirty="0"/>
                            <a:t>True Positive</a:t>
                          </a:r>
                        </a:p>
                      </a:txBody>
                      <a:tcPr/>
                    </a:tc>
                    <a:extLst>
                      <a:ext uri="{0D108BD9-81ED-4DB2-BD59-A6C34878D82A}">
                        <a16:rowId xmlns:a16="http://schemas.microsoft.com/office/drawing/2014/main" val="3723599441"/>
                      </a:ext>
                    </a:extLst>
                  </a:tr>
                </a:tbl>
              </a:graphicData>
            </a:graphic>
          </p:graphicFrame>
        </mc:Choice>
        <mc:Fallback>
          <p:graphicFrame>
            <p:nvGraphicFramePr>
              <p:cNvPr id="2" name="Table 2">
                <a:extLst>
                  <a:ext uri="{FF2B5EF4-FFF2-40B4-BE49-F238E27FC236}">
                    <a16:creationId xmlns:a16="http://schemas.microsoft.com/office/drawing/2014/main" id="{22E8B433-3672-42AE-AB48-B209102910A1}"/>
                  </a:ext>
                </a:extLst>
              </p:cNvPr>
              <p:cNvGraphicFramePr>
                <a:graphicFrameLocks noGrp="1"/>
              </p:cNvGraphicFramePr>
              <p:nvPr>
                <p:extLst>
                  <p:ext uri="{D42A27DB-BD31-4B8C-83A1-F6EECF244321}">
                    <p14:modId xmlns:p14="http://schemas.microsoft.com/office/powerpoint/2010/main" val="148570286"/>
                  </p:ext>
                </p:extLst>
              </p:nvPr>
            </p:nvGraphicFramePr>
            <p:xfrm>
              <a:off x="1539461" y="4375720"/>
              <a:ext cx="628523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69796335"/>
                        </a:ext>
                      </a:extLst>
                    </a:gridCol>
                    <a:gridCol w="1524000">
                      <a:extLst>
                        <a:ext uri="{9D8B030D-6E8A-4147-A177-3AD203B41FA5}">
                          <a16:colId xmlns:a16="http://schemas.microsoft.com/office/drawing/2014/main" val="3386351809"/>
                        </a:ext>
                      </a:extLst>
                    </a:gridCol>
                    <a:gridCol w="1713230">
                      <a:extLst>
                        <a:ext uri="{9D8B030D-6E8A-4147-A177-3AD203B41FA5}">
                          <a16:colId xmlns:a16="http://schemas.microsoft.com/office/drawing/2014/main" val="1661114167"/>
                        </a:ext>
                      </a:extLst>
                    </a:gridCol>
                    <a:gridCol w="1524000">
                      <a:extLst>
                        <a:ext uri="{9D8B030D-6E8A-4147-A177-3AD203B41FA5}">
                          <a16:colId xmlns:a16="http://schemas.microsoft.com/office/drawing/2014/main" val="250466662"/>
                        </a:ext>
                      </a:extLst>
                    </a:gridCol>
                  </a:tblGrid>
                  <a:tr h="370840">
                    <a:tc rowSpan="2" gridSpan="2">
                      <a:txBody>
                        <a:bodyPr/>
                        <a:lstStyle/>
                        <a:p>
                          <a:endParaRPr lang="en-ZA" dirty="0"/>
                        </a:p>
                      </a:txBody>
                      <a:tcPr/>
                    </a:tc>
                    <a:tc rowSpan="2" hMerge="1">
                      <a:txBody>
                        <a:bodyPr/>
                        <a:lstStyle/>
                        <a:p>
                          <a:endParaRPr lang="en-ZA" dirty="0"/>
                        </a:p>
                      </a:txBody>
                      <a:tcPr/>
                    </a:tc>
                    <a:tc gridSpan="2">
                      <a:txBody>
                        <a:bodyPr/>
                        <a:lstStyle/>
                        <a:p>
                          <a:r>
                            <a:rPr lang="en-ZA" dirty="0"/>
                            <a:t>Test</a:t>
                          </a:r>
                        </a:p>
                      </a:txBody>
                      <a:tcPr/>
                    </a:tc>
                    <a:tc hMerge="1">
                      <a:txBody>
                        <a:bodyPr/>
                        <a:lstStyle/>
                        <a:p>
                          <a:endParaRPr lang="en-ZA" dirty="0"/>
                        </a:p>
                      </a:txBody>
                      <a:tcPr/>
                    </a:tc>
                    <a:extLst>
                      <a:ext uri="{0D108BD9-81ED-4DB2-BD59-A6C34878D82A}">
                        <a16:rowId xmlns:a16="http://schemas.microsoft.com/office/drawing/2014/main" val="1834161017"/>
                      </a:ext>
                    </a:extLst>
                  </a:tr>
                  <a:tr h="370840">
                    <a:tc gridSpan="2" vMerge="1">
                      <a:txBody>
                        <a:bodyPr/>
                        <a:lstStyle/>
                        <a:p>
                          <a:endParaRPr lang="en-ZA" dirty="0"/>
                        </a:p>
                      </a:txBody>
                      <a:tcPr/>
                    </a:tc>
                    <a:tc hMerge="1" vMerge="1">
                      <a:txBody>
                        <a:bodyPr/>
                        <a:lstStyle/>
                        <a:p>
                          <a:endParaRPr lang="en-ZA" dirty="0"/>
                        </a:p>
                      </a:txBody>
                      <a:tcPr/>
                    </a:tc>
                    <a:tc>
                      <a:txBody>
                        <a:bodyPr/>
                        <a:lstStyle/>
                        <a:p>
                          <a:r>
                            <a:rPr lang="en-ZA" dirty="0"/>
                            <a:t>Non-Significant</a:t>
                          </a:r>
                        </a:p>
                      </a:txBody>
                      <a:tcPr/>
                    </a:tc>
                    <a:tc>
                      <a:txBody>
                        <a:bodyPr/>
                        <a:lstStyle/>
                        <a:p>
                          <a:r>
                            <a:rPr lang="en-ZA" dirty="0"/>
                            <a:t>Significant</a:t>
                          </a:r>
                        </a:p>
                      </a:txBody>
                      <a:tcPr/>
                    </a:tc>
                    <a:extLst>
                      <a:ext uri="{0D108BD9-81ED-4DB2-BD59-A6C34878D82A}">
                        <a16:rowId xmlns:a16="http://schemas.microsoft.com/office/drawing/2014/main" val="3012567768"/>
                      </a:ext>
                    </a:extLst>
                  </a:tr>
                  <a:tr h="370840">
                    <a:tc rowSpan="2">
                      <a:txBody>
                        <a:bodyPr/>
                        <a:lstStyle/>
                        <a:p>
                          <a:r>
                            <a:rPr lang="en-ZA" dirty="0"/>
                            <a:t>Truth</a:t>
                          </a:r>
                        </a:p>
                      </a:txBody>
                      <a:tcPr/>
                    </a:tc>
                    <a:tc>
                      <a:txBody>
                        <a:bodyPr/>
                        <a:lstStyle/>
                        <a:p>
                          <a:endParaRPr lang="en-US"/>
                        </a:p>
                      </a:txBody>
                      <a:tcPr>
                        <a:blipFill>
                          <a:blip r:embed="rId3"/>
                          <a:stretch>
                            <a:fillRect l="-100400" t="-209836" r="-214400" b="-122951"/>
                          </a:stretch>
                        </a:blipFill>
                      </a:tcPr>
                    </a:tc>
                    <a:tc>
                      <a:txBody>
                        <a:bodyPr/>
                        <a:lstStyle/>
                        <a:p>
                          <a:r>
                            <a:rPr lang="en-ZA" dirty="0"/>
                            <a:t>True Negative</a:t>
                          </a:r>
                        </a:p>
                      </a:txBody>
                      <a:tcPr/>
                    </a:tc>
                    <a:tc>
                      <a:txBody>
                        <a:bodyPr/>
                        <a:lstStyle/>
                        <a:p>
                          <a:r>
                            <a:rPr lang="en-ZA" b="1" dirty="0"/>
                            <a:t>Type-1 Error</a:t>
                          </a:r>
                        </a:p>
                      </a:txBody>
                      <a:tcPr/>
                    </a:tc>
                    <a:extLst>
                      <a:ext uri="{0D108BD9-81ED-4DB2-BD59-A6C34878D82A}">
                        <a16:rowId xmlns:a16="http://schemas.microsoft.com/office/drawing/2014/main" val="151499491"/>
                      </a:ext>
                    </a:extLst>
                  </a:tr>
                  <a:tr h="370840">
                    <a:tc vMerge="1">
                      <a:txBody>
                        <a:bodyPr/>
                        <a:lstStyle/>
                        <a:p>
                          <a:endParaRPr lang="en-ZA" dirty="0"/>
                        </a:p>
                      </a:txBody>
                      <a:tcPr/>
                    </a:tc>
                    <a:tc>
                      <a:txBody>
                        <a:bodyPr/>
                        <a:lstStyle/>
                        <a:p>
                          <a:endParaRPr lang="en-US"/>
                        </a:p>
                      </a:txBody>
                      <a:tcPr>
                        <a:blipFill>
                          <a:blip r:embed="rId3"/>
                          <a:stretch>
                            <a:fillRect l="-100400" t="-309836" r="-214400" b="-22951"/>
                          </a:stretch>
                        </a:blipFill>
                      </a:tcPr>
                    </a:tc>
                    <a:tc>
                      <a:txBody>
                        <a:bodyPr/>
                        <a:lstStyle/>
                        <a:p>
                          <a:r>
                            <a:rPr lang="en-ZA" b="1" dirty="0"/>
                            <a:t>Type-2 Error</a:t>
                          </a:r>
                        </a:p>
                      </a:txBody>
                      <a:tcPr/>
                    </a:tc>
                    <a:tc>
                      <a:txBody>
                        <a:bodyPr/>
                        <a:lstStyle/>
                        <a:p>
                          <a:r>
                            <a:rPr lang="en-ZA" dirty="0"/>
                            <a:t>True Positive</a:t>
                          </a:r>
                        </a:p>
                      </a:txBody>
                      <a:tcPr/>
                    </a:tc>
                    <a:extLst>
                      <a:ext uri="{0D108BD9-81ED-4DB2-BD59-A6C34878D82A}">
                        <a16:rowId xmlns:a16="http://schemas.microsoft.com/office/drawing/2014/main" val="3723599441"/>
                      </a:ext>
                    </a:extLst>
                  </a:tr>
                </a:tbl>
              </a:graphicData>
            </a:graphic>
          </p:graphicFrame>
        </mc:Fallback>
      </mc:AlternateContent>
      <p:sp>
        <p:nvSpPr>
          <p:cNvPr id="7" name="TextBox 6">
            <a:extLst>
              <a:ext uri="{FF2B5EF4-FFF2-40B4-BE49-F238E27FC236}">
                <a16:creationId xmlns:a16="http://schemas.microsoft.com/office/drawing/2014/main" id="{DAEDDBE6-BA1B-40AF-8930-37006FF742EB}"/>
              </a:ext>
            </a:extLst>
          </p:cNvPr>
          <p:cNvSpPr txBox="1"/>
          <p:nvPr/>
        </p:nvSpPr>
        <p:spPr>
          <a:xfrm>
            <a:off x="2577547" y="5912101"/>
            <a:ext cx="4572000" cy="338554"/>
          </a:xfrm>
          <a:prstGeom prst="rect">
            <a:avLst/>
          </a:prstGeom>
          <a:noFill/>
        </p:spPr>
        <p:txBody>
          <a:bodyPr wrap="square">
            <a:spAutoFit/>
          </a:bodyPr>
          <a:lstStyle/>
          <a:p>
            <a:r>
              <a:rPr lang="en-ZA" sz="1600" b="0" i="0" dirty="0">
                <a:solidFill>
                  <a:srgbClr val="000000"/>
                </a:solidFill>
                <a:effectLst/>
                <a:latin typeface="CMR9"/>
              </a:rPr>
              <a:t>Type-1 and type-2 errors in hypothesis testing</a:t>
            </a:r>
            <a:endParaRPr lang="en-ZA" sz="1600" b="0" dirty="0"/>
          </a:p>
        </p:txBody>
      </p:sp>
    </p:spTree>
    <p:extLst>
      <p:ext uri="{BB962C8B-B14F-4D97-AF65-F5344CB8AC3E}">
        <p14:creationId xmlns:p14="http://schemas.microsoft.com/office/powerpoint/2010/main" val="32414380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Multiple Comparison Procedure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838200" y="998920"/>
                <a:ext cx="7899400" cy="5627159"/>
              </a:xfrm>
            </p:spPr>
            <p:txBody>
              <a:bodyPr/>
              <a:lstStyle/>
              <a:p>
                <a:r>
                  <a:rPr lang="en-ZA" sz="1800" b="1" dirty="0">
                    <a:solidFill>
                      <a:schemeClr val="bg2"/>
                    </a:solidFill>
                    <a:latin typeface="Arial" panose="020B0604020202020204" pitchFamily="34" charset="0"/>
                    <a:cs typeface="Arial" panose="020B0604020202020204" pitchFamily="34" charset="0"/>
                  </a:rPr>
                  <a:t>False Discovery Rate (FDR):</a:t>
                </a:r>
                <a:r>
                  <a:rPr lang="en-ZA" sz="1800" dirty="0">
                    <a:solidFill>
                      <a:schemeClr val="bg2"/>
                    </a:solidFill>
                    <a:latin typeface="Arial" panose="020B0604020202020204" pitchFamily="34" charset="0"/>
                    <a:cs typeface="Arial" panose="020B0604020202020204" pitchFamily="34" charset="0"/>
                  </a:rPr>
                  <a:t> defined as the expected proportion of null hypotheses that are true among those that are declared significant.</a:t>
                </a:r>
              </a:p>
              <a:p>
                <a:endParaRPr lang="en-ZA" sz="1800" dirty="0">
                  <a:solidFill>
                    <a:schemeClr val="bg2"/>
                  </a:solidFill>
                  <a:latin typeface="Arial" panose="020B0604020202020204" pitchFamily="34" charset="0"/>
                  <a:cs typeface="Arial" panose="020B0604020202020204" pitchFamily="34" charset="0"/>
                </a:endParaRPr>
              </a:p>
              <a:p>
                <a:endParaRPr lang="en-ZA" sz="1800" dirty="0">
                  <a:solidFill>
                    <a:schemeClr val="bg2"/>
                  </a:solidFill>
                  <a:latin typeface="Arial" panose="020B0604020202020204" pitchFamily="34" charset="0"/>
                  <a:cs typeface="Arial" panose="020B0604020202020204" pitchFamily="34" charset="0"/>
                </a:endParaRPr>
              </a:p>
              <a:p>
                <a:endParaRPr lang="en-ZA" sz="1800" dirty="0">
                  <a:solidFill>
                    <a:schemeClr val="bg2"/>
                  </a:solidFill>
                  <a:latin typeface="Arial" panose="020B0604020202020204" pitchFamily="34" charset="0"/>
                  <a:cs typeface="Arial" panose="020B0604020202020204" pitchFamily="34" charset="0"/>
                </a:endParaRPr>
              </a:p>
              <a:p>
                <a:endParaRPr lang="en-ZA" sz="1800" dirty="0">
                  <a:solidFill>
                    <a:schemeClr val="bg2"/>
                  </a:solidFill>
                  <a:latin typeface="Arial" panose="020B0604020202020204" pitchFamily="34" charset="0"/>
                  <a:cs typeface="Arial" panose="020B0604020202020204" pitchFamily="34" charset="0"/>
                </a:endParaRPr>
              </a:p>
              <a:p>
                <a:endParaRPr lang="en-ZA" sz="1800" dirty="0">
                  <a:solidFill>
                    <a:schemeClr val="bg2"/>
                  </a:solidFill>
                  <a:latin typeface="Arial" panose="020B0604020202020204" pitchFamily="34" charset="0"/>
                  <a:cs typeface="Arial" panose="020B0604020202020204" pitchFamily="34" charset="0"/>
                </a:endParaRPr>
              </a:p>
              <a:p>
                <a:endParaRPr lang="en-ZA" sz="1800" dirty="0">
                  <a:solidFill>
                    <a:schemeClr val="bg2"/>
                  </a:solidFill>
                  <a:latin typeface="Arial" panose="020B0604020202020204" pitchFamily="34" charset="0"/>
                  <a:cs typeface="Arial" panose="020B0604020202020204" pitchFamily="34" charset="0"/>
                </a:endParaRPr>
              </a:p>
              <a:p>
                <a:endParaRPr lang="en-ZA" sz="1800" dirty="0">
                  <a:solidFill>
                    <a:schemeClr val="bg2"/>
                  </a:solidFill>
                  <a:latin typeface="Arial" panose="020B0604020202020204" pitchFamily="34" charset="0"/>
                  <a:cs typeface="Arial" panose="020B0604020202020204" pitchFamily="34" charset="0"/>
                </a:endParaRPr>
              </a:p>
              <a:p>
                <a:endParaRPr lang="en-ZA" sz="1800" dirty="0">
                  <a:solidFill>
                    <a:schemeClr val="bg2"/>
                  </a:solidFill>
                  <a:latin typeface="Arial" panose="020B0604020202020204" pitchFamily="34" charset="0"/>
                  <a:cs typeface="Arial" panose="020B0604020202020204" pitchFamily="34" charset="0"/>
                </a:endParaRPr>
              </a:p>
              <a:p>
                <a:endParaRPr lang="en-ZA" sz="1800" dirty="0">
                  <a:solidFill>
                    <a:schemeClr val="bg2"/>
                  </a:solidFill>
                  <a:latin typeface="Arial" panose="020B0604020202020204" pitchFamily="34" charset="0"/>
                  <a:cs typeface="Arial" panose="020B0604020202020204" pitchFamily="34" charset="0"/>
                </a:endParaRPr>
              </a:p>
              <a:p>
                <a:r>
                  <a:rPr lang="en-ZA" sz="1800" dirty="0">
                    <a:solidFill>
                      <a:schemeClr val="bg2"/>
                    </a:solidFill>
                    <a:latin typeface="Arial" panose="020B0604020202020204" pitchFamily="34" charset="0"/>
                    <a:cs typeface="Arial" panose="020B0604020202020204" pitchFamily="34" charset="0"/>
                  </a:rPr>
                  <a:t>Returning to the notation of the above Table and assuming R, the number of tests that are declared significant, is greater than 0, FDR is given by</a:t>
                </a:r>
              </a:p>
              <a:p>
                <a:pPr marL="0" indent="0">
                  <a:buNone/>
                </a:pPr>
                <a14:m>
                  <m:oMathPara xmlns:m="http://schemas.openxmlformats.org/officeDocument/2006/math">
                    <m:oMathParaPr>
                      <m:jc m:val="centerGroup"/>
                    </m:oMathParaPr>
                    <m:oMath xmlns:m="http://schemas.openxmlformats.org/officeDocument/2006/math">
                      <m:r>
                        <a:rPr lang="en-ZA" sz="1800" b="0" i="1" smtClean="0">
                          <a:solidFill>
                            <a:schemeClr val="bg2"/>
                          </a:solidFill>
                          <a:latin typeface="Cambria Math" panose="02040503050406030204" pitchFamily="18" charset="0"/>
                        </a:rPr>
                        <m:t>𝐹𝐷𝑅</m:t>
                      </m:r>
                      <m:r>
                        <a:rPr lang="en-ZA" sz="1800" b="0" i="1" smtClean="0">
                          <a:solidFill>
                            <a:schemeClr val="bg2"/>
                          </a:solidFill>
                          <a:latin typeface="Cambria Math" panose="02040503050406030204" pitchFamily="18" charset="0"/>
                        </a:rPr>
                        <m:t>=</m:t>
                      </m:r>
                      <m:r>
                        <a:rPr lang="en-ZA" sz="1800" b="0" i="1" smtClean="0">
                          <a:solidFill>
                            <a:schemeClr val="bg2"/>
                          </a:solidFill>
                          <a:latin typeface="Cambria Math" panose="02040503050406030204" pitchFamily="18" charset="0"/>
                        </a:rPr>
                        <m:t>𝐸</m:t>
                      </m:r>
                      <m:d>
                        <m:dPr>
                          <m:ctrlPr>
                            <a:rPr lang="en-ZA" sz="1800" b="0" i="1" smtClean="0">
                              <a:solidFill>
                                <a:schemeClr val="bg2"/>
                              </a:solidFill>
                              <a:latin typeface="Cambria Math" panose="02040503050406030204" pitchFamily="18" charset="0"/>
                            </a:rPr>
                          </m:ctrlPr>
                        </m:dPr>
                        <m:e>
                          <m:f>
                            <m:fPr>
                              <m:ctrlPr>
                                <a:rPr lang="en-ZA" sz="1800" b="0" i="1" smtClean="0">
                                  <a:solidFill>
                                    <a:schemeClr val="bg2"/>
                                  </a:solidFill>
                                  <a:latin typeface="Cambria Math" panose="02040503050406030204" pitchFamily="18" charset="0"/>
                                </a:rPr>
                              </m:ctrlPr>
                            </m:fPr>
                            <m:num>
                              <m:r>
                                <a:rPr lang="en-ZA" sz="1800" b="0" i="1" smtClean="0">
                                  <a:solidFill>
                                    <a:schemeClr val="bg2"/>
                                  </a:solidFill>
                                  <a:latin typeface="Cambria Math" panose="02040503050406030204" pitchFamily="18" charset="0"/>
                                </a:rPr>
                                <m:t>𝑉</m:t>
                              </m:r>
                            </m:num>
                            <m:den>
                              <m:r>
                                <a:rPr lang="en-ZA" sz="1800" b="0" i="1" smtClean="0">
                                  <a:solidFill>
                                    <a:schemeClr val="bg2"/>
                                  </a:solidFill>
                                  <a:latin typeface="Cambria Math" panose="02040503050406030204" pitchFamily="18" charset="0"/>
                                </a:rPr>
                                <m:t>𝑅</m:t>
                              </m:r>
                            </m:den>
                          </m:f>
                        </m:e>
                      </m:d>
                    </m:oMath>
                  </m:oMathPara>
                </a14:m>
                <a:endParaRPr lang="en-ZA" sz="1800" dirty="0">
                  <a:solidFill>
                    <a:schemeClr val="bg2"/>
                  </a:solidFill>
                  <a:latin typeface="Arial" panose="020B0604020202020204" pitchFamily="34" charset="0"/>
                  <a:cs typeface="Arial" panose="020B0604020202020204" pitchFamily="34" charset="0"/>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838200" y="998920"/>
                <a:ext cx="7899400" cy="5627159"/>
              </a:xfrm>
              <a:blipFill>
                <a:blip r:embed="rId3"/>
                <a:stretch>
                  <a:fillRect l="-541" t="-650" r="-695"/>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AB242697-6A25-4E09-ADC8-C97AD3BA09B2}"/>
              </a:ext>
            </a:extLst>
          </p:cNvPr>
          <p:cNvPicPr>
            <a:picLocks noChangeAspect="1"/>
          </p:cNvPicPr>
          <p:nvPr/>
        </p:nvPicPr>
        <p:blipFill>
          <a:blip r:embed="rId4"/>
          <a:stretch>
            <a:fillRect/>
          </a:stretch>
        </p:blipFill>
        <p:spPr>
          <a:xfrm>
            <a:off x="1581150" y="1603720"/>
            <a:ext cx="5981700" cy="2828925"/>
          </a:xfrm>
          <a:prstGeom prst="rect">
            <a:avLst/>
          </a:prstGeom>
        </p:spPr>
      </p:pic>
      <p:sp>
        <p:nvSpPr>
          <p:cNvPr id="8" name="TextBox 7">
            <a:extLst>
              <a:ext uri="{FF2B5EF4-FFF2-40B4-BE49-F238E27FC236}">
                <a16:creationId xmlns:a16="http://schemas.microsoft.com/office/drawing/2014/main" id="{021DAA68-9577-4958-91C8-87282889D5A7}"/>
              </a:ext>
            </a:extLst>
          </p:cNvPr>
          <p:cNvSpPr txBox="1"/>
          <p:nvPr/>
        </p:nvSpPr>
        <p:spPr>
          <a:xfrm>
            <a:off x="1581150" y="4278756"/>
            <a:ext cx="4572000" cy="307777"/>
          </a:xfrm>
          <a:prstGeom prst="rect">
            <a:avLst/>
          </a:prstGeom>
          <a:noFill/>
        </p:spPr>
        <p:txBody>
          <a:bodyPr wrap="square">
            <a:spAutoFit/>
          </a:bodyPr>
          <a:lstStyle/>
          <a:p>
            <a:r>
              <a:rPr lang="en-ZA" sz="1400" i="0" dirty="0">
                <a:solidFill>
                  <a:srgbClr val="000000"/>
                </a:solidFill>
                <a:effectLst/>
                <a:latin typeface="CMR9"/>
              </a:rPr>
              <a:t>Errors for multiple hypothesis tests</a:t>
            </a:r>
            <a:endParaRPr lang="en-ZA" sz="1400" dirty="0"/>
          </a:p>
        </p:txBody>
      </p:sp>
    </p:spTree>
    <p:extLst>
      <p:ext uri="{BB962C8B-B14F-4D97-AF65-F5344CB8AC3E}">
        <p14:creationId xmlns:p14="http://schemas.microsoft.com/office/powerpoint/2010/main" val="21247461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Multiple Comparison Procedure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838200" y="998920"/>
                <a:ext cx="7899400" cy="5627159"/>
              </a:xfrm>
            </p:spPr>
            <p:txBody>
              <a:bodyPr/>
              <a:lstStyle/>
              <a:p>
                <a:r>
                  <a:rPr lang="en-ZA" sz="1800" dirty="0">
                    <a:solidFill>
                      <a:schemeClr val="bg2"/>
                    </a:solidFill>
                    <a:latin typeface="Arial" panose="020B0604020202020204" pitchFamily="34" charset="0"/>
                    <a:cs typeface="Arial" panose="020B0604020202020204" pitchFamily="34" charset="0"/>
                  </a:rPr>
                  <a:t>For R = 0, we define the ratio V=R as identically equal to 0 since no false rejections can occur.</a:t>
                </a:r>
              </a:p>
              <a:p>
                <a:r>
                  <a:rPr lang="en-ZA" sz="1800" dirty="0">
                    <a:solidFill>
                      <a:schemeClr val="bg2"/>
                    </a:solidFill>
                    <a:latin typeface="Arial" panose="020B0604020202020204" pitchFamily="34" charset="0"/>
                    <a:cs typeface="Arial" panose="020B0604020202020204" pitchFamily="34" charset="0"/>
                  </a:rPr>
                  <a:t>The FDR can therefore be expressed equivalently as</a:t>
                </a:r>
              </a:p>
              <a:p>
                <a:pPr marL="0" indent="0">
                  <a:buNone/>
                </a:pPr>
                <a14:m>
                  <m:oMathPara xmlns:m="http://schemas.openxmlformats.org/officeDocument/2006/math">
                    <m:oMathParaPr>
                      <m:jc m:val="centerGroup"/>
                    </m:oMathParaPr>
                    <m:oMath xmlns:m="http://schemas.openxmlformats.org/officeDocument/2006/math">
                      <m:r>
                        <a:rPr lang="en-ZA" sz="1800">
                          <a:solidFill>
                            <a:schemeClr val="bg2"/>
                          </a:solidFill>
                          <a:latin typeface="Cambria Math" panose="02040503050406030204" pitchFamily="18" charset="0"/>
                        </a:rPr>
                        <m:t>𝐹𝐷𝑅</m:t>
                      </m:r>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𝐸</m:t>
                      </m:r>
                      <m:d>
                        <m:dPr>
                          <m:ctrlPr>
                            <a:rPr lang="en-ZA" sz="1800" i="1">
                              <a:solidFill>
                                <a:schemeClr val="bg2"/>
                              </a:solidFill>
                              <a:latin typeface="Cambria Math" panose="02040503050406030204" pitchFamily="18" charset="0"/>
                            </a:rPr>
                          </m:ctrlPr>
                        </m:dPr>
                        <m:e>
                          <m:f>
                            <m:fPr>
                              <m:type m:val="skw"/>
                              <m:ctrlPr>
                                <a:rPr lang="en-ZA" sz="1800" i="1">
                                  <a:solidFill>
                                    <a:schemeClr val="bg2"/>
                                  </a:solidFill>
                                  <a:latin typeface="Cambria Math" panose="02040503050406030204" pitchFamily="18" charset="0"/>
                                </a:rPr>
                              </m:ctrlPr>
                            </m:fPr>
                            <m:num>
                              <m:r>
                                <a:rPr lang="en-ZA" sz="1800">
                                  <a:solidFill>
                                    <a:schemeClr val="bg2"/>
                                  </a:solidFill>
                                  <a:latin typeface="Cambria Math" panose="02040503050406030204" pitchFamily="18" charset="0"/>
                                </a:rPr>
                                <m:t>𝑉</m:t>
                              </m:r>
                            </m:num>
                            <m:den>
                              <m:r>
                                <a:rPr lang="en-ZA" sz="1800">
                                  <a:solidFill>
                                    <a:schemeClr val="bg2"/>
                                  </a:solidFill>
                                  <a:latin typeface="Cambria Math" panose="02040503050406030204" pitchFamily="18" charset="0"/>
                                </a:rPr>
                                <m:t>𝑅</m:t>
                              </m:r>
                            </m:den>
                          </m:f>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𝑅</m:t>
                          </m:r>
                          <m:r>
                            <a:rPr lang="en-ZA" sz="1800">
                              <a:solidFill>
                                <a:schemeClr val="bg2"/>
                              </a:solidFill>
                              <a:latin typeface="Cambria Math" panose="02040503050406030204" pitchFamily="18" charset="0"/>
                            </a:rPr>
                            <m:t>&gt;0</m:t>
                          </m:r>
                        </m:e>
                      </m:d>
                      <m:func>
                        <m:funcPr>
                          <m:ctrlPr>
                            <a:rPr lang="en-ZA" sz="1800" i="1">
                              <a:solidFill>
                                <a:schemeClr val="bg2"/>
                              </a:solidFill>
                              <a:latin typeface="Cambria Math" panose="02040503050406030204" pitchFamily="18" charset="0"/>
                            </a:rPr>
                          </m:ctrlPr>
                        </m:funcPr>
                        <m:fName>
                          <m:r>
                            <m:rPr>
                              <m:sty m:val="p"/>
                            </m:rPr>
                            <a:rPr lang="en-ZA" sz="1800">
                              <a:solidFill>
                                <a:schemeClr val="bg2"/>
                              </a:solidFill>
                              <a:latin typeface="Cambria Math" panose="02040503050406030204" pitchFamily="18" charset="0"/>
                            </a:rPr>
                            <m:t>Pr</m:t>
                          </m:r>
                        </m:fName>
                        <m:e>
                          <m:d>
                            <m:dPr>
                              <m:ctrlPr>
                                <a:rPr lang="en-ZA" sz="1800" i="1">
                                  <a:solidFill>
                                    <a:schemeClr val="bg2"/>
                                  </a:solidFill>
                                  <a:latin typeface="Cambria Math" panose="02040503050406030204" pitchFamily="18" charset="0"/>
                                </a:rPr>
                              </m:ctrlPr>
                            </m:dPr>
                            <m:e>
                              <m:r>
                                <a:rPr lang="en-ZA" sz="1800">
                                  <a:solidFill>
                                    <a:schemeClr val="bg2"/>
                                  </a:solidFill>
                                  <a:latin typeface="Cambria Math" panose="02040503050406030204" pitchFamily="18" charset="0"/>
                                </a:rPr>
                                <m:t>𝑅</m:t>
                              </m:r>
                              <m:r>
                                <a:rPr lang="en-ZA" sz="1800">
                                  <a:solidFill>
                                    <a:schemeClr val="bg2"/>
                                  </a:solidFill>
                                  <a:latin typeface="Cambria Math" panose="02040503050406030204" pitchFamily="18" charset="0"/>
                                </a:rPr>
                                <m:t>&gt;0</m:t>
                              </m:r>
                            </m:e>
                          </m:d>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𝐸</m:t>
                          </m:r>
                          <m:d>
                            <m:dPr>
                              <m:ctrlPr>
                                <a:rPr lang="en-ZA" sz="1800" i="1">
                                  <a:solidFill>
                                    <a:schemeClr val="bg2"/>
                                  </a:solidFill>
                                  <a:latin typeface="Cambria Math" panose="02040503050406030204" pitchFamily="18" charset="0"/>
                                </a:rPr>
                              </m:ctrlPr>
                            </m:dPr>
                            <m:e>
                              <m:f>
                                <m:fPr>
                                  <m:type m:val="skw"/>
                                  <m:ctrlPr>
                                    <a:rPr lang="en-ZA" sz="1800" i="1">
                                      <a:solidFill>
                                        <a:schemeClr val="bg2"/>
                                      </a:solidFill>
                                      <a:latin typeface="Cambria Math" panose="02040503050406030204" pitchFamily="18" charset="0"/>
                                    </a:rPr>
                                  </m:ctrlPr>
                                </m:fPr>
                                <m:num>
                                  <m:r>
                                    <a:rPr lang="en-ZA" sz="1800">
                                      <a:solidFill>
                                        <a:schemeClr val="bg2"/>
                                      </a:solidFill>
                                      <a:latin typeface="Cambria Math" panose="02040503050406030204" pitchFamily="18" charset="0"/>
                                    </a:rPr>
                                    <m:t>𝑉</m:t>
                                  </m:r>
                                </m:num>
                                <m:den>
                                  <m:r>
                                    <a:rPr lang="en-ZA" sz="1800">
                                      <a:solidFill>
                                        <a:schemeClr val="bg2"/>
                                      </a:solidFill>
                                      <a:latin typeface="Cambria Math" panose="02040503050406030204" pitchFamily="18" charset="0"/>
                                    </a:rPr>
                                    <m:t>𝑅</m:t>
                                  </m:r>
                                </m:den>
                              </m:f>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𝑅</m:t>
                              </m:r>
                              <m:r>
                                <a:rPr lang="en-ZA" sz="1800">
                                  <a:solidFill>
                                    <a:schemeClr val="bg2"/>
                                  </a:solidFill>
                                  <a:latin typeface="Cambria Math" panose="02040503050406030204" pitchFamily="18" charset="0"/>
                                </a:rPr>
                                <m:t>=0</m:t>
                              </m:r>
                            </m:e>
                          </m:d>
                        </m:e>
                      </m:func>
                      <m:func>
                        <m:funcPr>
                          <m:ctrlPr>
                            <a:rPr lang="en-ZA" sz="1800" i="1">
                              <a:solidFill>
                                <a:schemeClr val="bg2"/>
                              </a:solidFill>
                              <a:latin typeface="Cambria Math" panose="02040503050406030204" pitchFamily="18" charset="0"/>
                            </a:rPr>
                          </m:ctrlPr>
                        </m:funcPr>
                        <m:fName>
                          <m:r>
                            <m:rPr>
                              <m:sty m:val="p"/>
                            </m:rPr>
                            <a:rPr lang="en-ZA" sz="1800">
                              <a:solidFill>
                                <a:schemeClr val="bg2"/>
                              </a:solidFill>
                              <a:latin typeface="Cambria Math" panose="02040503050406030204" pitchFamily="18" charset="0"/>
                            </a:rPr>
                            <m:t>Pr</m:t>
                          </m:r>
                        </m:fName>
                        <m:e>
                          <m:d>
                            <m:dPr>
                              <m:ctrlPr>
                                <a:rPr lang="en-ZA" sz="1800" i="1">
                                  <a:solidFill>
                                    <a:schemeClr val="bg2"/>
                                  </a:solidFill>
                                  <a:latin typeface="Cambria Math" panose="02040503050406030204" pitchFamily="18" charset="0"/>
                                </a:rPr>
                              </m:ctrlPr>
                            </m:dPr>
                            <m:e>
                              <m:r>
                                <a:rPr lang="en-ZA" sz="1800">
                                  <a:solidFill>
                                    <a:schemeClr val="bg2"/>
                                  </a:solidFill>
                                  <a:latin typeface="Cambria Math" panose="02040503050406030204" pitchFamily="18" charset="0"/>
                                </a:rPr>
                                <m:t>𝑅</m:t>
                              </m:r>
                              <m:r>
                                <a:rPr lang="en-ZA" sz="1800">
                                  <a:solidFill>
                                    <a:schemeClr val="bg2"/>
                                  </a:solidFill>
                                  <a:latin typeface="Cambria Math" panose="02040503050406030204" pitchFamily="18" charset="0"/>
                                </a:rPr>
                                <m:t>=0</m:t>
                              </m:r>
                            </m:e>
                          </m:d>
                        </m:e>
                      </m:func>
                    </m:oMath>
                  </m:oMathPara>
                </a14:m>
                <a:endParaRPr lang="en-ZA" sz="1800" dirty="0">
                  <a:solidFill>
                    <a:schemeClr val="bg2"/>
                  </a:solidFill>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𝐸</m:t>
                      </m:r>
                      <m:d>
                        <m:dPr>
                          <m:ctrlPr>
                            <a:rPr lang="en-ZA" sz="1800" i="1">
                              <a:solidFill>
                                <a:schemeClr val="bg2"/>
                              </a:solidFill>
                              <a:latin typeface="Cambria Math" panose="02040503050406030204" pitchFamily="18" charset="0"/>
                            </a:rPr>
                          </m:ctrlPr>
                        </m:dPr>
                        <m:e>
                          <m:f>
                            <m:fPr>
                              <m:type m:val="skw"/>
                              <m:ctrlPr>
                                <a:rPr lang="en-ZA" sz="1800" i="1">
                                  <a:solidFill>
                                    <a:schemeClr val="bg2"/>
                                  </a:solidFill>
                                  <a:latin typeface="Cambria Math" panose="02040503050406030204" pitchFamily="18" charset="0"/>
                                </a:rPr>
                              </m:ctrlPr>
                            </m:fPr>
                            <m:num>
                              <m:r>
                                <a:rPr lang="en-ZA" sz="1800">
                                  <a:solidFill>
                                    <a:schemeClr val="bg2"/>
                                  </a:solidFill>
                                  <a:latin typeface="Cambria Math" panose="02040503050406030204" pitchFamily="18" charset="0"/>
                                </a:rPr>
                                <m:t>𝑉</m:t>
                              </m:r>
                            </m:num>
                            <m:den>
                              <m:r>
                                <a:rPr lang="en-ZA" sz="1800">
                                  <a:solidFill>
                                    <a:schemeClr val="bg2"/>
                                  </a:solidFill>
                                  <a:latin typeface="Cambria Math" panose="02040503050406030204" pitchFamily="18" charset="0"/>
                                </a:rPr>
                                <m:t>𝑅</m:t>
                              </m:r>
                            </m:den>
                          </m:f>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𝑅</m:t>
                          </m:r>
                          <m:r>
                            <a:rPr lang="en-ZA" sz="1800">
                              <a:solidFill>
                                <a:schemeClr val="bg2"/>
                              </a:solidFill>
                              <a:latin typeface="Cambria Math" panose="02040503050406030204" pitchFamily="18" charset="0"/>
                            </a:rPr>
                            <m:t>&gt;0</m:t>
                          </m:r>
                        </m:e>
                      </m:d>
                      <m:func>
                        <m:funcPr>
                          <m:ctrlPr>
                            <a:rPr lang="en-ZA" sz="1800" i="1">
                              <a:solidFill>
                                <a:schemeClr val="bg2"/>
                              </a:solidFill>
                              <a:latin typeface="Cambria Math" panose="02040503050406030204" pitchFamily="18" charset="0"/>
                            </a:rPr>
                          </m:ctrlPr>
                        </m:funcPr>
                        <m:fName>
                          <m:r>
                            <m:rPr>
                              <m:sty m:val="p"/>
                            </m:rPr>
                            <a:rPr lang="en-ZA" sz="1800">
                              <a:solidFill>
                                <a:schemeClr val="bg2"/>
                              </a:solidFill>
                              <a:latin typeface="Cambria Math" panose="02040503050406030204" pitchFamily="18" charset="0"/>
                            </a:rPr>
                            <m:t>Pr</m:t>
                          </m:r>
                        </m:fName>
                        <m:e>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𝑅</m:t>
                          </m:r>
                          <m:r>
                            <a:rPr lang="en-ZA" sz="1800">
                              <a:solidFill>
                                <a:schemeClr val="bg2"/>
                              </a:solidFill>
                              <a:latin typeface="Cambria Math" panose="02040503050406030204" pitchFamily="18" charset="0"/>
                            </a:rPr>
                            <m:t>&gt;0)</m:t>
                          </m:r>
                        </m:e>
                      </m:func>
                    </m:oMath>
                  </m:oMathPara>
                </a14:m>
                <a:endParaRPr lang="en-ZA" sz="1800" dirty="0">
                  <a:solidFill>
                    <a:schemeClr val="bg2"/>
                  </a:solidFill>
                  <a:latin typeface="Arial" panose="020B0604020202020204" pitchFamily="34" charset="0"/>
                  <a:cs typeface="Arial" panose="020B0604020202020204" pitchFamily="34" charset="0"/>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838200" y="998920"/>
                <a:ext cx="7899400" cy="5627159"/>
              </a:xfrm>
              <a:blipFill>
                <a:blip r:embed="rId3"/>
                <a:stretch>
                  <a:fillRect l="-541" t="-650" r="-1390"/>
                </a:stretch>
              </a:blipFill>
            </p:spPr>
            <p:txBody>
              <a:bodyPr/>
              <a:lstStyle/>
              <a:p>
                <a:r>
                  <a:rPr lang="en-US">
                    <a:noFill/>
                  </a:rPr>
                  <a:t> </a:t>
                </a:r>
              </a:p>
            </p:txBody>
          </p:sp>
        </mc:Fallback>
      </mc:AlternateContent>
    </p:spTree>
    <p:extLst>
      <p:ext uri="{BB962C8B-B14F-4D97-AF65-F5344CB8AC3E}">
        <p14:creationId xmlns:p14="http://schemas.microsoft.com/office/powerpoint/2010/main" val="29517150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Multiple Comparison Procedure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357809" y="998920"/>
                <a:ext cx="8379791" cy="5627159"/>
              </a:xfrm>
            </p:spPr>
            <p:txBody>
              <a:bodyPr/>
              <a:lstStyle/>
              <a:p>
                <a:pPr marL="0" indent="0">
                  <a:buNone/>
                </a:pPr>
                <a:r>
                  <a:rPr lang="en-ZA" sz="2000" b="1" dirty="0">
                    <a:solidFill>
                      <a:schemeClr val="bg2"/>
                    </a:solidFill>
                    <a:latin typeface="Arial" panose="020B0604020202020204" pitchFamily="34" charset="0"/>
                    <a:cs typeface="Arial" panose="020B0604020202020204" pitchFamily="34" charset="0"/>
                  </a:rPr>
                  <a:t>Bonferroni Adjustment</a:t>
                </a:r>
              </a:p>
              <a:p>
                <a:r>
                  <a:rPr lang="en-ZA" sz="1800" b="1" dirty="0">
                    <a:solidFill>
                      <a:schemeClr val="bg2"/>
                    </a:solidFill>
                    <a:latin typeface="Arial" panose="020B0604020202020204" pitchFamily="34" charset="0"/>
                    <a:cs typeface="Arial" panose="020B0604020202020204" pitchFamily="34" charset="0"/>
                  </a:rPr>
                  <a:t>Suppose we conduct m tests of hypotheses, given by </a:t>
                </a:r>
                <a14:m>
                  <m:oMath xmlns:m="http://schemas.openxmlformats.org/officeDocument/2006/math">
                    <m:sSubSup>
                      <m:sSubSupPr>
                        <m:ctrlPr>
                          <a:rPr lang="en-ZA" sz="1800" b="1" i="1">
                            <a:solidFill>
                              <a:schemeClr val="bg2"/>
                            </a:solidFill>
                            <a:latin typeface="Cambria Math" panose="02040503050406030204" pitchFamily="18" charset="0"/>
                          </a:rPr>
                        </m:ctrlPr>
                      </m:sSubSup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up>
                        <m:r>
                          <a:rPr lang="en-ZA" sz="1800" b="1" i="1">
                            <a:solidFill>
                              <a:schemeClr val="bg2"/>
                            </a:solidFill>
                            <a:latin typeface="Cambria Math" panose="02040503050406030204" pitchFamily="18" charset="0"/>
                          </a:rPr>
                          <m:t>𝟏</m:t>
                        </m:r>
                      </m:sup>
                    </m:sSubSup>
                    <m:r>
                      <a:rPr lang="en-ZA" sz="1800" b="1">
                        <a:solidFill>
                          <a:schemeClr val="bg2"/>
                        </a:solidFill>
                        <a:latin typeface="Cambria Math" panose="02040503050406030204" pitchFamily="18" charset="0"/>
                      </a:rPr>
                      <m:t>, . . . , </m:t>
                    </m:r>
                    <m:sSubSup>
                      <m:sSubSupPr>
                        <m:ctrlPr>
                          <a:rPr lang="en-ZA" sz="1800" b="1" i="1">
                            <a:solidFill>
                              <a:schemeClr val="bg2"/>
                            </a:solidFill>
                            <a:latin typeface="Cambria Math" panose="02040503050406030204" pitchFamily="18" charset="0"/>
                          </a:rPr>
                        </m:ctrlPr>
                      </m:sSubSup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up>
                        <m:r>
                          <a:rPr lang="en-ZA" sz="1800" b="1" i="1">
                            <a:solidFill>
                              <a:schemeClr val="bg2"/>
                            </a:solidFill>
                            <a:latin typeface="Cambria Math" panose="02040503050406030204" pitchFamily="18" charset="0"/>
                          </a:rPr>
                          <m:t>𝒎</m:t>
                        </m:r>
                      </m:sup>
                    </m:sSubSup>
                  </m:oMath>
                </a14:m>
                <a:r>
                  <a:rPr lang="en-ZA" sz="1800" b="1" dirty="0">
                    <a:solidFill>
                      <a:schemeClr val="bg2"/>
                    </a:solidFill>
                    <a:latin typeface="Arial" panose="020B0604020202020204" pitchFamily="34" charset="0"/>
                    <a:cs typeface="Arial" panose="020B0604020202020204" pitchFamily="34" charset="0"/>
                  </a:rPr>
                  <a:t>, and each test is controlled at a level equal to α.</a:t>
                </a:r>
              </a:p>
              <a:p>
                <a:r>
                  <a:rPr lang="en-ZA" sz="1800" b="1" dirty="0">
                    <a:solidFill>
                      <a:schemeClr val="bg2"/>
                    </a:solidFill>
                    <a:latin typeface="Arial" panose="020B0604020202020204" pitchFamily="34" charset="0"/>
                    <a:cs typeface="Arial" panose="020B0604020202020204" pitchFamily="34" charset="0"/>
                  </a:rPr>
                  <a:t>This means that, for any single test, the probability of incorrectly rejecting the null hypothesis, the type-1 error rate, is less than or equal to α.</a:t>
                </a:r>
              </a:p>
              <a:p>
                <a:r>
                  <a:rPr lang="en-ZA" sz="1800" b="1" dirty="0">
                    <a:solidFill>
                      <a:schemeClr val="bg2"/>
                    </a:solidFill>
                    <a:latin typeface="Arial" panose="020B0604020202020204" pitchFamily="34" charset="0"/>
                    <a:cs typeface="Arial" panose="020B0604020202020204" pitchFamily="34" charset="0"/>
                  </a:rPr>
                  <a:t>Formally, we write this as</a:t>
                </a:r>
              </a:p>
              <a:p>
                <a:pPr marL="0" indent="0">
                  <a:buNone/>
                </a:pPr>
                <a14:m>
                  <m:oMathPara xmlns:m="http://schemas.openxmlformats.org/officeDocument/2006/math">
                    <m:oMathParaPr>
                      <m:jc m:val="centerGroup"/>
                    </m:oMathParaPr>
                    <m:oMath xmlns:m="http://schemas.openxmlformats.org/officeDocument/2006/math">
                      <m:func>
                        <m:funcPr>
                          <m:ctrlPr>
                            <a:rPr lang="en-ZA" sz="1800" b="1" i="1">
                              <a:solidFill>
                                <a:schemeClr val="bg2"/>
                              </a:solidFill>
                              <a:latin typeface="Cambria Math" panose="02040503050406030204" pitchFamily="18" charset="0"/>
                            </a:rPr>
                          </m:ctrlPr>
                        </m:funcPr>
                        <m:fName>
                          <m:r>
                            <a:rPr lang="en-ZA" sz="1800" b="1" i="1">
                              <a:solidFill>
                                <a:schemeClr val="bg2"/>
                              </a:solidFill>
                              <a:latin typeface="Cambria Math" panose="02040503050406030204" pitchFamily="18" charset="0"/>
                            </a:rPr>
                            <m:t>𝑷𝒓</m:t>
                          </m:r>
                        </m:fName>
                        <m:e>
                          <m:d>
                            <m:dPr>
                              <m:endChr m:val="|"/>
                              <m:ctrlPr>
                                <a:rPr lang="en-ZA" sz="1800" b="1" i="1">
                                  <a:solidFill>
                                    <a:schemeClr val="bg2"/>
                                  </a:solidFill>
                                  <a:latin typeface="Cambria Math" panose="02040503050406030204" pitchFamily="18" charset="0"/>
                                </a:rPr>
                              </m:ctrlPr>
                            </m:dPr>
                            <m:e>
                              <m:r>
                                <a:rPr lang="en-ZA" sz="1800" b="1" i="1">
                                  <a:solidFill>
                                    <a:schemeClr val="bg2"/>
                                  </a:solidFill>
                                  <a:latin typeface="Cambria Math" panose="02040503050406030204" pitchFamily="18" charset="0"/>
                                </a:rPr>
                                <m:t>𝐫𝐞𝐣𝐞𝐜𝐭</m:t>
                              </m:r>
                              <m:r>
                                <a:rPr lang="en-ZA" sz="1800" b="1">
                                  <a:solidFill>
                                    <a:schemeClr val="bg2"/>
                                  </a:solidFill>
                                  <a:latin typeface="Cambria Math" panose="02040503050406030204" pitchFamily="18" charset="0"/>
                                </a:rPr>
                                <m:t> </m:t>
                              </m:r>
                              <m:sSubSup>
                                <m:sSubSupPr>
                                  <m:ctrlPr>
                                    <a:rPr lang="en-ZA" sz="1800" b="1" i="1">
                                      <a:solidFill>
                                        <a:schemeClr val="bg2"/>
                                      </a:solidFill>
                                      <a:latin typeface="Cambria Math" panose="02040503050406030204" pitchFamily="18" charset="0"/>
                                    </a:rPr>
                                  </m:ctrlPr>
                                </m:sSubSup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up>
                                  <m:r>
                                    <a:rPr lang="en-ZA" sz="1800" b="1" i="1">
                                      <a:solidFill>
                                        <a:schemeClr val="bg2"/>
                                      </a:solidFill>
                                      <a:latin typeface="Cambria Math" panose="02040503050406030204" pitchFamily="18" charset="0"/>
                                    </a:rPr>
                                    <m:t>𝒊</m:t>
                                  </m:r>
                                </m:sup>
                              </m:sSubSup>
                              <m:r>
                                <a:rPr lang="en-ZA" sz="1800" b="1">
                                  <a:solidFill>
                                    <a:schemeClr val="bg2"/>
                                  </a:solidFill>
                                  <a:latin typeface="Cambria Math" panose="02040503050406030204" pitchFamily="18" charset="0"/>
                                </a:rPr>
                                <m:t> </m:t>
                              </m:r>
                            </m:e>
                          </m:d>
                          <m:sSubSup>
                            <m:sSubSupPr>
                              <m:ctrlPr>
                                <a:rPr lang="en-ZA" sz="1800" b="1" i="1">
                                  <a:solidFill>
                                    <a:schemeClr val="bg2"/>
                                  </a:solidFill>
                                  <a:latin typeface="Cambria Math" panose="02040503050406030204" pitchFamily="18" charset="0"/>
                                </a:rPr>
                              </m:ctrlPr>
                            </m:sSubSup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up>
                              <m:r>
                                <a:rPr lang="en-ZA" sz="1800" b="1" i="1">
                                  <a:solidFill>
                                    <a:schemeClr val="bg2"/>
                                  </a:solidFill>
                                  <a:latin typeface="Cambria Math" panose="02040503050406030204" pitchFamily="18" charset="0"/>
                                </a:rPr>
                                <m:t>𝒊</m:t>
                              </m:r>
                            </m:sup>
                          </m:sSubSup>
                          <m:r>
                            <a:rPr lang="en-ZA" sz="1800" b="1">
                              <a:solidFill>
                                <a:schemeClr val="bg2"/>
                              </a:solidFill>
                              <a:latin typeface="Cambria Math" panose="02040503050406030204" pitchFamily="18" charset="0"/>
                            </a:rPr>
                            <m:t> </m:t>
                          </m:r>
                          <m:r>
                            <a:rPr lang="en-ZA" sz="1800" b="1" i="1">
                              <a:solidFill>
                                <a:schemeClr val="bg2"/>
                              </a:solidFill>
                              <a:latin typeface="Cambria Math" panose="02040503050406030204" pitchFamily="18" charset="0"/>
                            </a:rPr>
                            <m:t>𝐭𝐫𝐮𝐞</m:t>
                          </m:r>
                          <m:r>
                            <a:rPr lang="en-ZA" sz="1800" b="1">
                              <a:solidFill>
                                <a:schemeClr val="bg2"/>
                              </a:solidFill>
                              <a:latin typeface="Cambria Math" panose="02040503050406030204" pitchFamily="18" charset="0"/>
                            </a:rPr>
                            <m:t>)&lt; </m:t>
                          </m:r>
                          <m:r>
                            <a:rPr lang="en-ZA" sz="1800" b="1" i="1">
                              <a:solidFill>
                                <a:schemeClr val="bg2"/>
                              </a:solidFill>
                              <a:latin typeface="Cambria Math" panose="02040503050406030204" pitchFamily="18" charset="0"/>
                            </a:rPr>
                            <m:t>𝜶</m:t>
                          </m:r>
                        </m:e>
                      </m:func>
                    </m:oMath>
                  </m:oMathPara>
                </a14:m>
                <a:endParaRPr lang="en-ZA" sz="1800" b="1" dirty="0">
                  <a:solidFill>
                    <a:schemeClr val="bg2"/>
                  </a:solidFill>
                  <a:latin typeface="Arial" panose="020B0604020202020204" pitchFamily="34" charset="0"/>
                  <a:cs typeface="Arial" panose="020B0604020202020204" pitchFamily="34" charset="0"/>
                </a:endParaRPr>
              </a:p>
              <a:p>
                <a:pPr marL="0" indent="0">
                  <a:buNone/>
                </a:pPr>
                <a:r>
                  <a:rPr lang="en-ZA" sz="1800" b="1" dirty="0" smtClean="0">
                    <a:solidFill>
                      <a:schemeClr val="bg2"/>
                    </a:solidFill>
                    <a:latin typeface="Arial" panose="020B0604020202020204" pitchFamily="34" charset="0"/>
                    <a:cs typeface="Arial" panose="020B0604020202020204" pitchFamily="34" charset="0"/>
                  </a:rPr>
                  <a:t>     for </a:t>
                </a:r>
                <a:r>
                  <a:rPr lang="en-ZA" sz="1800" b="1" dirty="0">
                    <a:solidFill>
                      <a:schemeClr val="bg2"/>
                    </a:solidFill>
                    <a:latin typeface="Arial" panose="020B0604020202020204" pitchFamily="34" charset="0"/>
                    <a:cs typeface="Arial" panose="020B0604020202020204" pitchFamily="34" charset="0"/>
                  </a:rPr>
                  <a:t>all </a:t>
                </a:r>
                <a14:m>
                  <m:oMath xmlns:m="http://schemas.openxmlformats.org/officeDocument/2006/math">
                    <m:r>
                      <a:rPr lang="en-ZA" sz="1800" b="1" i="1">
                        <a:solidFill>
                          <a:schemeClr val="bg2"/>
                        </a:solidFill>
                        <a:latin typeface="Cambria Math" panose="02040503050406030204" pitchFamily="18" charset="0"/>
                      </a:rPr>
                      <m:t>𝐢</m:t>
                    </m:r>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𝟏</m:t>
                    </m:r>
                    <m:r>
                      <a:rPr lang="en-ZA" sz="1800" b="1">
                        <a:solidFill>
                          <a:schemeClr val="bg2"/>
                        </a:solidFill>
                        <a:latin typeface="Cambria Math" panose="02040503050406030204" pitchFamily="18" charset="0"/>
                      </a:rPr>
                      <m:t>, …, </m:t>
                    </m:r>
                    <m:r>
                      <a:rPr lang="en-ZA" sz="1800" b="1" i="1">
                        <a:solidFill>
                          <a:schemeClr val="bg2"/>
                        </a:solidFill>
                        <a:latin typeface="Cambria Math" panose="02040503050406030204" pitchFamily="18" charset="0"/>
                      </a:rPr>
                      <m:t>𝐦</m:t>
                    </m:r>
                  </m:oMath>
                </a14:m>
                <a:endParaRPr lang="en-ZA" sz="1800" b="1" dirty="0">
                  <a:solidFill>
                    <a:schemeClr val="bg2"/>
                  </a:solidFill>
                  <a:latin typeface="Arial" panose="020B0604020202020204" pitchFamily="34" charset="0"/>
                  <a:cs typeface="Arial" panose="020B0604020202020204" pitchFamily="34" charset="0"/>
                </a:endParaRPr>
              </a:p>
              <a:p>
                <a:r>
                  <a:rPr lang="en-ZA" sz="1800" b="1" dirty="0">
                    <a:solidFill>
                      <a:schemeClr val="bg2"/>
                    </a:solidFill>
                    <a:latin typeface="Arial" panose="020B0604020202020204" pitchFamily="34" charset="0"/>
                    <a:cs typeface="Arial" panose="020B0604020202020204" pitchFamily="34" charset="0"/>
                  </a:rPr>
                  <a:t>Now let us assume that these tests are independent of one another, so that the likelihood of rejecting a test does not depend on the outcomes of other tests.</a:t>
                </a:r>
              </a:p>
              <a:p>
                <a:r>
                  <a:rPr lang="en-ZA" sz="1800" b="1" dirty="0">
                    <a:solidFill>
                      <a:schemeClr val="bg2"/>
                    </a:solidFill>
                    <a:latin typeface="Arial" panose="020B0604020202020204" pitchFamily="34" charset="0"/>
                    <a:cs typeface="Arial" panose="020B0604020202020204" pitchFamily="34" charset="0"/>
                  </a:rPr>
                  <a:t>If we let </a:t>
                </a:r>
                <a14:m>
                  <m:oMath xmlns:m="http://schemas.openxmlformats.org/officeDocument/2006/math">
                    <m:r>
                      <a:rPr lang="en-ZA" sz="1800" b="1" i="1">
                        <a:solidFill>
                          <a:schemeClr val="bg2"/>
                        </a:solidFill>
                        <a:latin typeface="Cambria Math" panose="02040503050406030204" pitchFamily="18" charset="0"/>
                      </a:rPr>
                      <m:t>𝐕</m:t>
                    </m:r>
                  </m:oMath>
                </a14:m>
                <a:r>
                  <a:rPr lang="en-ZA" sz="1800" b="1" dirty="0">
                    <a:solidFill>
                      <a:schemeClr val="bg2"/>
                    </a:solidFill>
                    <a:latin typeface="Arial" panose="020B0604020202020204" pitchFamily="34" charset="0"/>
                    <a:cs typeface="Arial" panose="020B0604020202020204" pitchFamily="34" charset="0"/>
                  </a:rPr>
                  <a:t> be the number of true nulls that are declared significant, then the probability of incorrectly rejecting at least one null hypothesis is given by</a:t>
                </a:r>
              </a:p>
              <a:p>
                <a:pPr marL="0" indent="0">
                  <a:buNone/>
                </a:pPr>
                <a:endParaRPr lang="en-ZA" sz="1800" dirty="0">
                  <a:solidFill>
                    <a:schemeClr val="bg2"/>
                  </a:solidFill>
                  <a:latin typeface="Arial" panose="020B0604020202020204" pitchFamily="34" charset="0"/>
                  <a:cs typeface="Arial" panose="020B0604020202020204" pitchFamily="34" charset="0"/>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357809" y="998920"/>
                <a:ext cx="8379791" cy="5627159"/>
              </a:xfrm>
              <a:blipFill>
                <a:blip r:embed="rId3"/>
                <a:stretch>
                  <a:fillRect l="-801" t="-542" r="-291"/>
                </a:stretch>
              </a:blipFill>
            </p:spPr>
            <p:txBody>
              <a:bodyPr/>
              <a:lstStyle/>
              <a:p>
                <a:r>
                  <a:rPr lang="en-US">
                    <a:noFill/>
                  </a:rPr>
                  <a:t> </a:t>
                </a:r>
              </a:p>
            </p:txBody>
          </p:sp>
        </mc:Fallback>
      </mc:AlternateContent>
    </p:spTree>
    <p:extLst>
      <p:ext uri="{BB962C8B-B14F-4D97-AF65-F5344CB8AC3E}">
        <p14:creationId xmlns:p14="http://schemas.microsoft.com/office/powerpoint/2010/main" val="14837364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Multiple Comparison Procedure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318052" y="998920"/>
            <a:ext cx="8534400" cy="5627159"/>
          </a:xfrm>
        </p:spPr>
        <p:txBody>
          <a:bodyPr/>
          <a:lstStyle/>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endParaRPr lang="en-ZA" sz="1800" dirty="0">
              <a:solidFill>
                <a:schemeClr val="bg2"/>
              </a:solidFill>
            </a:endParaRPr>
          </a:p>
          <a:p>
            <a:r>
              <a:rPr lang="en-ZA" sz="1800" dirty="0">
                <a:solidFill>
                  <a:schemeClr val="bg2"/>
                </a:solidFill>
                <a:latin typeface="Arial" panose="020B0604020202020204" pitchFamily="34" charset="0"/>
                <a:cs typeface="Arial" panose="020B0604020202020204" pitchFamily="34" charset="0"/>
              </a:rPr>
              <a:t>Notably, if m = 1, then this equation reduces to FWEC ≤ α.</a:t>
            </a:r>
          </a:p>
          <a:p>
            <a:r>
              <a:rPr lang="en-ZA" sz="1800" dirty="0">
                <a:solidFill>
                  <a:schemeClr val="bg2"/>
                </a:solidFill>
                <a:latin typeface="Arial" panose="020B0604020202020204" pitchFamily="34" charset="0"/>
                <a:cs typeface="Arial" panose="020B0604020202020204" pitchFamily="34" charset="0"/>
              </a:rPr>
              <a:t>However, if m = 2 independent tests are performed, each at level α = 0:05, then we are only certain that the probability of making at least one type-1 error is less than or equal to 1 - (1 - 0:05)2 = 0:0975.</a:t>
            </a:r>
          </a:p>
        </p:txBody>
      </p:sp>
      <p:pic>
        <p:nvPicPr>
          <p:cNvPr id="3" name="Picture 2">
            <a:extLst>
              <a:ext uri="{FF2B5EF4-FFF2-40B4-BE49-F238E27FC236}">
                <a16:creationId xmlns:a16="http://schemas.microsoft.com/office/drawing/2014/main" id="{140DBD99-3B49-4B98-8C1B-17FB1422B3D9}"/>
              </a:ext>
            </a:extLst>
          </p:cNvPr>
          <p:cNvPicPr>
            <a:picLocks noChangeAspect="1"/>
          </p:cNvPicPr>
          <p:nvPr/>
        </p:nvPicPr>
        <p:blipFill>
          <a:blip r:embed="rId3"/>
          <a:stretch>
            <a:fillRect/>
          </a:stretch>
        </p:blipFill>
        <p:spPr>
          <a:xfrm>
            <a:off x="1494389" y="703455"/>
            <a:ext cx="6181725" cy="3819525"/>
          </a:xfrm>
          <a:prstGeom prst="rect">
            <a:avLst/>
          </a:prstGeom>
        </p:spPr>
      </p:pic>
    </p:spTree>
    <p:extLst>
      <p:ext uri="{BB962C8B-B14F-4D97-AF65-F5344CB8AC3E}">
        <p14:creationId xmlns:p14="http://schemas.microsoft.com/office/powerpoint/2010/main" val="41961410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Multiple Comparison Procedure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318053" y="998920"/>
                <a:ext cx="8534400" cy="5627159"/>
              </a:xfrm>
            </p:spPr>
            <p:txBody>
              <a:bodyPr/>
              <a:lstStyle/>
              <a:p>
                <a:r>
                  <a:rPr lang="en-ZA" sz="1800" b="1" dirty="0">
                    <a:solidFill>
                      <a:schemeClr val="bg2"/>
                    </a:solidFill>
                    <a:latin typeface="Arial" panose="020B0604020202020204" pitchFamily="34" charset="0"/>
                    <a:cs typeface="Arial" panose="020B0604020202020204" pitchFamily="34" charset="0"/>
                  </a:rPr>
                  <a:t>The </a:t>
                </a:r>
                <a:r>
                  <a:rPr lang="en-ZA" sz="1800" b="1" i="1" dirty="0">
                    <a:solidFill>
                      <a:schemeClr val="bg2"/>
                    </a:solidFill>
                    <a:latin typeface="Arial" panose="020B0604020202020204" pitchFamily="34" charset="0"/>
                    <a:cs typeface="Arial" panose="020B0604020202020204" pitchFamily="34" charset="0"/>
                  </a:rPr>
                  <a:t>Bonferroni</a:t>
                </a:r>
                <a:r>
                  <a:rPr lang="en-ZA" sz="1800" b="1" dirty="0">
                    <a:solidFill>
                      <a:schemeClr val="bg2"/>
                    </a:solidFill>
                    <a:latin typeface="Arial" panose="020B0604020202020204" pitchFamily="34" charset="0"/>
                    <a:cs typeface="Arial" panose="020B0604020202020204" pitchFamily="34" charset="0"/>
                  </a:rPr>
                  <a:t> adjustment for multiple comparisons is a single-step procedure and probably the most straightforward adjustment to apply.</a:t>
                </a:r>
              </a:p>
              <a:p>
                <a:r>
                  <a:rPr lang="en-ZA" sz="1800" b="1" dirty="0">
                    <a:solidFill>
                      <a:schemeClr val="bg2"/>
                    </a:solidFill>
                    <a:latin typeface="Arial" panose="020B0604020202020204" pitchFamily="34" charset="0"/>
                    <a:cs typeface="Arial" panose="020B0604020202020204" pitchFamily="34" charset="0"/>
                  </a:rPr>
                  <a:t>It involves simply using </a:t>
                </a:r>
                <a14:m>
                  <m:oMath xmlns:m="http://schemas.openxmlformats.org/officeDocument/2006/math">
                    <m:sSup>
                      <m:sSupPr>
                        <m:ctrlPr>
                          <a:rPr lang="en-ZA" sz="1800" i="1" smtClean="0">
                            <a:solidFill>
                              <a:schemeClr val="bg2"/>
                            </a:solidFill>
                            <a:latin typeface="Cambria Math" panose="02040503050406030204" pitchFamily="18" charset="0"/>
                          </a:rPr>
                        </m:ctrlPr>
                      </m:sSupPr>
                      <m:e>
                        <m:r>
                          <a:rPr lang="en-ZA" sz="1800" b="0" i="1" smtClean="0">
                            <a:solidFill>
                              <a:schemeClr val="bg2"/>
                            </a:solidFill>
                            <a:latin typeface="Cambria Math" panose="02040503050406030204" pitchFamily="18" charset="0"/>
                            <a:ea typeface="Cambria Math" panose="02040503050406030204" pitchFamily="18" charset="0"/>
                          </a:rPr>
                          <m:t>𝛼</m:t>
                        </m:r>
                      </m:e>
                      <m:sup>
                        <m:r>
                          <a:rPr lang="en-ZA" sz="1800" b="0" i="1" smtClean="0">
                            <a:solidFill>
                              <a:schemeClr val="bg2"/>
                            </a:solidFill>
                            <a:latin typeface="Cambria Math" panose="02040503050406030204" pitchFamily="18" charset="0"/>
                          </a:rPr>
                          <m:t>′</m:t>
                        </m:r>
                      </m:sup>
                    </m:sSup>
                  </m:oMath>
                </a14:m>
                <a:r>
                  <a:rPr lang="en-ZA" sz="1800" i="1" dirty="0">
                    <a:solidFill>
                      <a:schemeClr val="bg2"/>
                    </a:solidFill>
                    <a:latin typeface="Arial" panose="020B0604020202020204" pitchFamily="34" charset="0"/>
                    <a:cs typeface="Arial" panose="020B0604020202020204" pitchFamily="34" charset="0"/>
                  </a:rPr>
                  <a:t> = α/m </a:t>
                </a:r>
                <a:r>
                  <a:rPr lang="en-ZA" sz="1800" b="1" dirty="0">
                    <a:solidFill>
                      <a:schemeClr val="bg2"/>
                    </a:solidFill>
                    <a:latin typeface="Arial" panose="020B0604020202020204" pitchFamily="34" charset="0"/>
                    <a:cs typeface="Arial" panose="020B0604020202020204" pitchFamily="34" charset="0"/>
                  </a:rPr>
                  <a:t>in place of α for the level of each test, where m is the number of tests to be performed.</a:t>
                </a:r>
              </a:p>
              <a:p>
                <a:endParaRPr lang="en-ZA" sz="1800" dirty="0">
                  <a:solidFill>
                    <a:schemeClr val="bg2"/>
                  </a:solidFill>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318053" y="998920"/>
                <a:ext cx="8534400" cy="5627159"/>
              </a:xfrm>
              <a:blipFill>
                <a:blip r:embed="rId3"/>
                <a:stretch>
                  <a:fillRect l="-429" t="-650"/>
                </a:stretch>
              </a:blipFill>
            </p:spPr>
            <p:txBody>
              <a:bodyPr/>
              <a:lstStyle/>
              <a:p>
                <a:r>
                  <a:rPr lang="en-US">
                    <a:noFill/>
                  </a:rPr>
                  <a:t> </a:t>
                </a:r>
              </a:p>
            </p:txBody>
          </p:sp>
        </mc:Fallback>
      </mc:AlternateContent>
    </p:spTree>
    <p:extLst>
      <p:ext uri="{BB962C8B-B14F-4D97-AF65-F5344CB8AC3E}">
        <p14:creationId xmlns:p14="http://schemas.microsoft.com/office/powerpoint/2010/main" val="27619994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Multiple Comparison Procedure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318053" y="998920"/>
                <a:ext cx="8534400" cy="5627159"/>
              </a:xfrm>
            </p:spPr>
            <p:txBody>
              <a:bodyPr/>
              <a:lstStyle/>
              <a:p>
                <a:pPr marL="0" indent="0">
                  <a:buNone/>
                </a:pPr>
                <a:r>
                  <a:rPr lang="en-ZA" sz="2000" b="1" dirty="0">
                    <a:solidFill>
                      <a:schemeClr val="bg2"/>
                    </a:solidFill>
                    <a:latin typeface="Arial" panose="020B0604020202020204" pitchFamily="34" charset="0"/>
                    <a:cs typeface="Arial" panose="020B0604020202020204" pitchFamily="34" charset="0"/>
                  </a:rPr>
                  <a:t>Tukey Test</a:t>
                </a:r>
              </a:p>
              <a:p>
                <a:r>
                  <a:rPr lang="en-ZA" sz="1800" dirty="0">
                    <a:solidFill>
                      <a:schemeClr val="bg2"/>
                    </a:solidFill>
                    <a:latin typeface="Arial" panose="020B0604020202020204" pitchFamily="34" charset="0"/>
                    <a:cs typeface="Arial" panose="020B0604020202020204" pitchFamily="34" charset="0"/>
                  </a:rPr>
                  <a:t>Tukey’s studentized range test is another single-step adjustment method for testing multiple hypotheses that is useful for the comparison of means between groups.</a:t>
                </a:r>
              </a:p>
              <a:p>
                <a:r>
                  <a:rPr lang="en-ZA" sz="1800" dirty="0">
                    <a:solidFill>
                      <a:schemeClr val="bg2"/>
                    </a:solidFill>
                    <a:latin typeface="Arial" panose="020B0604020202020204" pitchFamily="34" charset="0"/>
                    <a:cs typeface="Arial" panose="020B0604020202020204" pitchFamily="34" charset="0"/>
                  </a:rPr>
                  <a:t>For example, suppose we fit an ANOVA model of the form</a:t>
                </a:r>
              </a:p>
              <a:p>
                <a:pPr marL="0" indent="0">
                  <a:buNone/>
                </a:pPr>
                <a14:m>
                  <m:oMathPara xmlns:m="http://schemas.openxmlformats.org/officeDocument/2006/math">
                    <m:oMathParaPr>
                      <m:jc m:val="centerGroup"/>
                    </m:oMathParaPr>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𝑌</m:t>
                          </m:r>
                        </m:e>
                        <m:sub>
                          <m:r>
                            <a:rPr lang="en-ZA" sz="1800">
                              <a:solidFill>
                                <a:schemeClr val="bg2"/>
                              </a:solidFill>
                              <a:latin typeface="Cambria Math" panose="02040503050406030204" pitchFamily="18" charset="0"/>
                            </a:rPr>
                            <m:t>𝑖𝑗</m:t>
                          </m:r>
                        </m:sub>
                      </m:sSub>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𝜇</m:t>
                      </m:r>
                      <m:r>
                        <a:rPr lang="en-ZA" sz="1800">
                          <a:solidFill>
                            <a:schemeClr val="bg2"/>
                          </a:solidFill>
                          <a:latin typeface="Cambria Math" panose="02040503050406030204" pitchFamily="18" charset="0"/>
                        </a:rPr>
                        <m:t>+ </m:t>
                      </m:r>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𝛼</m:t>
                          </m:r>
                        </m:e>
                        <m:sub>
                          <m:r>
                            <a:rPr lang="en-ZA" sz="1800">
                              <a:solidFill>
                                <a:schemeClr val="bg2"/>
                              </a:solidFill>
                              <a:latin typeface="Cambria Math" panose="02040503050406030204" pitchFamily="18" charset="0"/>
                            </a:rPr>
                            <m:t>𝑖</m:t>
                          </m:r>
                        </m:sub>
                      </m:sSub>
                      <m:r>
                        <a:rPr lang="en-ZA" sz="1800">
                          <a:solidFill>
                            <a:schemeClr val="bg2"/>
                          </a:solidFill>
                          <a:latin typeface="Cambria Math" panose="02040503050406030204" pitchFamily="18" charset="0"/>
                        </a:rPr>
                        <m:t>+ </m:t>
                      </m:r>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𝜖</m:t>
                          </m:r>
                        </m:e>
                        <m:sub>
                          <m:r>
                            <a:rPr lang="en-ZA" sz="1800">
                              <a:solidFill>
                                <a:schemeClr val="bg2"/>
                              </a:solidFill>
                              <a:latin typeface="Cambria Math" panose="02040503050406030204" pitchFamily="18" charset="0"/>
                            </a:rPr>
                            <m:t>𝑖𝑗</m:t>
                          </m:r>
                        </m:sub>
                      </m:sSub>
                    </m:oMath>
                  </m:oMathPara>
                </a14:m>
                <a:endParaRPr lang="en-ZA" sz="1800" dirty="0">
                  <a:solidFill>
                    <a:schemeClr val="bg2"/>
                  </a:solidFill>
                  <a:latin typeface="Arial" panose="020B0604020202020204" pitchFamily="34" charset="0"/>
                  <a:cs typeface="Arial" panose="020B0604020202020204" pitchFamily="34" charset="0"/>
                </a:endParaRPr>
              </a:p>
              <a:p>
                <a:r>
                  <a:rPr lang="en-ZA" sz="1800" dirty="0">
                    <a:solidFill>
                      <a:schemeClr val="bg2"/>
                    </a:solidFill>
                    <a:latin typeface="Arial" panose="020B0604020202020204" pitchFamily="34" charset="0"/>
                    <a:cs typeface="Arial" panose="020B0604020202020204" pitchFamily="34" charset="0"/>
                  </a:rPr>
                  <a:t>where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𝑌</m:t>
                        </m:r>
                      </m:e>
                      <m:sub>
                        <m:r>
                          <a:rPr lang="en-ZA" sz="1800">
                            <a:solidFill>
                              <a:schemeClr val="bg2"/>
                            </a:solidFill>
                            <a:latin typeface="Cambria Math" panose="02040503050406030204" pitchFamily="18" charset="0"/>
                          </a:rPr>
                          <m:t>𝑖𝑗</m:t>
                        </m:r>
                      </m:sub>
                    </m:sSub>
                  </m:oMath>
                </a14:m>
                <a:r>
                  <a:rPr lang="en-ZA" sz="1800" dirty="0">
                    <a:solidFill>
                      <a:schemeClr val="bg2"/>
                    </a:solidFill>
                    <a:latin typeface="Arial" panose="020B0604020202020204" pitchFamily="34" charset="0"/>
                    <a:cs typeface="Arial" panose="020B0604020202020204" pitchFamily="34" charset="0"/>
                  </a:rPr>
                  <a:t> is the measured trait for the </a:t>
                </a:r>
                <a:r>
                  <a:rPr lang="en-ZA" sz="1800" dirty="0" err="1">
                    <a:solidFill>
                      <a:schemeClr val="bg2"/>
                    </a:solidFill>
                    <a:latin typeface="Arial" panose="020B0604020202020204" pitchFamily="34" charset="0"/>
                    <a:cs typeface="Arial" panose="020B0604020202020204" pitchFamily="34" charset="0"/>
                  </a:rPr>
                  <a:t>jth</a:t>
                </a:r>
                <a:r>
                  <a:rPr lang="en-ZA" sz="1800" dirty="0">
                    <a:solidFill>
                      <a:schemeClr val="bg2"/>
                    </a:solidFill>
                    <a:latin typeface="Arial" panose="020B0604020202020204" pitchFamily="34" charset="0"/>
                    <a:cs typeface="Arial" panose="020B0604020202020204" pitchFamily="34" charset="0"/>
                  </a:rPr>
                  <a:t> individual with treatment </a:t>
                </a:r>
                <a:r>
                  <a:rPr lang="en-ZA" sz="1800" dirty="0" err="1">
                    <a:solidFill>
                      <a:schemeClr val="bg2"/>
                    </a:solidFill>
                    <a:latin typeface="Arial" panose="020B0604020202020204" pitchFamily="34" charset="0"/>
                    <a:cs typeface="Arial" panose="020B0604020202020204" pitchFamily="34" charset="0"/>
                  </a:rPr>
                  <a:t>i</a:t>
                </a:r>
                <a:r>
                  <a:rPr lang="en-ZA" sz="1800" dirty="0">
                    <a:solidFill>
                      <a:schemeClr val="bg2"/>
                    </a:solidFill>
                    <a:latin typeface="Arial" panose="020B0604020202020204" pitchFamily="34" charset="0"/>
                    <a:cs typeface="Arial" panose="020B0604020202020204" pitchFamily="34" charset="0"/>
                  </a:rPr>
                  <a:t>, µ is the overall population mean,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𝛼</m:t>
                        </m:r>
                      </m:e>
                      <m:sub>
                        <m:r>
                          <a:rPr lang="en-ZA" sz="1800">
                            <a:solidFill>
                              <a:schemeClr val="bg2"/>
                            </a:solidFill>
                            <a:latin typeface="Cambria Math" panose="02040503050406030204" pitchFamily="18" charset="0"/>
                          </a:rPr>
                          <m:t>𝑖</m:t>
                        </m:r>
                      </m:sub>
                    </m:sSub>
                    <m:r>
                      <a:rPr lang="en-ZA" sz="1800">
                        <a:solidFill>
                          <a:schemeClr val="bg2"/>
                        </a:solidFill>
                        <a:latin typeface="Cambria Math" panose="02040503050406030204" pitchFamily="18" charset="0"/>
                      </a:rPr>
                      <m:t> </m:t>
                    </m:r>
                  </m:oMath>
                </a14:m>
                <a:r>
                  <a:rPr lang="en-ZA" sz="1800" dirty="0">
                    <a:solidFill>
                      <a:schemeClr val="bg2"/>
                    </a:solidFill>
                    <a:latin typeface="Arial" panose="020B0604020202020204" pitchFamily="34" charset="0"/>
                    <a:cs typeface="Arial" panose="020B0604020202020204" pitchFamily="34" charset="0"/>
                  </a:rPr>
                  <a:t>is the shift in the mean resulting from receiving treatment </a:t>
                </a:r>
                <a:r>
                  <a:rPr lang="en-ZA" sz="1800" dirty="0" err="1">
                    <a:solidFill>
                      <a:schemeClr val="bg2"/>
                    </a:solidFill>
                    <a:latin typeface="Arial" panose="020B0604020202020204" pitchFamily="34" charset="0"/>
                    <a:cs typeface="Arial" panose="020B0604020202020204" pitchFamily="34" charset="0"/>
                  </a:rPr>
                  <a:t>i</a:t>
                </a:r>
                <a:r>
                  <a:rPr lang="en-ZA" sz="1800" dirty="0">
                    <a:solidFill>
                      <a:schemeClr val="bg2"/>
                    </a:solidFill>
                    <a:latin typeface="Arial" panose="020B0604020202020204" pitchFamily="34" charset="0"/>
                    <a:cs typeface="Arial" panose="020B0604020202020204" pitchFamily="34" charset="0"/>
                  </a:rPr>
                  <a:t>, </a:t>
                </a:r>
                <a:r>
                  <a:rPr lang="en-ZA" sz="1800" dirty="0" err="1">
                    <a:solidFill>
                      <a:schemeClr val="bg2"/>
                    </a:solidFill>
                    <a:latin typeface="Arial" panose="020B0604020202020204" pitchFamily="34" charset="0"/>
                    <a:cs typeface="Arial" panose="020B0604020202020204" pitchFamily="34" charset="0"/>
                  </a:rPr>
                  <a:t>i</a:t>
                </a:r>
                <a:r>
                  <a:rPr lang="en-ZA" sz="1800" dirty="0">
                    <a:solidFill>
                      <a:schemeClr val="bg2"/>
                    </a:solidFill>
                    <a:latin typeface="Arial" panose="020B0604020202020204" pitchFamily="34" charset="0"/>
                    <a:cs typeface="Arial" panose="020B0604020202020204" pitchFamily="34" charset="0"/>
                  </a:rPr>
                  <a:t> = 1, … , m and j = 1, …,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𝑛</m:t>
                        </m:r>
                      </m:e>
                      <m:sub>
                        <m:r>
                          <a:rPr lang="en-ZA" sz="1800">
                            <a:solidFill>
                              <a:schemeClr val="bg2"/>
                            </a:solidFill>
                            <a:latin typeface="Cambria Math" panose="02040503050406030204" pitchFamily="18" charset="0"/>
                          </a:rPr>
                          <m:t>𝑖</m:t>
                        </m:r>
                      </m:sub>
                    </m:sSub>
                  </m:oMath>
                </a14:m>
                <a:r>
                  <a:rPr lang="en-ZA" sz="1800" dirty="0">
                    <a:solidFill>
                      <a:schemeClr val="bg2"/>
                    </a:solidFill>
                    <a:latin typeface="Arial" panose="020B0604020202020204" pitchFamily="34" charset="0"/>
                    <a:cs typeface="Arial" panose="020B0604020202020204" pitchFamily="34" charset="0"/>
                  </a:rPr>
                  <a:t>.</a:t>
                </a:r>
              </a:p>
              <a:p>
                <a:r>
                  <a:rPr lang="en-ZA" sz="1800" dirty="0">
                    <a:solidFill>
                      <a:schemeClr val="bg2"/>
                    </a:solidFill>
                    <a:latin typeface="Arial" panose="020B0604020202020204" pitchFamily="34" charset="0"/>
                    <a:cs typeface="Arial" panose="020B0604020202020204" pitchFamily="34" charset="0"/>
                  </a:rPr>
                  <a:t>Typically, we begin by conducting an overall F-test for equality of means across the treatment groups.</a:t>
                </a:r>
              </a:p>
              <a:p>
                <a:r>
                  <a:rPr lang="en-ZA" sz="1800" dirty="0">
                    <a:solidFill>
                      <a:schemeClr val="bg2"/>
                    </a:solidFill>
                    <a:latin typeface="Arial" panose="020B0604020202020204" pitchFamily="34" charset="0"/>
                    <a:cs typeface="Arial" panose="020B0604020202020204" pitchFamily="34" charset="0"/>
                  </a:rPr>
                  <a:t>Formally, we test the null hypothesis given by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𝐻</m:t>
                        </m:r>
                      </m:e>
                      <m:sub>
                        <m:r>
                          <a:rPr lang="en-ZA" sz="1800">
                            <a:solidFill>
                              <a:schemeClr val="bg2"/>
                            </a:solidFill>
                            <a:latin typeface="Cambria Math" panose="02040503050406030204" pitchFamily="18" charset="0"/>
                          </a:rPr>
                          <m:t>0</m:t>
                        </m:r>
                      </m:sub>
                    </m:sSub>
                  </m:oMath>
                </a14:m>
                <a:r>
                  <a:rPr lang="en-ZA" sz="1800"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𝛼</m:t>
                        </m:r>
                      </m:e>
                      <m:sub>
                        <m:r>
                          <a:rPr lang="en-ZA" sz="1800">
                            <a:solidFill>
                              <a:schemeClr val="bg2"/>
                            </a:solidFill>
                            <a:latin typeface="Cambria Math" panose="02040503050406030204" pitchFamily="18" charset="0"/>
                          </a:rPr>
                          <m:t>1</m:t>
                        </m:r>
                      </m:sub>
                    </m:sSub>
                  </m:oMath>
                </a14:m>
                <a:r>
                  <a:rPr lang="en-ZA" sz="1800"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𝛼</m:t>
                        </m:r>
                      </m:e>
                      <m:sub>
                        <m:r>
                          <a:rPr lang="en-ZA" sz="1800">
                            <a:solidFill>
                              <a:schemeClr val="bg2"/>
                            </a:solidFill>
                            <a:latin typeface="Cambria Math" panose="02040503050406030204" pitchFamily="18" charset="0"/>
                          </a:rPr>
                          <m:t>2</m:t>
                        </m:r>
                      </m:sub>
                    </m:sSub>
                  </m:oMath>
                </a14:m>
                <a:r>
                  <a:rPr lang="en-ZA" sz="1800" dirty="0">
                    <a:solidFill>
                      <a:schemeClr val="bg2"/>
                    </a:solidFill>
                    <a:latin typeface="Arial" panose="020B0604020202020204" pitchFamily="34" charset="0"/>
                    <a:cs typeface="Arial" panose="020B0604020202020204" pitchFamily="34" charset="0"/>
                  </a:rPr>
                  <a:t> = … =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𝛼</m:t>
                        </m:r>
                      </m:e>
                      <m:sub>
                        <m:r>
                          <a:rPr lang="en-ZA" sz="1800">
                            <a:solidFill>
                              <a:schemeClr val="bg2"/>
                            </a:solidFill>
                            <a:latin typeface="Cambria Math" panose="02040503050406030204" pitchFamily="18" charset="0"/>
                          </a:rPr>
                          <m:t>𝑚</m:t>
                        </m:r>
                      </m:sub>
                    </m:sSub>
                  </m:oMath>
                </a14:m>
                <a:r>
                  <a:rPr lang="en-ZA" sz="1800" dirty="0">
                    <a:solidFill>
                      <a:schemeClr val="bg2"/>
                    </a:solidFill>
                    <a:latin typeface="Arial" panose="020B0604020202020204" pitchFamily="34" charset="0"/>
                    <a:cs typeface="Arial" panose="020B0604020202020204" pitchFamily="34" charset="0"/>
                  </a:rPr>
                  <a:t>.</a:t>
                </a:r>
              </a:p>
              <a:p>
                <a:r>
                  <a:rPr lang="en-ZA" sz="1800" dirty="0">
                    <a:solidFill>
                      <a:schemeClr val="bg2"/>
                    </a:solidFill>
                    <a:latin typeface="Arial" panose="020B0604020202020204" pitchFamily="34" charset="0"/>
                    <a:cs typeface="Arial" panose="020B0604020202020204" pitchFamily="34" charset="0"/>
                  </a:rPr>
                  <a:t>If this test is significant, indicating a departure from the null, then interest may lie in identifying the specific treatment groups that are different.</a:t>
                </a:r>
              </a:p>
              <a:p>
                <a:r>
                  <a:rPr lang="en-ZA" sz="1800" dirty="0">
                    <a:solidFill>
                      <a:schemeClr val="bg2"/>
                    </a:solidFill>
                    <a:latin typeface="Arial" panose="020B0604020202020204" pitchFamily="34" charset="0"/>
                    <a:cs typeface="Arial" panose="020B0604020202020204" pitchFamily="34" charset="0"/>
                  </a:rPr>
                  <a:t>That is, we may now want to test the set of “M choose 2” hypotheses, given by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𝐻</m:t>
                        </m:r>
                      </m:e>
                      <m:sub>
                        <m:r>
                          <a:rPr lang="en-ZA" sz="1800">
                            <a:solidFill>
                              <a:schemeClr val="bg2"/>
                            </a:solidFill>
                            <a:latin typeface="Cambria Math" panose="02040503050406030204" pitchFamily="18" charset="0"/>
                          </a:rPr>
                          <m:t>0</m:t>
                        </m:r>
                      </m:sub>
                    </m:sSub>
                  </m:oMath>
                </a14:m>
                <a:r>
                  <a:rPr lang="en-ZA" sz="1800"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𝛼</m:t>
                        </m:r>
                      </m:e>
                      <m:sub>
                        <m:r>
                          <a:rPr lang="en-ZA" sz="1800">
                            <a:solidFill>
                              <a:schemeClr val="bg2"/>
                            </a:solidFill>
                            <a:latin typeface="Cambria Math" panose="02040503050406030204" pitchFamily="18" charset="0"/>
                          </a:rPr>
                          <m:t>𝑖</m:t>
                        </m:r>
                      </m:sub>
                    </m:sSub>
                  </m:oMath>
                </a14:m>
                <a:r>
                  <a:rPr lang="en-ZA" sz="1800"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𝛼</m:t>
                        </m:r>
                      </m:e>
                      <m:sub>
                        <m:r>
                          <a:rPr lang="en-ZA" sz="1800">
                            <a:solidFill>
                              <a:schemeClr val="bg2"/>
                            </a:solidFill>
                            <a:latin typeface="Cambria Math" panose="02040503050406030204" pitchFamily="18" charset="0"/>
                          </a:rPr>
                          <m:t>𝑗</m:t>
                        </m:r>
                      </m:sub>
                    </m:sSub>
                  </m:oMath>
                </a14:m>
                <a:r>
                  <a:rPr lang="en-ZA" sz="1800" dirty="0">
                    <a:solidFill>
                      <a:schemeClr val="bg2"/>
                    </a:solidFill>
                    <a:latin typeface="Arial" panose="020B0604020202020204" pitchFamily="34" charset="0"/>
                    <a:cs typeface="Arial" panose="020B0604020202020204" pitchFamily="34" charset="0"/>
                  </a:rPr>
                  <a:t> for </a:t>
                </a:r>
                <a:r>
                  <a:rPr lang="en-ZA" sz="1800" dirty="0" err="1">
                    <a:solidFill>
                      <a:schemeClr val="bg2"/>
                    </a:solidFill>
                    <a:latin typeface="Arial" panose="020B0604020202020204" pitchFamily="34" charset="0"/>
                    <a:cs typeface="Arial" panose="020B0604020202020204" pitchFamily="34" charset="0"/>
                  </a:rPr>
                  <a:t>i</a:t>
                </a:r>
                <a:r>
                  <a:rPr lang="en-ZA" sz="1800" dirty="0">
                    <a:solidFill>
                      <a:schemeClr val="bg2"/>
                    </a:solidFill>
                    <a:latin typeface="Arial" panose="020B0604020202020204" pitchFamily="34" charset="0"/>
                    <a:cs typeface="Arial" panose="020B0604020202020204" pitchFamily="34" charset="0"/>
                  </a:rPr>
                  <a:t> </a:t>
                </a:r>
                <a14:m>
                  <m:oMath xmlns:m="http://schemas.openxmlformats.org/officeDocument/2006/math">
                    <m:r>
                      <a:rPr lang="en-ZA" sz="1800">
                        <a:solidFill>
                          <a:schemeClr val="bg2"/>
                        </a:solidFill>
                        <a:latin typeface="Cambria Math" panose="02040503050406030204" pitchFamily="18" charset="0"/>
                      </a:rPr>
                      <m:t>≠ </m:t>
                    </m:r>
                  </m:oMath>
                </a14:m>
                <a:r>
                  <a:rPr lang="en-ZA" sz="1800" dirty="0">
                    <a:solidFill>
                      <a:schemeClr val="bg2"/>
                    </a:solidFill>
                    <a:latin typeface="Arial" panose="020B0604020202020204" pitchFamily="34" charset="0"/>
                    <a:cs typeface="Arial" panose="020B0604020202020204" pitchFamily="34" charset="0"/>
                  </a:rPr>
                  <a:t>j.</a:t>
                </a: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318053" y="998920"/>
                <a:ext cx="8534400" cy="5627159"/>
              </a:xfrm>
              <a:blipFill>
                <a:blip r:embed="rId3"/>
                <a:stretch>
                  <a:fillRect l="-714" t="-542" r="-1143"/>
                </a:stretch>
              </a:blipFill>
            </p:spPr>
            <p:txBody>
              <a:bodyPr/>
              <a:lstStyle/>
              <a:p>
                <a:r>
                  <a:rPr lang="en-US">
                    <a:noFill/>
                  </a:rPr>
                  <a:t> </a:t>
                </a:r>
              </a:p>
            </p:txBody>
          </p:sp>
        </mc:Fallback>
      </mc:AlternateContent>
    </p:spTree>
    <p:extLst>
      <p:ext uri="{BB962C8B-B14F-4D97-AF65-F5344CB8AC3E}">
        <p14:creationId xmlns:p14="http://schemas.microsoft.com/office/powerpoint/2010/main" val="18992879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Multiple Comparison Procedure</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318053" y="998920"/>
                <a:ext cx="8534400" cy="5627159"/>
              </a:xfrm>
            </p:spPr>
            <p:txBody>
              <a:bodyPr/>
              <a:lstStyle/>
              <a:p>
                <a:r>
                  <a:rPr lang="en-ZA" sz="1800" dirty="0">
                    <a:solidFill>
                      <a:schemeClr val="bg2"/>
                    </a:solidFill>
                    <a:latin typeface="Arial" panose="020B0604020202020204" pitchFamily="34" charset="0"/>
                    <a:cs typeface="Arial" panose="020B0604020202020204" pitchFamily="34" charset="0"/>
                  </a:rPr>
                  <a:t>Tukey’s honestly significantly different (HSD) test based on the studentized range distribution is a natural approach for this setting.</a:t>
                </a:r>
              </a:p>
              <a:p>
                <a:r>
                  <a:rPr lang="en-ZA" sz="1800" dirty="0">
                    <a:solidFill>
                      <a:schemeClr val="bg2"/>
                    </a:solidFill>
                    <a:latin typeface="Arial" panose="020B0604020202020204" pitchFamily="34" charset="0"/>
                    <a:cs typeface="Arial" panose="020B0604020202020204" pitchFamily="34" charset="0"/>
                  </a:rPr>
                  <a:t>Notably, in its original formulation, this method is applicable to groups that have the same sample size, so we begin by assuming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𝑛</m:t>
                        </m:r>
                      </m:e>
                      <m:sub>
                        <m:r>
                          <a:rPr lang="en-ZA" sz="1800">
                            <a:solidFill>
                              <a:schemeClr val="bg2"/>
                            </a:solidFill>
                            <a:latin typeface="Cambria Math" panose="02040503050406030204" pitchFamily="18" charset="0"/>
                          </a:rPr>
                          <m:t>𝑖</m:t>
                        </m:r>
                      </m:sub>
                    </m:sSub>
                  </m:oMath>
                </a14:m>
                <a:r>
                  <a:rPr lang="en-ZA" sz="1800" dirty="0">
                    <a:solidFill>
                      <a:schemeClr val="bg2"/>
                    </a:solidFill>
                    <a:latin typeface="Arial" panose="020B0604020202020204" pitchFamily="34" charset="0"/>
                    <a:cs typeface="Arial" panose="020B0604020202020204" pitchFamily="34" charset="0"/>
                  </a:rPr>
                  <a:t> = </a:t>
                </a:r>
                <a14:m>
                  <m:oMath xmlns:m="http://schemas.openxmlformats.org/officeDocument/2006/math">
                    <m:r>
                      <a:rPr lang="en-ZA" sz="1800" dirty="0">
                        <a:solidFill>
                          <a:schemeClr val="bg2"/>
                        </a:solidFill>
                        <a:latin typeface="Cambria Math" panose="02040503050406030204" pitchFamily="18" charset="0"/>
                      </a:rPr>
                      <m:t>𝑛</m:t>
                    </m:r>
                  </m:oMath>
                </a14:m>
                <a:r>
                  <a:rPr lang="en-ZA" sz="1800" dirty="0">
                    <a:solidFill>
                      <a:schemeClr val="bg2"/>
                    </a:solidFill>
                    <a:latin typeface="Arial" panose="020B0604020202020204" pitchFamily="34" charset="0"/>
                    <a:cs typeface="Arial" panose="020B0604020202020204" pitchFamily="34" charset="0"/>
                  </a:rPr>
                  <a:t> for all </a:t>
                </a:r>
                <a:r>
                  <a:rPr lang="en-ZA" sz="1800" dirty="0" err="1">
                    <a:solidFill>
                      <a:schemeClr val="bg2"/>
                    </a:solidFill>
                    <a:latin typeface="Arial" panose="020B0604020202020204" pitchFamily="34" charset="0"/>
                    <a:cs typeface="Arial" panose="020B0604020202020204" pitchFamily="34" charset="0"/>
                  </a:rPr>
                  <a:t>i</a:t>
                </a:r>
                <a:r>
                  <a:rPr lang="en-ZA" sz="1800" dirty="0">
                    <a:solidFill>
                      <a:schemeClr val="bg2"/>
                    </a:solidFill>
                    <a:latin typeface="Arial" panose="020B0604020202020204" pitchFamily="34" charset="0"/>
                    <a:cs typeface="Arial" panose="020B0604020202020204" pitchFamily="34" charset="0"/>
                  </a:rPr>
                  <a:t>.</a:t>
                </a:r>
              </a:p>
              <a:p>
                <a:r>
                  <a:rPr lang="en-ZA" sz="1800" dirty="0">
                    <a:solidFill>
                      <a:schemeClr val="bg2"/>
                    </a:solidFill>
                    <a:latin typeface="Arial" panose="020B0604020202020204" pitchFamily="34" charset="0"/>
                    <a:cs typeface="Arial" panose="020B0604020202020204" pitchFamily="34" charset="0"/>
                  </a:rPr>
                  <a:t>For each null hypothesis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𝐻</m:t>
                        </m:r>
                      </m:e>
                      <m:sub>
                        <m:r>
                          <a:rPr lang="en-ZA" sz="1800">
                            <a:solidFill>
                              <a:schemeClr val="bg2"/>
                            </a:solidFill>
                            <a:latin typeface="Cambria Math" panose="02040503050406030204" pitchFamily="18" charset="0"/>
                          </a:rPr>
                          <m:t>0</m:t>
                        </m:r>
                      </m:sub>
                    </m:sSub>
                  </m:oMath>
                </a14:m>
                <a:r>
                  <a:rPr lang="en-ZA" sz="1800"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𝜇</m:t>
                        </m:r>
                      </m:e>
                      <m:sub>
                        <m:r>
                          <a:rPr lang="en-ZA" sz="1800">
                            <a:solidFill>
                              <a:schemeClr val="bg2"/>
                            </a:solidFill>
                            <a:latin typeface="Cambria Math" panose="02040503050406030204" pitchFamily="18" charset="0"/>
                          </a:rPr>
                          <m:t>𝑖</m:t>
                        </m:r>
                      </m:sub>
                    </m:sSub>
                  </m:oMath>
                </a14:m>
                <a:r>
                  <a:rPr lang="en-ZA" sz="1800"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𝜇</m:t>
                        </m:r>
                      </m:e>
                      <m:sub>
                        <m:r>
                          <a:rPr lang="en-ZA" sz="1800">
                            <a:solidFill>
                              <a:schemeClr val="bg2"/>
                            </a:solidFill>
                            <a:latin typeface="Cambria Math" panose="02040503050406030204" pitchFamily="18" charset="0"/>
                          </a:rPr>
                          <m:t>𝑗</m:t>
                        </m:r>
                      </m:sub>
                    </m:sSub>
                  </m:oMath>
                </a14:m>
                <a:r>
                  <a:rPr lang="en-ZA" sz="1800" dirty="0">
                    <a:solidFill>
                      <a:schemeClr val="bg2"/>
                    </a:solidFill>
                    <a:latin typeface="Arial" panose="020B0604020202020204" pitchFamily="34" charset="0"/>
                    <a:cs typeface="Arial" panose="020B0604020202020204" pitchFamily="34" charset="0"/>
                  </a:rPr>
                  <a:t>, a test statistic is given by</a:t>
                </a:r>
              </a:p>
              <a:p>
                <a:pPr marL="0" indent="0">
                  <a:buNone/>
                </a:pPr>
                <a14:m>
                  <m:oMathPara xmlns:m="http://schemas.openxmlformats.org/officeDocument/2006/math">
                    <m:oMathParaPr>
                      <m:jc m:val="centerGroup"/>
                    </m:oMathParaPr>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𝑡</m:t>
                          </m:r>
                        </m:e>
                        <m:sub>
                          <m:r>
                            <a:rPr lang="en-ZA" sz="1800">
                              <a:solidFill>
                                <a:schemeClr val="bg2"/>
                              </a:solidFill>
                              <a:latin typeface="Cambria Math" panose="02040503050406030204" pitchFamily="18" charset="0"/>
                            </a:rPr>
                            <m:t>𝑠</m:t>
                          </m:r>
                        </m:sub>
                      </m:sSub>
                      <m:r>
                        <a:rPr lang="en-ZA" sz="1800">
                          <a:solidFill>
                            <a:schemeClr val="bg2"/>
                          </a:solidFill>
                          <a:latin typeface="Cambria Math" panose="02040503050406030204" pitchFamily="18" charset="0"/>
                        </a:rPr>
                        <m:t>= </m:t>
                      </m:r>
                      <m:f>
                        <m:fPr>
                          <m:ctrlPr>
                            <a:rPr lang="en-ZA" sz="1800" i="1">
                              <a:solidFill>
                                <a:schemeClr val="bg2"/>
                              </a:solidFill>
                              <a:latin typeface="Cambria Math" panose="02040503050406030204" pitchFamily="18" charset="0"/>
                            </a:rPr>
                          </m:ctrlPr>
                        </m:fPr>
                        <m:num>
                          <m:rad>
                            <m:radPr>
                              <m:degHide m:val="on"/>
                              <m:ctrlPr>
                                <a:rPr lang="en-ZA" sz="1800" i="1">
                                  <a:solidFill>
                                    <a:schemeClr val="bg2"/>
                                  </a:solidFill>
                                  <a:latin typeface="Cambria Math" panose="02040503050406030204" pitchFamily="18" charset="0"/>
                                </a:rPr>
                              </m:ctrlPr>
                            </m:radPr>
                            <m:deg/>
                            <m:e>
                              <m:r>
                                <a:rPr lang="en-ZA" sz="1800">
                                  <a:solidFill>
                                    <a:schemeClr val="bg2"/>
                                  </a:solidFill>
                                  <a:latin typeface="Cambria Math" panose="02040503050406030204" pitchFamily="18" charset="0"/>
                                </a:rPr>
                                <m:t>2</m:t>
                              </m:r>
                            </m:e>
                          </m:rad>
                          <m:r>
                            <a:rPr lang="en-ZA" sz="1800">
                              <a:solidFill>
                                <a:schemeClr val="bg2"/>
                              </a:solidFill>
                              <a:latin typeface="Cambria Math" panose="02040503050406030204" pitchFamily="18" charset="0"/>
                            </a:rPr>
                            <m:t> </m:t>
                          </m:r>
                          <m:acc>
                            <m:accPr>
                              <m:chr m:val="̂"/>
                              <m:ctrlPr>
                                <a:rPr lang="en-ZA" sz="1800" i="1">
                                  <a:solidFill>
                                    <a:schemeClr val="bg2"/>
                                  </a:solidFill>
                                  <a:latin typeface="Cambria Math" panose="02040503050406030204" pitchFamily="18" charset="0"/>
                                </a:rPr>
                              </m:ctrlPr>
                            </m:accPr>
                            <m:e>
                              <m:r>
                                <a:rPr lang="en-ZA" sz="1800">
                                  <a:solidFill>
                                    <a:schemeClr val="bg2"/>
                                  </a:solidFill>
                                  <a:latin typeface="Cambria Math" panose="02040503050406030204" pitchFamily="18" charset="0"/>
                                </a:rPr>
                                <m:t>𝐷</m:t>
                              </m:r>
                            </m:e>
                          </m:acc>
                        </m:num>
                        <m:den>
                          <m:rad>
                            <m:radPr>
                              <m:degHide m:val="on"/>
                              <m:ctrlPr>
                                <a:rPr lang="en-ZA" sz="1800" i="1">
                                  <a:solidFill>
                                    <a:schemeClr val="bg2"/>
                                  </a:solidFill>
                                  <a:latin typeface="Cambria Math" panose="02040503050406030204" pitchFamily="18" charset="0"/>
                                </a:rPr>
                              </m:ctrlPr>
                            </m:radPr>
                            <m:deg/>
                            <m:e>
                              <m:r>
                                <a:rPr lang="en-ZA" sz="1800">
                                  <a:solidFill>
                                    <a:schemeClr val="bg2"/>
                                  </a:solidFill>
                                  <a:latin typeface="Cambria Math" panose="02040503050406030204" pitchFamily="18" charset="0"/>
                                </a:rPr>
                                <m:t>𝑉𝑎𝑟</m:t>
                              </m:r>
                              <m:r>
                                <a:rPr lang="en-ZA" sz="1800">
                                  <a:solidFill>
                                    <a:schemeClr val="bg2"/>
                                  </a:solidFill>
                                  <a:latin typeface="Cambria Math" panose="02040503050406030204" pitchFamily="18" charset="0"/>
                                </a:rPr>
                                <m:t> </m:t>
                              </m:r>
                              <m:d>
                                <m:dPr>
                                  <m:begChr m:val="["/>
                                  <m:endChr m:val="]"/>
                                  <m:ctrlPr>
                                    <a:rPr lang="en-ZA" sz="1800" i="1">
                                      <a:solidFill>
                                        <a:schemeClr val="bg2"/>
                                      </a:solidFill>
                                      <a:latin typeface="Cambria Math" panose="02040503050406030204" pitchFamily="18" charset="0"/>
                                    </a:rPr>
                                  </m:ctrlPr>
                                </m:dPr>
                                <m:e>
                                  <m:acc>
                                    <m:accPr>
                                      <m:chr m:val="̂"/>
                                      <m:ctrlPr>
                                        <a:rPr lang="en-ZA" sz="1800" i="1">
                                          <a:solidFill>
                                            <a:schemeClr val="bg2"/>
                                          </a:solidFill>
                                          <a:latin typeface="Cambria Math" panose="02040503050406030204" pitchFamily="18" charset="0"/>
                                        </a:rPr>
                                      </m:ctrlPr>
                                    </m:accPr>
                                    <m:e>
                                      <m:r>
                                        <a:rPr lang="en-ZA" sz="1800">
                                          <a:solidFill>
                                            <a:schemeClr val="bg2"/>
                                          </a:solidFill>
                                          <a:latin typeface="Cambria Math" panose="02040503050406030204" pitchFamily="18" charset="0"/>
                                        </a:rPr>
                                        <m:t>𝐷</m:t>
                                      </m:r>
                                    </m:e>
                                  </m:acc>
                                </m:e>
                              </m:d>
                            </m:e>
                          </m:rad>
                        </m:den>
                      </m:f>
                      <m:r>
                        <a:rPr lang="en-ZA" sz="1800">
                          <a:solidFill>
                            <a:schemeClr val="bg2"/>
                          </a:solidFill>
                          <a:latin typeface="Cambria Math" panose="02040503050406030204" pitchFamily="18" charset="0"/>
                        </a:rPr>
                        <m:t>~</m:t>
                      </m:r>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𝑞</m:t>
                          </m:r>
                        </m:e>
                        <m:sub>
                          <m:r>
                            <a:rPr lang="en-ZA" sz="1800">
                              <a:solidFill>
                                <a:schemeClr val="bg2"/>
                              </a:solidFill>
                              <a:latin typeface="Cambria Math" panose="02040503050406030204" pitchFamily="18" charset="0"/>
                            </a:rPr>
                            <m:t>𝑚</m:t>
                          </m:r>
                          <m:r>
                            <a:rPr lang="en-ZA" sz="1800">
                              <a:solidFill>
                                <a:schemeClr val="bg2"/>
                              </a:solidFill>
                              <a:latin typeface="Cambria Math" panose="02040503050406030204" pitchFamily="18" charset="0"/>
                            </a:rPr>
                            <m:t>, </m:t>
                          </m:r>
                          <m:d>
                            <m:dPr>
                              <m:ctrlPr>
                                <a:rPr lang="en-ZA" sz="1800" i="1">
                                  <a:solidFill>
                                    <a:schemeClr val="bg2"/>
                                  </a:solidFill>
                                  <a:latin typeface="Cambria Math" panose="02040503050406030204" pitchFamily="18" charset="0"/>
                                </a:rPr>
                              </m:ctrlPr>
                            </m:dPr>
                            <m:e>
                              <m:r>
                                <a:rPr lang="en-ZA" sz="1800">
                                  <a:solidFill>
                                    <a:schemeClr val="bg2"/>
                                  </a:solidFill>
                                  <a:latin typeface="Cambria Math" panose="02040503050406030204" pitchFamily="18" charset="0"/>
                                </a:rPr>
                                <m:t>𝑚</m:t>
                              </m:r>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𝑛</m:t>
                              </m:r>
                            </m:e>
                          </m:d>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𝑚</m:t>
                          </m:r>
                        </m:sub>
                      </m:sSub>
                    </m:oMath>
                  </m:oMathPara>
                </a14:m>
                <a:endParaRPr lang="en-ZA" sz="1800" dirty="0">
                  <a:solidFill>
                    <a:schemeClr val="bg2"/>
                  </a:solidFill>
                  <a:latin typeface="Arial" panose="020B0604020202020204" pitchFamily="34" charset="0"/>
                  <a:cs typeface="Arial" panose="020B0604020202020204" pitchFamily="34" charset="0"/>
                </a:endParaRPr>
              </a:p>
              <a:p>
                <a:pPr marL="0" indent="0">
                  <a:buNone/>
                </a:pPr>
                <a:r>
                  <a:rPr lang="en-ZA" sz="1800" dirty="0">
                    <a:solidFill>
                      <a:schemeClr val="bg2"/>
                    </a:solidFill>
                    <a:latin typeface="Arial" panose="020B0604020202020204" pitchFamily="34" charset="0"/>
                    <a:cs typeface="Arial" panose="020B0604020202020204" pitchFamily="34" charset="0"/>
                  </a:rPr>
                  <a:t>where </a:t>
                </a:r>
                <a14:m>
                  <m:oMath xmlns:m="http://schemas.openxmlformats.org/officeDocument/2006/math">
                    <m:acc>
                      <m:accPr>
                        <m:chr m:val="̂"/>
                        <m:ctrlPr>
                          <a:rPr lang="en-ZA" sz="1800" i="1">
                            <a:solidFill>
                              <a:schemeClr val="bg2"/>
                            </a:solidFill>
                            <a:latin typeface="Cambria Math" panose="02040503050406030204" pitchFamily="18" charset="0"/>
                          </a:rPr>
                        </m:ctrlPr>
                      </m:accPr>
                      <m:e>
                        <m:r>
                          <a:rPr lang="en-ZA" sz="1800">
                            <a:solidFill>
                              <a:schemeClr val="bg2"/>
                            </a:solidFill>
                            <a:latin typeface="Cambria Math" panose="02040503050406030204" pitchFamily="18" charset="0"/>
                          </a:rPr>
                          <m:t>𝐷</m:t>
                        </m:r>
                      </m:e>
                    </m:acc>
                  </m:oMath>
                </a14:m>
                <a:r>
                  <a:rPr lang="en-ZA" sz="1800" dirty="0">
                    <a:solidFill>
                      <a:schemeClr val="bg2"/>
                    </a:solidFill>
                    <a:latin typeface="Arial" panose="020B0604020202020204" pitchFamily="34" charset="0"/>
                    <a:cs typeface="Arial" panose="020B0604020202020204" pitchFamily="34" charset="0"/>
                  </a:rPr>
                  <a:t> is the difference in the sample means for groups </a:t>
                </a:r>
                <a:r>
                  <a:rPr lang="en-ZA" sz="1800" dirty="0" err="1">
                    <a:solidFill>
                      <a:schemeClr val="bg2"/>
                    </a:solidFill>
                    <a:latin typeface="Arial" panose="020B0604020202020204" pitchFamily="34" charset="0"/>
                    <a:cs typeface="Arial" panose="020B0604020202020204" pitchFamily="34" charset="0"/>
                  </a:rPr>
                  <a:t>i</a:t>
                </a:r>
                <a:r>
                  <a:rPr lang="en-ZA" sz="1800" dirty="0">
                    <a:solidFill>
                      <a:schemeClr val="bg2"/>
                    </a:solidFill>
                    <a:latin typeface="Arial" panose="020B0604020202020204" pitchFamily="34" charset="0"/>
                    <a:cs typeface="Arial" panose="020B0604020202020204" pitchFamily="34" charset="0"/>
                  </a:rPr>
                  <a:t> and j. It can be shown that </a:t>
                </a:r>
                <a14:m>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𝑡</m:t>
                        </m:r>
                      </m:e>
                      <m:sub>
                        <m:r>
                          <a:rPr lang="en-ZA" sz="1800">
                            <a:solidFill>
                              <a:schemeClr val="bg2"/>
                            </a:solidFill>
                            <a:latin typeface="Cambria Math" panose="02040503050406030204" pitchFamily="18" charset="0"/>
                          </a:rPr>
                          <m:t>𝑠</m:t>
                        </m:r>
                      </m:sub>
                    </m:sSub>
                  </m:oMath>
                </a14:m>
                <a:r>
                  <a:rPr lang="en-ZA" sz="1800" dirty="0">
                    <a:solidFill>
                      <a:schemeClr val="bg2"/>
                    </a:solidFill>
                    <a:latin typeface="Arial" panose="020B0604020202020204" pitchFamily="34" charset="0"/>
                    <a:cs typeface="Arial" panose="020B0604020202020204" pitchFamily="34" charset="0"/>
                  </a:rPr>
                  <a:t> can also be written as:</a:t>
                </a:r>
              </a:p>
              <a:p>
                <a:pPr marL="0" indent="0">
                  <a:buNone/>
                </a:pPr>
                <a14:m>
                  <m:oMathPara xmlns:m="http://schemas.openxmlformats.org/officeDocument/2006/math">
                    <m:oMathParaPr>
                      <m:jc m:val="centerGroup"/>
                    </m:oMathParaPr>
                    <m:oMath xmlns:m="http://schemas.openxmlformats.org/officeDocument/2006/math">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𝑡</m:t>
                          </m:r>
                        </m:e>
                        <m:sub>
                          <m:r>
                            <a:rPr lang="en-ZA" sz="1800">
                              <a:solidFill>
                                <a:schemeClr val="bg2"/>
                              </a:solidFill>
                              <a:latin typeface="Cambria Math" panose="02040503050406030204" pitchFamily="18" charset="0"/>
                            </a:rPr>
                            <m:t>𝑠</m:t>
                          </m:r>
                        </m:sub>
                      </m:sSub>
                      <m:r>
                        <a:rPr lang="en-ZA" sz="1800">
                          <a:solidFill>
                            <a:schemeClr val="bg2"/>
                          </a:solidFill>
                          <a:latin typeface="Cambria Math" panose="02040503050406030204" pitchFamily="18" charset="0"/>
                        </a:rPr>
                        <m:t>= </m:t>
                      </m:r>
                      <m:f>
                        <m:fPr>
                          <m:ctrlPr>
                            <a:rPr lang="en-ZA" sz="1800" i="1">
                              <a:solidFill>
                                <a:schemeClr val="bg2"/>
                              </a:solidFill>
                              <a:latin typeface="Cambria Math" panose="02040503050406030204" pitchFamily="18" charset="0"/>
                            </a:rPr>
                          </m:ctrlPr>
                        </m:fPr>
                        <m:num>
                          <m:rad>
                            <m:radPr>
                              <m:degHide m:val="on"/>
                              <m:ctrlPr>
                                <a:rPr lang="en-ZA" sz="1800" i="1">
                                  <a:solidFill>
                                    <a:schemeClr val="bg2"/>
                                  </a:solidFill>
                                  <a:latin typeface="Cambria Math" panose="02040503050406030204" pitchFamily="18" charset="0"/>
                                </a:rPr>
                              </m:ctrlPr>
                            </m:radPr>
                            <m:deg/>
                            <m:e>
                              <m:r>
                                <a:rPr lang="en-ZA" sz="1800">
                                  <a:solidFill>
                                    <a:schemeClr val="bg2"/>
                                  </a:solidFill>
                                  <a:latin typeface="Cambria Math" panose="02040503050406030204" pitchFamily="18" charset="0"/>
                                </a:rPr>
                                <m:t>2</m:t>
                              </m:r>
                            </m:e>
                          </m:rad>
                          <m:r>
                            <a:rPr lang="en-ZA" sz="1800">
                              <a:solidFill>
                                <a:schemeClr val="bg2"/>
                              </a:solidFill>
                              <a:latin typeface="Cambria Math" panose="02040503050406030204" pitchFamily="18" charset="0"/>
                            </a:rPr>
                            <m:t> </m:t>
                          </m:r>
                          <m:acc>
                            <m:accPr>
                              <m:chr m:val="̂"/>
                              <m:ctrlPr>
                                <a:rPr lang="en-ZA" sz="1800" i="1">
                                  <a:solidFill>
                                    <a:schemeClr val="bg2"/>
                                  </a:solidFill>
                                  <a:latin typeface="Cambria Math" panose="02040503050406030204" pitchFamily="18" charset="0"/>
                                </a:rPr>
                              </m:ctrlPr>
                            </m:accPr>
                            <m:e>
                              <m:r>
                                <a:rPr lang="en-ZA" sz="1800">
                                  <a:solidFill>
                                    <a:schemeClr val="bg2"/>
                                  </a:solidFill>
                                  <a:latin typeface="Cambria Math" panose="02040503050406030204" pitchFamily="18" charset="0"/>
                                </a:rPr>
                                <m:t>𝐷</m:t>
                              </m:r>
                            </m:e>
                          </m:acc>
                        </m:num>
                        <m:den>
                          <m:rad>
                            <m:radPr>
                              <m:degHide m:val="on"/>
                              <m:ctrlPr>
                                <a:rPr lang="en-ZA" sz="1800" i="1">
                                  <a:solidFill>
                                    <a:schemeClr val="bg2"/>
                                  </a:solidFill>
                                  <a:latin typeface="Cambria Math" panose="02040503050406030204" pitchFamily="18" charset="0"/>
                                </a:rPr>
                              </m:ctrlPr>
                            </m:radPr>
                            <m:deg/>
                            <m:e>
                              <m:r>
                                <a:rPr lang="en-ZA" sz="1800">
                                  <a:solidFill>
                                    <a:schemeClr val="bg2"/>
                                  </a:solidFill>
                                  <a:latin typeface="Cambria Math" panose="02040503050406030204" pitchFamily="18" charset="0"/>
                                </a:rPr>
                                <m:t>𝑀𝑆𝐸</m:t>
                              </m:r>
                            </m:e>
                          </m:rad>
                        </m:den>
                      </m:f>
                      <m:r>
                        <a:rPr lang="en-ZA" sz="1800">
                          <a:solidFill>
                            <a:schemeClr val="bg2"/>
                          </a:solidFill>
                          <a:latin typeface="Cambria Math" panose="02040503050406030204" pitchFamily="18" charset="0"/>
                        </a:rPr>
                        <m:t>~</m:t>
                      </m:r>
                      <m:sSub>
                        <m:sSubPr>
                          <m:ctrlPr>
                            <a:rPr lang="en-ZA" sz="1800" i="1">
                              <a:solidFill>
                                <a:schemeClr val="bg2"/>
                              </a:solidFill>
                              <a:latin typeface="Cambria Math" panose="02040503050406030204" pitchFamily="18" charset="0"/>
                            </a:rPr>
                          </m:ctrlPr>
                        </m:sSubPr>
                        <m:e>
                          <m:r>
                            <a:rPr lang="en-ZA" sz="1800">
                              <a:solidFill>
                                <a:schemeClr val="bg2"/>
                              </a:solidFill>
                              <a:latin typeface="Cambria Math" panose="02040503050406030204" pitchFamily="18" charset="0"/>
                            </a:rPr>
                            <m:t>𝑞</m:t>
                          </m:r>
                        </m:e>
                        <m:sub>
                          <m:r>
                            <a:rPr lang="en-ZA" sz="1800">
                              <a:solidFill>
                                <a:schemeClr val="bg2"/>
                              </a:solidFill>
                              <a:latin typeface="Cambria Math" panose="02040503050406030204" pitchFamily="18" charset="0"/>
                            </a:rPr>
                            <m:t>𝑚</m:t>
                          </m:r>
                          <m:r>
                            <a:rPr lang="en-ZA" sz="1800">
                              <a:solidFill>
                                <a:schemeClr val="bg2"/>
                              </a:solidFill>
                              <a:latin typeface="Cambria Math" panose="02040503050406030204" pitchFamily="18" charset="0"/>
                            </a:rPr>
                            <m:t>, </m:t>
                          </m:r>
                          <m:d>
                            <m:dPr>
                              <m:ctrlPr>
                                <a:rPr lang="en-ZA" sz="1800" i="1">
                                  <a:solidFill>
                                    <a:schemeClr val="bg2"/>
                                  </a:solidFill>
                                  <a:latin typeface="Cambria Math" panose="02040503050406030204" pitchFamily="18" charset="0"/>
                                </a:rPr>
                              </m:ctrlPr>
                            </m:dPr>
                            <m:e>
                              <m:r>
                                <a:rPr lang="en-ZA" sz="1800">
                                  <a:solidFill>
                                    <a:schemeClr val="bg2"/>
                                  </a:solidFill>
                                  <a:latin typeface="Cambria Math" panose="02040503050406030204" pitchFamily="18" charset="0"/>
                                </a:rPr>
                                <m:t>𝑚</m:t>
                              </m:r>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𝑛</m:t>
                              </m:r>
                            </m:e>
                          </m:d>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𝑚</m:t>
                          </m:r>
                        </m:sub>
                      </m:sSub>
                    </m:oMath>
                  </m:oMathPara>
                </a14:m>
                <a:endParaRPr lang="en-ZA" sz="1800" dirty="0">
                  <a:solidFill>
                    <a:schemeClr val="bg2"/>
                  </a:solidFill>
                  <a:latin typeface="Arial" panose="020B0604020202020204" pitchFamily="34" charset="0"/>
                  <a:cs typeface="Arial" panose="020B0604020202020204" pitchFamily="34" charset="0"/>
                </a:endParaRPr>
              </a:p>
              <a:p>
                <a:pPr marL="0" indent="0">
                  <a:buNone/>
                </a:pPr>
                <a:r>
                  <a:rPr lang="en-ZA" sz="1800" dirty="0">
                    <a:solidFill>
                      <a:schemeClr val="bg2"/>
                    </a:solidFill>
                    <a:latin typeface="Arial" panose="020B0604020202020204" pitchFamily="34" charset="0"/>
                    <a:cs typeface="Arial" panose="020B0604020202020204" pitchFamily="34" charset="0"/>
                  </a:rPr>
                  <a:t>where MSE is the mean square error from fitting the full ANOVA model. This statistic has a studentized range distribution with </a:t>
                </a:r>
                <a14:m>
                  <m:oMath xmlns:m="http://schemas.openxmlformats.org/officeDocument/2006/math">
                    <m:r>
                      <a:rPr lang="en-ZA" sz="1800">
                        <a:solidFill>
                          <a:schemeClr val="bg2"/>
                        </a:solidFill>
                        <a:latin typeface="Cambria Math" panose="02040503050406030204" pitchFamily="18" charset="0"/>
                      </a:rPr>
                      <m:t>𝑚</m:t>
                    </m:r>
                  </m:oMath>
                </a14:m>
                <a:r>
                  <a:rPr lang="en-ZA" sz="1800" dirty="0">
                    <a:solidFill>
                      <a:schemeClr val="bg2"/>
                    </a:solidFill>
                    <a:latin typeface="Arial" panose="020B0604020202020204" pitchFamily="34" charset="0"/>
                    <a:cs typeface="Arial" panose="020B0604020202020204" pitchFamily="34" charset="0"/>
                  </a:rPr>
                  <a:t> and </a:t>
                </a:r>
                <a14:m>
                  <m:oMath xmlns:m="http://schemas.openxmlformats.org/officeDocument/2006/math">
                    <m:d>
                      <m:dPr>
                        <m:ctrlPr>
                          <a:rPr lang="en-ZA" sz="1800" i="1">
                            <a:solidFill>
                              <a:schemeClr val="bg2"/>
                            </a:solidFill>
                            <a:latin typeface="Cambria Math" panose="02040503050406030204" pitchFamily="18" charset="0"/>
                          </a:rPr>
                        </m:ctrlPr>
                      </m:dPr>
                      <m:e>
                        <m:r>
                          <a:rPr lang="en-ZA" sz="1800">
                            <a:solidFill>
                              <a:schemeClr val="bg2"/>
                            </a:solidFill>
                            <a:latin typeface="Cambria Math" panose="02040503050406030204" pitchFamily="18" charset="0"/>
                          </a:rPr>
                          <m:t>𝑚</m:t>
                        </m:r>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𝑛</m:t>
                        </m:r>
                      </m:e>
                    </m:d>
                    <m:r>
                      <a:rPr lang="en-ZA" sz="1800">
                        <a:solidFill>
                          <a:schemeClr val="bg2"/>
                        </a:solidFill>
                        <a:latin typeface="Cambria Math" panose="02040503050406030204" pitchFamily="18" charset="0"/>
                      </a:rPr>
                      <m:t>−</m:t>
                    </m:r>
                    <m:r>
                      <a:rPr lang="en-ZA" sz="1800">
                        <a:solidFill>
                          <a:schemeClr val="bg2"/>
                        </a:solidFill>
                        <a:latin typeface="Cambria Math" panose="02040503050406030204" pitchFamily="18" charset="0"/>
                      </a:rPr>
                      <m:t>𝑚</m:t>
                    </m:r>
                    <m:r>
                      <a:rPr lang="en-ZA" sz="1800">
                        <a:solidFill>
                          <a:schemeClr val="bg2"/>
                        </a:solidFill>
                        <a:latin typeface="Cambria Math" panose="02040503050406030204" pitchFamily="18" charset="0"/>
                      </a:rPr>
                      <m:t> </m:t>
                    </m:r>
                  </m:oMath>
                </a14:m>
                <a:r>
                  <a:rPr lang="en-ZA" sz="1800" dirty="0">
                    <a:solidFill>
                      <a:schemeClr val="bg2"/>
                    </a:solidFill>
                    <a:latin typeface="Arial" panose="020B0604020202020204" pitchFamily="34" charset="0"/>
                    <a:cs typeface="Arial" panose="020B0604020202020204" pitchFamily="34" charset="0"/>
                  </a:rPr>
                  <a:t>degrees of freedom.</a:t>
                </a: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318053" y="998920"/>
                <a:ext cx="8534400" cy="5627159"/>
              </a:xfrm>
              <a:blipFill>
                <a:blip r:embed="rId3"/>
                <a:stretch>
                  <a:fillRect l="-571" t="-650"/>
                </a:stretch>
              </a:blipFill>
            </p:spPr>
            <p:txBody>
              <a:bodyPr/>
              <a:lstStyle/>
              <a:p>
                <a:r>
                  <a:rPr lang="en-US">
                    <a:noFill/>
                  </a:rPr>
                  <a:t> </a:t>
                </a:r>
              </a:p>
            </p:txBody>
          </p:sp>
        </mc:Fallback>
      </mc:AlternateContent>
    </p:spTree>
    <p:extLst>
      <p:ext uri="{BB962C8B-B14F-4D97-AF65-F5344CB8AC3E}">
        <p14:creationId xmlns:p14="http://schemas.microsoft.com/office/powerpoint/2010/main" val="1256338636"/>
      </p:ext>
    </p:extLst>
  </p:cSld>
  <p:clrMapOvr>
    <a:masterClrMapping/>
  </p:clrMapOvr>
</p:sld>
</file>

<file path=ppt/theme/theme1.xml><?xml version="1.0" encoding="utf-8"?>
<a:theme xmlns:a="http://schemas.openxmlformats.org/drawingml/2006/main" name="Blank Presentation">
  <a:themeElements>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chemeClr val="accent2"/>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50000"/>
          </a:lnSpc>
          <a:spcBef>
            <a:spcPct val="50000"/>
          </a:spcBef>
          <a:spcAft>
            <a:spcPts val="600"/>
          </a:spcAft>
          <a:buClrTx/>
          <a:buSzTx/>
          <a:buFontTx/>
          <a:buNone/>
          <a:tabLst/>
          <a:defRPr kumimoji="0" lang="en-US" sz="1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5400" cap="flat" cmpd="sng" algn="ctr">
          <a:solidFill>
            <a:schemeClr val="accent2"/>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50000"/>
          </a:lnSpc>
          <a:spcBef>
            <a:spcPct val="50000"/>
          </a:spcBef>
          <a:spcAft>
            <a:spcPts val="600"/>
          </a:spcAft>
          <a:buClrTx/>
          <a:buSzTx/>
          <a:buFontTx/>
          <a:buNone/>
          <a:tabLst/>
          <a:defRPr kumimoji="0" lang="en-US" sz="1000" b="1"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59555</TotalTime>
  <Words>11925</Words>
  <Application>Microsoft Office PowerPoint</Application>
  <PresentationFormat>On-screen Show (4:3)</PresentationFormat>
  <Paragraphs>753</Paragraphs>
  <Slides>49</Slides>
  <Notes>48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Cambria Math</vt:lpstr>
      <vt:lpstr>CMR9</vt:lpstr>
      <vt:lpstr>CMSY9</vt:lpstr>
      <vt:lpstr>Comic Sans MS</vt:lpstr>
      <vt:lpstr>Times New Roman</vt:lpstr>
      <vt:lpstr>Blank Presentation</vt:lpstr>
      <vt:lpstr>Statistical Genetics</vt:lpstr>
      <vt:lpstr>Lecture 2 Readings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SFBR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omolo, bernard</dc:creator>
  <cp:lastModifiedBy>OMOLO, BERNARD</cp:lastModifiedBy>
  <cp:revision>1424</cp:revision>
  <cp:lastPrinted>2002-03-25T19:52:15Z</cp:lastPrinted>
  <dcterms:created xsi:type="dcterms:W3CDTF">1999-10-20T21:41:02Z</dcterms:created>
  <dcterms:modified xsi:type="dcterms:W3CDTF">2021-02-24T08:31:21Z</dcterms:modified>
</cp:coreProperties>
</file>