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4"/>
  </p:notesMasterIdLst>
  <p:handoutMasterIdLst>
    <p:handoutMasterId r:id="rId15"/>
  </p:handoutMasterIdLst>
  <p:sldIdLst>
    <p:sldId id="1114" r:id="rId2"/>
    <p:sldId id="1115" r:id="rId3"/>
    <p:sldId id="1335" r:id="rId4"/>
    <p:sldId id="1336" r:id="rId5"/>
    <p:sldId id="1337" r:id="rId6"/>
    <p:sldId id="1344" r:id="rId7"/>
    <p:sldId id="1338" r:id="rId8"/>
    <p:sldId id="1340" r:id="rId9"/>
    <p:sldId id="1339" r:id="rId10"/>
    <p:sldId id="1341" r:id="rId11"/>
    <p:sldId id="1342" r:id="rId12"/>
    <p:sldId id="1343" r:id="rId13"/>
  </p:sldIdLst>
  <p:sldSz cx="9144000" cy="6858000" type="screen4x3"/>
  <p:notesSz cx="6985000" cy="9283700"/>
  <p:defaultTextStyle>
    <a:defPPr>
      <a:defRPr lang="en-US"/>
    </a:defPPr>
    <a:lvl1pPr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5pPr>
    <a:lvl6pPr marL="22860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6pPr>
    <a:lvl7pPr marL="27432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7pPr>
    <a:lvl8pPr marL="32004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8pPr>
    <a:lvl9pPr marL="36576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99">
          <p15:clr>
            <a:srgbClr val="A4A3A4"/>
          </p15:clr>
        </p15:guide>
        <p15:guide id="2" pos="2865">
          <p15:clr>
            <a:srgbClr val="A4A3A4"/>
          </p15:clr>
        </p15:guide>
      </p15:sldGuideLst>
    </p:ext>
    <p:ext uri="{2D200454-40CA-4A62-9FC3-DE9A4176ACB9}">
      <p15:notesGuideLst xmlns:p15="http://schemas.microsoft.com/office/powerpoint/2012/main">
        <p15:guide id="1" orient="horz" pos="2178">
          <p15:clr>
            <a:srgbClr val="A4A3A4"/>
          </p15:clr>
        </p15:guide>
        <p15:guide id="2" pos="214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BCFCFE"/>
    <a:srgbClr val="0000CC"/>
    <a:srgbClr val="000099"/>
    <a:srgbClr val="FF99FF"/>
    <a:srgbClr val="FF00FF"/>
    <a:srgbClr val="0033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35" autoAdjust="0"/>
    <p:restoredTop sz="99042" autoAdjust="0"/>
  </p:normalViewPr>
  <p:slideViewPr>
    <p:cSldViewPr snapToGrid="0">
      <p:cViewPr varScale="1">
        <p:scale>
          <a:sx n="73" d="100"/>
          <a:sy n="73" d="100"/>
        </p:scale>
        <p:origin x="1290" y="72"/>
      </p:cViewPr>
      <p:guideLst>
        <p:guide orient="horz" pos="2199"/>
        <p:guide pos="2865"/>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6" d="100"/>
          <a:sy n="66" d="100"/>
        </p:scale>
        <p:origin x="-2280" y="-84"/>
      </p:cViewPr>
      <p:guideLst>
        <p:guide orient="horz" pos="2178"/>
        <p:guide pos="214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7506" name="Rectangle 2"/>
          <p:cNvSpPr>
            <a:spLocks noGrp="1" noChangeArrowheads="1"/>
          </p:cNvSpPr>
          <p:nvPr>
            <p:ph type="hdr" sz="quarter"/>
          </p:nvPr>
        </p:nvSpPr>
        <p:spPr bwMode="auto">
          <a:xfrm>
            <a:off x="0" y="0"/>
            <a:ext cx="3027363" cy="461963"/>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7" name="Rectangle 3"/>
          <p:cNvSpPr>
            <a:spLocks noGrp="1" noChangeArrowheads="1"/>
          </p:cNvSpPr>
          <p:nvPr>
            <p:ph type="dt" sz="quarter" idx="1"/>
          </p:nvPr>
        </p:nvSpPr>
        <p:spPr bwMode="auto">
          <a:xfrm>
            <a:off x="3957638" y="0"/>
            <a:ext cx="3027362" cy="461963"/>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algn="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8" name="Rectangle 4"/>
          <p:cNvSpPr>
            <a:spLocks noGrp="1" noChangeArrowheads="1"/>
          </p:cNvSpPr>
          <p:nvPr>
            <p:ph type="ftr" sz="quarter" idx="2"/>
          </p:nvPr>
        </p:nvSpPr>
        <p:spPr bwMode="auto">
          <a:xfrm>
            <a:off x="0" y="8851900"/>
            <a:ext cx="3027363" cy="461963"/>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9" name="Rectangle 5"/>
          <p:cNvSpPr>
            <a:spLocks noGrp="1" noChangeArrowheads="1"/>
          </p:cNvSpPr>
          <p:nvPr>
            <p:ph type="sldNum" sz="quarter" idx="3"/>
          </p:nvPr>
        </p:nvSpPr>
        <p:spPr bwMode="auto">
          <a:xfrm>
            <a:off x="3957638" y="8851900"/>
            <a:ext cx="3027362" cy="461963"/>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algn="r" defTabSz="912813" eaLnBrk="0" hangingPunct="0">
              <a:spcBef>
                <a:spcPct val="50000"/>
              </a:spcBef>
              <a:buFontTx/>
              <a:buChar char="•"/>
              <a:defRPr sz="1100" b="0" smtClean="0">
                <a:solidFill>
                  <a:schemeClr val="tx1"/>
                </a:solidFill>
              </a:defRPr>
            </a:lvl1pPr>
          </a:lstStyle>
          <a:p>
            <a:pPr>
              <a:defRPr/>
            </a:pPr>
            <a:fld id="{4120BD31-052C-4E0E-9060-F87DFD5E9091}"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27363" cy="46355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7171" name="Rectangle 3"/>
          <p:cNvSpPr>
            <a:spLocks noGrp="1" noChangeArrowheads="1"/>
          </p:cNvSpPr>
          <p:nvPr>
            <p:ph type="dt" idx="1"/>
          </p:nvPr>
        </p:nvSpPr>
        <p:spPr bwMode="auto">
          <a:xfrm>
            <a:off x="3957638" y="0"/>
            <a:ext cx="3027362" cy="46355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algn="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1173163" y="695325"/>
            <a:ext cx="4641850" cy="3481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933450" y="4410075"/>
            <a:ext cx="5118100" cy="417830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p:cNvSpPr>
            <a:spLocks noGrp="1" noChangeArrowheads="1"/>
          </p:cNvSpPr>
          <p:nvPr>
            <p:ph type="ftr" sz="quarter" idx="4"/>
          </p:nvPr>
        </p:nvSpPr>
        <p:spPr bwMode="auto">
          <a:xfrm>
            <a:off x="0" y="8820150"/>
            <a:ext cx="3027363" cy="463550"/>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7175" name="Rectangle 7"/>
          <p:cNvSpPr>
            <a:spLocks noGrp="1" noChangeArrowheads="1"/>
          </p:cNvSpPr>
          <p:nvPr>
            <p:ph type="sldNum" sz="quarter" idx="5"/>
          </p:nvPr>
        </p:nvSpPr>
        <p:spPr bwMode="auto">
          <a:xfrm>
            <a:off x="3957638" y="8820150"/>
            <a:ext cx="3027362" cy="463550"/>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algn="r" defTabSz="912813" eaLnBrk="0" hangingPunct="0">
              <a:defRPr sz="1100" b="0" smtClean="0">
                <a:solidFill>
                  <a:schemeClr val="tx1"/>
                </a:solidFill>
                <a:latin typeface="Times New Roman" panose="02020603050405020304" pitchFamily="18" charset="0"/>
              </a:defRPr>
            </a:lvl1pPr>
          </a:lstStyle>
          <a:p>
            <a:pPr>
              <a:defRPr/>
            </a:pPr>
            <a:fld id="{48C2DBE3-97D6-4F10-8386-2F83060BA73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71575" y="695325"/>
            <a:ext cx="4641850" cy="3481388"/>
          </a:xfrm>
          <a:ln/>
        </p:spPr>
      </p:sp>
      <p:sp>
        <p:nvSpPr>
          <p:cNvPr id="13315"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260302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612155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4215611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728649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034196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609787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125101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758486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851847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983847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6724650" y="6199188"/>
            <a:ext cx="2419350" cy="457200"/>
          </a:xfrm>
        </p:spPr>
        <p:txBody>
          <a:bodyPr/>
          <a:lstStyle>
            <a:lvl1pPr>
              <a:defRPr sz="1200">
                <a:solidFill>
                  <a:schemeClr val="bg2"/>
                </a:solidFill>
              </a:defRPr>
            </a:lvl1pPr>
          </a:lstStyle>
          <a:p>
            <a:pPr>
              <a:defRPr/>
            </a:pPr>
            <a:endParaRPr lang="en-US"/>
          </a:p>
          <a:p>
            <a:pPr>
              <a:defRPr/>
            </a:pPr>
            <a:r>
              <a:rPr lang="en-US"/>
              <a:t>EPI 743, 01/29/2008</a:t>
            </a:r>
          </a:p>
          <a:p>
            <a:pPr>
              <a:defRPr/>
            </a:pPr>
            <a:endParaRPr lang="en-US"/>
          </a:p>
        </p:txBody>
      </p:sp>
    </p:spTree>
    <p:extLst>
      <p:ext uri="{BB962C8B-B14F-4D97-AF65-F5344CB8AC3E}">
        <p14:creationId xmlns:p14="http://schemas.microsoft.com/office/powerpoint/2010/main" val="699557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900883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1169645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3936146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279241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4281354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1730928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Grp="1" noChangeArrowheads="1"/>
          </p:cNvSpPr>
          <p:nvPr>
            <p:ph type="ftr" sz="quarter" idx="3"/>
          </p:nvPr>
        </p:nvSpPr>
        <p:spPr bwMode="auto">
          <a:xfrm>
            <a:off x="7042150" y="6343650"/>
            <a:ext cx="241935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300">
                <a:solidFill>
                  <a:schemeClr val="tx1"/>
                </a:solidFill>
                <a:latin typeface="Arial" charset="0"/>
                <a:cs typeface="Arial" charset="0"/>
              </a:defRPr>
            </a:lvl1pPr>
          </a:lstStyle>
          <a:p>
            <a:pPr>
              <a:defRPr/>
            </a:pPr>
            <a:endParaRPr lang="en-US" sz="1200"/>
          </a:p>
          <a:p>
            <a:pPr>
              <a:defRPr/>
            </a:pPr>
            <a:r>
              <a:rPr lang="en-US"/>
              <a:t>EPI 743, 01/29/2008</a:t>
            </a:r>
          </a:p>
          <a:p>
            <a:pPr>
              <a:defRPr/>
            </a:pPr>
            <a:endParaRPr lang="en-US"/>
          </a:p>
        </p:txBody>
      </p:sp>
    </p:spTree>
  </p:cSld>
  <p:clrMap bg1="dk2" tx1="lt1" bg2="dk1"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Lst>
  <p:hf sldNum="0" hdr="0" dt="0"/>
  <p:txStyles>
    <p:titleStyle>
      <a:lvl1pPr algn="ctr" rtl="0" eaLnBrk="0" fontAlgn="base" hangingPunct="0">
        <a:spcBef>
          <a:spcPct val="0"/>
        </a:spcBef>
        <a:spcAft>
          <a:spcPct val="0"/>
        </a:spcAft>
        <a:defRPr sz="4400">
          <a:solidFill>
            <a:schemeClr val="bg2"/>
          </a:solidFill>
          <a:latin typeface="+mj-lt"/>
          <a:ea typeface="+mj-ea"/>
          <a:cs typeface="+mj-cs"/>
        </a:defRPr>
      </a:lvl1pPr>
      <a:lvl2pPr algn="ctr" rtl="0" eaLnBrk="0" fontAlgn="base" hangingPunct="0">
        <a:spcBef>
          <a:spcPct val="0"/>
        </a:spcBef>
        <a:spcAft>
          <a:spcPct val="0"/>
        </a:spcAft>
        <a:defRPr sz="4400">
          <a:solidFill>
            <a:schemeClr val="bg2"/>
          </a:solidFill>
          <a:latin typeface="Times New Roman" pitchFamily="18" charset="0"/>
        </a:defRPr>
      </a:lvl2pPr>
      <a:lvl3pPr algn="ctr" rtl="0" eaLnBrk="0" fontAlgn="base" hangingPunct="0">
        <a:spcBef>
          <a:spcPct val="0"/>
        </a:spcBef>
        <a:spcAft>
          <a:spcPct val="0"/>
        </a:spcAft>
        <a:defRPr sz="4400">
          <a:solidFill>
            <a:schemeClr val="bg2"/>
          </a:solidFill>
          <a:latin typeface="Times New Roman" pitchFamily="18" charset="0"/>
        </a:defRPr>
      </a:lvl3pPr>
      <a:lvl4pPr algn="ctr" rtl="0" eaLnBrk="0" fontAlgn="base" hangingPunct="0">
        <a:spcBef>
          <a:spcPct val="0"/>
        </a:spcBef>
        <a:spcAft>
          <a:spcPct val="0"/>
        </a:spcAft>
        <a:defRPr sz="4400">
          <a:solidFill>
            <a:schemeClr val="bg2"/>
          </a:solidFill>
          <a:latin typeface="Times New Roman" pitchFamily="18" charset="0"/>
        </a:defRPr>
      </a:lvl4pPr>
      <a:lvl5pPr algn="ctr" rtl="0" eaLnBrk="0" fontAlgn="base" hangingPunct="0">
        <a:spcBef>
          <a:spcPct val="0"/>
        </a:spcBef>
        <a:spcAft>
          <a:spcPct val="0"/>
        </a:spcAft>
        <a:defRPr sz="4400">
          <a:solidFill>
            <a:schemeClr val="bg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accent2"/>
        </a:buClr>
        <a:buChar char="•"/>
        <a:defRPr sz="3200">
          <a:solidFill>
            <a:srgbClr val="006600"/>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rgbClr val="006600"/>
          </a:solidFill>
          <a:latin typeface="+mn-lt"/>
        </a:defRPr>
      </a:lvl2pPr>
      <a:lvl3pPr marL="1143000" indent="-228600" algn="l" rtl="0" eaLnBrk="0" fontAlgn="base" hangingPunct="0">
        <a:spcBef>
          <a:spcPct val="20000"/>
        </a:spcBef>
        <a:spcAft>
          <a:spcPct val="0"/>
        </a:spcAft>
        <a:buClr>
          <a:schemeClr val="accent2"/>
        </a:buClr>
        <a:buChar char="•"/>
        <a:defRPr sz="2400">
          <a:solidFill>
            <a:srgbClr val="006600"/>
          </a:solidFill>
          <a:latin typeface="+mn-lt"/>
        </a:defRPr>
      </a:lvl3pPr>
      <a:lvl4pPr marL="1600200" indent="-228600" algn="l" rtl="0" eaLnBrk="0" fontAlgn="base" hangingPunct="0">
        <a:spcBef>
          <a:spcPct val="20000"/>
        </a:spcBef>
        <a:spcAft>
          <a:spcPct val="0"/>
        </a:spcAft>
        <a:buClr>
          <a:schemeClr val="accent2"/>
        </a:buClr>
        <a:buChar char="•"/>
        <a:defRPr sz="2000">
          <a:solidFill>
            <a:srgbClr val="006600"/>
          </a:solidFill>
          <a:latin typeface="+mn-lt"/>
        </a:defRPr>
      </a:lvl4pPr>
      <a:lvl5pPr marL="2057400" indent="-228600" algn="l" rtl="0" eaLnBrk="0" fontAlgn="base" hangingPunct="0">
        <a:spcBef>
          <a:spcPct val="20000"/>
        </a:spcBef>
        <a:spcAft>
          <a:spcPct val="0"/>
        </a:spcAft>
        <a:buClr>
          <a:schemeClr val="accent2"/>
        </a:buClr>
        <a:buChar char="•"/>
        <a:defRPr sz="2000">
          <a:solidFill>
            <a:srgbClr val="006600"/>
          </a:solidFill>
          <a:latin typeface="+mn-lt"/>
        </a:defRPr>
      </a:lvl5pPr>
      <a:lvl6pPr marL="2514600" indent="-228600" algn="l" rtl="0" eaLnBrk="0" fontAlgn="base" hangingPunct="0">
        <a:spcBef>
          <a:spcPct val="20000"/>
        </a:spcBef>
        <a:spcAft>
          <a:spcPct val="0"/>
        </a:spcAft>
        <a:buClr>
          <a:schemeClr val="accent2"/>
        </a:buClr>
        <a:buChar char="•"/>
        <a:defRPr sz="2000">
          <a:solidFill>
            <a:schemeClr val="tx1"/>
          </a:solidFill>
          <a:latin typeface="+mn-lt"/>
        </a:defRPr>
      </a:lvl6pPr>
      <a:lvl7pPr marL="2971800" indent="-228600" algn="l" rtl="0" eaLnBrk="0" fontAlgn="base" hangingPunct="0">
        <a:spcBef>
          <a:spcPct val="20000"/>
        </a:spcBef>
        <a:spcAft>
          <a:spcPct val="0"/>
        </a:spcAft>
        <a:buClr>
          <a:schemeClr val="accent2"/>
        </a:buClr>
        <a:buChar char="•"/>
        <a:defRPr sz="2000">
          <a:solidFill>
            <a:schemeClr val="tx1"/>
          </a:solidFill>
          <a:latin typeface="+mn-lt"/>
        </a:defRPr>
      </a:lvl7pPr>
      <a:lvl8pPr marL="3429000" indent="-228600" algn="l" rtl="0" eaLnBrk="0" fontAlgn="base" hangingPunct="0">
        <a:spcBef>
          <a:spcPct val="20000"/>
        </a:spcBef>
        <a:spcAft>
          <a:spcPct val="0"/>
        </a:spcAft>
        <a:buClr>
          <a:schemeClr val="accent2"/>
        </a:buClr>
        <a:buChar char="•"/>
        <a:defRPr sz="2000">
          <a:solidFill>
            <a:schemeClr val="tx1"/>
          </a:solidFill>
          <a:latin typeface="+mn-lt"/>
        </a:defRPr>
      </a:lvl8pPr>
      <a:lvl9pPr marL="3886200" indent="-228600" algn="l" rtl="0" eaLnBrk="0" fontAlgn="base" hangingPunct="0">
        <a:spcBef>
          <a:spcPct val="20000"/>
        </a:spcBef>
        <a:spcAft>
          <a:spcPct val="0"/>
        </a:spcAft>
        <a:buClr>
          <a:schemeClr val="accent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idx="4294967295"/>
          </p:nvPr>
        </p:nvSpPr>
        <p:spPr>
          <a:xfrm>
            <a:off x="822325" y="114300"/>
            <a:ext cx="7788275" cy="1596934"/>
          </a:xfrm>
        </p:spPr>
        <p:txBody>
          <a:bodyPr/>
          <a:lstStyle/>
          <a:p>
            <a:r>
              <a:rPr lang="en-US" altLang="en-US" sz="5400" b="1" dirty="0">
                <a:latin typeface="Comic Sans MS" panose="030F0702030302020204" pitchFamily="66" charset="0"/>
              </a:rPr>
              <a:t>Statistical </a:t>
            </a:r>
            <a:r>
              <a:rPr lang="en-US" altLang="en-US" sz="5400" b="1" dirty="0" smtClean="0">
                <a:latin typeface="Comic Sans MS" panose="030F0702030302020204" pitchFamily="66" charset="0"/>
              </a:rPr>
              <a:t>Genetics</a:t>
            </a:r>
            <a:endParaRPr lang="en-US" altLang="en-US" sz="3600" b="1" dirty="0">
              <a:latin typeface="Comic Sans MS" panose="030F0702030302020204" pitchFamily="66" charset="0"/>
            </a:endParaRPr>
          </a:p>
        </p:txBody>
      </p:sp>
      <p:sp>
        <p:nvSpPr>
          <p:cNvPr id="11267" name="Rectangle 3"/>
          <p:cNvSpPr>
            <a:spLocks noChangeArrowheads="1"/>
          </p:cNvSpPr>
          <p:nvPr/>
        </p:nvSpPr>
        <p:spPr bwMode="auto">
          <a:xfrm>
            <a:off x="2554288" y="19764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68" name="Rectangle 4"/>
          <p:cNvSpPr>
            <a:spLocks noChangeArrowheads="1"/>
          </p:cNvSpPr>
          <p:nvPr/>
        </p:nvSpPr>
        <p:spPr bwMode="auto">
          <a:xfrm>
            <a:off x="690563" y="2074863"/>
            <a:ext cx="8021637" cy="2019300"/>
          </a:xfrm>
          <a:prstGeom prst="rect">
            <a:avLst/>
          </a:prstGeom>
          <a:noFill/>
          <a:ln w="25400">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69" name="Text Box 5"/>
          <p:cNvSpPr txBox="1">
            <a:spLocks noChangeArrowheads="1"/>
          </p:cNvSpPr>
          <p:nvPr/>
        </p:nvSpPr>
        <p:spPr bwMode="auto">
          <a:xfrm>
            <a:off x="1147763" y="2463800"/>
            <a:ext cx="7056437" cy="2640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80000"/>
              </a:lnSpc>
              <a:spcBef>
                <a:spcPct val="20000"/>
              </a:spcBef>
              <a:spcAft>
                <a:spcPct val="20000"/>
              </a:spcAft>
            </a:pPr>
            <a:r>
              <a:rPr lang="en-US" altLang="en-US" sz="3600" dirty="0" smtClean="0"/>
              <a:t>Lecture</a:t>
            </a:r>
            <a:r>
              <a:rPr lang="en-US" altLang="en-US" sz="3600" dirty="0" smtClean="0"/>
              <a:t> </a:t>
            </a:r>
            <a:r>
              <a:rPr lang="en-US" altLang="en-US" sz="3600" dirty="0"/>
              <a:t>3</a:t>
            </a:r>
          </a:p>
          <a:p>
            <a:pPr algn="ctr">
              <a:lnSpc>
                <a:spcPct val="90000"/>
              </a:lnSpc>
            </a:pPr>
            <a:r>
              <a:rPr lang="en-US" altLang="en-US" sz="3600" dirty="0"/>
              <a:t>Multiple </a:t>
            </a:r>
            <a:r>
              <a:rPr lang="en-US" altLang="en-US" sz="3600" dirty="0" smtClean="0"/>
              <a:t>Comparison Procedures</a:t>
            </a:r>
            <a:endParaRPr lang="en-US" altLang="en-US" sz="3600" dirty="0"/>
          </a:p>
          <a:p>
            <a:pPr algn="ctr">
              <a:lnSpc>
                <a:spcPct val="90000"/>
              </a:lnSpc>
            </a:pPr>
            <a:endParaRPr lang="en-US" altLang="en-US" sz="3600" dirty="0"/>
          </a:p>
          <a:p>
            <a:pPr algn="ctr">
              <a:lnSpc>
                <a:spcPct val="90000"/>
              </a:lnSpc>
            </a:pPr>
            <a:endParaRPr lang="en-US" alt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body" idx="4294967295"/>
          </p:nvPr>
        </p:nvSpPr>
        <p:spPr>
          <a:xfrm>
            <a:off x="685800" y="1600200"/>
            <a:ext cx="7983538" cy="4114800"/>
          </a:xfrm>
        </p:spPr>
        <p:txBody>
          <a:bodyPr/>
          <a:lstStyle/>
          <a:p>
            <a:pPr>
              <a:spcBef>
                <a:spcPct val="40000"/>
              </a:spcBef>
              <a:spcAft>
                <a:spcPct val="40000"/>
              </a:spcAft>
              <a:defRPr/>
            </a:pPr>
            <a:r>
              <a:rPr lang="en-US" altLang="en-US" b="1" dirty="0">
                <a:solidFill>
                  <a:schemeClr val="bg2"/>
                </a:solidFill>
                <a:latin typeface="Arial" panose="020B0604020202020204" pitchFamily="34" charset="0"/>
              </a:rPr>
              <a:t>Foulkes, A.S. (2009). Applied Statistical Genetics with R: Chapter </a:t>
            </a:r>
            <a:r>
              <a:rPr lang="en-US" altLang="en-US" b="1" dirty="0" smtClean="0">
                <a:solidFill>
                  <a:schemeClr val="bg2"/>
                </a:solidFill>
                <a:latin typeface="Arial" panose="020B0604020202020204" pitchFamily="34" charset="0"/>
              </a:rPr>
              <a:t>4</a:t>
            </a:r>
            <a:endParaRPr lang="en-US" altLang="en-US" b="1" dirty="0">
              <a:solidFill>
                <a:schemeClr val="bg2"/>
              </a:solidFill>
              <a:latin typeface="Arial" panose="020B0604020202020204" pitchFamily="34" charset="0"/>
            </a:endParaRPr>
          </a:p>
        </p:txBody>
      </p:sp>
      <p:sp>
        <p:nvSpPr>
          <p:cNvPr id="12291" name="Rectangle 3"/>
          <p:cNvSpPr>
            <a:spLocks noGrp="1" noChangeArrowheads="1"/>
          </p:cNvSpPr>
          <p:nvPr>
            <p:ph type="title" idx="4294967295"/>
          </p:nvPr>
        </p:nvSpPr>
        <p:spPr>
          <a:xfrm>
            <a:off x="685800" y="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600" b="1" dirty="0">
                <a:latin typeface="Comic Sans MS" panose="030F0702030302020204" pitchFamily="66" charset="0"/>
              </a:rPr>
              <a:t> </a:t>
            </a:r>
            <a:r>
              <a:rPr lang="en-US" altLang="en-US" sz="3600" b="1" dirty="0" smtClean="0">
                <a:latin typeface="Comic Sans MS" panose="030F0702030302020204" pitchFamily="66" charset="0"/>
              </a:rPr>
              <a:t>Lecture 3 Readings</a:t>
            </a:r>
            <a:endParaRPr lang="en-US" altLang="en-US" sz="3600" b="1" dirty="0">
              <a:latin typeface="Comic Sans MS" panose="030F0702030302020204" pitchFamily="66" charset="0"/>
            </a:endParaRPr>
          </a:p>
        </p:txBody>
      </p:sp>
      <p:sp>
        <p:nvSpPr>
          <p:cNvPr id="12292" name="Line 4"/>
          <p:cNvSpPr>
            <a:spLocks noChangeShapeType="1"/>
          </p:cNvSpPr>
          <p:nvPr/>
        </p:nvSpPr>
        <p:spPr bwMode="auto">
          <a:xfrm>
            <a:off x="271463" y="121920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a:t>
            </a:r>
            <a:r>
              <a:rPr lang="en-US" altLang="en-US" sz="3600" dirty="0" smtClean="0">
                <a:latin typeface="Comic Sans MS" panose="030F0702030302020204" pitchFamily="66" charset="0"/>
                <a:cs typeface="Times New Roman" panose="02020603050405020304" pitchFamily="18" charset="0"/>
              </a:rPr>
              <a:t>Procedures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ZA" sz="1600" b="1" dirty="0">
                <a:solidFill>
                  <a:schemeClr val="bg2"/>
                </a:solidFill>
                <a:latin typeface="Arial" panose="020B0604020202020204" pitchFamily="34" charset="0"/>
                <a:cs typeface="Arial" panose="020B0604020202020204" pitchFamily="34" charset="0"/>
              </a:rPr>
              <a:t>Several traditional statistical methods were described for testing for an association between a genotype and a trait.</a:t>
            </a:r>
          </a:p>
          <a:p>
            <a:r>
              <a:rPr lang="en-ZA" sz="1600" b="1" dirty="0">
                <a:solidFill>
                  <a:schemeClr val="bg2"/>
                </a:solidFill>
                <a:latin typeface="Arial" panose="020B0604020202020204" pitchFamily="34" charset="0"/>
                <a:cs typeface="Arial" panose="020B0604020202020204" pitchFamily="34" charset="0"/>
              </a:rPr>
              <a:t>These methods generally require comparing a test statistic to its known (or simulated) distribution in order to quantify the probability of seeing what we do or something more extreme under the assumption that the null hypothesis is true.</a:t>
            </a:r>
          </a:p>
          <a:p>
            <a:r>
              <a:rPr lang="en-ZA" sz="1600" b="1" dirty="0">
                <a:solidFill>
                  <a:schemeClr val="bg2"/>
                </a:solidFill>
                <a:latin typeface="Arial" panose="020B0604020202020204" pitchFamily="34" charset="0"/>
                <a:cs typeface="Arial" panose="020B0604020202020204" pitchFamily="34" charset="0"/>
              </a:rPr>
              <a:t>Our decision to accept or reject the null then rests on a comparison of this quantity, called the p-value, to a threshold based on a previously determined acceptable level of error.</a:t>
            </a:r>
          </a:p>
          <a:p>
            <a:r>
              <a:rPr lang="en-ZA" sz="1600" b="1" dirty="0" smtClean="0">
                <a:solidFill>
                  <a:schemeClr val="bg2"/>
                </a:solidFill>
                <a:latin typeface="Arial" panose="020B0604020202020204" pitchFamily="34" charset="0"/>
                <a:cs typeface="Arial" panose="020B0604020202020204" pitchFamily="34" charset="0"/>
              </a:rPr>
              <a:t>Most methods </a:t>
            </a:r>
            <a:r>
              <a:rPr lang="en-ZA" sz="1600" b="1" dirty="0" smtClean="0">
                <a:solidFill>
                  <a:schemeClr val="bg2"/>
                </a:solidFill>
                <a:latin typeface="Arial" panose="020B0604020202020204" pitchFamily="34" charset="0"/>
                <a:cs typeface="Arial" panose="020B0604020202020204" pitchFamily="34" charset="0"/>
              </a:rPr>
              <a:t>adjusting </a:t>
            </a:r>
            <a:r>
              <a:rPr lang="en-ZA" sz="1600" b="1" dirty="0">
                <a:solidFill>
                  <a:schemeClr val="bg2"/>
                </a:solidFill>
                <a:latin typeface="Arial" panose="020B0604020202020204" pitchFamily="34" charset="0"/>
                <a:cs typeface="Arial" panose="020B0604020202020204" pitchFamily="34" charset="0"/>
              </a:rPr>
              <a:t>for multiple comparisons </a:t>
            </a:r>
            <a:r>
              <a:rPr lang="en-ZA" sz="1600" b="1" dirty="0" smtClean="0">
                <a:solidFill>
                  <a:schemeClr val="bg2"/>
                </a:solidFill>
                <a:latin typeface="Arial" panose="020B0604020202020204" pitchFamily="34" charset="0"/>
                <a:cs typeface="Arial" panose="020B0604020202020204" pitchFamily="34" charset="0"/>
              </a:rPr>
              <a:t>describe </a:t>
            </a:r>
            <a:r>
              <a:rPr lang="en-ZA" sz="1600" b="1" dirty="0">
                <a:solidFill>
                  <a:schemeClr val="bg2"/>
                </a:solidFill>
                <a:latin typeface="Arial" panose="020B0604020202020204" pitchFamily="34" charset="0"/>
                <a:cs typeface="Arial" panose="020B0604020202020204" pitchFamily="34" charset="0"/>
              </a:rPr>
              <a:t>controlling one of two error rates: the family-wise error rate (FWER) and the false discovery rate (FDR).</a:t>
            </a:r>
          </a:p>
          <a:p>
            <a:endParaRPr lang="en-ZA" sz="1800" b="1" dirty="0">
              <a:solidFill>
                <a:schemeClr val="bg2"/>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2" name="Table 2">
                <a:extLst>
                  <a:ext uri="{FF2B5EF4-FFF2-40B4-BE49-F238E27FC236}">
                    <a16:creationId xmlns:a16="http://schemas.microsoft.com/office/drawing/2014/main" id="{22E8B433-3672-42AE-AB48-B209102910A1}"/>
                  </a:ext>
                </a:extLst>
              </p:cNvPr>
              <p:cNvGraphicFramePr>
                <a:graphicFrameLocks noGrp="1"/>
              </p:cNvGraphicFramePr>
              <p:nvPr>
                <p:extLst>
                  <p:ext uri="{D42A27DB-BD31-4B8C-83A1-F6EECF244321}">
                    <p14:modId xmlns:p14="http://schemas.microsoft.com/office/powerpoint/2010/main" val="2738211216"/>
                  </p:ext>
                </p:extLst>
              </p:nvPr>
            </p:nvGraphicFramePr>
            <p:xfrm>
              <a:off x="1539461" y="4375720"/>
              <a:ext cx="628523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69796335"/>
                        </a:ext>
                      </a:extLst>
                    </a:gridCol>
                    <a:gridCol w="1524000">
                      <a:extLst>
                        <a:ext uri="{9D8B030D-6E8A-4147-A177-3AD203B41FA5}">
                          <a16:colId xmlns:a16="http://schemas.microsoft.com/office/drawing/2014/main" val="3386351809"/>
                        </a:ext>
                      </a:extLst>
                    </a:gridCol>
                    <a:gridCol w="1713230">
                      <a:extLst>
                        <a:ext uri="{9D8B030D-6E8A-4147-A177-3AD203B41FA5}">
                          <a16:colId xmlns:a16="http://schemas.microsoft.com/office/drawing/2014/main" val="1661114167"/>
                        </a:ext>
                      </a:extLst>
                    </a:gridCol>
                    <a:gridCol w="1524000">
                      <a:extLst>
                        <a:ext uri="{9D8B030D-6E8A-4147-A177-3AD203B41FA5}">
                          <a16:colId xmlns:a16="http://schemas.microsoft.com/office/drawing/2014/main" val="250466662"/>
                        </a:ext>
                      </a:extLst>
                    </a:gridCol>
                  </a:tblGrid>
                  <a:tr h="370840">
                    <a:tc rowSpan="2" gridSpan="2">
                      <a:txBody>
                        <a:bodyPr/>
                        <a:lstStyle/>
                        <a:p>
                          <a:endParaRPr lang="en-ZA" dirty="0"/>
                        </a:p>
                      </a:txBody>
                      <a:tcPr/>
                    </a:tc>
                    <a:tc rowSpan="2" hMerge="1">
                      <a:txBody>
                        <a:bodyPr/>
                        <a:lstStyle/>
                        <a:p>
                          <a:endParaRPr lang="en-ZA" dirty="0"/>
                        </a:p>
                      </a:txBody>
                      <a:tcPr/>
                    </a:tc>
                    <a:tc gridSpan="2">
                      <a:txBody>
                        <a:bodyPr/>
                        <a:lstStyle/>
                        <a:p>
                          <a:r>
                            <a:rPr lang="en-ZA" dirty="0"/>
                            <a:t>Test</a:t>
                          </a:r>
                        </a:p>
                      </a:txBody>
                      <a:tcPr/>
                    </a:tc>
                    <a:tc hMerge="1">
                      <a:txBody>
                        <a:bodyPr/>
                        <a:lstStyle/>
                        <a:p>
                          <a:endParaRPr lang="en-ZA" dirty="0"/>
                        </a:p>
                      </a:txBody>
                      <a:tcPr/>
                    </a:tc>
                    <a:extLst>
                      <a:ext uri="{0D108BD9-81ED-4DB2-BD59-A6C34878D82A}">
                        <a16:rowId xmlns:a16="http://schemas.microsoft.com/office/drawing/2014/main" val="1834161017"/>
                      </a:ext>
                    </a:extLst>
                  </a:tr>
                  <a:tr h="370840">
                    <a:tc gridSpan="2" vMerge="1">
                      <a:txBody>
                        <a:bodyPr/>
                        <a:lstStyle/>
                        <a:p>
                          <a:endParaRPr lang="en-ZA" dirty="0"/>
                        </a:p>
                      </a:txBody>
                      <a:tcPr/>
                    </a:tc>
                    <a:tc hMerge="1" vMerge="1">
                      <a:txBody>
                        <a:bodyPr/>
                        <a:lstStyle/>
                        <a:p>
                          <a:endParaRPr lang="en-ZA" dirty="0"/>
                        </a:p>
                      </a:txBody>
                      <a:tcPr/>
                    </a:tc>
                    <a:tc>
                      <a:txBody>
                        <a:bodyPr/>
                        <a:lstStyle/>
                        <a:p>
                          <a:r>
                            <a:rPr lang="en-ZA" dirty="0"/>
                            <a:t>Non-Significant</a:t>
                          </a:r>
                        </a:p>
                      </a:txBody>
                      <a:tcPr/>
                    </a:tc>
                    <a:tc>
                      <a:txBody>
                        <a:bodyPr/>
                        <a:lstStyle/>
                        <a:p>
                          <a:r>
                            <a:rPr lang="en-ZA" dirty="0"/>
                            <a:t>Significant</a:t>
                          </a:r>
                        </a:p>
                      </a:txBody>
                      <a:tcPr/>
                    </a:tc>
                    <a:extLst>
                      <a:ext uri="{0D108BD9-81ED-4DB2-BD59-A6C34878D82A}">
                        <a16:rowId xmlns:a16="http://schemas.microsoft.com/office/drawing/2014/main" val="3012567768"/>
                      </a:ext>
                    </a:extLst>
                  </a:tr>
                  <a:tr h="370840">
                    <a:tc rowSpan="2">
                      <a:txBody>
                        <a:bodyPr/>
                        <a:lstStyle/>
                        <a:p>
                          <a:r>
                            <a:rPr lang="en-ZA" dirty="0"/>
                            <a:t>Truth</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𝐻</m:t>
                                    </m:r>
                                  </m:e>
                                  <m:sub>
                                    <m:r>
                                      <a:rPr lang="en-ZA" b="0" i="1" smtClean="0">
                                        <a:latin typeface="Cambria Math" panose="02040503050406030204" pitchFamily="18" charset="0"/>
                                      </a:rPr>
                                      <m:t>0</m:t>
                                    </m:r>
                                  </m:sub>
                                </m:sSub>
                              </m:oMath>
                            </m:oMathPara>
                          </a14:m>
                          <a:endParaRPr lang="en-ZA" dirty="0"/>
                        </a:p>
                      </a:txBody>
                      <a:tcPr/>
                    </a:tc>
                    <a:tc>
                      <a:txBody>
                        <a:bodyPr/>
                        <a:lstStyle/>
                        <a:p>
                          <a:r>
                            <a:rPr lang="en-ZA" dirty="0"/>
                            <a:t>True Negative</a:t>
                          </a:r>
                        </a:p>
                      </a:txBody>
                      <a:tcPr/>
                    </a:tc>
                    <a:tc>
                      <a:txBody>
                        <a:bodyPr/>
                        <a:lstStyle/>
                        <a:p>
                          <a:r>
                            <a:rPr lang="en-ZA" b="1" dirty="0"/>
                            <a:t>Type-1 Error</a:t>
                          </a:r>
                        </a:p>
                      </a:txBody>
                      <a:tcPr/>
                    </a:tc>
                    <a:extLst>
                      <a:ext uri="{0D108BD9-81ED-4DB2-BD59-A6C34878D82A}">
                        <a16:rowId xmlns:a16="http://schemas.microsoft.com/office/drawing/2014/main" val="151499491"/>
                      </a:ext>
                    </a:extLst>
                  </a:tr>
                  <a:tr h="370840">
                    <a:tc vMerge="1">
                      <a:txBody>
                        <a:bodyPr/>
                        <a:lstStyle/>
                        <a:p>
                          <a:endParaRPr lang="en-ZA"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ZA" i="1" smtClean="0">
                                        <a:latin typeface="Cambria Math" panose="02040503050406030204" pitchFamily="18" charset="0"/>
                                      </a:rPr>
                                    </m:ctrlPr>
                                  </m:sSubPr>
                                  <m:e>
                                    <m:r>
                                      <a:rPr lang="en-ZA" b="0" i="1" smtClean="0">
                                        <a:latin typeface="Cambria Math" panose="02040503050406030204" pitchFamily="18" charset="0"/>
                                      </a:rPr>
                                      <m:t>𝐻</m:t>
                                    </m:r>
                                  </m:e>
                                  <m:sub>
                                    <m:r>
                                      <a:rPr lang="en-ZA" b="0" i="1" smtClean="0">
                                        <a:latin typeface="Cambria Math" panose="02040503050406030204" pitchFamily="18" charset="0"/>
                                      </a:rPr>
                                      <m:t>𝐴</m:t>
                                    </m:r>
                                  </m:sub>
                                </m:sSub>
                              </m:oMath>
                            </m:oMathPara>
                          </a14:m>
                          <a:endParaRPr lang="en-ZA" dirty="0"/>
                        </a:p>
                      </a:txBody>
                      <a:tcPr/>
                    </a:tc>
                    <a:tc>
                      <a:txBody>
                        <a:bodyPr/>
                        <a:lstStyle/>
                        <a:p>
                          <a:r>
                            <a:rPr lang="en-ZA" b="1" dirty="0"/>
                            <a:t>Type-2 Error</a:t>
                          </a:r>
                        </a:p>
                      </a:txBody>
                      <a:tcPr/>
                    </a:tc>
                    <a:tc>
                      <a:txBody>
                        <a:bodyPr/>
                        <a:lstStyle/>
                        <a:p>
                          <a:r>
                            <a:rPr lang="en-ZA" dirty="0"/>
                            <a:t>True Positive</a:t>
                          </a:r>
                        </a:p>
                      </a:txBody>
                      <a:tcPr/>
                    </a:tc>
                    <a:extLst>
                      <a:ext uri="{0D108BD9-81ED-4DB2-BD59-A6C34878D82A}">
                        <a16:rowId xmlns:a16="http://schemas.microsoft.com/office/drawing/2014/main" val="3723599441"/>
                      </a:ext>
                    </a:extLst>
                  </a:tr>
                </a:tbl>
              </a:graphicData>
            </a:graphic>
          </p:graphicFrame>
        </mc:Choice>
        <mc:Fallback xmlns="">
          <p:graphicFrame>
            <p:nvGraphicFramePr>
              <p:cNvPr id="2" name="Table 2">
                <a:extLst>
                  <a:ext uri="{FF2B5EF4-FFF2-40B4-BE49-F238E27FC236}">
                    <a16:creationId xmlns:a16="http://schemas.microsoft.com/office/drawing/2014/main" id="{22E8B433-3672-42AE-AB48-B209102910A1}"/>
                  </a:ext>
                </a:extLst>
              </p:cNvPr>
              <p:cNvGraphicFramePr>
                <a:graphicFrameLocks noGrp="1"/>
              </p:cNvGraphicFramePr>
              <p:nvPr>
                <p:extLst>
                  <p:ext uri="{D42A27DB-BD31-4B8C-83A1-F6EECF244321}">
                    <p14:modId xmlns:p14="http://schemas.microsoft.com/office/powerpoint/2010/main" val="2738211216"/>
                  </p:ext>
                </p:extLst>
              </p:nvPr>
            </p:nvGraphicFramePr>
            <p:xfrm>
              <a:off x="1539461" y="4375720"/>
              <a:ext cx="628523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469796335"/>
                        </a:ext>
                      </a:extLst>
                    </a:gridCol>
                    <a:gridCol w="1524000">
                      <a:extLst>
                        <a:ext uri="{9D8B030D-6E8A-4147-A177-3AD203B41FA5}">
                          <a16:colId xmlns:a16="http://schemas.microsoft.com/office/drawing/2014/main" val="3386351809"/>
                        </a:ext>
                      </a:extLst>
                    </a:gridCol>
                    <a:gridCol w="1713230">
                      <a:extLst>
                        <a:ext uri="{9D8B030D-6E8A-4147-A177-3AD203B41FA5}">
                          <a16:colId xmlns:a16="http://schemas.microsoft.com/office/drawing/2014/main" val="1661114167"/>
                        </a:ext>
                      </a:extLst>
                    </a:gridCol>
                    <a:gridCol w="1524000">
                      <a:extLst>
                        <a:ext uri="{9D8B030D-6E8A-4147-A177-3AD203B41FA5}">
                          <a16:colId xmlns:a16="http://schemas.microsoft.com/office/drawing/2014/main" val="250466662"/>
                        </a:ext>
                      </a:extLst>
                    </a:gridCol>
                  </a:tblGrid>
                  <a:tr h="370840">
                    <a:tc rowSpan="2" gridSpan="2">
                      <a:txBody>
                        <a:bodyPr/>
                        <a:lstStyle/>
                        <a:p>
                          <a:endParaRPr lang="en-ZA" dirty="0"/>
                        </a:p>
                      </a:txBody>
                      <a:tcPr/>
                    </a:tc>
                    <a:tc rowSpan="2" hMerge="1">
                      <a:txBody>
                        <a:bodyPr/>
                        <a:lstStyle/>
                        <a:p>
                          <a:endParaRPr lang="en-ZA" dirty="0"/>
                        </a:p>
                      </a:txBody>
                      <a:tcPr/>
                    </a:tc>
                    <a:tc gridSpan="2">
                      <a:txBody>
                        <a:bodyPr/>
                        <a:lstStyle/>
                        <a:p>
                          <a:r>
                            <a:rPr lang="en-ZA" dirty="0"/>
                            <a:t>Test</a:t>
                          </a:r>
                        </a:p>
                      </a:txBody>
                      <a:tcPr/>
                    </a:tc>
                    <a:tc hMerge="1">
                      <a:txBody>
                        <a:bodyPr/>
                        <a:lstStyle/>
                        <a:p>
                          <a:endParaRPr lang="en-ZA" dirty="0"/>
                        </a:p>
                      </a:txBody>
                      <a:tcPr/>
                    </a:tc>
                    <a:extLst>
                      <a:ext uri="{0D108BD9-81ED-4DB2-BD59-A6C34878D82A}">
                        <a16:rowId xmlns:a16="http://schemas.microsoft.com/office/drawing/2014/main" val="1834161017"/>
                      </a:ext>
                    </a:extLst>
                  </a:tr>
                  <a:tr h="370840">
                    <a:tc gridSpan="2" vMerge="1">
                      <a:txBody>
                        <a:bodyPr/>
                        <a:lstStyle/>
                        <a:p>
                          <a:endParaRPr lang="en-ZA" dirty="0"/>
                        </a:p>
                      </a:txBody>
                      <a:tcPr/>
                    </a:tc>
                    <a:tc hMerge="1" vMerge="1">
                      <a:txBody>
                        <a:bodyPr/>
                        <a:lstStyle/>
                        <a:p>
                          <a:endParaRPr lang="en-ZA" dirty="0"/>
                        </a:p>
                      </a:txBody>
                      <a:tcPr/>
                    </a:tc>
                    <a:tc>
                      <a:txBody>
                        <a:bodyPr/>
                        <a:lstStyle/>
                        <a:p>
                          <a:r>
                            <a:rPr lang="en-ZA" dirty="0"/>
                            <a:t>Non-Significant</a:t>
                          </a:r>
                        </a:p>
                      </a:txBody>
                      <a:tcPr/>
                    </a:tc>
                    <a:tc>
                      <a:txBody>
                        <a:bodyPr/>
                        <a:lstStyle/>
                        <a:p>
                          <a:r>
                            <a:rPr lang="en-ZA" dirty="0"/>
                            <a:t>Significant</a:t>
                          </a:r>
                        </a:p>
                      </a:txBody>
                      <a:tcPr/>
                    </a:tc>
                    <a:extLst>
                      <a:ext uri="{0D108BD9-81ED-4DB2-BD59-A6C34878D82A}">
                        <a16:rowId xmlns:a16="http://schemas.microsoft.com/office/drawing/2014/main" val="3012567768"/>
                      </a:ext>
                    </a:extLst>
                  </a:tr>
                  <a:tr h="370840">
                    <a:tc rowSpan="2">
                      <a:txBody>
                        <a:bodyPr/>
                        <a:lstStyle/>
                        <a:p>
                          <a:r>
                            <a:rPr lang="en-ZA" dirty="0"/>
                            <a:t>Truth</a:t>
                          </a:r>
                        </a:p>
                      </a:txBody>
                      <a:tcPr/>
                    </a:tc>
                    <a:tc>
                      <a:txBody>
                        <a:bodyPr/>
                        <a:lstStyle/>
                        <a:p>
                          <a:endParaRPr lang="en-US"/>
                        </a:p>
                      </a:txBody>
                      <a:tcPr>
                        <a:blipFill>
                          <a:blip r:embed="rId3"/>
                          <a:stretch>
                            <a:fillRect l="-100400" t="-209836" r="-214400" b="-122951"/>
                          </a:stretch>
                        </a:blipFill>
                      </a:tcPr>
                    </a:tc>
                    <a:tc>
                      <a:txBody>
                        <a:bodyPr/>
                        <a:lstStyle/>
                        <a:p>
                          <a:r>
                            <a:rPr lang="en-ZA" dirty="0"/>
                            <a:t>True Negative</a:t>
                          </a:r>
                        </a:p>
                      </a:txBody>
                      <a:tcPr/>
                    </a:tc>
                    <a:tc>
                      <a:txBody>
                        <a:bodyPr/>
                        <a:lstStyle/>
                        <a:p>
                          <a:r>
                            <a:rPr lang="en-ZA" b="1" dirty="0"/>
                            <a:t>Type-1 Error</a:t>
                          </a:r>
                        </a:p>
                      </a:txBody>
                      <a:tcPr/>
                    </a:tc>
                    <a:extLst>
                      <a:ext uri="{0D108BD9-81ED-4DB2-BD59-A6C34878D82A}">
                        <a16:rowId xmlns:a16="http://schemas.microsoft.com/office/drawing/2014/main" val="151499491"/>
                      </a:ext>
                    </a:extLst>
                  </a:tr>
                  <a:tr h="370840">
                    <a:tc vMerge="1">
                      <a:txBody>
                        <a:bodyPr/>
                        <a:lstStyle/>
                        <a:p>
                          <a:endParaRPr lang="en-ZA" dirty="0"/>
                        </a:p>
                      </a:txBody>
                      <a:tcPr/>
                    </a:tc>
                    <a:tc>
                      <a:txBody>
                        <a:bodyPr/>
                        <a:lstStyle/>
                        <a:p>
                          <a:endParaRPr lang="en-US"/>
                        </a:p>
                      </a:txBody>
                      <a:tcPr>
                        <a:blipFill>
                          <a:blip r:embed="rId3"/>
                          <a:stretch>
                            <a:fillRect l="-100400" t="-309836" r="-214400" b="-22951"/>
                          </a:stretch>
                        </a:blipFill>
                      </a:tcPr>
                    </a:tc>
                    <a:tc>
                      <a:txBody>
                        <a:bodyPr/>
                        <a:lstStyle/>
                        <a:p>
                          <a:r>
                            <a:rPr lang="en-ZA" b="1" dirty="0"/>
                            <a:t>Type-2 Error</a:t>
                          </a:r>
                        </a:p>
                      </a:txBody>
                      <a:tcPr/>
                    </a:tc>
                    <a:tc>
                      <a:txBody>
                        <a:bodyPr/>
                        <a:lstStyle/>
                        <a:p>
                          <a:r>
                            <a:rPr lang="en-ZA" dirty="0"/>
                            <a:t>True Positive</a:t>
                          </a:r>
                        </a:p>
                      </a:txBody>
                      <a:tcPr/>
                    </a:tc>
                    <a:extLst>
                      <a:ext uri="{0D108BD9-81ED-4DB2-BD59-A6C34878D82A}">
                        <a16:rowId xmlns:a16="http://schemas.microsoft.com/office/drawing/2014/main" val="3723599441"/>
                      </a:ext>
                    </a:extLst>
                  </a:tr>
                </a:tbl>
              </a:graphicData>
            </a:graphic>
          </p:graphicFrame>
        </mc:Fallback>
      </mc:AlternateContent>
      <p:sp>
        <p:nvSpPr>
          <p:cNvPr id="7" name="TextBox 6">
            <a:extLst>
              <a:ext uri="{FF2B5EF4-FFF2-40B4-BE49-F238E27FC236}">
                <a16:creationId xmlns:a16="http://schemas.microsoft.com/office/drawing/2014/main" id="{DAEDDBE6-BA1B-40AF-8930-37006FF742EB}"/>
              </a:ext>
            </a:extLst>
          </p:cNvPr>
          <p:cNvSpPr txBox="1"/>
          <p:nvPr/>
        </p:nvSpPr>
        <p:spPr>
          <a:xfrm>
            <a:off x="2312126" y="5912101"/>
            <a:ext cx="5408023" cy="338554"/>
          </a:xfrm>
          <a:prstGeom prst="rect">
            <a:avLst/>
          </a:prstGeom>
          <a:noFill/>
        </p:spPr>
        <p:txBody>
          <a:bodyPr wrap="square">
            <a:spAutoFit/>
          </a:bodyPr>
          <a:lstStyle/>
          <a:p>
            <a:r>
              <a:rPr lang="en-ZA" sz="1600" i="0" dirty="0">
                <a:solidFill>
                  <a:srgbClr val="000000"/>
                </a:solidFill>
                <a:effectLst/>
                <a:latin typeface="CMR9"/>
              </a:rPr>
              <a:t>Type-1 and </a:t>
            </a:r>
            <a:r>
              <a:rPr lang="en-ZA" sz="1600" i="0" dirty="0" smtClean="0">
                <a:solidFill>
                  <a:srgbClr val="000000"/>
                </a:solidFill>
                <a:effectLst/>
                <a:latin typeface="CMR9"/>
              </a:rPr>
              <a:t>Type-2 </a:t>
            </a:r>
            <a:r>
              <a:rPr lang="en-ZA" sz="1600" i="0" dirty="0">
                <a:solidFill>
                  <a:srgbClr val="000000"/>
                </a:solidFill>
                <a:effectLst/>
                <a:latin typeface="CMR9"/>
              </a:rPr>
              <a:t>errors in </a:t>
            </a:r>
            <a:r>
              <a:rPr lang="en-ZA" sz="1600" i="0" dirty="0" smtClean="0">
                <a:solidFill>
                  <a:srgbClr val="000000"/>
                </a:solidFill>
                <a:effectLst/>
                <a:latin typeface="CMR9"/>
              </a:rPr>
              <a:t>hypothesis </a:t>
            </a:r>
            <a:r>
              <a:rPr lang="en-ZA" sz="1600" i="0" dirty="0">
                <a:solidFill>
                  <a:srgbClr val="000000"/>
                </a:solidFill>
                <a:effectLst/>
                <a:latin typeface="CMR9"/>
              </a:rPr>
              <a:t>testing</a:t>
            </a:r>
            <a:endParaRPr lang="en-ZA" sz="1600" dirty="0"/>
          </a:p>
        </p:txBody>
      </p:sp>
    </p:spTree>
    <p:extLst>
      <p:ext uri="{BB962C8B-B14F-4D97-AF65-F5344CB8AC3E}">
        <p14:creationId xmlns:p14="http://schemas.microsoft.com/office/powerpoint/2010/main" val="4177078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Multiple Comparison </a:t>
            </a:r>
            <a:r>
              <a:rPr lang="en-US" altLang="en-US" sz="3600" dirty="0" smtClean="0">
                <a:latin typeface="Comic Sans MS" panose="030F0702030302020204" pitchFamily="66" charset="0"/>
                <a:cs typeface="Times New Roman" panose="02020603050405020304" pitchFamily="18" charset="0"/>
              </a:rPr>
              <a:t>Procedures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838200" y="998920"/>
                <a:ext cx="7899400" cy="5627159"/>
              </a:xfrm>
            </p:spPr>
            <p:txBody>
              <a:bodyPr/>
              <a:lstStyle/>
              <a:p>
                <a:r>
                  <a:rPr lang="en-ZA" sz="1600" b="1" dirty="0">
                    <a:solidFill>
                      <a:schemeClr val="bg2"/>
                    </a:solidFill>
                    <a:latin typeface="Arial" panose="020B0604020202020204" pitchFamily="34" charset="0"/>
                    <a:cs typeface="Arial" panose="020B0604020202020204" pitchFamily="34" charset="0"/>
                  </a:rPr>
                  <a:t>False Discovery Rate (FDR): defined as the expected proportion of null hypotheses that are true among those that are declared significant.</a:t>
                </a:r>
              </a:p>
              <a:p>
                <a:endParaRPr lang="en-ZA" sz="1600" b="1" dirty="0">
                  <a:solidFill>
                    <a:schemeClr val="bg2"/>
                  </a:solidFill>
                  <a:latin typeface="Arial" panose="020B0604020202020204" pitchFamily="34" charset="0"/>
                  <a:cs typeface="Arial" panose="020B0604020202020204" pitchFamily="34" charset="0"/>
                </a:endParaRPr>
              </a:p>
              <a:p>
                <a:endParaRPr lang="en-ZA" sz="1600" b="1" dirty="0">
                  <a:solidFill>
                    <a:schemeClr val="bg2"/>
                  </a:solidFill>
                  <a:latin typeface="Arial" panose="020B0604020202020204" pitchFamily="34" charset="0"/>
                  <a:cs typeface="Arial" panose="020B0604020202020204" pitchFamily="34" charset="0"/>
                </a:endParaRPr>
              </a:p>
              <a:p>
                <a:endParaRPr lang="en-ZA" sz="1600" b="1" dirty="0">
                  <a:solidFill>
                    <a:schemeClr val="bg2"/>
                  </a:solidFill>
                  <a:latin typeface="Arial" panose="020B0604020202020204" pitchFamily="34" charset="0"/>
                  <a:cs typeface="Arial" panose="020B0604020202020204" pitchFamily="34" charset="0"/>
                </a:endParaRPr>
              </a:p>
              <a:p>
                <a:endParaRPr lang="en-ZA" sz="1600" b="1" dirty="0">
                  <a:solidFill>
                    <a:schemeClr val="bg2"/>
                  </a:solidFill>
                  <a:latin typeface="Arial" panose="020B0604020202020204" pitchFamily="34" charset="0"/>
                  <a:cs typeface="Arial" panose="020B0604020202020204" pitchFamily="34" charset="0"/>
                </a:endParaRPr>
              </a:p>
              <a:p>
                <a:endParaRPr lang="en-ZA" sz="1600" b="1" dirty="0">
                  <a:solidFill>
                    <a:schemeClr val="bg2"/>
                  </a:solidFill>
                  <a:latin typeface="Arial" panose="020B0604020202020204" pitchFamily="34" charset="0"/>
                  <a:cs typeface="Arial" panose="020B0604020202020204" pitchFamily="34" charset="0"/>
                </a:endParaRPr>
              </a:p>
              <a:p>
                <a:endParaRPr lang="en-ZA" sz="1600" b="1" dirty="0">
                  <a:solidFill>
                    <a:schemeClr val="bg2"/>
                  </a:solidFill>
                  <a:latin typeface="Arial" panose="020B0604020202020204" pitchFamily="34" charset="0"/>
                  <a:cs typeface="Arial" panose="020B0604020202020204" pitchFamily="34" charset="0"/>
                </a:endParaRPr>
              </a:p>
              <a:p>
                <a:endParaRPr lang="en-ZA" sz="1600" b="1" dirty="0">
                  <a:solidFill>
                    <a:schemeClr val="bg2"/>
                  </a:solidFill>
                  <a:latin typeface="Arial" panose="020B0604020202020204" pitchFamily="34" charset="0"/>
                  <a:cs typeface="Arial" panose="020B0604020202020204" pitchFamily="34" charset="0"/>
                </a:endParaRPr>
              </a:p>
              <a:p>
                <a:endParaRPr lang="en-ZA" sz="1600" b="1" dirty="0">
                  <a:solidFill>
                    <a:schemeClr val="bg2"/>
                  </a:solidFill>
                  <a:latin typeface="Arial" panose="020B0604020202020204" pitchFamily="34" charset="0"/>
                  <a:cs typeface="Arial" panose="020B0604020202020204" pitchFamily="34" charset="0"/>
                </a:endParaRPr>
              </a:p>
              <a:p>
                <a:endParaRPr lang="en-ZA" sz="1600" b="1" dirty="0">
                  <a:solidFill>
                    <a:schemeClr val="bg2"/>
                  </a:solidFill>
                  <a:latin typeface="Arial" panose="020B0604020202020204" pitchFamily="34" charset="0"/>
                  <a:cs typeface="Arial" panose="020B0604020202020204" pitchFamily="34" charset="0"/>
                </a:endParaRPr>
              </a:p>
              <a:p>
                <a:endParaRPr lang="en-ZA" sz="1600" b="1" dirty="0" smtClean="0">
                  <a:solidFill>
                    <a:schemeClr val="bg2"/>
                  </a:solidFill>
                  <a:latin typeface="Arial" panose="020B0604020202020204" pitchFamily="34" charset="0"/>
                  <a:cs typeface="Arial" panose="020B0604020202020204" pitchFamily="34" charset="0"/>
                </a:endParaRPr>
              </a:p>
              <a:p>
                <a:endParaRPr lang="en-ZA" sz="1600" b="1" dirty="0" smtClean="0">
                  <a:solidFill>
                    <a:schemeClr val="bg2"/>
                  </a:solidFill>
                  <a:latin typeface="Arial" panose="020B0604020202020204" pitchFamily="34" charset="0"/>
                  <a:cs typeface="Arial" panose="020B0604020202020204" pitchFamily="34" charset="0"/>
                </a:endParaRPr>
              </a:p>
              <a:p>
                <a:r>
                  <a:rPr lang="en-ZA" sz="1600" b="1" dirty="0" smtClean="0">
                    <a:solidFill>
                      <a:schemeClr val="bg2"/>
                    </a:solidFill>
                    <a:latin typeface="Arial" panose="020B0604020202020204" pitchFamily="34" charset="0"/>
                    <a:cs typeface="Arial" panose="020B0604020202020204" pitchFamily="34" charset="0"/>
                  </a:rPr>
                  <a:t>Returning </a:t>
                </a:r>
                <a:r>
                  <a:rPr lang="en-ZA" sz="1600" b="1" dirty="0">
                    <a:solidFill>
                      <a:schemeClr val="bg2"/>
                    </a:solidFill>
                    <a:latin typeface="Arial" panose="020B0604020202020204" pitchFamily="34" charset="0"/>
                    <a:cs typeface="Arial" panose="020B0604020202020204" pitchFamily="34" charset="0"/>
                  </a:rPr>
                  <a:t>to the notation of the above Table and assuming R, the number of tests that are declared significant, is greater than 0, FDR is given by</a:t>
                </a:r>
              </a:p>
              <a:p>
                <a:pPr marL="0" indent="0">
                  <a:buNone/>
                </a:pPr>
                <a14:m>
                  <m:oMathPara xmlns:m="http://schemas.openxmlformats.org/officeDocument/2006/math">
                    <m:oMathParaPr>
                      <m:jc m:val="centerGroup"/>
                    </m:oMathParaPr>
                    <m:oMath xmlns:m="http://schemas.openxmlformats.org/officeDocument/2006/math">
                      <m:r>
                        <a:rPr lang="en-ZA" sz="1600" b="1" i="1" smtClean="0">
                          <a:solidFill>
                            <a:schemeClr val="bg2"/>
                          </a:solidFill>
                          <a:latin typeface="Cambria Math" panose="02040503050406030204" pitchFamily="18" charset="0"/>
                        </a:rPr>
                        <m:t>𝑭𝑫𝑹</m:t>
                      </m:r>
                      <m:r>
                        <a:rPr lang="en-ZA" sz="1600" b="1" i="1" smtClean="0">
                          <a:solidFill>
                            <a:schemeClr val="bg2"/>
                          </a:solidFill>
                          <a:latin typeface="Cambria Math" panose="02040503050406030204" pitchFamily="18" charset="0"/>
                        </a:rPr>
                        <m:t>=</m:t>
                      </m:r>
                      <m:r>
                        <a:rPr lang="en-ZA" sz="1600" b="1" i="1" smtClean="0">
                          <a:solidFill>
                            <a:schemeClr val="bg2"/>
                          </a:solidFill>
                          <a:latin typeface="Cambria Math" panose="02040503050406030204" pitchFamily="18" charset="0"/>
                        </a:rPr>
                        <m:t>𝑬</m:t>
                      </m:r>
                      <m:d>
                        <m:dPr>
                          <m:ctrlPr>
                            <a:rPr lang="en-ZA" sz="1600" b="1" i="1" smtClean="0">
                              <a:solidFill>
                                <a:schemeClr val="bg2"/>
                              </a:solidFill>
                              <a:latin typeface="Cambria Math" panose="02040503050406030204" pitchFamily="18" charset="0"/>
                            </a:rPr>
                          </m:ctrlPr>
                        </m:dPr>
                        <m:e>
                          <m:f>
                            <m:fPr>
                              <m:ctrlPr>
                                <a:rPr lang="en-ZA" sz="1600" b="1" i="1" smtClean="0">
                                  <a:solidFill>
                                    <a:schemeClr val="bg2"/>
                                  </a:solidFill>
                                  <a:latin typeface="Cambria Math" panose="02040503050406030204" pitchFamily="18" charset="0"/>
                                </a:rPr>
                              </m:ctrlPr>
                            </m:fPr>
                            <m:num>
                              <m:r>
                                <a:rPr lang="en-ZA" sz="1600" b="1" i="1" smtClean="0">
                                  <a:solidFill>
                                    <a:schemeClr val="bg2"/>
                                  </a:solidFill>
                                  <a:latin typeface="Cambria Math" panose="02040503050406030204" pitchFamily="18" charset="0"/>
                                </a:rPr>
                                <m:t>𝑽</m:t>
                              </m:r>
                            </m:num>
                            <m:den>
                              <m:r>
                                <a:rPr lang="en-ZA" sz="1600" b="1" i="1" smtClean="0">
                                  <a:solidFill>
                                    <a:schemeClr val="bg2"/>
                                  </a:solidFill>
                                  <a:latin typeface="Cambria Math" panose="02040503050406030204" pitchFamily="18" charset="0"/>
                                </a:rPr>
                                <m:t>𝑹</m:t>
                              </m:r>
                            </m:den>
                          </m:f>
                        </m:e>
                      </m:d>
                    </m:oMath>
                  </m:oMathPara>
                </a14:m>
                <a:endParaRPr lang="en-ZA" sz="1600" b="1" dirty="0">
                  <a:solidFill>
                    <a:schemeClr val="bg2"/>
                  </a:solidFill>
                  <a:latin typeface="Arial" panose="020B0604020202020204" pitchFamily="34" charset="0"/>
                  <a:cs typeface="Arial" panose="020B0604020202020204" pitchFamily="34" charset="0"/>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838200" y="998920"/>
                <a:ext cx="7899400" cy="5627159"/>
              </a:xfrm>
              <a:blipFill>
                <a:blip r:embed="rId3"/>
                <a:stretch>
                  <a:fillRect l="-309" t="-325" r="-1081"/>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AB242697-6A25-4E09-ADC8-C97AD3BA09B2}"/>
              </a:ext>
            </a:extLst>
          </p:cNvPr>
          <p:cNvPicPr>
            <a:picLocks noChangeAspect="1"/>
          </p:cNvPicPr>
          <p:nvPr/>
        </p:nvPicPr>
        <p:blipFill>
          <a:blip r:embed="rId4"/>
          <a:stretch>
            <a:fillRect/>
          </a:stretch>
        </p:blipFill>
        <p:spPr>
          <a:xfrm>
            <a:off x="1581150" y="1784395"/>
            <a:ext cx="5981700" cy="2630851"/>
          </a:xfrm>
          <a:prstGeom prst="rect">
            <a:avLst/>
          </a:prstGeom>
        </p:spPr>
      </p:pic>
      <p:sp>
        <p:nvSpPr>
          <p:cNvPr id="8" name="TextBox 7">
            <a:extLst>
              <a:ext uri="{FF2B5EF4-FFF2-40B4-BE49-F238E27FC236}">
                <a16:creationId xmlns:a16="http://schemas.microsoft.com/office/drawing/2014/main" id="{021DAA68-9577-4958-91C8-87282889D5A7}"/>
              </a:ext>
            </a:extLst>
          </p:cNvPr>
          <p:cNvSpPr txBox="1"/>
          <p:nvPr/>
        </p:nvSpPr>
        <p:spPr>
          <a:xfrm>
            <a:off x="1581150" y="4278756"/>
            <a:ext cx="4572000" cy="307777"/>
          </a:xfrm>
          <a:prstGeom prst="rect">
            <a:avLst/>
          </a:prstGeom>
          <a:noFill/>
        </p:spPr>
        <p:txBody>
          <a:bodyPr wrap="square">
            <a:spAutoFit/>
          </a:bodyPr>
          <a:lstStyle/>
          <a:p>
            <a:r>
              <a:rPr lang="en-ZA" sz="1400" i="0" dirty="0" smtClean="0">
                <a:solidFill>
                  <a:srgbClr val="000000"/>
                </a:solidFill>
                <a:effectLst/>
                <a:latin typeface="CMR9"/>
              </a:rPr>
              <a:t>Table 1: Errors for multiple hypothesis tests</a:t>
            </a:r>
            <a:endParaRPr lang="en-ZA" sz="1400" dirty="0"/>
          </a:p>
        </p:txBody>
      </p:sp>
    </p:spTree>
    <p:extLst>
      <p:ext uri="{BB962C8B-B14F-4D97-AF65-F5344CB8AC3E}">
        <p14:creationId xmlns:p14="http://schemas.microsoft.com/office/powerpoint/2010/main" val="1369500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    False Discovery Rate</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838200" y="998920"/>
                <a:ext cx="7899400" cy="5627159"/>
              </a:xfrm>
            </p:spPr>
            <p:txBody>
              <a:bodyPr/>
              <a:lstStyle/>
              <a:p>
                <a:r>
                  <a:rPr lang="en-ZA" sz="1800" b="1" dirty="0">
                    <a:solidFill>
                      <a:schemeClr val="bg2"/>
                    </a:solidFill>
                    <a:latin typeface="Arial" panose="020B0604020202020204" pitchFamily="34" charset="0"/>
                    <a:cs typeface="Arial" panose="020B0604020202020204" pitchFamily="34" charset="0"/>
                  </a:rPr>
                  <a:t>For R = 0, we define the ratio </a:t>
                </a:r>
                <a:r>
                  <a:rPr lang="en-ZA" sz="1800" b="1" dirty="0" smtClean="0">
                    <a:solidFill>
                      <a:schemeClr val="bg2"/>
                    </a:solidFill>
                    <a:latin typeface="Arial" panose="020B0604020202020204" pitchFamily="34" charset="0"/>
                    <a:cs typeface="Arial" panose="020B0604020202020204" pitchFamily="34" charset="0"/>
                  </a:rPr>
                  <a:t>V/R </a:t>
                </a:r>
                <a:r>
                  <a:rPr lang="en-ZA" sz="1800" b="1" dirty="0">
                    <a:solidFill>
                      <a:schemeClr val="bg2"/>
                    </a:solidFill>
                    <a:latin typeface="Arial" panose="020B0604020202020204" pitchFamily="34" charset="0"/>
                    <a:cs typeface="Arial" panose="020B0604020202020204" pitchFamily="34" charset="0"/>
                  </a:rPr>
                  <a:t>as identically equal to 0 since no false rejections can occur.</a:t>
                </a:r>
              </a:p>
              <a:p>
                <a:r>
                  <a:rPr lang="en-ZA" sz="1800" b="1" dirty="0">
                    <a:solidFill>
                      <a:schemeClr val="bg2"/>
                    </a:solidFill>
                    <a:latin typeface="Arial" panose="020B0604020202020204" pitchFamily="34" charset="0"/>
                    <a:cs typeface="Arial" panose="020B0604020202020204" pitchFamily="34" charset="0"/>
                  </a:rPr>
                  <a:t>The FDR can therefore be expressed equivalently as</a:t>
                </a:r>
              </a:p>
              <a:p>
                <a:pPr marL="0" indent="0">
                  <a:buNone/>
                </a:pPr>
                <a14:m>
                  <m:oMathPara xmlns:m="http://schemas.openxmlformats.org/officeDocument/2006/math">
                    <m:oMathParaPr>
                      <m:jc m:val="centerGroup"/>
                    </m:oMathParaPr>
                    <m:oMath xmlns:m="http://schemas.openxmlformats.org/officeDocument/2006/math">
                      <m:r>
                        <a:rPr lang="en-ZA" sz="1800" b="1" i="1">
                          <a:solidFill>
                            <a:schemeClr val="bg2"/>
                          </a:solidFill>
                          <a:latin typeface="Cambria Math" panose="02040503050406030204" pitchFamily="18" charset="0"/>
                        </a:rPr>
                        <m:t>𝐅𝐃𝐑</m:t>
                      </m:r>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𝐄</m:t>
                      </m:r>
                      <m:d>
                        <m:dPr>
                          <m:ctrlPr>
                            <a:rPr lang="en-ZA" sz="1800" b="1" i="1">
                              <a:solidFill>
                                <a:schemeClr val="bg2"/>
                              </a:solidFill>
                              <a:latin typeface="Cambria Math" panose="02040503050406030204" pitchFamily="18" charset="0"/>
                            </a:rPr>
                          </m:ctrlPr>
                        </m:dPr>
                        <m:e>
                          <m:f>
                            <m:fPr>
                              <m:type m:val="skw"/>
                              <m:ctrlPr>
                                <a:rPr lang="en-ZA" sz="1800" b="1" i="1">
                                  <a:solidFill>
                                    <a:schemeClr val="bg2"/>
                                  </a:solidFill>
                                  <a:latin typeface="Cambria Math" panose="02040503050406030204" pitchFamily="18" charset="0"/>
                                </a:rPr>
                              </m:ctrlPr>
                            </m:fPr>
                            <m:num>
                              <m:r>
                                <a:rPr lang="en-ZA" sz="1800" b="1" i="1">
                                  <a:solidFill>
                                    <a:schemeClr val="bg2"/>
                                  </a:solidFill>
                                  <a:latin typeface="Cambria Math" panose="02040503050406030204" pitchFamily="18" charset="0"/>
                                </a:rPr>
                                <m:t>𝑽</m:t>
                              </m:r>
                            </m:num>
                            <m:den>
                              <m:r>
                                <a:rPr lang="en-ZA" sz="1800" b="1" i="1">
                                  <a:solidFill>
                                    <a:schemeClr val="bg2"/>
                                  </a:solidFill>
                                  <a:latin typeface="Cambria Math" panose="02040503050406030204" pitchFamily="18" charset="0"/>
                                </a:rPr>
                                <m:t>𝑹</m:t>
                              </m:r>
                            </m:den>
                          </m:f>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𝐑</m:t>
                          </m:r>
                          <m:r>
                            <a:rPr lang="en-ZA" sz="1800" b="1">
                              <a:solidFill>
                                <a:schemeClr val="bg2"/>
                              </a:solidFill>
                              <a:latin typeface="Cambria Math" panose="02040503050406030204" pitchFamily="18" charset="0"/>
                            </a:rPr>
                            <m:t>&gt;</m:t>
                          </m:r>
                          <m:r>
                            <a:rPr lang="en-ZA" sz="1800" b="1" i="1">
                              <a:solidFill>
                                <a:schemeClr val="bg2"/>
                              </a:solidFill>
                              <a:latin typeface="Cambria Math" panose="02040503050406030204" pitchFamily="18" charset="0"/>
                            </a:rPr>
                            <m:t>𝟎</m:t>
                          </m:r>
                        </m:e>
                      </m:d>
                      <m:func>
                        <m:funcPr>
                          <m:ctrlPr>
                            <a:rPr lang="en-ZA" sz="1800" b="1" i="1">
                              <a:solidFill>
                                <a:schemeClr val="bg2"/>
                              </a:solidFill>
                              <a:latin typeface="Cambria Math" panose="02040503050406030204" pitchFamily="18" charset="0"/>
                            </a:rPr>
                          </m:ctrlPr>
                        </m:funcPr>
                        <m:fName>
                          <m:r>
                            <a:rPr lang="en-ZA" sz="1800" b="1" i="1">
                              <a:solidFill>
                                <a:schemeClr val="bg2"/>
                              </a:solidFill>
                              <a:latin typeface="Cambria Math" panose="02040503050406030204" pitchFamily="18" charset="0"/>
                            </a:rPr>
                            <m:t>𝑷𝒓</m:t>
                          </m:r>
                        </m:fName>
                        <m:e>
                          <m:d>
                            <m:dPr>
                              <m:ctrlPr>
                                <a:rPr lang="en-ZA" sz="1800" b="1" i="1">
                                  <a:solidFill>
                                    <a:schemeClr val="bg2"/>
                                  </a:solidFill>
                                  <a:latin typeface="Cambria Math" panose="02040503050406030204" pitchFamily="18" charset="0"/>
                                </a:rPr>
                              </m:ctrlPr>
                            </m:dPr>
                            <m:e>
                              <m:r>
                                <a:rPr lang="en-ZA" sz="1800" b="1" i="1">
                                  <a:solidFill>
                                    <a:schemeClr val="bg2"/>
                                  </a:solidFill>
                                  <a:latin typeface="Cambria Math" panose="02040503050406030204" pitchFamily="18" charset="0"/>
                                </a:rPr>
                                <m:t>𝐑</m:t>
                              </m:r>
                              <m:r>
                                <a:rPr lang="en-ZA" sz="1800" b="1">
                                  <a:solidFill>
                                    <a:schemeClr val="bg2"/>
                                  </a:solidFill>
                                  <a:latin typeface="Cambria Math" panose="02040503050406030204" pitchFamily="18" charset="0"/>
                                </a:rPr>
                                <m:t>&gt;</m:t>
                              </m:r>
                              <m:r>
                                <a:rPr lang="en-ZA" sz="1800" b="1" i="1">
                                  <a:solidFill>
                                    <a:schemeClr val="bg2"/>
                                  </a:solidFill>
                                  <a:latin typeface="Cambria Math" panose="02040503050406030204" pitchFamily="18" charset="0"/>
                                </a:rPr>
                                <m:t>𝟎</m:t>
                              </m:r>
                            </m:e>
                          </m:d>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𝐄</m:t>
                          </m:r>
                          <m:d>
                            <m:dPr>
                              <m:ctrlPr>
                                <a:rPr lang="en-ZA" sz="1800" b="1" i="1">
                                  <a:solidFill>
                                    <a:schemeClr val="bg2"/>
                                  </a:solidFill>
                                  <a:latin typeface="Cambria Math" panose="02040503050406030204" pitchFamily="18" charset="0"/>
                                </a:rPr>
                              </m:ctrlPr>
                            </m:dPr>
                            <m:e>
                              <m:f>
                                <m:fPr>
                                  <m:type m:val="skw"/>
                                  <m:ctrlPr>
                                    <a:rPr lang="en-ZA" sz="1800" b="1" i="1">
                                      <a:solidFill>
                                        <a:schemeClr val="bg2"/>
                                      </a:solidFill>
                                      <a:latin typeface="Cambria Math" panose="02040503050406030204" pitchFamily="18" charset="0"/>
                                    </a:rPr>
                                  </m:ctrlPr>
                                </m:fPr>
                                <m:num>
                                  <m:r>
                                    <a:rPr lang="en-ZA" sz="1800" b="1" i="1">
                                      <a:solidFill>
                                        <a:schemeClr val="bg2"/>
                                      </a:solidFill>
                                      <a:latin typeface="Cambria Math" panose="02040503050406030204" pitchFamily="18" charset="0"/>
                                    </a:rPr>
                                    <m:t>𝑽</m:t>
                                  </m:r>
                                </m:num>
                                <m:den>
                                  <m:r>
                                    <a:rPr lang="en-ZA" sz="1800" b="1" i="1">
                                      <a:solidFill>
                                        <a:schemeClr val="bg2"/>
                                      </a:solidFill>
                                      <a:latin typeface="Cambria Math" panose="02040503050406030204" pitchFamily="18" charset="0"/>
                                    </a:rPr>
                                    <m:t>𝑹</m:t>
                                  </m:r>
                                </m:den>
                              </m:f>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𝐑</m:t>
                              </m:r>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𝟎</m:t>
                              </m:r>
                            </m:e>
                          </m:d>
                        </m:e>
                      </m:func>
                      <m:func>
                        <m:funcPr>
                          <m:ctrlPr>
                            <a:rPr lang="en-ZA" sz="1800" b="1" i="1">
                              <a:solidFill>
                                <a:schemeClr val="bg2"/>
                              </a:solidFill>
                              <a:latin typeface="Cambria Math" panose="02040503050406030204" pitchFamily="18" charset="0"/>
                            </a:rPr>
                          </m:ctrlPr>
                        </m:funcPr>
                        <m:fName>
                          <m:r>
                            <a:rPr lang="en-ZA" sz="1800" b="1" i="1">
                              <a:solidFill>
                                <a:schemeClr val="bg2"/>
                              </a:solidFill>
                              <a:latin typeface="Cambria Math" panose="02040503050406030204" pitchFamily="18" charset="0"/>
                            </a:rPr>
                            <m:t>𝑷𝒓</m:t>
                          </m:r>
                        </m:fName>
                        <m:e>
                          <m:d>
                            <m:dPr>
                              <m:ctrlPr>
                                <a:rPr lang="en-ZA" sz="1800" b="1" i="1">
                                  <a:solidFill>
                                    <a:schemeClr val="bg2"/>
                                  </a:solidFill>
                                  <a:latin typeface="Cambria Math" panose="02040503050406030204" pitchFamily="18" charset="0"/>
                                </a:rPr>
                              </m:ctrlPr>
                            </m:dPr>
                            <m:e>
                              <m:r>
                                <a:rPr lang="en-ZA" sz="1800" b="1" i="1">
                                  <a:solidFill>
                                    <a:schemeClr val="bg2"/>
                                  </a:solidFill>
                                  <a:latin typeface="Cambria Math" panose="02040503050406030204" pitchFamily="18" charset="0"/>
                                </a:rPr>
                                <m:t>𝐑</m:t>
                              </m:r>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𝟎</m:t>
                              </m:r>
                            </m:e>
                          </m:d>
                        </m:e>
                      </m:func>
                    </m:oMath>
                  </m:oMathPara>
                </a14:m>
                <a:endParaRPr lang="en-ZA" sz="1800" b="1" dirty="0">
                  <a:solidFill>
                    <a:schemeClr val="bg2"/>
                  </a:solidFill>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𝐄</m:t>
                      </m:r>
                      <m:d>
                        <m:dPr>
                          <m:ctrlPr>
                            <a:rPr lang="en-ZA" sz="1800" b="1" i="1">
                              <a:solidFill>
                                <a:schemeClr val="bg2"/>
                              </a:solidFill>
                              <a:latin typeface="Cambria Math" panose="02040503050406030204" pitchFamily="18" charset="0"/>
                            </a:rPr>
                          </m:ctrlPr>
                        </m:dPr>
                        <m:e>
                          <m:f>
                            <m:fPr>
                              <m:type m:val="skw"/>
                              <m:ctrlPr>
                                <a:rPr lang="en-ZA" sz="1800" b="1" i="1">
                                  <a:solidFill>
                                    <a:schemeClr val="bg2"/>
                                  </a:solidFill>
                                  <a:latin typeface="Cambria Math" panose="02040503050406030204" pitchFamily="18" charset="0"/>
                                </a:rPr>
                              </m:ctrlPr>
                            </m:fPr>
                            <m:num>
                              <m:r>
                                <a:rPr lang="en-ZA" sz="1800" b="1" i="1">
                                  <a:solidFill>
                                    <a:schemeClr val="bg2"/>
                                  </a:solidFill>
                                  <a:latin typeface="Cambria Math" panose="02040503050406030204" pitchFamily="18" charset="0"/>
                                </a:rPr>
                                <m:t>𝑽</m:t>
                              </m:r>
                            </m:num>
                            <m:den>
                              <m:r>
                                <a:rPr lang="en-ZA" sz="1800" b="1" i="1">
                                  <a:solidFill>
                                    <a:schemeClr val="bg2"/>
                                  </a:solidFill>
                                  <a:latin typeface="Cambria Math" panose="02040503050406030204" pitchFamily="18" charset="0"/>
                                </a:rPr>
                                <m:t>𝑹</m:t>
                              </m:r>
                            </m:den>
                          </m:f>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𝐑</m:t>
                          </m:r>
                          <m:r>
                            <a:rPr lang="en-ZA" sz="1800" b="1">
                              <a:solidFill>
                                <a:schemeClr val="bg2"/>
                              </a:solidFill>
                              <a:latin typeface="Cambria Math" panose="02040503050406030204" pitchFamily="18" charset="0"/>
                            </a:rPr>
                            <m:t>&gt;</m:t>
                          </m:r>
                          <m:r>
                            <a:rPr lang="en-ZA" sz="1800" b="1" i="1">
                              <a:solidFill>
                                <a:schemeClr val="bg2"/>
                              </a:solidFill>
                              <a:latin typeface="Cambria Math" panose="02040503050406030204" pitchFamily="18" charset="0"/>
                            </a:rPr>
                            <m:t>𝟎</m:t>
                          </m:r>
                        </m:e>
                      </m:d>
                      <m:func>
                        <m:funcPr>
                          <m:ctrlPr>
                            <a:rPr lang="en-ZA" sz="1800" b="1" i="1">
                              <a:solidFill>
                                <a:schemeClr val="bg2"/>
                              </a:solidFill>
                              <a:latin typeface="Cambria Math" panose="02040503050406030204" pitchFamily="18" charset="0"/>
                            </a:rPr>
                          </m:ctrlPr>
                        </m:funcPr>
                        <m:fName>
                          <m:r>
                            <a:rPr lang="en-ZA" sz="1800" b="1" i="1">
                              <a:solidFill>
                                <a:schemeClr val="bg2"/>
                              </a:solidFill>
                              <a:latin typeface="Cambria Math" panose="02040503050406030204" pitchFamily="18" charset="0"/>
                            </a:rPr>
                            <m:t>𝑷𝒓</m:t>
                          </m:r>
                        </m:fName>
                        <m:e>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𝐑</m:t>
                          </m:r>
                          <m:r>
                            <a:rPr lang="en-ZA" sz="1800" b="1">
                              <a:solidFill>
                                <a:schemeClr val="bg2"/>
                              </a:solidFill>
                              <a:latin typeface="Cambria Math" panose="02040503050406030204" pitchFamily="18" charset="0"/>
                            </a:rPr>
                            <m:t>&gt;</m:t>
                          </m:r>
                          <m:r>
                            <a:rPr lang="en-ZA" sz="1800" b="1" i="1">
                              <a:solidFill>
                                <a:schemeClr val="bg2"/>
                              </a:solidFill>
                              <a:latin typeface="Cambria Math" panose="02040503050406030204" pitchFamily="18" charset="0"/>
                            </a:rPr>
                            <m:t>𝟎</m:t>
                          </m:r>
                          <m:r>
                            <a:rPr lang="en-ZA" sz="1800" b="1">
                              <a:solidFill>
                                <a:schemeClr val="bg2"/>
                              </a:solidFill>
                              <a:latin typeface="Cambria Math" panose="02040503050406030204" pitchFamily="18" charset="0"/>
                            </a:rPr>
                            <m:t>)</m:t>
                          </m:r>
                        </m:e>
                      </m:func>
                    </m:oMath>
                  </m:oMathPara>
                </a14:m>
                <a:endParaRPr lang="en-ZA" sz="1800" b="1" dirty="0" smtClean="0">
                  <a:solidFill>
                    <a:schemeClr val="bg2"/>
                  </a:solidFill>
                  <a:latin typeface="Arial" panose="020B0604020202020204" pitchFamily="34" charset="0"/>
                  <a:cs typeface="Arial" panose="020B0604020202020204" pitchFamily="34" charset="0"/>
                </a:endParaRPr>
              </a:p>
              <a:p>
                <a:r>
                  <a:rPr lang="en-US" sz="1800" b="1" dirty="0">
                    <a:solidFill>
                      <a:schemeClr val="bg2"/>
                    </a:solidFill>
                    <a:latin typeface="Arial" panose="020B0604020202020204" pitchFamily="34" charset="0"/>
                    <a:cs typeface="Arial" panose="020B0604020202020204" pitchFamily="34" charset="0"/>
                  </a:rPr>
                  <a:t>The FDR is the expected number of false (null)  hypotheses among the hypotheses declared to be  </a:t>
                </a:r>
                <a:r>
                  <a:rPr lang="en-US" sz="1800" b="1" dirty="0" smtClean="0">
                    <a:solidFill>
                      <a:schemeClr val="bg2"/>
                    </a:solidFill>
                    <a:latin typeface="Arial" panose="020B0604020202020204" pitchFamily="34" charset="0"/>
                    <a:cs typeface="Arial" panose="020B0604020202020204" pitchFamily="34" charset="0"/>
                  </a:rPr>
                  <a:t>significant.</a:t>
                </a:r>
                <a:endParaRPr lang="en-US" sz="1800" b="1" dirty="0">
                  <a:solidFill>
                    <a:schemeClr val="bg2"/>
                  </a:solidFill>
                  <a:latin typeface="Arial" panose="020B0604020202020204" pitchFamily="34" charset="0"/>
                  <a:cs typeface="Arial" panose="020B0604020202020204" pitchFamily="34" charset="0"/>
                </a:endParaRPr>
              </a:p>
              <a:p>
                <a:r>
                  <a:rPr lang="en-US" sz="1800" b="1" dirty="0">
                    <a:solidFill>
                      <a:schemeClr val="bg2"/>
                    </a:solidFill>
                    <a:latin typeface="Arial" panose="020B0604020202020204" pitchFamily="34" charset="0"/>
                    <a:cs typeface="Arial" panose="020B0604020202020204" pitchFamily="34" charset="0"/>
                  </a:rPr>
                  <a:t>There are many methods to “control” the FDR (i.e.,  keep it below some specified </a:t>
                </a:r>
                <a:r>
                  <a:rPr lang="en-US" sz="1800" b="1" dirty="0" smtClean="0">
                    <a:solidFill>
                      <a:schemeClr val="bg2"/>
                    </a:solidFill>
                    <a:latin typeface="Arial" panose="020B0604020202020204" pitchFamily="34" charset="0"/>
                    <a:cs typeface="Arial" panose="020B0604020202020204" pitchFamily="34" charset="0"/>
                  </a:rPr>
                  <a:t>quantity.)</a:t>
                </a:r>
                <a:endParaRPr lang="en-US" sz="1800" b="1" dirty="0">
                  <a:solidFill>
                    <a:schemeClr val="bg2"/>
                  </a:solidFill>
                  <a:latin typeface="Arial" panose="020B0604020202020204" pitchFamily="34" charset="0"/>
                  <a:cs typeface="Arial" panose="020B0604020202020204" pitchFamily="34" charset="0"/>
                </a:endParaRPr>
              </a:p>
              <a:p>
                <a:r>
                  <a:rPr lang="en-US" sz="1800" b="1" dirty="0">
                    <a:solidFill>
                      <a:schemeClr val="bg2"/>
                    </a:solidFill>
                    <a:latin typeface="Arial" panose="020B0604020202020204" pitchFamily="34" charset="0"/>
                    <a:cs typeface="Arial" panose="020B0604020202020204" pitchFamily="34" charset="0"/>
                  </a:rPr>
                  <a:t>The FDR is often thought of as more “powerful” than  controlling the chance any false positives.</a:t>
                </a:r>
              </a:p>
              <a:p>
                <a:r>
                  <a:rPr lang="en-US" sz="1800" b="1" dirty="0">
                    <a:solidFill>
                      <a:schemeClr val="bg2"/>
                    </a:solidFill>
                    <a:latin typeface="Arial" panose="020B0604020202020204" pitchFamily="34" charset="0"/>
                    <a:cs typeface="Arial" panose="020B0604020202020204" pitchFamily="34" charset="0"/>
                  </a:rPr>
                  <a:t>Also, one might argue that the FDR is a more relevant  quantity for some </a:t>
                </a:r>
                <a:r>
                  <a:rPr lang="en-US" sz="1800" b="1" dirty="0" smtClean="0">
                    <a:solidFill>
                      <a:schemeClr val="bg2"/>
                    </a:solidFill>
                    <a:latin typeface="Arial" panose="020B0604020202020204" pitchFamily="34" charset="0"/>
                    <a:cs typeface="Arial" panose="020B0604020202020204" pitchFamily="34" charset="0"/>
                  </a:rPr>
                  <a:t>purposes.</a:t>
                </a:r>
                <a:endParaRPr lang="en-US"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838200" y="998920"/>
                <a:ext cx="7899400" cy="5627159"/>
              </a:xfrm>
              <a:blipFill>
                <a:blip r:embed="rId3"/>
                <a:stretch>
                  <a:fillRect l="-541" t="-650"/>
                </a:stretch>
              </a:blipFill>
            </p:spPr>
            <p:txBody>
              <a:bodyPr/>
              <a:lstStyle/>
              <a:p>
                <a:r>
                  <a:rPr lang="en-US">
                    <a:noFill/>
                  </a:rPr>
                  <a:t> </a:t>
                </a:r>
              </a:p>
            </p:txBody>
          </p:sp>
        </mc:Fallback>
      </mc:AlternateContent>
    </p:spTree>
    <p:extLst>
      <p:ext uri="{BB962C8B-B14F-4D97-AF65-F5344CB8AC3E}">
        <p14:creationId xmlns:p14="http://schemas.microsoft.com/office/powerpoint/2010/main" val="880943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err="1" smtClean="0">
                <a:latin typeface="Comic Sans MS" panose="030F0702030302020204" pitchFamily="66" charset="0"/>
                <a:cs typeface="Times New Roman" panose="02020603050405020304" pitchFamily="18" charset="0"/>
              </a:rPr>
              <a:t>Benjamini</a:t>
            </a:r>
            <a:r>
              <a:rPr lang="en-US" altLang="en-US" sz="3600" dirty="0" smtClean="0">
                <a:latin typeface="Comic Sans MS" panose="030F0702030302020204" pitchFamily="66" charset="0"/>
                <a:cs typeface="Times New Roman" panose="02020603050405020304" pitchFamily="18" charset="0"/>
              </a:rPr>
              <a:t>-Hochberg Method</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838200" y="998920"/>
            <a:ext cx="7899400" cy="5627159"/>
          </a:xfrm>
        </p:spPr>
        <p:txBody>
          <a:bodyPr/>
          <a:lstStyle/>
          <a:p>
            <a:r>
              <a:rPr lang="en-US" sz="1800" b="1" dirty="0">
                <a:solidFill>
                  <a:schemeClr val="bg2"/>
                </a:solidFill>
                <a:latin typeface="Arial" panose="020B0604020202020204" pitchFamily="34" charset="0"/>
                <a:cs typeface="Arial" panose="020B0604020202020204" pitchFamily="34" charset="0"/>
              </a:rPr>
              <a:t>The simplest method, due to </a:t>
            </a:r>
            <a:r>
              <a:rPr lang="en-US" sz="1800" b="1" dirty="0" err="1">
                <a:solidFill>
                  <a:schemeClr val="bg2"/>
                </a:solidFill>
                <a:latin typeface="Arial" panose="020B0604020202020204" pitchFamily="34" charset="0"/>
                <a:cs typeface="Arial" panose="020B0604020202020204" pitchFamily="34" charset="0"/>
              </a:rPr>
              <a:t>Benjamini</a:t>
            </a:r>
            <a:r>
              <a:rPr lang="en-US" sz="1800" b="1" dirty="0">
                <a:solidFill>
                  <a:schemeClr val="bg2"/>
                </a:solidFill>
                <a:latin typeface="Arial" panose="020B0604020202020204" pitchFamily="34" charset="0"/>
                <a:cs typeface="Arial" panose="020B0604020202020204" pitchFamily="34" charset="0"/>
              </a:rPr>
              <a:t> and Hochberg, uses the  p-values directly.</a:t>
            </a:r>
          </a:p>
          <a:p>
            <a:r>
              <a:rPr lang="en-US" sz="1800" b="1" dirty="0">
                <a:solidFill>
                  <a:schemeClr val="bg2"/>
                </a:solidFill>
                <a:latin typeface="Arial" panose="020B0604020202020204" pitchFamily="34" charset="0"/>
                <a:cs typeface="Arial" panose="020B0604020202020204" pitchFamily="34" charset="0"/>
              </a:rPr>
              <a:t>Remember there are as many p-values as there are </a:t>
            </a:r>
            <a:r>
              <a:rPr lang="en-US" sz="1800" b="1" dirty="0" smtClean="0">
                <a:solidFill>
                  <a:schemeClr val="bg2"/>
                </a:solidFill>
                <a:latin typeface="Arial" panose="020B0604020202020204" pitchFamily="34" charset="0"/>
                <a:cs typeface="Arial" panose="020B0604020202020204" pitchFamily="34" charset="0"/>
              </a:rPr>
              <a:t>tests</a:t>
            </a:r>
            <a:endParaRPr lang="en-US" sz="1800" b="1" dirty="0">
              <a:solidFill>
                <a:schemeClr val="bg2"/>
              </a:solidFill>
              <a:latin typeface="Arial" panose="020B0604020202020204" pitchFamily="34" charset="0"/>
              <a:cs typeface="Arial" panose="020B0604020202020204" pitchFamily="34" charset="0"/>
            </a:endParaRPr>
          </a:p>
          <a:p>
            <a:r>
              <a:rPr lang="en-US" sz="1800" b="1" dirty="0">
                <a:solidFill>
                  <a:schemeClr val="bg2"/>
                </a:solidFill>
                <a:latin typeface="Arial" panose="020B0604020202020204" pitchFamily="34" charset="0"/>
                <a:cs typeface="Arial" panose="020B0604020202020204" pitchFamily="34" charset="0"/>
              </a:rPr>
              <a:t>First we order the p-values from smallest to largest, and call the</a:t>
            </a:r>
          </a:p>
          <a:p>
            <a:r>
              <a:rPr lang="en-US" sz="1800" b="1" dirty="0" smtClean="0">
                <a:solidFill>
                  <a:schemeClr val="bg2"/>
                </a:solidFill>
                <a:latin typeface="Arial" panose="020B0604020202020204" pitchFamily="34" charset="0"/>
                <a:cs typeface="Arial" panose="020B0604020202020204" pitchFamily="34" charset="0"/>
              </a:rPr>
              <a:t>i-</a:t>
            </a:r>
            <a:r>
              <a:rPr lang="en-US" sz="1800" b="1" dirty="0" err="1" smtClean="0">
                <a:solidFill>
                  <a:schemeClr val="bg2"/>
                </a:solidFill>
                <a:latin typeface="Arial" panose="020B0604020202020204" pitchFamily="34" charset="0"/>
                <a:cs typeface="Arial" panose="020B0604020202020204" pitchFamily="34" charset="0"/>
              </a:rPr>
              <a:t>th</a:t>
            </a:r>
            <a:r>
              <a:rPr lang="en-US" sz="1800" b="1" dirty="0" smtClean="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smallest p-value </a:t>
            </a:r>
            <a:r>
              <a:rPr lang="en-US" sz="1800" b="1" dirty="0" smtClean="0">
                <a:solidFill>
                  <a:schemeClr val="bg2"/>
                </a:solidFill>
                <a:latin typeface="Arial" panose="020B0604020202020204" pitchFamily="34" charset="0"/>
                <a:cs typeface="Arial" panose="020B0604020202020204" pitchFamily="34" charset="0"/>
              </a:rPr>
              <a:t>pi, i = 1</a:t>
            </a:r>
            <a:r>
              <a:rPr lang="en-US" sz="1800" b="1" dirty="0">
                <a:solidFill>
                  <a:schemeClr val="bg2"/>
                </a:solidFill>
                <a:latin typeface="Arial" panose="020B0604020202020204" pitchFamily="34" charset="0"/>
                <a:cs typeface="Arial" panose="020B0604020202020204" pitchFamily="34" charset="0"/>
              </a:rPr>
              <a:t>,…,m.</a:t>
            </a:r>
          </a:p>
          <a:p>
            <a:r>
              <a:rPr lang="en-US" sz="1800" b="1" dirty="0">
                <a:solidFill>
                  <a:schemeClr val="bg2"/>
                </a:solidFill>
                <a:latin typeface="Arial" panose="020B0604020202020204" pitchFamily="34" charset="0"/>
                <a:cs typeface="Arial" panose="020B0604020202020204" pitchFamily="34" charset="0"/>
              </a:rPr>
              <a:t>Then for each i we compare pi to </a:t>
            </a:r>
            <a:r>
              <a:rPr lang="el-GR" sz="1800" b="1" dirty="0" smtClean="0">
                <a:solidFill>
                  <a:schemeClr val="bg2"/>
                </a:solidFill>
                <a:latin typeface="Arial" panose="020B0604020202020204" pitchFamily="34" charset="0"/>
                <a:cs typeface="Arial" panose="020B0604020202020204" pitchFamily="34" charset="0"/>
              </a:rPr>
              <a:t>α</a:t>
            </a:r>
            <a:r>
              <a:rPr lang="en-US" sz="1800" b="1" dirty="0" smtClean="0">
                <a:solidFill>
                  <a:schemeClr val="bg2"/>
                </a:solidFill>
                <a:latin typeface="Arial" panose="020B0604020202020204" pitchFamily="34" charset="0"/>
                <a:cs typeface="Arial" panose="020B0604020202020204" pitchFamily="34" charset="0"/>
              </a:rPr>
              <a:t>i/m</a:t>
            </a:r>
            <a:r>
              <a:rPr lang="en-US" sz="1800" b="1" dirty="0">
                <a:solidFill>
                  <a:schemeClr val="bg2"/>
                </a:solidFill>
                <a:latin typeface="Arial" panose="020B0604020202020204" pitchFamily="34" charset="0"/>
                <a:cs typeface="Arial" panose="020B0604020202020204" pitchFamily="34" charset="0"/>
              </a:rPr>
              <a:t>, where </a:t>
            </a:r>
            <a:r>
              <a:rPr lang="el-GR" sz="1800" b="1" dirty="0" smtClean="0">
                <a:solidFill>
                  <a:schemeClr val="bg2"/>
                </a:solidFill>
                <a:latin typeface="Arial" panose="020B0604020202020204" pitchFamily="34" charset="0"/>
                <a:cs typeface="Arial" panose="020B0604020202020204" pitchFamily="34" charset="0"/>
              </a:rPr>
              <a:t>α</a:t>
            </a:r>
            <a:r>
              <a:rPr lang="en-US" sz="1800" b="1" dirty="0" smtClean="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is the value at  which we want to control the FDR </a:t>
            </a:r>
            <a:r>
              <a:rPr lang="en-US" sz="1800" b="1" dirty="0" smtClean="0">
                <a:solidFill>
                  <a:schemeClr val="bg2"/>
                </a:solidFill>
                <a:latin typeface="Arial" panose="020B0604020202020204" pitchFamily="34" charset="0"/>
                <a:cs typeface="Arial" panose="020B0604020202020204" pitchFamily="34" charset="0"/>
              </a:rPr>
              <a:t>(</a:t>
            </a:r>
            <a:r>
              <a:rPr lang="el-GR" sz="1800" b="1" dirty="0" smtClean="0">
                <a:solidFill>
                  <a:schemeClr val="bg2"/>
                </a:solidFill>
                <a:latin typeface="Arial" panose="020B0604020202020204" pitchFamily="34" charset="0"/>
                <a:cs typeface="Arial" panose="020B0604020202020204" pitchFamily="34" charset="0"/>
              </a:rPr>
              <a:t>α</a:t>
            </a:r>
            <a:r>
              <a:rPr lang="en-US" sz="1800" b="1" dirty="0" smtClean="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may be as high as 0.1 or  0.15)</a:t>
            </a:r>
          </a:p>
          <a:p>
            <a:r>
              <a:rPr lang="en-US" sz="1800" b="1" dirty="0">
                <a:solidFill>
                  <a:schemeClr val="bg2"/>
                </a:solidFill>
                <a:latin typeface="Arial" panose="020B0604020202020204" pitchFamily="34" charset="0"/>
                <a:cs typeface="Arial" panose="020B0604020202020204" pitchFamily="34" charset="0"/>
              </a:rPr>
              <a:t>Then we find the biggest i for which pi is less than or equal to</a:t>
            </a:r>
          </a:p>
          <a:p>
            <a:r>
              <a:rPr lang="en-US" sz="1800" b="1" dirty="0" smtClean="0">
                <a:solidFill>
                  <a:schemeClr val="bg2"/>
                </a:solidFill>
                <a:latin typeface="Arial" panose="020B0604020202020204" pitchFamily="34" charset="0"/>
                <a:cs typeface="Arial" panose="020B0604020202020204" pitchFamily="34" charset="0"/>
              </a:rPr>
              <a:t>αi/m</a:t>
            </a:r>
            <a:endParaRPr lang="en-US" sz="1800" b="1" dirty="0">
              <a:solidFill>
                <a:schemeClr val="bg2"/>
              </a:solidFill>
              <a:latin typeface="Arial" panose="020B0604020202020204" pitchFamily="34" charset="0"/>
              <a:cs typeface="Arial" panose="020B0604020202020204" pitchFamily="34" charset="0"/>
            </a:endParaRPr>
          </a:p>
          <a:p>
            <a:r>
              <a:rPr lang="en-US" sz="1800" b="1" dirty="0">
                <a:solidFill>
                  <a:schemeClr val="bg2"/>
                </a:solidFill>
                <a:latin typeface="Arial" panose="020B0604020202020204" pitchFamily="34" charset="0"/>
                <a:cs typeface="Arial" panose="020B0604020202020204" pitchFamily="34" charset="0"/>
              </a:rPr>
              <a:t>Once we find that biggest i, we reject that hypothesis, and all  the hypotheses (</a:t>
            </a:r>
            <a:r>
              <a:rPr lang="en-US" sz="1800" b="1" dirty="0" smtClean="0">
                <a:solidFill>
                  <a:schemeClr val="bg2"/>
                </a:solidFill>
                <a:latin typeface="Arial" panose="020B0604020202020204" pitchFamily="34" charset="0"/>
                <a:cs typeface="Arial" panose="020B0604020202020204" pitchFamily="34" charset="0"/>
              </a:rPr>
              <a:t>tests</a:t>
            </a:r>
            <a:r>
              <a:rPr lang="en-US" sz="1800" b="1" dirty="0">
                <a:solidFill>
                  <a:schemeClr val="bg2"/>
                </a:solidFill>
                <a:latin typeface="Arial" panose="020B0604020202020204" pitchFamily="34" charset="0"/>
                <a:cs typeface="Arial" panose="020B0604020202020204" pitchFamily="34" charset="0"/>
              </a:rPr>
              <a:t>) with smaller p-values.</a:t>
            </a:r>
          </a:p>
          <a:p>
            <a:endParaRPr lang="en-ZA" sz="1800" b="1" dirty="0">
              <a:solidFill>
                <a:schemeClr val="bg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146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 </a:t>
            </a:r>
            <a:r>
              <a:rPr lang="en-US" altLang="en-US" sz="3600" dirty="0" err="1" smtClean="0">
                <a:latin typeface="Comic Sans MS" panose="030F0702030302020204" pitchFamily="66" charset="0"/>
                <a:cs typeface="Times New Roman" panose="02020603050405020304" pitchFamily="18" charset="0"/>
              </a:rPr>
              <a:t>Bonferroni</a:t>
            </a:r>
            <a:r>
              <a:rPr lang="en-US" altLang="en-US" sz="3600" dirty="0" smtClean="0">
                <a:latin typeface="Comic Sans MS" panose="030F0702030302020204" pitchFamily="66" charset="0"/>
                <a:cs typeface="Times New Roman" panose="02020603050405020304" pitchFamily="18" charset="0"/>
              </a:rPr>
              <a:t> Adjustment</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57809" y="998920"/>
                <a:ext cx="8379791" cy="5627159"/>
              </a:xfrm>
            </p:spPr>
            <p:txBody>
              <a:bodyPr/>
              <a:lstStyle/>
              <a:p>
                <a:r>
                  <a:rPr lang="en-US" sz="1800" b="1" dirty="0" smtClean="0">
                    <a:solidFill>
                      <a:schemeClr val="bg2"/>
                    </a:solidFill>
                    <a:latin typeface="Arial" panose="020B0604020202020204" pitchFamily="34" charset="0"/>
                    <a:cs typeface="Arial" panose="020B0604020202020204" pitchFamily="34" charset="0"/>
                  </a:rPr>
                  <a:t>The family-wise </a:t>
                </a:r>
                <a:r>
                  <a:rPr lang="en-US" sz="1800" b="1" dirty="0">
                    <a:solidFill>
                      <a:schemeClr val="bg2"/>
                    </a:solidFill>
                    <a:latin typeface="Arial" panose="020B0604020202020204" pitchFamily="34" charset="0"/>
                    <a:cs typeface="Arial" panose="020B0604020202020204" pitchFamily="34" charset="0"/>
                  </a:rPr>
                  <a:t>error rate (FWER) is </a:t>
                </a:r>
                <a:r>
                  <a:rPr lang="en-US" sz="1800" b="1" dirty="0" smtClean="0">
                    <a:solidFill>
                      <a:schemeClr val="bg2"/>
                    </a:solidFill>
                    <a:latin typeface="Arial" panose="020B0604020202020204" pitchFamily="34" charset="0"/>
                    <a:cs typeface="Arial" panose="020B0604020202020204" pitchFamily="34" charset="0"/>
                  </a:rPr>
                  <a:t>defined </a:t>
                </a:r>
                <a:r>
                  <a:rPr lang="en-US" sz="1800" b="1" dirty="0">
                    <a:solidFill>
                      <a:schemeClr val="bg2"/>
                    </a:solidFill>
                    <a:latin typeface="Arial" panose="020B0604020202020204" pitchFamily="34" charset="0"/>
                    <a:cs typeface="Arial" panose="020B0604020202020204" pitchFamily="34" charset="0"/>
                  </a:rPr>
                  <a:t>as the probability of making at least </a:t>
                </a:r>
                <a:r>
                  <a:rPr lang="en-US" sz="1800" b="1" dirty="0" smtClean="0">
                    <a:solidFill>
                      <a:schemeClr val="bg2"/>
                    </a:solidFill>
                    <a:latin typeface="Arial" panose="020B0604020202020204" pitchFamily="34" charset="0"/>
                    <a:cs typeface="Arial" panose="020B0604020202020204" pitchFamily="34" charset="0"/>
                  </a:rPr>
                  <a:t>one </a:t>
                </a:r>
                <a:r>
                  <a:rPr lang="en-US" sz="1800" b="1" dirty="0">
                    <a:solidFill>
                      <a:schemeClr val="bg2"/>
                    </a:solidFill>
                    <a:latin typeface="Arial" panose="020B0604020202020204" pitchFamily="34" charset="0"/>
                    <a:cs typeface="Arial" panose="020B0604020202020204" pitchFamily="34" charset="0"/>
                  </a:rPr>
                  <a:t>Type-1 error: FWER = </a:t>
                </a:r>
                <a:r>
                  <a:rPr lang="en-US" sz="1800" b="1" dirty="0" err="1">
                    <a:solidFill>
                      <a:schemeClr val="bg2"/>
                    </a:solidFill>
                    <a:latin typeface="Arial" panose="020B0604020202020204" pitchFamily="34" charset="0"/>
                    <a:cs typeface="Arial" panose="020B0604020202020204" pitchFamily="34" charset="0"/>
                  </a:rPr>
                  <a:t>Pr</a:t>
                </a:r>
                <a:r>
                  <a:rPr lang="en-US" sz="1800" b="1" dirty="0">
                    <a:solidFill>
                      <a:schemeClr val="bg2"/>
                    </a:solidFill>
                    <a:latin typeface="Arial" panose="020B0604020202020204" pitchFamily="34" charset="0"/>
                    <a:cs typeface="Arial" panose="020B0604020202020204" pitchFamily="34" charset="0"/>
                  </a:rPr>
                  <a:t>(V </a:t>
                </a:r>
                <a:r>
                  <a:rPr lang="en-US" sz="1800" b="1" dirty="0" smtClean="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1)</a:t>
                </a:r>
                <a:endParaRPr lang="en-ZA" sz="1800" b="1" dirty="0">
                  <a:solidFill>
                    <a:schemeClr val="bg2"/>
                  </a:solidFill>
                  <a:latin typeface="Arial" panose="020B0604020202020204" pitchFamily="34" charset="0"/>
                  <a:cs typeface="Arial" panose="020B0604020202020204" pitchFamily="34" charset="0"/>
                </a:endParaRPr>
              </a:p>
              <a:p>
                <a:r>
                  <a:rPr lang="en-ZA" sz="1800" b="1" dirty="0">
                    <a:solidFill>
                      <a:schemeClr val="bg2"/>
                    </a:solidFill>
                    <a:latin typeface="Arial" panose="020B0604020202020204" pitchFamily="34" charset="0"/>
                    <a:cs typeface="Arial" panose="020B0604020202020204" pitchFamily="34" charset="0"/>
                  </a:rPr>
                  <a:t>Suppose we conduct </a:t>
                </a:r>
                <a:r>
                  <a:rPr lang="en-ZA" sz="1800" i="1" dirty="0">
                    <a:solidFill>
                      <a:schemeClr val="bg2"/>
                    </a:solidFill>
                    <a:latin typeface="Arial" panose="020B0604020202020204" pitchFamily="34" charset="0"/>
                    <a:cs typeface="Arial" panose="020B0604020202020204" pitchFamily="34" charset="0"/>
                  </a:rPr>
                  <a:t>m</a:t>
                </a:r>
                <a:r>
                  <a:rPr lang="en-ZA" sz="1800" b="1" dirty="0">
                    <a:solidFill>
                      <a:schemeClr val="bg2"/>
                    </a:solidFill>
                    <a:latin typeface="Arial" panose="020B0604020202020204" pitchFamily="34" charset="0"/>
                    <a:cs typeface="Arial" panose="020B0604020202020204" pitchFamily="34" charset="0"/>
                  </a:rPr>
                  <a:t> tests of hypotheses, given by </a:t>
                </a:r>
                <a14:m>
                  <m:oMath xmlns:m="http://schemas.openxmlformats.org/officeDocument/2006/math">
                    <m:sSubSup>
                      <m:sSubSupPr>
                        <m:ctrlPr>
                          <a:rPr lang="en-ZA" sz="1800" b="1" i="1">
                            <a:solidFill>
                              <a:schemeClr val="bg2"/>
                            </a:solidFill>
                            <a:latin typeface="Cambria Math" panose="02040503050406030204" pitchFamily="18" charset="0"/>
                          </a:rPr>
                        </m:ctrlPr>
                      </m:sSubSup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up>
                        <m:r>
                          <a:rPr lang="en-ZA" sz="1800" b="1" i="1">
                            <a:solidFill>
                              <a:schemeClr val="bg2"/>
                            </a:solidFill>
                            <a:latin typeface="Cambria Math" panose="02040503050406030204" pitchFamily="18" charset="0"/>
                          </a:rPr>
                          <m:t>𝟏</m:t>
                        </m:r>
                      </m:sup>
                    </m:sSubSup>
                    <m:r>
                      <a:rPr lang="en-ZA" sz="1800" b="1">
                        <a:solidFill>
                          <a:schemeClr val="bg2"/>
                        </a:solidFill>
                        <a:latin typeface="Cambria Math" panose="02040503050406030204" pitchFamily="18" charset="0"/>
                      </a:rPr>
                      <m:t>, . . . , </m:t>
                    </m:r>
                    <m:sSubSup>
                      <m:sSubSupPr>
                        <m:ctrlPr>
                          <a:rPr lang="en-ZA" sz="1800" b="1" i="1">
                            <a:solidFill>
                              <a:schemeClr val="bg2"/>
                            </a:solidFill>
                            <a:latin typeface="Cambria Math" panose="02040503050406030204" pitchFamily="18" charset="0"/>
                          </a:rPr>
                        </m:ctrlPr>
                      </m:sSubSup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up>
                        <m:r>
                          <a:rPr lang="en-ZA" sz="1800" b="1" i="1">
                            <a:solidFill>
                              <a:schemeClr val="bg2"/>
                            </a:solidFill>
                            <a:latin typeface="Cambria Math" panose="02040503050406030204" pitchFamily="18" charset="0"/>
                          </a:rPr>
                          <m:t>𝒎</m:t>
                        </m:r>
                      </m:sup>
                    </m:sSubSup>
                  </m:oMath>
                </a14:m>
                <a:r>
                  <a:rPr lang="en-ZA" sz="1800" b="1" dirty="0">
                    <a:solidFill>
                      <a:schemeClr val="bg2"/>
                    </a:solidFill>
                    <a:latin typeface="Arial" panose="020B0604020202020204" pitchFamily="34" charset="0"/>
                    <a:cs typeface="Arial" panose="020B0604020202020204" pitchFamily="34" charset="0"/>
                  </a:rPr>
                  <a:t>, and each test is controlled at a level equal to α.</a:t>
                </a:r>
              </a:p>
              <a:p>
                <a:r>
                  <a:rPr lang="en-ZA" sz="1800" b="1" dirty="0">
                    <a:solidFill>
                      <a:schemeClr val="bg2"/>
                    </a:solidFill>
                    <a:latin typeface="Arial" panose="020B0604020202020204" pitchFamily="34" charset="0"/>
                    <a:cs typeface="Arial" panose="020B0604020202020204" pitchFamily="34" charset="0"/>
                  </a:rPr>
                  <a:t>This means that, for any single test, the probability of incorrectly rejecting the null hypothesis, the </a:t>
                </a:r>
                <a:r>
                  <a:rPr lang="en-ZA" sz="1800" b="1" dirty="0" smtClean="0">
                    <a:solidFill>
                      <a:schemeClr val="bg2"/>
                    </a:solidFill>
                    <a:latin typeface="Arial" panose="020B0604020202020204" pitchFamily="34" charset="0"/>
                    <a:cs typeface="Arial" panose="020B0604020202020204" pitchFamily="34" charset="0"/>
                  </a:rPr>
                  <a:t>Type-1 </a:t>
                </a:r>
                <a:r>
                  <a:rPr lang="en-ZA" sz="1800" b="1" dirty="0">
                    <a:solidFill>
                      <a:schemeClr val="bg2"/>
                    </a:solidFill>
                    <a:latin typeface="Arial" panose="020B0604020202020204" pitchFamily="34" charset="0"/>
                    <a:cs typeface="Arial" panose="020B0604020202020204" pitchFamily="34" charset="0"/>
                  </a:rPr>
                  <a:t>error rate, is less than or equal to </a:t>
                </a:r>
                <a:r>
                  <a:rPr lang="en-ZA" sz="1800" i="1" dirty="0">
                    <a:solidFill>
                      <a:schemeClr val="bg2"/>
                    </a:solidFill>
                    <a:latin typeface="Arial" panose="020B0604020202020204" pitchFamily="34" charset="0"/>
                    <a:cs typeface="Arial" panose="020B0604020202020204" pitchFamily="34" charset="0"/>
                  </a:rPr>
                  <a:t>α</a:t>
                </a:r>
                <a:r>
                  <a:rPr lang="en-ZA" sz="1800" b="1" dirty="0">
                    <a:solidFill>
                      <a:schemeClr val="bg2"/>
                    </a:solidFill>
                    <a:latin typeface="Arial" panose="020B0604020202020204" pitchFamily="34" charset="0"/>
                    <a:cs typeface="Arial" panose="020B0604020202020204" pitchFamily="34" charset="0"/>
                  </a:rPr>
                  <a:t>.</a:t>
                </a:r>
              </a:p>
              <a:p>
                <a:r>
                  <a:rPr lang="en-ZA" sz="1800" b="1" dirty="0">
                    <a:solidFill>
                      <a:schemeClr val="bg2"/>
                    </a:solidFill>
                    <a:latin typeface="Arial" panose="020B0604020202020204" pitchFamily="34" charset="0"/>
                    <a:cs typeface="Arial" panose="020B0604020202020204" pitchFamily="34" charset="0"/>
                  </a:rPr>
                  <a:t>Formally, we write this as</a:t>
                </a:r>
              </a:p>
              <a:p>
                <a:pPr marL="0" indent="0">
                  <a:buNone/>
                </a:pPr>
                <a14:m>
                  <m:oMathPara xmlns:m="http://schemas.openxmlformats.org/officeDocument/2006/math">
                    <m:oMathParaPr>
                      <m:jc m:val="centerGroup"/>
                    </m:oMathParaPr>
                    <m:oMath xmlns:m="http://schemas.openxmlformats.org/officeDocument/2006/math">
                      <m:func>
                        <m:funcPr>
                          <m:ctrlPr>
                            <a:rPr lang="en-ZA" sz="1800" b="1" i="1">
                              <a:solidFill>
                                <a:schemeClr val="bg2"/>
                              </a:solidFill>
                              <a:latin typeface="Cambria Math" panose="02040503050406030204" pitchFamily="18" charset="0"/>
                            </a:rPr>
                          </m:ctrlPr>
                        </m:funcPr>
                        <m:fName>
                          <m:r>
                            <a:rPr lang="en-ZA" sz="1800" b="1" i="1">
                              <a:solidFill>
                                <a:schemeClr val="bg2"/>
                              </a:solidFill>
                              <a:latin typeface="Cambria Math" panose="02040503050406030204" pitchFamily="18" charset="0"/>
                            </a:rPr>
                            <m:t>𝑷𝒓</m:t>
                          </m:r>
                        </m:fName>
                        <m:e>
                          <m:d>
                            <m:dPr>
                              <m:endChr m:val="|"/>
                              <m:ctrlPr>
                                <a:rPr lang="en-ZA" sz="1800" b="1" i="1">
                                  <a:solidFill>
                                    <a:schemeClr val="bg2"/>
                                  </a:solidFill>
                                  <a:latin typeface="Cambria Math" panose="02040503050406030204" pitchFamily="18" charset="0"/>
                                </a:rPr>
                              </m:ctrlPr>
                            </m:dPr>
                            <m:e>
                              <m:r>
                                <a:rPr lang="en-US" sz="1800" b="1" i="1" smtClean="0">
                                  <a:solidFill>
                                    <a:schemeClr val="bg2"/>
                                  </a:solidFill>
                                  <a:latin typeface="Cambria Math" panose="02040503050406030204" pitchFamily="18" charset="0"/>
                                </a:rPr>
                                <m:t>𝑹</m:t>
                              </m:r>
                              <m:r>
                                <a:rPr lang="en-ZA" sz="1800" b="1" i="1">
                                  <a:solidFill>
                                    <a:schemeClr val="bg2"/>
                                  </a:solidFill>
                                  <a:latin typeface="Cambria Math" panose="02040503050406030204" pitchFamily="18" charset="0"/>
                                </a:rPr>
                                <m:t>𝒆𝒋𝒆𝒄𝒕</m:t>
                              </m:r>
                              <m:r>
                                <a:rPr lang="en-ZA" sz="1800" b="1">
                                  <a:solidFill>
                                    <a:schemeClr val="bg2"/>
                                  </a:solidFill>
                                  <a:latin typeface="Cambria Math" panose="02040503050406030204" pitchFamily="18" charset="0"/>
                                </a:rPr>
                                <m:t> </m:t>
                              </m:r>
                              <m:sSubSup>
                                <m:sSubSupPr>
                                  <m:ctrlPr>
                                    <a:rPr lang="en-ZA" sz="1800" b="1" i="1">
                                      <a:solidFill>
                                        <a:schemeClr val="bg2"/>
                                      </a:solidFill>
                                      <a:latin typeface="Cambria Math" panose="02040503050406030204" pitchFamily="18" charset="0"/>
                                    </a:rPr>
                                  </m:ctrlPr>
                                </m:sSubSup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up>
                                  <m:r>
                                    <a:rPr lang="en-ZA" sz="1800" b="1" i="1">
                                      <a:solidFill>
                                        <a:schemeClr val="bg2"/>
                                      </a:solidFill>
                                      <a:latin typeface="Cambria Math" panose="02040503050406030204" pitchFamily="18" charset="0"/>
                                    </a:rPr>
                                    <m:t>𝒊</m:t>
                                  </m:r>
                                </m:sup>
                              </m:sSubSup>
                              <m:r>
                                <a:rPr lang="en-ZA" sz="1800" b="1">
                                  <a:solidFill>
                                    <a:schemeClr val="bg2"/>
                                  </a:solidFill>
                                  <a:latin typeface="Cambria Math" panose="02040503050406030204" pitchFamily="18" charset="0"/>
                                </a:rPr>
                                <m:t> </m:t>
                              </m:r>
                            </m:e>
                          </m:d>
                          <m:sSubSup>
                            <m:sSubSupPr>
                              <m:ctrlPr>
                                <a:rPr lang="en-ZA" sz="1800" b="1" i="1">
                                  <a:solidFill>
                                    <a:schemeClr val="bg2"/>
                                  </a:solidFill>
                                  <a:latin typeface="Cambria Math" panose="02040503050406030204" pitchFamily="18" charset="0"/>
                                </a:rPr>
                              </m:ctrlPr>
                            </m:sSubSup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up>
                              <m:r>
                                <a:rPr lang="en-ZA" sz="1800" b="1" i="1">
                                  <a:solidFill>
                                    <a:schemeClr val="bg2"/>
                                  </a:solidFill>
                                  <a:latin typeface="Cambria Math" panose="02040503050406030204" pitchFamily="18" charset="0"/>
                                </a:rPr>
                                <m:t>𝒊</m:t>
                              </m:r>
                            </m:sup>
                          </m:sSubSup>
                          <m:r>
                            <a:rPr lang="en-ZA" sz="1800" b="1">
                              <a:solidFill>
                                <a:schemeClr val="bg2"/>
                              </a:solidFill>
                              <a:latin typeface="Cambria Math" panose="02040503050406030204" pitchFamily="18" charset="0"/>
                            </a:rPr>
                            <m:t> </m:t>
                          </m:r>
                          <m:r>
                            <a:rPr lang="en-ZA" sz="1800" b="1" i="1">
                              <a:solidFill>
                                <a:schemeClr val="bg2"/>
                              </a:solidFill>
                              <a:latin typeface="Cambria Math" panose="02040503050406030204" pitchFamily="18" charset="0"/>
                            </a:rPr>
                            <m:t>𝒕𝒓𝒖𝒆</m:t>
                          </m:r>
                          <m:r>
                            <a:rPr lang="en-ZA" sz="1800" b="1">
                              <a:solidFill>
                                <a:schemeClr val="bg2"/>
                              </a:solidFill>
                              <a:latin typeface="Cambria Math" panose="02040503050406030204" pitchFamily="18" charset="0"/>
                            </a:rPr>
                            <m:t>)&lt; </m:t>
                          </m:r>
                          <m:r>
                            <a:rPr lang="en-ZA" sz="1800" b="1" i="1">
                              <a:solidFill>
                                <a:schemeClr val="bg2"/>
                              </a:solidFill>
                              <a:latin typeface="Cambria Math" panose="02040503050406030204" pitchFamily="18" charset="0"/>
                            </a:rPr>
                            <m:t>𝜶</m:t>
                          </m:r>
                        </m:e>
                      </m:func>
                    </m:oMath>
                  </m:oMathPara>
                </a14:m>
                <a:endParaRPr lang="en-ZA" sz="1800" b="1" dirty="0">
                  <a:solidFill>
                    <a:schemeClr val="bg2"/>
                  </a:solidFill>
                  <a:latin typeface="Arial" panose="020B0604020202020204" pitchFamily="34" charset="0"/>
                  <a:cs typeface="Arial" panose="020B0604020202020204" pitchFamily="34" charset="0"/>
                </a:endParaRPr>
              </a:p>
              <a:p>
                <a:pPr marL="0" indent="0">
                  <a:buNone/>
                </a:pPr>
                <a:r>
                  <a:rPr lang="en-ZA" sz="1800" b="1" dirty="0" smtClean="0">
                    <a:solidFill>
                      <a:schemeClr val="bg2"/>
                    </a:solidFill>
                    <a:latin typeface="Arial" panose="020B0604020202020204" pitchFamily="34" charset="0"/>
                    <a:cs typeface="Arial" panose="020B0604020202020204" pitchFamily="34" charset="0"/>
                  </a:rPr>
                  <a:t>     for </a:t>
                </a:r>
                <a:r>
                  <a:rPr lang="en-ZA" sz="1800" b="1" dirty="0">
                    <a:solidFill>
                      <a:schemeClr val="bg2"/>
                    </a:solidFill>
                    <a:latin typeface="Arial" panose="020B0604020202020204" pitchFamily="34" charset="0"/>
                    <a:cs typeface="Arial" panose="020B0604020202020204" pitchFamily="34" charset="0"/>
                  </a:rPr>
                  <a:t>all </a:t>
                </a:r>
                <a14:m>
                  <m:oMath xmlns:m="http://schemas.openxmlformats.org/officeDocument/2006/math">
                    <m:r>
                      <a:rPr lang="en-ZA" sz="1800" b="1" i="1">
                        <a:solidFill>
                          <a:schemeClr val="bg2"/>
                        </a:solidFill>
                        <a:latin typeface="Cambria Math" panose="02040503050406030204" pitchFamily="18" charset="0"/>
                      </a:rPr>
                      <m:t>𝒊</m:t>
                    </m:r>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𝟏</m:t>
                    </m:r>
                    <m:r>
                      <a:rPr lang="en-ZA" sz="1800" b="1">
                        <a:solidFill>
                          <a:schemeClr val="bg2"/>
                        </a:solidFill>
                        <a:latin typeface="Cambria Math" panose="02040503050406030204" pitchFamily="18" charset="0"/>
                      </a:rPr>
                      <m:t>, …, </m:t>
                    </m:r>
                    <m:r>
                      <a:rPr lang="en-ZA" sz="1800" b="1" i="1">
                        <a:solidFill>
                          <a:schemeClr val="bg2"/>
                        </a:solidFill>
                        <a:latin typeface="Cambria Math" panose="02040503050406030204" pitchFamily="18" charset="0"/>
                      </a:rPr>
                      <m:t>𝒎</m:t>
                    </m:r>
                  </m:oMath>
                </a14:m>
                <a:endParaRPr lang="en-ZA" sz="1800" b="1" dirty="0">
                  <a:solidFill>
                    <a:schemeClr val="bg2"/>
                  </a:solidFill>
                  <a:latin typeface="Arial" panose="020B0604020202020204" pitchFamily="34" charset="0"/>
                  <a:cs typeface="Arial" panose="020B0604020202020204" pitchFamily="34" charset="0"/>
                </a:endParaRPr>
              </a:p>
              <a:p>
                <a:r>
                  <a:rPr lang="en-ZA" sz="1800" b="1" dirty="0">
                    <a:solidFill>
                      <a:schemeClr val="bg2"/>
                    </a:solidFill>
                    <a:latin typeface="Arial" panose="020B0604020202020204" pitchFamily="34" charset="0"/>
                    <a:cs typeface="Arial" panose="020B0604020202020204" pitchFamily="34" charset="0"/>
                  </a:rPr>
                  <a:t>Now let us assume that these tests are independent of one another, so that the likelihood of rejecting a test does not depend on the outcomes of other tests.</a:t>
                </a:r>
              </a:p>
              <a:p>
                <a:r>
                  <a:rPr lang="en-ZA" sz="1800" b="1" dirty="0">
                    <a:solidFill>
                      <a:schemeClr val="bg2"/>
                    </a:solidFill>
                    <a:latin typeface="Arial" panose="020B0604020202020204" pitchFamily="34" charset="0"/>
                    <a:cs typeface="Arial" panose="020B0604020202020204" pitchFamily="34" charset="0"/>
                  </a:rPr>
                  <a:t>If we let </a:t>
                </a:r>
                <a14:m>
                  <m:oMath xmlns:m="http://schemas.openxmlformats.org/officeDocument/2006/math">
                    <m:r>
                      <a:rPr lang="en-ZA" sz="1800" b="1" i="1">
                        <a:solidFill>
                          <a:schemeClr val="bg2"/>
                        </a:solidFill>
                        <a:latin typeface="Cambria Math" panose="02040503050406030204" pitchFamily="18" charset="0"/>
                      </a:rPr>
                      <m:t>𝑽</m:t>
                    </m:r>
                  </m:oMath>
                </a14:m>
                <a:r>
                  <a:rPr lang="en-ZA" sz="1800" b="1" dirty="0">
                    <a:solidFill>
                      <a:schemeClr val="bg2"/>
                    </a:solidFill>
                    <a:latin typeface="Arial" panose="020B0604020202020204" pitchFamily="34" charset="0"/>
                    <a:cs typeface="Arial" panose="020B0604020202020204" pitchFamily="34" charset="0"/>
                  </a:rPr>
                  <a:t> be the number of true nulls that are declared significant, then the probability of incorrectly rejecting at least one null hypothesis is given by</a:t>
                </a:r>
              </a:p>
              <a:p>
                <a:pPr marL="0" indent="0">
                  <a:buNone/>
                </a:pPr>
                <a:endParaRPr lang="en-ZA" sz="1800" b="1" dirty="0">
                  <a:solidFill>
                    <a:schemeClr val="bg2"/>
                  </a:solidFill>
                  <a:latin typeface="Arial" panose="020B0604020202020204" pitchFamily="34" charset="0"/>
                  <a:cs typeface="Arial" panose="020B0604020202020204" pitchFamily="34" charset="0"/>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357809" y="998920"/>
                <a:ext cx="8379791" cy="5627159"/>
              </a:xfrm>
              <a:blipFill>
                <a:blip r:embed="rId3"/>
                <a:stretch>
                  <a:fillRect l="-509" t="-650" r="-364"/>
                </a:stretch>
              </a:blipFill>
            </p:spPr>
            <p:txBody>
              <a:bodyPr/>
              <a:lstStyle/>
              <a:p>
                <a:r>
                  <a:rPr lang="en-US">
                    <a:noFill/>
                  </a:rPr>
                  <a:t> </a:t>
                </a:r>
              </a:p>
            </p:txBody>
          </p:sp>
        </mc:Fallback>
      </mc:AlternateContent>
    </p:spTree>
    <p:extLst>
      <p:ext uri="{BB962C8B-B14F-4D97-AF65-F5344CB8AC3E}">
        <p14:creationId xmlns:p14="http://schemas.microsoft.com/office/powerpoint/2010/main" val="2990624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err="1" smtClean="0">
                <a:latin typeface="Comic Sans MS" panose="030F0702030302020204" pitchFamily="66" charset="0"/>
                <a:cs typeface="Times New Roman" panose="02020603050405020304" pitchFamily="18" charset="0"/>
              </a:rPr>
              <a:t>Bonferroni</a:t>
            </a:r>
            <a:r>
              <a:rPr lang="en-US" altLang="en-US" sz="3600" dirty="0" smtClean="0">
                <a:latin typeface="Comic Sans MS" panose="030F0702030302020204" pitchFamily="66" charset="0"/>
                <a:cs typeface="Times New Roman" panose="02020603050405020304" pitchFamily="18" charset="0"/>
              </a:rPr>
              <a:t> Adjustment</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18053" y="998920"/>
                <a:ext cx="8534400" cy="5627159"/>
              </a:xfrm>
            </p:spPr>
            <p:txBody>
              <a:bodyPr/>
              <a:lstStyle/>
              <a:p>
                <a:r>
                  <a:rPr lang="en-ZA" sz="1800" b="1" dirty="0">
                    <a:solidFill>
                      <a:schemeClr val="bg2"/>
                    </a:solidFill>
                    <a:latin typeface="Arial" panose="020B0604020202020204" pitchFamily="34" charset="0"/>
                    <a:cs typeface="Arial" panose="020B0604020202020204" pitchFamily="34" charset="0"/>
                  </a:rPr>
                  <a:t>The </a:t>
                </a:r>
                <a:r>
                  <a:rPr lang="en-ZA" sz="1800" b="1" i="1" dirty="0">
                    <a:solidFill>
                      <a:schemeClr val="bg2"/>
                    </a:solidFill>
                    <a:latin typeface="Arial" panose="020B0604020202020204" pitchFamily="34" charset="0"/>
                    <a:cs typeface="Arial" panose="020B0604020202020204" pitchFamily="34" charset="0"/>
                  </a:rPr>
                  <a:t>Bonferroni</a:t>
                </a:r>
                <a:r>
                  <a:rPr lang="en-ZA" sz="1800" b="1" dirty="0">
                    <a:solidFill>
                      <a:schemeClr val="bg2"/>
                    </a:solidFill>
                    <a:latin typeface="Arial" panose="020B0604020202020204" pitchFamily="34" charset="0"/>
                    <a:cs typeface="Arial" panose="020B0604020202020204" pitchFamily="34" charset="0"/>
                  </a:rPr>
                  <a:t> adjustment for multiple comparisons is </a:t>
                </a:r>
                <a:r>
                  <a:rPr lang="en-ZA" sz="1800" b="1" dirty="0" smtClean="0">
                    <a:solidFill>
                      <a:schemeClr val="bg2"/>
                    </a:solidFill>
                    <a:latin typeface="Arial" panose="020B0604020202020204" pitchFamily="34" charset="0"/>
                    <a:cs typeface="Arial" panose="020B0604020202020204" pitchFamily="34" charset="0"/>
                  </a:rPr>
                  <a:t>probably </a:t>
                </a:r>
                <a:r>
                  <a:rPr lang="en-ZA" sz="1800" b="1" dirty="0">
                    <a:solidFill>
                      <a:schemeClr val="bg2"/>
                    </a:solidFill>
                    <a:latin typeface="Arial" panose="020B0604020202020204" pitchFamily="34" charset="0"/>
                    <a:cs typeface="Arial" panose="020B0604020202020204" pitchFamily="34" charset="0"/>
                  </a:rPr>
                  <a:t>the most straightforward </a:t>
                </a:r>
                <a:r>
                  <a:rPr lang="en-ZA" sz="1800" b="1" dirty="0" smtClean="0">
                    <a:solidFill>
                      <a:schemeClr val="bg2"/>
                    </a:solidFill>
                    <a:latin typeface="Arial" panose="020B0604020202020204" pitchFamily="34" charset="0"/>
                    <a:cs typeface="Arial" panose="020B0604020202020204" pitchFamily="34" charset="0"/>
                  </a:rPr>
                  <a:t>single-step adjustment </a:t>
                </a:r>
                <a:r>
                  <a:rPr lang="en-ZA" sz="1800" b="1" dirty="0">
                    <a:solidFill>
                      <a:schemeClr val="bg2"/>
                    </a:solidFill>
                    <a:latin typeface="Arial" panose="020B0604020202020204" pitchFamily="34" charset="0"/>
                    <a:cs typeface="Arial" panose="020B0604020202020204" pitchFamily="34" charset="0"/>
                  </a:rPr>
                  <a:t>to apply.</a:t>
                </a:r>
              </a:p>
              <a:p>
                <a:r>
                  <a:rPr lang="en-ZA" sz="1800" b="1" dirty="0">
                    <a:solidFill>
                      <a:schemeClr val="bg2"/>
                    </a:solidFill>
                    <a:latin typeface="Arial" panose="020B0604020202020204" pitchFamily="34" charset="0"/>
                    <a:cs typeface="Arial" panose="020B0604020202020204" pitchFamily="34" charset="0"/>
                  </a:rPr>
                  <a:t>It involves simply using </a:t>
                </a:r>
                <a14:m>
                  <m:oMath xmlns:m="http://schemas.openxmlformats.org/officeDocument/2006/math">
                    <m:sSup>
                      <m:sSupPr>
                        <m:ctrlPr>
                          <a:rPr lang="en-ZA" sz="1800" b="1" i="1" smtClean="0">
                            <a:solidFill>
                              <a:schemeClr val="bg2"/>
                            </a:solidFill>
                            <a:latin typeface="Cambria Math" panose="02040503050406030204" pitchFamily="18" charset="0"/>
                          </a:rPr>
                        </m:ctrlPr>
                      </m:sSupPr>
                      <m:e>
                        <m:r>
                          <a:rPr lang="en-ZA" sz="1800" b="1" i="1" smtClean="0">
                            <a:solidFill>
                              <a:schemeClr val="bg2"/>
                            </a:solidFill>
                            <a:latin typeface="Cambria Math" panose="02040503050406030204" pitchFamily="18" charset="0"/>
                            <a:ea typeface="Cambria Math" panose="02040503050406030204" pitchFamily="18" charset="0"/>
                          </a:rPr>
                          <m:t>𝜶</m:t>
                        </m:r>
                      </m:e>
                      <m:sup>
                        <m:r>
                          <a:rPr lang="en-ZA" sz="1800" b="1" i="1" smtClean="0">
                            <a:solidFill>
                              <a:schemeClr val="bg2"/>
                            </a:solidFill>
                            <a:latin typeface="Cambria Math" panose="02040503050406030204" pitchFamily="18" charset="0"/>
                          </a:rPr>
                          <m:t>′</m:t>
                        </m:r>
                      </m:sup>
                    </m:sSup>
                  </m:oMath>
                </a14:m>
                <a:r>
                  <a:rPr lang="en-ZA" sz="1800" b="1" dirty="0">
                    <a:solidFill>
                      <a:schemeClr val="bg2"/>
                    </a:solidFill>
                    <a:latin typeface="Arial" panose="020B0604020202020204" pitchFamily="34" charset="0"/>
                    <a:cs typeface="Arial" panose="020B0604020202020204" pitchFamily="34" charset="0"/>
                  </a:rPr>
                  <a:t> = α/m in place of α for the level of each test, where m is the number of tests to be performed</a:t>
                </a:r>
                <a:r>
                  <a:rPr lang="en-ZA" sz="1800" b="1" dirty="0" smtClean="0">
                    <a:solidFill>
                      <a:schemeClr val="bg2"/>
                    </a:solidFill>
                    <a:latin typeface="Arial" panose="020B0604020202020204" pitchFamily="34" charset="0"/>
                    <a:cs typeface="Arial" panose="020B0604020202020204" pitchFamily="34" charset="0"/>
                  </a:rPr>
                  <a:t>.</a:t>
                </a:r>
              </a:p>
              <a:p>
                <a:r>
                  <a:rPr lang="en-ZA" sz="1800" b="1" dirty="0" smtClean="0">
                    <a:solidFill>
                      <a:schemeClr val="bg2"/>
                    </a:solidFill>
                    <a:latin typeface="Arial" panose="020B0604020202020204" pitchFamily="34" charset="0"/>
                    <a:cs typeface="Arial" panose="020B0604020202020204" pitchFamily="34" charset="0"/>
                  </a:rPr>
                  <a:t>Other single-step procedures that control FWER are Tukey’s and </a:t>
                </a:r>
                <a:r>
                  <a:rPr lang="en-ZA" sz="1800" b="1" dirty="0" err="1" smtClean="0">
                    <a:solidFill>
                      <a:schemeClr val="bg2"/>
                    </a:solidFill>
                    <a:latin typeface="Arial" panose="020B0604020202020204" pitchFamily="34" charset="0"/>
                    <a:cs typeface="Arial" panose="020B0604020202020204" pitchFamily="34" charset="0"/>
                  </a:rPr>
                  <a:t>Scheffe’s</a:t>
                </a:r>
                <a:r>
                  <a:rPr lang="en-ZA" sz="1800" b="1" dirty="0" smtClean="0">
                    <a:solidFill>
                      <a:schemeClr val="bg2"/>
                    </a:solidFill>
                    <a:latin typeface="Arial" panose="020B0604020202020204" pitchFamily="34" charset="0"/>
                    <a:cs typeface="Arial" panose="020B0604020202020204" pitchFamily="34" charset="0"/>
                  </a:rPr>
                  <a:t> methods</a:t>
                </a:r>
                <a:endParaRPr lang="en-ZA" sz="1800" b="1" dirty="0">
                  <a:solidFill>
                    <a:schemeClr val="bg2"/>
                  </a:solidFill>
                  <a:latin typeface="Arial" panose="020B0604020202020204" pitchFamily="34" charset="0"/>
                  <a:cs typeface="Arial" panose="020B0604020202020204" pitchFamily="34" charset="0"/>
                </a:endParaRPr>
              </a:p>
              <a:p>
                <a:endParaRPr lang="en-ZA" sz="1800" dirty="0">
                  <a:solidFill>
                    <a:schemeClr val="bg2"/>
                  </a:solidFill>
                </a:endParaRP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318053" y="998920"/>
                <a:ext cx="8534400" cy="5627159"/>
              </a:xfrm>
              <a:blipFill>
                <a:blip r:embed="rId3"/>
                <a:stretch>
                  <a:fillRect l="-429" t="-650"/>
                </a:stretch>
              </a:blipFill>
            </p:spPr>
            <p:txBody>
              <a:bodyPr/>
              <a:lstStyle/>
              <a:p>
                <a:r>
                  <a:rPr lang="en-US">
                    <a:noFill/>
                  </a:rPr>
                  <a:t> </a:t>
                </a:r>
              </a:p>
            </p:txBody>
          </p:sp>
        </mc:Fallback>
      </mc:AlternateContent>
    </p:spTree>
    <p:extLst>
      <p:ext uri="{BB962C8B-B14F-4D97-AF65-F5344CB8AC3E}">
        <p14:creationId xmlns:p14="http://schemas.microsoft.com/office/powerpoint/2010/main" val="1594070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Family-wise Error Rate</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203200" y="816872"/>
            <a:ext cx="8534400" cy="5627159"/>
          </a:xfrm>
        </p:spPr>
        <p:txBody>
          <a:bodyPr/>
          <a:lstStyle/>
          <a:p>
            <a:endParaRPr lang="en-ZA" sz="1800" dirty="0">
              <a:solidFill>
                <a:schemeClr val="bg2"/>
              </a:solidFill>
            </a:endParaRPr>
          </a:p>
          <a:p>
            <a:endParaRPr lang="en-ZA"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a:p>
            <a:endParaRPr lang="en-ZA" sz="1800" b="1" dirty="0">
              <a:solidFill>
                <a:schemeClr val="bg2"/>
              </a:solidFill>
              <a:latin typeface="Arial" panose="020B0604020202020204" pitchFamily="34" charset="0"/>
              <a:cs typeface="Arial" panose="020B0604020202020204" pitchFamily="34" charset="0"/>
            </a:endParaRPr>
          </a:p>
          <a:p>
            <a:endParaRPr lang="en-ZA" sz="1600" b="1" dirty="0" smtClean="0">
              <a:solidFill>
                <a:schemeClr val="bg2"/>
              </a:solidFill>
              <a:latin typeface="Arial" panose="020B0604020202020204" pitchFamily="34" charset="0"/>
              <a:cs typeface="Arial" panose="020B0604020202020204" pitchFamily="34" charset="0"/>
            </a:endParaRPr>
          </a:p>
          <a:p>
            <a:endParaRPr lang="en-ZA" sz="1600" b="1" dirty="0">
              <a:solidFill>
                <a:schemeClr val="bg2"/>
              </a:solidFill>
              <a:latin typeface="Arial" panose="020B0604020202020204" pitchFamily="34" charset="0"/>
              <a:cs typeface="Arial" panose="020B0604020202020204" pitchFamily="34" charset="0"/>
            </a:endParaRPr>
          </a:p>
          <a:p>
            <a:r>
              <a:rPr lang="en-ZA" sz="1600" b="1" dirty="0" smtClean="0">
                <a:solidFill>
                  <a:schemeClr val="bg2"/>
                </a:solidFill>
                <a:latin typeface="Arial" panose="020B0604020202020204" pitchFamily="34" charset="0"/>
                <a:cs typeface="Arial" panose="020B0604020202020204" pitchFamily="34" charset="0"/>
              </a:rPr>
              <a:t>Notably</a:t>
            </a:r>
            <a:r>
              <a:rPr lang="en-ZA" sz="1600" b="1" dirty="0">
                <a:solidFill>
                  <a:schemeClr val="bg2"/>
                </a:solidFill>
                <a:latin typeface="Arial" panose="020B0604020202020204" pitchFamily="34" charset="0"/>
                <a:cs typeface="Arial" panose="020B0604020202020204" pitchFamily="34" charset="0"/>
              </a:rPr>
              <a:t>, if m = 1, then this equation reduces to FWEC ≤ α.</a:t>
            </a:r>
          </a:p>
          <a:p>
            <a:r>
              <a:rPr lang="en-ZA" sz="1600" b="1" dirty="0">
                <a:solidFill>
                  <a:schemeClr val="bg2"/>
                </a:solidFill>
                <a:latin typeface="Arial" panose="020B0604020202020204" pitchFamily="34" charset="0"/>
                <a:cs typeface="Arial" panose="020B0604020202020204" pitchFamily="34" charset="0"/>
              </a:rPr>
              <a:t>However, if m = 2 independent tests are performed, each at level α = </a:t>
            </a:r>
            <a:r>
              <a:rPr lang="en-ZA" sz="1600" b="1" dirty="0" smtClean="0">
                <a:solidFill>
                  <a:schemeClr val="bg2"/>
                </a:solidFill>
                <a:latin typeface="Arial" panose="020B0604020202020204" pitchFamily="34" charset="0"/>
                <a:cs typeface="Arial" panose="020B0604020202020204" pitchFamily="34" charset="0"/>
              </a:rPr>
              <a:t>0.05</a:t>
            </a:r>
            <a:r>
              <a:rPr lang="en-ZA" sz="1600" b="1" dirty="0">
                <a:solidFill>
                  <a:schemeClr val="bg2"/>
                </a:solidFill>
                <a:latin typeface="Arial" panose="020B0604020202020204" pitchFamily="34" charset="0"/>
                <a:cs typeface="Arial" panose="020B0604020202020204" pitchFamily="34" charset="0"/>
              </a:rPr>
              <a:t>, then we are only certain that the probability of making at least one type-1 error is less than or equal to 1 - (1 </a:t>
            </a:r>
            <a:r>
              <a:rPr lang="en-ZA" sz="1600" b="1" dirty="0" smtClean="0">
                <a:solidFill>
                  <a:schemeClr val="bg2"/>
                </a:solidFill>
                <a:latin typeface="Arial" panose="020B0604020202020204" pitchFamily="34" charset="0"/>
                <a:cs typeface="Arial" panose="020B0604020202020204" pitchFamily="34" charset="0"/>
              </a:rPr>
              <a:t>– 0.05)^2 </a:t>
            </a:r>
            <a:r>
              <a:rPr lang="en-ZA" sz="1600" b="1" dirty="0">
                <a:solidFill>
                  <a:schemeClr val="bg2"/>
                </a:solidFill>
                <a:latin typeface="Arial" panose="020B0604020202020204" pitchFamily="34" charset="0"/>
                <a:cs typeface="Arial" panose="020B0604020202020204" pitchFamily="34" charset="0"/>
              </a:rPr>
              <a:t>= 0:0975.</a:t>
            </a:r>
          </a:p>
        </p:txBody>
      </p:sp>
      <p:pic>
        <p:nvPicPr>
          <p:cNvPr id="3" name="Picture 2">
            <a:extLst>
              <a:ext uri="{FF2B5EF4-FFF2-40B4-BE49-F238E27FC236}">
                <a16:creationId xmlns:a16="http://schemas.microsoft.com/office/drawing/2014/main" id="{140DBD99-3B49-4B98-8C1B-17FB1422B3D9}"/>
              </a:ext>
            </a:extLst>
          </p:cNvPr>
          <p:cNvPicPr>
            <a:picLocks noChangeAspect="1"/>
          </p:cNvPicPr>
          <p:nvPr/>
        </p:nvPicPr>
        <p:blipFill>
          <a:blip r:embed="rId3"/>
          <a:stretch>
            <a:fillRect/>
          </a:stretch>
        </p:blipFill>
        <p:spPr>
          <a:xfrm>
            <a:off x="1379537" y="789692"/>
            <a:ext cx="6181725" cy="3819525"/>
          </a:xfrm>
          <a:prstGeom prst="rect">
            <a:avLst/>
          </a:prstGeom>
        </p:spPr>
      </p:pic>
    </p:spTree>
    <p:extLst>
      <p:ext uri="{BB962C8B-B14F-4D97-AF65-F5344CB8AC3E}">
        <p14:creationId xmlns:p14="http://schemas.microsoft.com/office/powerpoint/2010/main" val="1869921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 Tukey’s Adjustment</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18053" y="998920"/>
                <a:ext cx="8534400" cy="5627159"/>
              </a:xfrm>
            </p:spPr>
            <p:txBody>
              <a:bodyPr/>
              <a:lstStyle/>
              <a:p>
                <a:pPr marL="0" indent="0">
                  <a:buNone/>
                </a:pPr>
                <a:endParaRPr lang="en-ZA" sz="2800" b="1" dirty="0">
                  <a:solidFill>
                    <a:schemeClr val="bg2"/>
                  </a:solidFill>
                  <a:latin typeface="Arial" panose="020B0604020202020204" pitchFamily="34" charset="0"/>
                  <a:cs typeface="Arial" panose="020B0604020202020204" pitchFamily="34" charset="0"/>
                </a:endParaRPr>
              </a:p>
              <a:p>
                <a:r>
                  <a:rPr lang="en-ZA" sz="1800" b="1" dirty="0">
                    <a:solidFill>
                      <a:schemeClr val="bg2"/>
                    </a:solidFill>
                    <a:latin typeface="Arial" panose="020B0604020202020204" pitchFamily="34" charset="0"/>
                    <a:cs typeface="Arial" panose="020B0604020202020204" pitchFamily="34" charset="0"/>
                  </a:rPr>
                  <a:t>Tukey’s studentized range test is another single-step adjustment method for testing multiple hypotheses that is useful for the comparison of means between groups.</a:t>
                </a:r>
              </a:p>
              <a:p>
                <a:r>
                  <a:rPr lang="en-ZA" sz="1800" b="1" dirty="0">
                    <a:solidFill>
                      <a:schemeClr val="bg2"/>
                    </a:solidFill>
                    <a:latin typeface="Arial" panose="020B0604020202020204" pitchFamily="34" charset="0"/>
                    <a:cs typeface="Arial" panose="020B0604020202020204" pitchFamily="34" charset="0"/>
                  </a:rPr>
                  <a:t>For example, suppose we fit an ANOVA model of the form</a:t>
                </a:r>
              </a:p>
              <a:p>
                <a:pPr marL="0" indent="0">
                  <a:buNone/>
                </a:pPr>
                <a14:m>
                  <m:oMathPara xmlns:m="http://schemas.openxmlformats.org/officeDocument/2006/math">
                    <m:oMathParaPr>
                      <m:jc m:val="centerGroup"/>
                    </m:oMathParaPr>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𝒀</m:t>
                          </m:r>
                        </m:e>
                        <m:sub>
                          <m:r>
                            <a:rPr lang="en-ZA" sz="1800" b="1" i="1">
                              <a:solidFill>
                                <a:schemeClr val="bg2"/>
                              </a:solidFill>
                              <a:latin typeface="Cambria Math" panose="02040503050406030204" pitchFamily="18" charset="0"/>
                            </a:rPr>
                            <m:t>𝒊𝒋</m:t>
                          </m:r>
                        </m:sub>
                      </m:sSub>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𝝁</m:t>
                      </m:r>
                      <m:r>
                        <a:rPr lang="en-ZA" sz="1800" b="1">
                          <a:solidFill>
                            <a:schemeClr val="bg2"/>
                          </a:solidFill>
                          <a:latin typeface="Cambria Math" panose="02040503050406030204" pitchFamily="18" charset="0"/>
                        </a:rPr>
                        <m:t>+ </m:t>
                      </m:r>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𝜶</m:t>
                          </m:r>
                        </m:e>
                        <m:sub>
                          <m:r>
                            <a:rPr lang="en-ZA" sz="1800" b="1" i="1">
                              <a:solidFill>
                                <a:schemeClr val="bg2"/>
                              </a:solidFill>
                              <a:latin typeface="Cambria Math" panose="02040503050406030204" pitchFamily="18" charset="0"/>
                            </a:rPr>
                            <m:t>𝒊</m:t>
                          </m:r>
                        </m:sub>
                      </m:sSub>
                      <m:r>
                        <a:rPr lang="en-ZA" sz="1800" b="1">
                          <a:solidFill>
                            <a:schemeClr val="bg2"/>
                          </a:solidFill>
                          <a:latin typeface="Cambria Math" panose="02040503050406030204" pitchFamily="18" charset="0"/>
                        </a:rPr>
                        <m:t>+ </m:t>
                      </m:r>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𝝐</m:t>
                          </m:r>
                        </m:e>
                        <m:sub>
                          <m:r>
                            <a:rPr lang="en-ZA" sz="1800" b="1" i="1">
                              <a:solidFill>
                                <a:schemeClr val="bg2"/>
                              </a:solidFill>
                              <a:latin typeface="Cambria Math" panose="02040503050406030204" pitchFamily="18" charset="0"/>
                            </a:rPr>
                            <m:t>𝒊𝒋</m:t>
                          </m:r>
                        </m:sub>
                      </m:sSub>
                    </m:oMath>
                  </m:oMathPara>
                </a14:m>
                <a:endParaRPr lang="en-ZA" sz="1800" b="1" dirty="0">
                  <a:solidFill>
                    <a:schemeClr val="bg2"/>
                  </a:solidFill>
                  <a:latin typeface="Arial" panose="020B0604020202020204" pitchFamily="34" charset="0"/>
                  <a:cs typeface="Arial" panose="020B0604020202020204" pitchFamily="34" charset="0"/>
                </a:endParaRPr>
              </a:p>
              <a:p>
                <a:r>
                  <a:rPr lang="en-ZA" sz="1800" b="1" dirty="0">
                    <a:solidFill>
                      <a:schemeClr val="bg2"/>
                    </a:solidFill>
                    <a:latin typeface="Arial" panose="020B0604020202020204" pitchFamily="34" charset="0"/>
                    <a:cs typeface="Arial" panose="020B0604020202020204" pitchFamily="34" charset="0"/>
                  </a:rPr>
                  <a:t>where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𝒀</m:t>
                        </m:r>
                      </m:e>
                      <m:sub>
                        <m:r>
                          <a:rPr lang="en-ZA" sz="1800" b="1" i="1">
                            <a:solidFill>
                              <a:schemeClr val="bg2"/>
                            </a:solidFill>
                            <a:latin typeface="Cambria Math" panose="02040503050406030204" pitchFamily="18" charset="0"/>
                          </a:rPr>
                          <m:t>𝒊𝒋</m:t>
                        </m:r>
                      </m:sub>
                    </m:sSub>
                  </m:oMath>
                </a14:m>
                <a:r>
                  <a:rPr lang="en-ZA" sz="1800" b="1" dirty="0">
                    <a:solidFill>
                      <a:schemeClr val="bg2"/>
                    </a:solidFill>
                    <a:latin typeface="Arial" panose="020B0604020202020204" pitchFamily="34" charset="0"/>
                    <a:cs typeface="Arial" panose="020B0604020202020204" pitchFamily="34" charset="0"/>
                  </a:rPr>
                  <a:t> is the measured trait for the </a:t>
                </a:r>
                <a:r>
                  <a:rPr lang="en-ZA" sz="1800" b="1" dirty="0" err="1">
                    <a:solidFill>
                      <a:schemeClr val="bg2"/>
                    </a:solidFill>
                    <a:latin typeface="Arial" panose="020B0604020202020204" pitchFamily="34" charset="0"/>
                    <a:cs typeface="Arial" panose="020B0604020202020204" pitchFamily="34" charset="0"/>
                  </a:rPr>
                  <a:t>jth</a:t>
                </a:r>
                <a:r>
                  <a:rPr lang="en-ZA" sz="1800" b="1" dirty="0">
                    <a:solidFill>
                      <a:schemeClr val="bg2"/>
                    </a:solidFill>
                    <a:latin typeface="Arial" panose="020B0604020202020204" pitchFamily="34" charset="0"/>
                    <a:cs typeface="Arial" panose="020B0604020202020204" pitchFamily="34" charset="0"/>
                  </a:rPr>
                  <a:t> individual with treatment </a:t>
                </a:r>
                <a:r>
                  <a:rPr lang="en-ZA" sz="1800" b="1" dirty="0" err="1">
                    <a:solidFill>
                      <a:schemeClr val="bg2"/>
                    </a:solidFill>
                    <a:latin typeface="Arial" panose="020B0604020202020204" pitchFamily="34" charset="0"/>
                    <a:cs typeface="Arial" panose="020B0604020202020204" pitchFamily="34" charset="0"/>
                  </a:rPr>
                  <a:t>i</a:t>
                </a:r>
                <a:r>
                  <a:rPr lang="en-ZA" sz="1800" b="1" dirty="0">
                    <a:solidFill>
                      <a:schemeClr val="bg2"/>
                    </a:solidFill>
                    <a:latin typeface="Arial" panose="020B0604020202020204" pitchFamily="34" charset="0"/>
                    <a:cs typeface="Arial" panose="020B0604020202020204" pitchFamily="34" charset="0"/>
                  </a:rPr>
                  <a:t>, µ is the overall population mean,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𝜶</m:t>
                        </m:r>
                      </m:e>
                      <m:sub>
                        <m:r>
                          <a:rPr lang="en-ZA" sz="1800" b="1" i="1">
                            <a:solidFill>
                              <a:schemeClr val="bg2"/>
                            </a:solidFill>
                            <a:latin typeface="Cambria Math" panose="02040503050406030204" pitchFamily="18" charset="0"/>
                          </a:rPr>
                          <m:t>𝒊</m:t>
                        </m:r>
                      </m:sub>
                    </m:sSub>
                    <m:r>
                      <a:rPr lang="en-ZA" sz="1800" b="1">
                        <a:solidFill>
                          <a:schemeClr val="bg2"/>
                        </a:solidFill>
                        <a:latin typeface="Cambria Math" panose="02040503050406030204" pitchFamily="18" charset="0"/>
                      </a:rPr>
                      <m:t> </m:t>
                    </m:r>
                  </m:oMath>
                </a14:m>
                <a:r>
                  <a:rPr lang="en-ZA" sz="1800" b="1" dirty="0">
                    <a:solidFill>
                      <a:schemeClr val="bg2"/>
                    </a:solidFill>
                    <a:latin typeface="Arial" panose="020B0604020202020204" pitchFamily="34" charset="0"/>
                    <a:cs typeface="Arial" panose="020B0604020202020204" pitchFamily="34" charset="0"/>
                  </a:rPr>
                  <a:t>is the shift in the mean resulting from receiving treatment </a:t>
                </a:r>
                <a:r>
                  <a:rPr lang="en-ZA" sz="1800" b="1" dirty="0" err="1">
                    <a:solidFill>
                      <a:schemeClr val="bg2"/>
                    </a:solidFill>
                    <a:latin typeface="Arial" panose="020B0604020202020204" pitchFamily="34" charset="0"/>
                    <a:cs typeface="Arial" panose="020B0604020202020204" pitchFamily="34" charset="0"/>
                  </a:rPr>
                  <a:t>i</a:t>
                </a:r>
                <a:r>
                  <a:rPr lang="en-ZA" sz="1800" b="1" dirty="0">
                    <a:solidFill>
                      <a:schemeClr val="bg2"/>
                    </a:solidFill>
                    <a:latin typeface="Arial" panose="020B0604020202020204" pitchFamily="34" charset="0"/>
                    <a:cs typeface="Arial" panose="020B0604020202020204" pitchFamily="34" charset="0"/>
                  </a:rPr>
                  <a:t>, </a:t>
                </a:r>
                <a:r>
                  <a:rPr lang="en-ZA" sz="1800" b="1" dirty="0" err="1">
                    <a:solidFill>
                      <a:schemeClr val="bg2"/>
                    </a:solidFill>
                    <a:latin typeface="Arial" panose="020B0604020202020204" pitchFamily="34" charset="0"/>
                    <a:cs typeface="Arial" panose="020B0604020202020204" pitchFamily="34" charset="0"/>
                  </a:rPr>
                  <a:t>i</a:t>
                </a:r>
                <a:r>
                  <a:rPr lang="en-ZA" sz="1800" b="1" dirty="0">
                    <a:solidFill>
                      <a:schemeClr val="bg2"/>
                    </a:solidFill>
                    <a:latin typeface="Arial" panose="020B0604020202020204" pitchFamily="34" charset="0"/>
                    <a:cs typeface="Arial" panose="020B0604020202020204" pitchFamily="34" charset="0"/>
                  </a:rPr>
                  <a:t> = 1, … , m and j = 1, …,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𝒏</m:t>
                        </m:r>
                      </m:e>
                      <m:sub>
                        <m:r>
                          <a:rPr lang="en-ZA" sz="1800" b="1" i="1">
                            <a:solidFill>
                              <a:schemeClr val="bg2"/>
                            </a:solidFill>
                            <a:latin typeface="Cambria Math" panose="02040503050406030204" pitchFamily="18" charset="0"/>
                          </a:rPr>
                          <m:t>𝒊</m:t>
                        </m:r>
                      </m:sub>
                    </m:sSub>
                  </m:oMath>
                </a14:m>
                <a:r>
                  <a:rPr lang="en-ZA" sz="1800" b="1" dirty="0">
                    <a:solidFill>
                      <a:schemeClr val="bg2"/>
                    </a:solidFill>
                    <a:latin typeface="Arial" panose="020B0604020202020204" pitchFamily="34" charset="0"/>
                    <a:cs typeface="Arial" panose="020B0604020202020204" pitchFamily="34" charset="0"/>
                  </a:rPr>
                  <a:t>.</a:t>
                </a:r>
              </a:p>
              <a:p>
                <a:r>
                  <a:rPr lang="en-ZA" sz="1800" b="1" dirty="0">
                    <a:solidFill>
                      <a:schemeClr val="bg2"/>
                    </a:solidFill>
                    <a:latin typeface="Arial" panose="020B0604020202020204" pitchFamily="34" charset="0"/>
                    <a:cs typeface="Arial" panose="020B0604020202020204" pitchFamily="34" charset="0"/>
                  </a:rPr>
                  <a:t>Typically, we begin by conducting an overall F-test for equality of means across the treatment groups.</a:t>
                </a:r>
              </a:p>
              <a:p>
                <a:r>
                  <a:rPr lang="en-ZA" sz="1800" b="1" dirty="0">
                    <a:solidFill>
                      <a:schemeClr val="bg2"/>
                    </a:solidFill>
                    <a:latin typeface="Arial" panose="020B0604020202020204" pitchFamily="34" charset="0"/>
                    <a:cs typeface="Arial" panose="020B0604020202020204" pitchFamily="34" charset="0"/>
                  </a:rPr>
                  <a:t>Formally, we test the null hypothesis given by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Sub>
                  </m:oMath>
                </a14:m>
                <a:r>
                  <a:rPr lang="en-ZA" sz="1800" b="1"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𝜶</m:t>
                        </m:r>
                      </m:e>
                      <m:sub>
                        <m:r>
                          <a:rPr lang="en-ZA" sz="1800" b="1" i="1">
                            <a:solidFill>
                              <a:schemeClr val="bg2"/>
                            </a:solidFill>
                            <a:latin typeface="Cambria Math" panose="02040503050406030204" pitchFamily="18" charset="0"/>
                          </a:rPr>
                          <m:t>𝟏</m:t>
                        </m:r>
                      </m:sub>
                    </m:sSub>
                  </m:oMath>
                </a14:m>
                <a:r>
                  <a:rPr lang="en-ZA" sz="1800" b="1"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𝜶</m:t>
                        </m:r>
                      </m:e>
                      <m:sub>
                        <m:r>
                          <a:rPr lang="en-ZA" sz="1800" b="1" i="1">
                            <a:solidFill>
                              <a:schemeClr val="bg2"/>
                            </a:solidFill>
                            <a:latin typeface="Cambria Math" panose="02040503050406030204" pitchFamily="18" charset="0"/>
                          </a:rPr>
                          <m:t>𝟐</m:t>
                        </m:r>
                      </m:sub>
                    </m:sSub>
                  </m:oMath>
                </a14:m>
                <a:r>
                  <a:rPr lang="en-ZA" sz="1800" b="1" dirty="0">
                    <a:solidFill>
                      <a:schemeClr val="bg2"/>
                    </a:solidFill>
                    <a:latin typeface="Arial" panose="020B0604020202020204" pitchFamily="34" charset="0"/>
                    <a:cs typeface="Arial" panose="020B0604020202020204" pitchFamily="34" charset="0"/>
                  </a:rPr>
                  <a:t> = … =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𝜶</m:t>
                        </m:r>
                      </m:e>
                      <m:sub>
                        <m:r>
                          <a:rPr lang="en-ZA" sz="1800" b="1" i="1">
                            <a:solidFill>
                              <a:schemeClr val="bg2"/>
                            </a:solidFill>
                            <a:latin typeface="Cambria Math" panose="02040503050406030204" pitchFamily="18" charset="0"/>
                          </a:rPr>
                          <m:t>𝒎</m:t>
                        </m:r>
                      </m:sub>
                    </m:sSub>
                  </m:oMath>
                </a14:m>
                <a:r>
                  <a:rPr lang="en-ZA" sz="1800" b="1" dirty="0">
                    <a:solidFill>
                      <a:schemeClr val="bg2"/>
                    </a:solidFill>
                    <a:latin typeface="Arial" panose="020B0604020202020204" pitchFamily="34" charset="0"/>
                    <a:cs typeface="Arial" panose="020B0604020202020204" pitchFamily="34" charset="0"/>
                  </a:rPr>
                  <a:t>.</a:t>
                </a:r>
              </a:p>
              <a:p>
                <a:r>
                  <a:rPr lang="en-ZA" sz="1800" b="1" dirty="0">
                    <a:solidFill>
                      <a:schemeClr val="bg2"/>
                    </a:solidFill>
                    <a:latin typeface="Arial" panose="020B0604020202020204" pitchFamily="34" charset="0"/>
                    <a:cs typeface="Arial" panose="020B0604020202020204" pitchFamily="34" charset="0"/>
                  </a:rPr>
                  <a:t>If this test is significant, indicating a departure from the null, then interest may lie in identifying the specific treatment groups that are different.</a:t>
                </a:r>
              </a:p>
              <a:p>
                <a:r>
                  <a:rPr lang="en-ZA" sz="1800" b="1" dirty="0">
                    <a:solidFill>
                      <a:schemeClr val="bg2"/>
                    </a:solidFill>
                    <a:latin typeface="Arial" panose="020B0604020202020204" pitchFamily="34" charset="0"/>
                    <a:cs typeface="Arial" panose="020B0604020202020204" pitchFamily="34" charset="0"/>
                  </a:rPr>
                  <a:t>That is, we may now want to test the set of “M choose 2” hypotheses, given by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Sub>
                  </m:oMath>
                </a14:m>
                <a:r>
                  <a:rPr lang="en-ZA" sz="1800" b="1"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𝜶</m:t>
                        </m:r>
                      </m:e>
                      <m:sub>
                        <m:r>
                          <a:rPr lang="en-ZA" sz="1800" b="1" i="1">
                            <a:solidFill>
                              <a:schemeClr val="bg2"/>
                            </a:solidFill>
                            <a:latin typeface="Cambria Math" panose="02040503050406030204" pitchFamily="18" charset="0"/>
                          </a:rPr>
                          <m:t>𝒊</m:t>
                        </m:r>
                      </m:sub>
                    </m:sSub>
                  </m:oMath>
                </a14:m>
                <a:r>
                  <a:rPr lang="en-ZA" sz="1800" b="1"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𝜶</m:t>
                        </m:r>
                      </m:e>
                      <m:sub>
                        <m:r>
                          <a:rPr lang="en-ZA" sz="1800" b="1" i="1">
                            <a:solidFill>
                              <a:schemeClr val="bg2"/>
                            </a:solidFill>
                            <a:latin typeface="Cambria Math" panose="02040503050406030204" pitchFamily="18" charset="0"/>
                          </a:rPr>
                          <m:t>𝒋</m:t>
                        </m:r>
                      </m:sub>
                    </m:sSub>
                  </m:oMath>
                </a14:m>
                <a:r>
                  <a:rPr lang="en-ZA" sz="1800" b="1" dirty="0">
                    <a:solidFill>
                      <a:schemeClr val="bg2"/>
                    </a:solidFill>
                    <a:latin typeface="Arial" panose="020B0604020202020204" pitchFamily="34" charset="0"/>
                    <a:cs typeface="Arial" panose="020B0604020202020204" pitchFamily="34" charset="0"/>
                  </a:rPr>
                  <a:t> for </a:t>
                </a:r>
                <a:r>
                  <a:rPr lang="en-ZA" sz="1800" b="1" dirty="0" err="1">
                    <a:solidFill>
                      <a:schemeClr val="bg2"/>
                    </a:solidFill>
                    <a:latin typeface="Arial" panose="020B0604020202020204" pitchFamily="34" charset="0"/>
                    <a:cs typeface="Arial" panose="020B0604020202020204" pitchFamily="34" charset="0"/>
                  </a:rPr>
                  <a:t>i</a:t>
                </a:r>
                <a:r>
                  <a:rPr lang="en-ZA" sz="1800" b="1" dirty="0">
                    <a:solidFill>
                      <a:schemeClr val="bg2"/>
                    </a:solidFill>
                    <a:latin typeface="Arial" panose="020B0604020202020204" pitchFamily="34" charset="0"/>
                    <a:cs typeface="Arial" panose="020B0604020202020204" pitchFamily="34" charset="0"/>
                  </a:rPr>
                  <a:t> </a:t>
                </a:r>
                <a14:m>
                  <m:oMath xmlns:m="http://schemas.openxmlformats.org/officeDocument/2006/math">
                    <m:r>
                      <a:rPr lang="en-ZA" sz="1800" b="1">
                        <a:solidFill>
                          <a:schemeClr val="bg2"/>
                        </a:solidFill>
                        <a:latin typeface="Cambria Math" panose="02040503050406030204" pitchFamily="18" charset="0"/>
                      </a:rPr>
                      <m:t>≠ </m:t>
                    </m:r>
                  </m:oMath>
                </a14:m>
                <a:r>
                  <a:rPr lang="en-ZA" sz="1800" b="1" dirty="0">
                    <a:solidFill>
                      <a:schemeClr val="bg2"/>
                    </a:solidFill>
                    <a:latin typeface="Arial" panose="020B0604020202020204" pitchFamily="34" charset="0"/>
                    <a:cs typeface="Arial" panose="020B0604020202020204" pitchFamily="34" charset="0"/>
                  </a:rPr>
                  <a:t>j.</a:t>
                </a: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318053" y="998920"/>
                <a:ext cx="8534400" cy="5627159"/>
              </a:xfrm>
              <a:blipFill>
                <a:blip r:embed="rId3"/>
                <a:stretch>
                  <a:fillRect l="-429" r="-1214"/>
                </a:stretch>
              </a:blipFill>
            </p:spPr>
            <p:txBody>
              <a:bodyPr/>
              <a:lstStyle/>
              <a:p>
                <a:r>
                  <a:rPr lang="en-US">
                    <a:noFill/>
                  </a:rPr>
                  <a:t> </a:t>
                </a:r>
              </a:p>
            </p:txBody>
          </p:sp>
        </mc:Fallback>
      </mc:AlternateContent>
    </p:spTree>
    <p:extLst>
      <p:ext uri="{BB962C8B-B14F-4D97-AF65-F5344CB8AC3E}">
        <p14:creationId xmlns:p14="http://schemas.microsoft.com/office/powerpoint/2010/main" val="1462260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  Tukey’s Adjustment</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18053" y="998920"/>
                <a:ext cx="8534400" cy="5627159"/>
              </a:xfrm>
            </p:spPr>
            <p:txBody>
              <a:bodyPr/>
              <a:lstStyle/>
              <a:p>
                <a:r>
                  <a:rPr lang="en-ZA" sz="1800" b="1" dirty="0" smtClean="0">
                    <a:solidFill>
                      <a:schemeClr val="bg2"/>
                    </a:solidFill>
                    <a:latin typeface="Arial" panose="020B0604020202020204" pitchFamily="34" charset="0"/>
                    <a:cs typeface="Arial" panose="020B0604020202020204" pitchFamily="34" charset="0"/>
                  </a:rPr>
                  <a:t>Tukey’s honestly significantly different (HSD) test based on the studentized range distribution is a natural approach for this setting.</a:t>
                </a:r>
              </a:p>
              <a:p>
                <a:r>
                  <a:rPr lang="en-ZA" sz="1800" b="1" dirty="0">
                    <a:solidFill>
                      <a:schemeClr val="bg2"/>
                    </a:solidFill>
                    <a:latin typeface="Arial" panose="020B0604020202020204" pitchFamily="34" charset="0"/>
                    <a:cs typeface="Arial" panose="020B0604020202020204" pitchFamily="34" charset="0"/>
                  </a:rPr>
                  <a:t>Notably, in its original formulation, this method is applicable to groups that have the same sample size, so we begin by assuming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𝒏</m:t>
                        </m:r>
                      </m:e>
                      <m:sub>
                        <m:r>
                          <a:rPr lang="en-ZA" sz="1800" b="1" i="1">
                            <a:solidFill>
                              <a:schemeClr val="bg2"/>
                            </a:solidFill>
                            <a:latin typeface="Cambria Math" panose="02040503050406030204" pitchFamily="18" charset="0"/>
                          </a:rPr>
                          <m:t>𝒊</m:t>
                        </m:r>
                      </m:sub>
                    </m:sSub>
                  </m:oMath>
                </a14:m>
                <a:r>
                  <a:rPr lang="en-ZA" sz="1800" b="1" dirty="0">
                    <a:solidFill>
                      <a:schemeClr val="bg2"/>
                    </a:solidFill>
                    <a:latin typeface="Arial" panose="020B0604020202020204" pitchFamily="34" charset="0"/>
                    <a:cs typeface="Arial" panose="020B0604020202020204" pitchFamily="34" charset="0"/>
                  </a:rPr>
                  <a:t> = </a:t>
                </a:r>
                <a14:m>
                  <m:oMath xmlns:m="http://schemas.openxmlformats.org/officeDocument/2006/math">
                    <m:r>
                      <a:rPr lang="en-ZA" sz="1800" b="1" i="1" dirty="0">
                        <a:solidFill>
                          <a:schemeClr val="bg2"/>
                        </a:solidFill>
                        <a:latin typeface="Cambria Math" panose="02040503050406030204" pitchFamily="18" charset="0"/>
                      </a:rPr>
                      <m:t>𝐧</m:t>
                    </m:r>
                  </m:oMath>
                </a14:m>
                <a:r>
                  <a:rPr lang="en-ZA" sz="1800" b="1" dirty="0">
                    <a:solidFill>
                      <a:schemeClr val="bg2"/>
                    </a:solidFill>
                    <a:latin typeface="Arial" panose="020B0604020202020204" pitchFamily="34" charset="0"/>
                    <a:cs typeface="Arial" panose="020B0604020202020204" pitchFamily="34" charset="0"/>
                  </a:rPr>
                  <a:t> for all </a:t>
                </a:r>
                <a:r>
                  <a:rPr lang="en-ZA" sz="1800" b="1" dirty="0" err="1">
                    <a:solidFill>
                      <a:schemeClr val="bg2"/>
                    </a:solidFill>
                    <a:latin typeface="Arial" panose="020B0604020202020204" pitchFamily="34" charset="0"/>
                    <a:cs typeface="Arial" panose="020B0604020202020204" pitchFamily="34" charset="0"/>
                  </a:rPr>
                  <a:t>i</a:t>
                </a:r>
                <a:r>
                  <a:rPr lang="en-ZA" sz="1800" b="1" dirty="0">
                    <a:solidFill>
                      <a:schemeClr val="bg2"/>
                    </a:solidFill>
                    <a:latin typeface="Arial" panose="020B0604020202020204" pitchFamily="34" charset="0"/>
                    <a:cs typeface="Arial" panose="020B0604020202020204" pitchFamily="34" charset="0"/>
                  </a:rPr>
                  <a:t>.</a:t>
                </a:r>
              </a:p>
              <a:p>
                <a:r>
                  <a:rPr lang="en-ZA" sz="1800" b="1" dirty="0">
                    <a:solidFill>
                      <a:schemeClr val="bg2"/>
                    </a:solidFill>
                    <a:latin typeface="Arial" panose="020B0604020202020204" pitchFamily="34" charset="0"/>
                    <a:cs typeface="Arial" panose="020B0604020202020204" pitchFamily="34" charset="0"/>
                  </a:rPr>
                  <a:t>For each null hypothesis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𝑯</m:t>
                        </m:r>
                      </m:e>
                      <m:sub>
                        <m:r>
                          <a:rPr lang="en-ZA" sz="1800" b="1" i="1">
                            <a:solidFill>
                              <a:schemeClr val="bg2"/>
                            </a:solidFill>
                            <a:latin typeface="Cambria Math" panose="02040503050406030204" pitchFamily="18" charset="0"/>
                          </a:rPr>
                          <m:t>𝟎</m:t>
                        </m:r>
                      </m:sub>
                    </m:sSub>
                  </m:oMath>
                </a14:m>
                <a:r>
                  <a:rPr lang="en-ZA" sz="1800" b="1"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𝝁</m:t>
                        </m:r>
                      </m:e>
                      <m:sub>
                        <m:r>
                          <a:rPr lang="en-ZA" sz="1800" b="1" i="1">
                            <a:solidFill>
                              <a:schemeClr val="bg2"/>
                            </a:solidFill>
                            <a:latin typeface="Cambria Math" panose="02040503050406030204" pitchFamily="18" charset="0"/>
                          </a:rPr>
                          <m:t>𝒊</m:t>
                        </m:r>
                      </m:sub>
                    </m:sSub>
                  </m:oMath>
                </a14:m>
                <a:r>
                  <a:rPr lang="en-ZA" sz="1800" b="1" dirty="0">
                    <a:solidFill>
                      <a:schemeClr val="bg2"/>
                    </a:solidFill>
                    <a:latin typeface="Arial" panose="020B0604020202020204" pitchFamily="34" charset="0"/>
                    <a:cs typeface="Arial" panose="020B0604020202020204" pitchFamily="34" charset="0"/>
                  </a:rPr>
                  <a:t> =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𝝁</m:t>
                        </m:r>
                      </m:e>
                      <m:sub>
                        <m:r>
                          <a:rPr lang="en-ZA" sz="1800" b="1" i="1">
                            <a:solidFill>
                              <a:schemeClr val="bg2"/>
                            </a:solidFill>
                            <a:latin typeface="Cambria Math" panose="02040503050406030204" pitchFamily="18" charset="0"/>
                          </a:rPr>
                          <m:t>𝒋</m:t>
                        </m:r>
                      </m:sub>
                    </m:sSub>
                  </m:oMath>
                </a14:m>
                <a:r>
                  <a:rPr lang="en-ZA" sz="1800" b="1" dirty="0">
                    <a:solidFill>
                      <a:schemeClr val="bg2"/>
                    </a:solidFill>
                    <a:latin typeface="Arial" panose="020B0604020202020204" pitchFamily="34" charset="0"/>
                    <a:cs typeface="Arial" panose="020B0604020202020204" pitchFamily="34" charset="0"/>
                  </a:rPr>
                  <a:t>, a test statistic is given by</a:t>
                </a:r>
              </a:p>
              <a:p>
                <a:pPr marL="0" indent="0">
                  <a:buNone/>
                </a:pPr>
                <a14:m>
                  <m:oMathPara xmlns:m="http://schemas.openxmlformats.org/officeDocument/2006/math">
                    <m:oMathParaPr>
                      <m:jc m:val="centerGroup"/>
                    </m:oMathParaPr>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𝒕</m:t>
                          </m:r>
                        </m:e>
                        <m:sub>
                          <m:r>
                            <a:rPr lang="en-ZA" sz="1800" b="1" i="1">
                              <a:solidFill>
                                <a:schemeClr val="bg2"/>
                              </a:solidFill>
                              <a:latin typeface="Cambria Math" panose="02040503050406030204" pitchFamily="18" charset="0"/>
                            </a:rPr>
                            <m:t>𝒔</m:t>
                          </m:r>
                        </m:sub>
                      </m:sSub>
                      <m:r>
                        <a:rPr lang="en-ZA" sz="1800" b="1">
                          <a:solidFill>
                            <a:schemeClr val="bg2"/>
                          </a:solidFill>
                          <a:latin typeface="Cambria Math" panose="02040503050406030204" pitchFamily="18" charset="0"/>
                        </a:rPr>
                        <m:t>= </m:t>
                      </m:r>
                      <m:f>
                        <m:fPr>
                          <m:ctrlPr>
                            <a:rPr lang="en-ZA" sz="1800" b="1" i="1">
                              <a:solidFill>
                                <a:schemeClr val="bg2"/>
                              </a:solidFill>
                              <a:latin typeface="Cambria Math" panose="02040503050406030204" pitchFamily="18" charset="0"/>
                            </a:rPr>
                          </m:ctrlPr>
                        </m:fPr>
                        <m:num>
                          <m:rad>
                            <m:radPr>
                              <m:degHide m:val="on"/>
                              <m:ctrlPr>
                                <a:rPr lang="en-ZA" sz="1800" b="1" i="1">
                                  <a:solidFill>
                                    <a:schemeClr val="bg2"/>
                                  </a:solidFill>
                                  <a:latin typeface="Cambria Math" panose="02040503050406030204" pitchFamily="18" charset="0"/>
                                </a:rPr>
                              </m:ctrlPr>
                            </m:radPr>
                            <m:deg/>
                            <m:e>
                              <m:r>
                                <a:rPr lang="en-ZA" sz="1800" b="1" i="1">
                                  <a:solidFill>
                                    <a:schemeClr val="bg2"/>
                                  </a:solidFill>
                                  <a:latin typeface="Cambria Math" panose="02040503050406030204" pitchFamily="18" charset="0"/>
                                </a:rPr>
                                <m:t>𝟐</m:t>
                              </m:r>
                            </m:e>
                          </m:rad>
                          <m:r>
                            <a:rPr lang="en-ZA" sz="1800" b="1">
                              <a:solidFill>
                                <a:schemeClr val="bg2"/>
                              </a:solidFill>
                              <a:latin typeface="Cambria Math" panose="02040503050406030204" pitchFamily="18" charset="0"/>
                            </a:rPr>
                            <m:t> </m:t>
                          </m:r>
                          <m:acc>
                            <m:accPr>
                              <m:chr m:val="̂"/>
                              <m:ctrlPr>
                                <a:rPr lang="en-ZA" sz="1800" b="1" i="1">
                                  <a:solidFill>
                                    <a:schemeClr val="bg2"/>
                                  </a:solidFill>
                                  <a:latin typeface="Cambria Math" panose="02040503050406030204" pitchFamily="18" charset="0"/>
                                </a:rPr>
                              </m:ctrlPr>
                            </m:accPr>
                            <m:e>
                              <m:r>
                                <a:rPr lang="en-ZA" sz="1800" b="1" i="1">
                                  <a:solidFill>
                                    <a:schemeClr val="bg2"/>
                                  </a:solidFill>
                                  <a:latin typeface="Cambria Math" panose="02040503050406030204" pitchFamily="18" charset="0"/>
                                </a:rPr>
                                <m:t>𝑫</m:t>
                              </m:r>
                            </m:e>
                          </m:acc>
                        </m:num>
                        <m:den>
                          <m:rad>
                            <m:radPr>
                              <m:degHide m:val="on"/>
                              <m:ctrlPr>
                                <a:rPr lang="en-ZA" sz="1800" b="1" i="1">
                                  <a:solidFill>
                                    <a:schemeClr val="bg2"/>
                                  </a:solidFill>
                                  <a:latin typeface="Cambria Math" panose="02040503050406030204" pitchFamily="18" charset="0"/>
                                </a:rPr>
                              </m:ctrlPr>
                            </m:radPr>
                            <m:deg/>
                            <m:e>
                              <m:r>
                                <a:rPr lang="en-ZA" sz="1800" b="1" i="1">
                                  <a:solidFill>
                                    <a:schemeClr val="bg2"/>
                                  </a:solidFill>
                                  <a:latin typeface="Cambria Math" panose="02040503050406030204" pitchFamily="18" charset="0"/>
                                </a:rPr>
                                <m:t>𝐕𝐚𝐫</m:t>
                              </m:r>
                              <m:r>
                                <a:rPr lang="en-ZA" sz="1800" b="1">
                                  <a:solidFill>
                                    <a:schemeClr val="bg2"/>
                                  </a:solidFill>
                                  <a:latin typeface="Cambria Math" panose="02040503050406030204" pitchFamily="18" charset="0"/>
                                </a:rPr>
                                <m:t> </m:t>
                              </m:r>
                              <m:d>
                                <m:dPr>
                                  <m:begChr m:val="["/>
                                  <m:endChr m:val="]"/>
                                  <m:ctrlPr>
                                    <a:rPr lang="en-ZA" sz="1800" b="1" i="1">
                                      <a:solidFill>
                                        <a:schemeClr val="bg2"/>
                                      </a:solidFill>
                                      <a:latin typeface="Cambria Math" panose="02040503050406030204" pitchFamily="18" charset="0"/>
                                    </a:rPr>
                                  </m:ctrlPr>
                                </m:dPr>
                                <m:e>
                                  <m:acc>
                                    <m:accPr>
                                      <m:chr m:val="̂"/>
                                      <m:ctrlPr>
                                        <a:rPr lang="en-ZA" sz="1800" b="1" i="1">
                                          <a:solidFill>
                                            <a:schemeClr val="bg2"/>
                                          </a:solidFill>
                                          <a:latin typeface="Cambria Math" panose="02040503050406030204" pitchFamily="18" charset="0"/>
                                        </a:rPr>
                                      </m:ctrlPr>
                                    </m:accPr>
                                    <m:e>
                                      <m:r>
                                        <a:rPr lang="en-ZA" sz="1800" b="1" i="1">
                                          <a:solidFill>
                                            <a:schemeClr val="bg2"/>
                                          </a:solidFill>
                                          <a:latin typeface="Cambria Math" panose="02040503050406030204" pitchFamily="18" charset="0"/>
                                        </a:rPr>
                                        <m:t>𝑫</m:t>
                                      </m:r>
                                    </m:e>
                                  </m:acc>
                                </m:e>
                              </m:d>
                            </m:e>
                          </m:rad>
                        </m:den>
                      </m:f>
                      <m:r>
                        <a:rPr lang="en-ZA" sz="1800" b="1">
                          <a:solidFill>
                            <a:schemeClr val="bg2"/>
                          </a:solidFill>
                          <a:latin typeface="Cambria Math" panose="02040503050406030204" pitchFamily="18" charset="0"/>
                        </a:rPr>
                        <m:t>~</m:t>
                      </m:r>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𝒒</m:t>
                          </m:r>
                        </m:e>
                        <m:sub>
                          <m:r>
                            <a:rPr lang="en-ZA" sz="1800" b="1" i="1">
                              <a:solidFill>
                                <a:schemeClr val="bg2"/>
                              </a:solidFill>
                              <a:latin typeface="Cambria Math" panose="02040503050406030204" pitchFamily="18" charset="0"/>
                            </a:rPr>
                            <m:t>𝐦</m:t>
                          </m:r>
                          <m:r>
                            <a:rPr lang="en-ZA" sz="1800" b="1">
                              <a:solidFill>
                                <a:schemeClr val="bg2"/>
                              </a:solidFill>
                              <a:latin typeface="Cambria Math" panose="02040503050406030204" pitchFamily="18" charset="0"/>
                            </a:rPr>
                            <m:t>, </m:t>
                          </m:r>
                          <m:d>
                            <m:dPr>
                              <m:ctrlPr>
                                <a:rPr lang="en-ZA" sz="1800" b="1" i="1">
                                  <a:solidFill>
                                    <a:schemeClr val="bg2"/>
                                  </a:solidFill>
                                  <a:latin typeface="Cambria Math" panose="02040503050406030204" pitchFamily="18" charset="0"/>
                                </a:rPr>
                              </m:ctrlPr>
                            </m:dPr>
                            <m:e>
                              <m:r>
                                <a:rPr lang="en-ZA" sz="1800" b="1" i="1">
                                  <a:solidFill>
                                    <a:schemeClr val="bg2"/>
                                  </a:solidFill>
                                  <a:latin typeface="Cambria Math" panose="02040503050406030204" pitchFamily="18" charset="0"/>
                                </a:rPr>
                                <m:t>𝐦</m:t>
                              </m:r>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𝒏</m:t>
                              </m:r>
                            </m:e>
                          </m:d>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𝒎</m:t>
                          </m:r>
                        </m:sub>
                      </m:sSub>
                    </m:oMath>
                  </m:oMathPara>
                </a14:m>
                <a:endParaRPr lang="en-ZA" sz="1800" b="1" dirty="0">
                  <a:solidFill>
                    <a:schemeClr val="bg2"/>
                  </a:solidFill>
                  <a:latin typeface="Arial" panose="020B0604020202020204" pitchFamily="34" charset="0"/>
                  <a:cs typeface="Arial" panose="020B0604020202020204" pitchFamily="34" charset="0"/>
                </a:endParaRPr>
              </a:p>
              <a:p>
                <a:pPr marL="0" indent="0">
                  <a:buNone/>
                </a:pPr>
                <a:r>
                  <a:rPr lang="en-ZA" sz="1800" b="1" dirty="0" smtClean="0">
                    <a:solidFill>
                      <a:schemeClr val="bg2"/>
                    </a:solidFill>
                    <a:latin typeface="Arial" panose="020B0604020202020204" pitchFamily="34" charset="0"/>
                    <a:cs typeface="Arial" panose="020B0604020202020204" pitchFamily="34" charset="0"/>
                  </a:rPr>
                  <a:t>    where </a:t>
                </a:r>
                <a14:m>
                  <m:oMath xmlns:m="http://schemas.openxmlformats.org/officeDocument/2006/math">
                    <m:acc>
                      <m:accPr>
                        <m:chr m:val="̂"/>
                        <m:ctrlPr>
                          <a:rPr lang="en-ZA" sz="1800" b="1" i="1">
                            <a:solidFill>
                              <a:schemeClr val="bg2"/>
                            </a:solidFill>
                            <a:latin typeface="Cambria Math" panose="02040503050406030204" pitchFamily="18" charset="0"/>
                          </a:rPr>
                        </m:ctrlPr>
                      </m:accPr>
                      <m:e>
                        <m:r>
                          <a:rPr lang="en-ZA" sz="1800" b="1" i="1">
                            <a:solidFill>
                              <a:schemeClr val="bg2"/>
                            </a:solidFill>
                            <a:latin typeface="Cambria Math" panose="02040503050406030204" pitchFamily="18" charset="0"/>
                          </a:rPr>
                          <m:t>𝑫</m:t>
                        </m:r>
                      </m:e>
                    </m:acc>
                  </m:oMath>
                </a14:m>
                <a:r>
                  <a:rPr lang="en-ZA" sz="1800" b="1" dirty="0">
                    <a:solidFill>
                      <a:schemeClr val="bg2"/>
                    </a:solidFill>
                    <a:latin typeface="Arial" panose="020B0604020202020204" pitchFamily="34" charset="0"/>
                    <a:cs typeface="Arial" panose="020B0604020202020204" pitchFamily="34" charset="0"/>
                  </a:rPr>
                  <a:t> is the difference in the sample means for groups </a:t>
                </a:r>
                <a:r>
                  <a:rPr lang="en-ZA" sz="1800" b="1" dirty="0" err="1">
                    <a:solidFill>
                      <a:schemeClr val="bg2"/>
                    </a:solidFill>
                    <a:latin typeface="Arial" panose="020B0604020202020204" pitchFamily="34" charset="0"/>
                    <a:cs typeface="Arial" panose="020B0604020202020204" pitchFamily="34" charset="0"/>
                  </a:rPr>
                  <a:t>i</a:t>
                </a:r>
                <a:r>
                  <a:rPr lang="en-ZA" sz="1800" b="1" dirty="0">
                    <a:solidFill>
                      <a:schemeClr val="bg2"/>
                    </a:solidFill>
                    <a:latin typeface="Arial" panose="020B0604020202020204" pitchFamily="34" charset="0"/>
                    <a:cs typeface="Arial" panose="020B0604020202020204" pitchFamily="34" charset="0"/>
                  </a:rPr>
                  <a:t> and j. It can be </a:t>
                </a:r>
                <a:r>
                  <a:rPr lang="en-ZA" sz="1800" b="1" dirty="0" smtClean="0">
                    <a:solidFill>
                      <a:schemeClr val="bg2"/>
                    </a:solidFill>
                    <a:latin typeface="Arial" panose="020B0604020202020204" pitchFamily="34" charset="0"/>
                    <a:cs typeface="Arial" panose="020B0604020202020204" pitchFamily="34" charset="0"/>
                  </a:rPr>
                  <a:t>      </a:t>
                </a:r>
              </a:p>
              <a:p>
                <a:pPr marL="0" indent="0">
                  <a:buNone/>
                </a:pPr>
                <a:r>
                  <a:rPr lang="en-ZA" sz="1800" b="1" dirty="0" smtClean="0">
                    <a:solidFill>
                      <a:schemeClr val="bg2"/>
                    </a:solidFill>
                    <a:latin typeface="Arial" panose="020B0604020202020204" pitchFamily="34" charset="0"/>
                    <a:cs typeface="Arial" panose="020B0604020202020204" pitchFamily="34" charset="0"/>
                  </a:rPr>
                  <a:t>     shown </a:t>
                </a:r>
                <a:r>
                  <a:rPr lang="en-ZA" sz="1800" b="1" dirty="0">
                    <a:solidFill>
                      <a:schemeClr val="bg2"/>
                    </a:solidFill>
                    <a:latin typeface="Arial" panose="020B0604020202020204" pitchFamily="34" charset="0"/>
                    <a:cs typeface="Arial" panose="020B0604020202020204" pitchFamily="34" charset="0"/>
                  </a:rPr>
                  <a:t>that </a:t>
                </a:r>
                <a14:m>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𝒕</m:t>
                        </m:r>
                      </m:e>
                      <m:sub>
                        <m:r>
                          <a:rPr lang="en-ZA" sz="1800" b="1" i="1">
                            <a:solidFill>
                              <a:schemeClr val="bg2"/>
                            </a:solidFill>
                            <a:latin typeface="Cambria Math" panose="02040503050406030204" pitchFamily="18" charset="0"/>
                          </a:rPr>
                          <m:t>𝒔</m:t>
                        </m:r>
                      </m:sub>
                    </m:sSub>
                  </m:oMath>
                </a14:m>
                <a:r>
                  <a:rPr lang="en-ZA" sz="1800" b="1" dirty="0">
                    <a:solidFill>
                      <a:schemeClr val="bg2"/>
                    </a:solidFill>
                    <a:latin typeface="Arial" panose="020B0604020202020204" pitchFamily="34" charset="0"/>
                    <a:cs typeface="Arial" panose="020B0604020202020204" pitchFamily="34" charset="0"/>
                  </a:rPr>
                  <a:t> can also be written as:</a:t>
                </a:r>
              </a:p>
              <a:p>
                <a:pPr marL="0" indent="0">
                  <a:buNone/>
                </a:pPr>
                <a14:m>
                  <m:oMathPara xmlns:m="http://schemas.openxmlformats.org/officeDocument/2006/math">
                    <m:oMathParaPr>
                      <m:jc m:val="centerGroup"/>
                    </m:oMathParaPr>
                    <m:oMath xmlns:m="http://schemas.openxmlformats.org/officeDocument/2006/math">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𝒕</m:t>
                          </m:r>
                        </m:e>
                        <m:sub>
                          <m:r>
                            <a:rPr lang="en-ZA" sz="1800" b="1" i="1">
                              <a:solidFill>
                                <a:schemeClr val="bg2"/>
                              </a:solidFill>
                              <a:latin typeface="Cambria Math" panose="02040503050406030204" pitchFamily="18" charset="0"/>
                            </a:rPr>
                            <m:t>𝒔</m:t>
                          </m:r>
                        </m:sub>
                      </m:sSub>
                      <m:r>
                        <a:rPr lang="en-ZA" sz="1800" b="1">
                          <a:solidFill>
                            <a:schemeClr val="bg2"/>
                          </a:solidFill>
                          <a:latin typeface="Cambria Math" panose="02040503050406030204" pitchFamily="18" charset="0"/>
                        </a:rPr>
                        <m:t>= </m:t>
                      </m:r>
                      <m:f>
                        <m:fPr>
                          <m:ctrlPr>
                            <a:rPr lang="en-ZA" sz="1800" b="1" i="1">
                              <a:solidFill>
                                <a:schemeClr val="bg2"/>
                              </a:solidFill>
                              <a:latin typeface="Cambria Math" panose="02040503050406030204" pitchFamily="18" charset="0"/>
                            </a:rPr>
                          </m:ctrlPr>
                        </m:fPr>
                        <m:num>
                          <m:rad>
                            <m:radPr>
                              <m:degHide m:val="on"/>
                              <m:ctrlPr>
                                <a:rPr lang="en-ZA" sz="1800" b="1" i="1">
                                  <a:solidFill>
                                    <a:schemeClr val="bg2"/>
                                  </a:solidFill>
                                  <a:latin typeface="Cambria Math" panose="02040503050406030204" pitchFamily="18" charset="0"/>
                                </a:rPr>
                              </m:ctrlPr>
                            </m:radPr>
                            <m:deg/>
                            <m:e>
                              <m:r>
                                <a:rPr lang="en-ZA" sz="1800" b="1" i="1">
                                  <a:solidFill>
                                    <a:schemeClr val="bg2"/>
                                  </a:solidFill>
                                  <a:latin typeface="Cambria Math" panose="02040503050406030204" pitchFamily="18" charset="0"/>
                                </a:rPr>
                                <m:t>𝟐</m:t>
                              </m:r>
                            </m:e>
                          </m:rad>
                          <m:r>
                            <a:rPr lang="en-ZA" sz="1800" b="1">
                              <a:solidFill>
                                <a:schemeClr val="bg2"/>
                              </a:solidFill>
                              <a:latin typeface="Cambria Math" panose="02040503050406030204" pitchFamily="18" charset="0"/>
                            </a:rPr>
                            <m:t> </m:t>
                          </m:r>
                          <m:acc>
                            <m:accPr>
                              <m:chr m:val="̂"/>
                              <m:ctrlPr>
                                <a:rPr lang="en-ZA" sz="1800" b="1" i="1">
                                  <a:solidFill>
                                    <a:schemeClr val="bg2"/>
                                  </a:solidFill>
                                  <a:latin typeface="Cambria Math" panose="02040503050406030204" pitchFamily="18" charset="0"/>
                                </a:rPr>
                              </m:ctrlPr>
                            </m:accPr>
                            <m:e>
                              <m:r>
                                <a:rPr lang="en-ZA" sz="1800" b="1" i="1">
                                  <a:solidFill>
                                    <a:schemeClr val="bg2"/>
                                  </a:solidFill>
                                  <a:latin typeface="Cambria Math" panose="02040503050406030204" pitchFamily="18" charset="0"/>
                                </a:rPr>
                                <m:t>𝑫</m:t>
                              </m:r>
                            </m:e>
                          </m:acc>
                        </m:num>
                        <m:den>
                          <m:rad>
                            <m:radPr>
                              <m:degHide m:val="on"/>
                              <m:ctrlPr>
                                <a:rPr lang="en-ZA" sz="1800" b="1" i="1">
                                  <a:solidFill>
                                    <a:schemeClr val="bg2"/>
                                  </a:solidFill>
                                  <a:latin typeface="Cambria Math" panose="02040503050406030204" pitchFamily="18" charset="0"/>
                                </a:rPr>
                              </m:ctrlPr>
                            </m:radPr>
                            <m:deg/>
                            <m:e>
                              <m:r>
                                <a:rPr lang="en-ZA" sz="1800" b="1" i="1">
                                  <a:solidFill>
                                    <a:schemeClr val="bg2"/>
                                  </a:solidFill>
                                  <a:latin typeface="Cambria Math" panose="02040503050406030204" pitchFamily="18" charset="0"/>
                                </a:rPr>
                                <m:t>𝑴𝑺𝑬</m:t>
                              </m:r>
                            </m:e>
                          </m:rad>
                        </m:den>
                      </m:f>
                      <m:r>
                        <a:rPr lang="en-ZA" sz="1800" b="1">
                          <a:solidFill>
                            <a:schemeClr val="bg2"/>
                          </a:solidFill>
                          <a:latin typeface="Cambria Math" panose="02040503050406030204" pitchFamily="18" charset="0"/>
                        </a:rPr>
                        <m:t>~</m:t>
                      </m:r>
                      <m:sSub>
                        <m:sSubPr>
                          <m:ctrlPr>
                            <a:rPr lang="en-ZA" sz="1800" b="1" i="1">
                              <a:solidFill>
                                <a:schemeClr val="bg2"/>
                              </a:solidFill>
                              <a:latin typeface="Cambria Math" panose="02040503050406030204" pitchFamily="18" charset="0"/>
                            </a:rPr>
                          </m:ctrlPr>
                        </m:sSubPr>
                        <m:e>
                          <m:r>
                            <a:rPr lang="en-ZA" sz="1800" b="1" i="1">
                              <a:solidFill>
                                <a:schemeClr val="bg2"/>
                              </a:solidFill>
                              <a:latin typeface="Cambria Math" panose="02040503050406030204" pitchFamily="18" charset="0"/>
                            </a:rPr>
                            <m:t>𝒒</m:t>
                          </m:r>
                        </m:e>
                        <m:sub>
                          <m:r>
                            <a:rPr lang="en-ZA" sz="1800" b="1" i="1">
                              <a:solidFill>
                                <a:schemeClr val="bg2"/>
                              </a:solidFill>
                              <a:latin typeface="Cambria Math" panose="02040503050406030204" pitchFamily="18" charset="0"/>
                            </a:rPr>
                            <m:t>𝐦</m:t>
                          </m:r>
                          <m:r>
                            <a:rPr lang="en-ZA" sz="1800" b="1">
                              <a:solidFill>
                                <a:schemeClr val="bg2"/>
                              </a:solidFill>
                              <a:latin typeface="Cambria Math" panose="02040503050406030204" pitchFamily="18" charset="0"/>
                            </a:rPr>
                            <m:t>, </m:t>
                          </m:r>
                          <m:d>
                            <m:dPr>
                              <m:ctrlPr>
                                <a:rPr lang="en-ZA" sz="1800" b="1" i="1">
                                  <a:solidFill>
                                    <a:schemeClr val="bg2"/>
                                  </a:solidFill>
                                  <a:latin typeface="Cambria Math" panose="02040503050406030204" pitchFamily="18" charset="0"/>
                                </a:rPr>
                              </m:ctrlPr>
                            </m:dPr>
                            <m:e>
                              <m:r>
                                <a:rPr lang="en-ZA" sz="1800" b="1" i="1">
                                  <a:solidFill>
                                    <a:schemeClr val="bg2"/>
                                  </a:solidFill>
                                  <a:latin typeface="Cambria Math" panose="02040503050406030204" pitchFamily="18" charset="0"/>
                                </a:rPr>
                                <m:t>𝐦</m:t>
                              </m:r>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𝒏</m:t>
                              </m:r>
                            </m:e>
                          </m:d>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𝒎</m:t>
                          </m:r>
                        </m:sub>
                      </m:sSub>
                    </m:oMath>
                  </m:oMathPara>
                </a14:m>
                <a:endParaRPr lang="en-ZA" sz="1800" b="1" dirty="0">
                  <a:solidFill>
                    <a:schemeClr val="bg2"/>
                  </a:solidFill>
                  <a:latin typeface="Arial" panose="020B0604020202020204" pitchFamily="34" charset="0"/>
                  <a:cs typeface="Arial" panose="020B0604020202020204" pitchFamily="34" charset="0"/>
                </a:endParaRPr>
              </a:p>
              <a:p>
                <a:pPr marL="0" indent="0">
                  <a:buNone/>
                </a:pPr>
                <a:r>
                  <a:rPr lang="en-ZA" sz="1800" b="1" dirty="0" smtClean="0">
                    <a:solidFill>
                      <a:schemeClr val="bg2"/>
                    </a:solidFill>
                    <a:latin typeface="Arial" panose="020B0604020202020204" pitchFamily="34" charset="0"/>
                    <a:cs typeface="Arial" panose="020B0604020202020204" pitchFamily="34" charset="0"/>
                  </a:rPr>
                  <a:t>   where </a:t>
                </a:r>
                <a:r>
                  <a:rPr lang="en-ZA" sz="1800" b="1" dirty="0">
                    <a:solidFill>
                      <a:schemeClr val="bg2"/>
                    </a:solidFill>
                    <a:latin typeface="Arial" panose="020B0604020202020204" pitchFamily="34" charset="0"/>
                    <a:cs typeface="Arial" panose="020B0604020202020204" pitchFamily="34" charset="0"/>
                  </a:rPr>
                  <a:t>MSE is the mean square error from fitting the full ANOVA model. </a:t>
                </a:r>
                <a:r>
                  <a:rPr lang="en-ZA" sz="1800" b="1" dirty="0" smtClean="0">
                    <a:solidFill>
                      <a:schemeClr val="bg2"/>
                    </a:solidFill>
                    <a:latin typeface="Arial" panose="020B0604020202020204" pitchFamily="34" charset="0"/>
                    <a:cs typeface="Arial" panose="020B0604020202020204" pitchFamily="34" charset="0"/>
                  </a:rPr>
                  <a:t>      </a:t>
                </a:r>
              </a:p>
              <a:p>
                <a:pPr marL="0" indent="0">
                  <a:buNone/>
                </a:pPr>
                <a:r>
                  <a:rPr lang="en-ZA" sz="1800" b="1" dirty="0">
                    <a:solidFill>
                      <a:schemeClr val="bg2"/>
                    </a:solidFill>
                    <a:latin typeface="Arial" panose="020B0604020202020204" pitchFamily="34" charset="0"/>
                    <a:cs typeface="Arial" panose="020B0604020202020204" pitchFamily="34" charset="0"/>
                  </a:rPr>
                  <a:t> </a:t>
                </a:r>
                <a:r>
                  <a:rPr lang="en-ZA" sz="1800" b="1" dirty="0" smtClean="0">
                    <a:solidFill>
                      <a:schemeClr val="bg2"/>
                    </a:solidFill>
                    <a:latin typeface="Arial" panose="020B0604020202020204" pitchFamily="34" charset="0"/>
                    <a:cs typeface="Arial" panose="020B0604020202020204" pitchFamily="34" charset="0"/>
                  </a:rPr>
                  <a:t>  </a:t>
                </a:r>
                <a:r>
                  <a:rPr lang="en-ZA" sz="1800" b="1" dirty="0" smtClean="0">
                    <a:solidFill>
                      <a:schemeClr val="bg2"/>
                    </a:solidFill>
                    <a:latin typeface="Arial" panose="020B0604020202020204" pitchFamily="34" charset="0"/>
                    <a:cs typeface="Arial" panose="020B0604020202020204" pitchFamily="34" charset="0"/>
                  </a:rPr>
                  <a:t>This </a:t>
                </a:r>
                <a:r>
                  <a:rPr lang="en-ZA" sz="1800" b="1" dirty="0">
                    <a:solidFill>
                      <a:schemeClr val="bg2"/>
                    </a:solidFill>
                    <a:latin typeface="Arial" panose="020B0604020202020204" pitchFamily="34" charset="0"/>
                    <a:cs typeface="Arial" panose="020B0604020202020204" pitchFamily="34" charset="0"/>
                  </a:rPr>
                  <a:t>statistic has a studentized range distribution with </a:t>
                </a:r>
                <a14:m>
                  <m:oMath xmlns:m="http://schemas.openxmlformats.org/officeDocument/2006/math">
                    <m:r>
                      <a:rPr lang="en-ZA" sz="1800" b="1" i="1">
                        <a:solidFill>
                          <a:schemeClr val="bg2"/>
                        </a:solidFill>
                        <a:latin typeface="Cambria Math" panose="02040503050406030204" pitchFamily="18" charset="0"/>
                      </a:rPr>
                      <m:t>𝐦</m:t>
                    </m:r>
                  </m:oMath>
                </a14:m>
                <a:r>
                  <a:rPr lang="en-ZA" sz="1800" b="1" dirty="0">
                    <a:solidFill>
                      <a:schemeClr val="bg2"/>
                    </a:solidFill>
                    <a:latin typeface="Arial" panose="020B0604020202020204" pitchFamily="34" charset="0"/>
                    <a:cs typeface="Arial" panose="020B0604020202020204" pitchFamily="34" charset="0"/>
                  </a:rPr>
                  <a:t> and </a:t>
                </a:r>
                <a14:m>
                  <m:oMath xmlns:m="http://schemas.openxmlformats.org/officeDocument/2006/math">
                    <m:d>
                      <m:dPr>
                        <m:ctrlPr>
                          <a:rPr lang="en-ZA" sz="1800" b="1" i="1">
                            <a:solidFill>
                              <a:schemeClr val="bg2"/>
                            </a:solidFill>
                            <a:latin typeface="Cambria Math" panose="02040503050406030204" pitchFamily="18" charset="0"/>
                          </a:rPr>
                        </m:ctrlPr>
                      </m:dPr>
                      <m:e>
                        <m:r>
                          <a:rPr lang="en-ZA" sz="1800" b="1" i="1">
                            <a:solidFill>
                              <a:schemeClr val="bg2"/>
                            </a:solidFill>
                            <a:latin typeface="Cambria Math" panose="02040503050406030204" pitchFamily="18" charset="0"/>
                          </a:rPr>
                          <m:t>𝐦</m:t>
                        </m:r>
                        <m:r>
                          <a:rPr lang="en-ZA" sz="1800" b="1">
                            <a:solidFill>
                              <a:schemeClr val="bg2"/>
                            </a:solidFill>
                            <a:latin typeface="Cambria Math" panose="02040503050406030204" pitchFamily="18" charset="0"/>
                          </a:rPr>
                          <m:t>×</m:t>
                        </m:r>
                        <m:r>
                          <a:rPr lang="en-ZA" sz="1800" b="1" i="1">
                            <a:solidFill>
                              <a:schemeClr val="bg2"/>
                            </a:solidFill>
                            <a:latin typeface="Cambria Math" panose="02040503050406030204" pitchFamily="18" charset="0"/>
                          </a:rPr>
                          <m:t>𝒏</m:t>
                        </m:r>
                      </m:e>
                    </m:d>
                    <m:r>
                      <a:rPr lang="en-ZA" sz="1800" b="1">
                        <a:solidFill>
                          <a:schemeClr val="bg2"/>
                        </a:solidFill>
                        <a:latin typeface="Cambria Math" panose="02040503050406030204" pitchFamily="18" charset="0"/>
                      </a:rPr>
                      <m:t>−</m:t>
                    </m:r>
                    <m:r>
                      <a:rPr lang="en-US" sz="1800" b="1" i="1" smtClean="0">
                        <a:solidFill>
                          <a:schemeClr val="bg2"/>
                        </a:solidFill>
                        <a:latin typeface="Cambria Math" panose="02040503050406030204" pitchFamily="18" charset="0"/>
                      </a:rPr>
                      <m:t>     </m:t>
                    </m:r>
                    <m:r>
                      <a:rPr lang="en-ZA" sz="1800" b="1" i="1">
                        <a:solidFill>
                          <a:schemeClr val="bg2"/>
                        </a:solidFill>
                        <a:latin typeface="Cambria Math" panose="02040503050406030204" pitchFamily="18" charset="0"/>
                      </a:rPr>
                      <m:t>𝐦</m:t>
                    </m:r>
                    <m:r>
                      <a:rPr lang="en-ZA" sz="1800" b="1">
                        <a:solidFill>
                          <a:schemeClr val="bg2"/>
                        </a:solidFill>
                        <a:latin typeface="Cambria Math" panose="02040503050406030204" pitchFamily="18" charset="0"/>
                      </a:rPr>
                      <m:t> </m:t>
                    </m:r>
                  </m:oMath>
                </a14:m>
                <a:r>
                  <a:rPr lang="en-ZA" sz="1800" b="1" dirty="0">
                    <a:solidFill>
                      <a:schemeClr val="bg2"/>
                    </a:solidFill>
                    <a:latin typeface="Arial" panose="020B0604020202020204" pitchFamily="34" charset="0"/>
                    <a:cs typeface="Arial" panose="020B0604020202020204" pitchFamily="34" charset="0"/>
                  </a:rPr>
                  <a:t>degrees of freedom.</a:t>
                </a:r>
              </a:p>
            </p:txBody>
          </p:sp>
        </mc:Choice>
        <mc:Fallback>
          <p:sp>
            <p:nvSpPr>
              <p:cNvPr id="4" name="Content Placeholder 2">
                <a:extLst>
                  <a:ext uri="{FF2B5EF4-FFF2-40B4-BE49-F238E27FC236}">
                    <a16:creationId xmlns:a16="http://schemas.microsoft.com/office/drawing/2014/main" id="{D601D4B6-05B5-4A43-AF65-67CB3A7A16D2}"/>
                  </a:ext>
                </a:extLst>
              </p:cNvPr>
              <p:cNvSpPr>
                <a:spLocks noGrp="1" noRot="1" noChangeAspect="1" noMove="1" noResize="1" noEditPoints="1" noAdjustHandles="1" noChangeArrowheads="1" noChangeShapeType="1" noTextEdit="1"/>
              </p:cNvSpPr>
              <p:nvPr>
                <p:ph idx="1"/>
              </p:nvPr>
            </p:nvSpPr>
            <p:spPr>
              <a:xfrm>
                <a:off x="318053" y="998920"/>
                <a:ext cx="8534400" cy="5627159"/>
              </a:xfrm>
              <a:blipFill>
                <a:blip r:embed="rId3"/>
                <a:stretch>
                  <a:fillRect l="-429" t="-650" r="-357"/>
                </a:stretch>
              </a:blipFill>
            </p:spPr>
            <p:txBody>
              <a:bodyPr/>
              <a:lstStyle/>
              <a:p>
                <a:r>
                  <a:rPr lang="en-US">
                    <a:noFill/>
                  </a:rPr>
                  <a:t> </a:t>
                </a:r>
              </a:p>
            </p:txBody>
          </p:sp>
        </mc:Fallback>
      </mc:AlternateContent>
    </p:spTree>
    <p:extLst>
      <p:ext uri="{BB962C8B-B14F-4D97-AF65-F5344CB8AC3E}">
        <p14:creationId xmlns:p14="http://schemas.microsoft.com/office/powerpoint/2010/main" val="1301288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65200" y="58165"/>
            <a:ext cx="72136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 </a:t>
            </a:r>
            <a:r>
              <a:rPr lang="en-US" altLang="en-US" sz="2800" dirty="0" smtClean="0">
                <a:latin typeface="Comic Sans MS" panose="030F0702030302020204" pitchFamily="66" charset="0"/>
              </a:rPr>
              <a:t>Examples from Association Tests</a:t>
            </a:r>
            <a:endParaRPr lang="en-US" altLang="en-US" sz="2800" dirty="0">
              <a:latin typeface="Comic Sans MS" panose="030F0702030302020204" pitchFamily="66"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318053" y="998920"/>
            <a:ext cx="8534400" cy="5627159"/>
          </a:xfrm>
        </p:spPr>
        <p:txBody>
          <a:bodyPr/>
          <a:lstStyle/>
          <a:p>
            <a:endParaRPr lang="en-ZA" sz="1800" dirty="0">
              <a:solidFill>
                <a:schemeClr val="bg2"/>
              </a:solidFill>
            </a:endParaRPr>
          </a:p>
        </p:txBody>
      </p:sp>
    </p:spTree>
    <p:extLst>
      <p:ext uri="{BB962C8B-B14F-4D97-AF65-F5344CB8AC3E}">
        <p14:creationId xmlns:p14="http://schemas.microsoft.com/office/powerpoint/2010/main" val="3744036060"/>
      </p:ext>
    </p:extLst>
  </p:cSld>
  <p:clrMapOvr>
    <a:masterClrMapping/>
  </p:clrMapOvr>
</p:sld>
</file>

<file path=ppt/theme/theme1.xml><?xml version="1.0" encoding="utf-8"?>
<a:theme xmlns:a="http://schemas.openxmlformats.org/drawingml/2006/main" name="Blank Presentation">
  <a:themeElements>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chemeClr val="accent2"/>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50000"/>
          </a:lnSpc>
          <a:spcBef>
            <a:spcPct val="50000"/>
          </a:spcBef>
          <a:spcAft>
            <a:spcPts val="600"/>
          </a:spcAft>
          <a:buClrTx/>
          <a:buSzTx/>
          <a:buFontTx/>
          <a:buNone/>
          <a:tabLst/>
          <a:defRPr kumimoji="0" lang="en-US" sz="1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5400" cap="flat" cmpd="sng" algn="ctr">
          <a:solidFill>
            <a:schemeClr val="accent2"/>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50000"/>
          </a:lnSpc>
          <a:spcBef>
            <a:spcPct val="50000"/>
          </a:spcBef>
          <a:spcAft>
            <a:spcPts val="600"/>
          </a:spcAft>
          <a:buClrTx/>
          <a:buSzTx/>
          <a:buFontTx/>
          <a:buNone/>
          <a:tabLst/>
          <a:defRPr kumimoji="0" lang="en-US" sz="10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60715</TotalTime>
  <Words>2079</Words>
  <Application>Microsoft Office PowerPoint</Application>
  <PresentationFormat>On-screen Show (4:3)</PresentationFormat>
  <Paragraphs>135</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Cambria Math</vt:lpstr>
      <vt:lpstr>CMR9</vt:lpstr>
      <vt:lpstr>Comic Sans MS</vt:lpstr>
      <vt:lpstr>Times New Roman</vt:lpstr>
      <vt:lpstr>Blank Presentation</vt:lpstr>
      <vt:lpstr>Statistical Genetics</vt:lpstr>
      <vt:lpstr> Lecture 3 Readings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SFBR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omolo, bernard</dc:creator>
  <cp:lastModifiedBy>OMOLO, BERNARD</cp:lastModifiedBy>
  <cp:revision>1623</cp:revision>
  <cp:lastPrinted>2002-03-25T19:52:15Z</cp:lastPrinted>
  <dcterms:created xsi:type="dcterms:W3CDTF">1999-10-20T21:41:02Z</dcterms:created>
  <dcterms:modified xsi:type="dcterms:W3CDTF">2021-02-24T15:25:39Z</dcterms:modified>
</cp:coreProperties>
</file>