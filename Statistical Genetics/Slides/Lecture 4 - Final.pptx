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6"/>
  </p:notesMasterIdLst>
  <p:handoutMasterIdLst>
    <p:handoutMasterId r:id="rId17"/>
  </p:handoutMasterIdLst>
  <p:sldIdLst>
    <p:sldId id="1114" r:id="rId2"/>
    <p:sldId id="1115" r:id="rId3"/>
    <p:sldId id="1335" r:id="rId4"/>
    <p:sldId id="1352" r:id="rId5"/>
    <p:sldId id="1336" r:id="rId6"/>
    <p:sldId id="1353" r:id="rId7"/>
    <p:sldId id="1354" r:id="rId8"/>
    <p:sldId id="1355" r:id="rId9"/>
    <p:sldId id="1338" r:id="rId10"/>
    <p:sldId id="1339" r:id="rId11"/>
    <p:sldId id="1340" r:id="rId12"/>
    <p:sldId id="1341" r:id="rId13"/>
    <p:sldId id="1343" r:id="rId14"/>
    <p:sldId id="1342" r:id="rId15"/>
  </p:sldIdLst>
  <p:sldSz cx="9144000" cy="6858000" type="screen4x3"/>
  <p:notesSz cx="6985000" cy="9283700"/>
  <p:defaultTextStyle>
    <a:defPPr>
      <a:defRPr lang="en-US"/>
    </a:defPPr>
    <a:lvl1pPr algn="l" rtl="0" eaLnBrk="0" fontAlgn="base" hangingPunct="0">
      <a:spcBef>
        <a:spcPct val="0"/>
      </a:spcBef>
      <a:spcAft>
        <a:spcPct val="0"/>
      </a:spcAft>
      <a:defRPr sz="1000" b="1" kern="1200">
        <a:solidFill>
          <a:schemeClr val="bg2"/>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sz="1000" b="1" kern="1200">
        <a:solidFill>
          <a:schemeClr val="bg2"/>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sz="1000" b="1" kern="1200">
        <a:solidFill>
          <a:schemeClr val="bg2"/>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sz="1000" b="1" kern="1200">
        <a:solidFill>
          <a:schemeClr val="bg2"/>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sz="1000" b="1" kern="1200">
        <a:solidFill>
          <a:schemeClr val="bg2"/>
        </a:solidFill>
        <a:latin typeface="Arial" panose="020B0604020202020204" pitchFamily="34" charset="0"/>
        <a:ea typeface="+mn-ea"/>
        <a:cs typeface="Arial" panose="020B0604020202020204" pitchFamily="34" charset="0"/>
      </a:defRPr>
    </a:lvl5pPr>
    <a:lvl6pPr marL="2286000" algn="l" defTabSz="914400" rtl="0" eaLnBrk="1" latinLnBrk="0" hangingPunct="1">
      <a:defRPr sz="1000" b="1" kern="1200">
        <a:solidFill>
          <a:schemeClr val="bg2"/>
        </a:solidFill>
        <a:latin typeface="Arial" panose="020B0604020202020204" pitchFamily="34" charset="0"/>
        <a:ea typeface="+mn-ea"/>
        <a:cs typeface="Arial" panose="020B0604020202020204" pitchFamily="34" charset="0"/>
      </a:defRPr>
    </a:lvl6pPr>
    <a:lvl7pPr marL="2743200" algn="l" defTabSz="914400" rtl="0" eaLnBrk="1" latinLnBrk="0" hangingPunct="1">
      <a:defRPr sz="1000" b="1" kern="1200">
        <a:solidFill>
          <a:schemeClr val="bg2"/>
        </a:solidFill>
        <a:latin typeface="Arial" panose="020B0604020202020204" pitchFamily="34" charset="0"/>
        <a:ea typeface="+mn-ea"/>
        <a:cs typeface="Arial" panose="020B0604020202020204" pitchFamily="34" charset="0"/>
      </a:defRPr>
    </a:lvl7pPr>
    <a:lvl8pPr marL="3200400" algn="l" defTabSz="914400" rtl="0" eaLnBrk="1" latinLnBrk="0" hangingPunct="1">
      <a:defRPr sz="1000" b="1" kern="1200">
        <a:solidFill>
          <a:schemeClr val="bg2"/>
        </a:solidFill>
        <a:latin typeface="Arial" panose="020B0604020202020204" pitchFamily="34" charset="0"/>
        <a:ea typeface="+mn-ea"/>
        <a:cs typeface="Arial" panose="020B0604020202020204" pitchFamily="34" charset="0"/>
      </a:defRPr>
    </a:lvl8pPr>
    <a:lvl9pPr marL="3657600" algn="l" defTabSz="914400" rtl="0" eaLnBrk="1" latinLnBrk="0" hangingPunct="1">
      <a:defRPr sz="1000" b="1" kern="1200">
        <a:solidFill>
          <a:schemeClr val="bg2"/>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99">
          <p15:clr>
            <a:srgbClr val="A4A3A4"/>
          </p15:clr>
        </p15:guide>
        <p15:guide id="2" pos="2865">
          <p15:clr>
            <a:srgbClr val="A4A3A4"/>
          </p15:clr>
        </p15:guide>
      </p15:sldGuideLst>
    </p:ext>
    <p:ext uri="{2D200454-40CA-4A62-9FC3-DE9A4176ACB9}">
      <p15:notesGuideLst xmlns:p15="http://schemas.microsoft.com/office/powerpoint/2012/main">
        <p15:guide id="1" orient="horz" pos="2178">
          <p15:clr>
            <a:srgbClr val="A4A3A4"/>
          </p15:clr>
        </p15:guide>
        <p15:guide id="2" pos="214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BCFCFE"/>
    <a:srgbClr val="0000CC"/>
    <a:srgbClr val="000099"/>
    <a:srgbClr val="FF99FF"/>
    <a:srgbClr val="FF00FF"/>
    <a:srgbClr val="003300"/>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35" autoAdjust="0"/>
    <p:restoredTop sz="99042" autoAdjust="0"/>
  </p:normalViewPr>
  <p:slideViewPr>
    <p:cSldViewPr snapToGrid="0">
      <p:cViewPr varScale="1">
        <p:scale>
          <a:sx n="73" d="100"/>
          <a:sy n="73" d="100"/>
        </p:scale>
        <p:origin x="1290" y="84"/>
      </p:cViewPr>
      <p:guideLst>
        <p:guide orient="horz" pos="2199"/>
        <p:guide pos="2865"/>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66" d="100"/>
          <a:sy n="66" d="100"/>
        </p:scale>
        <p:origin x="-2280" y="-84"/>
      </p:cViewPr>
      <p:guideLst>
        <p:guide orient="horz" pos="2178"/>
        <p:guide pos="214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_rels/viewProps.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7506" name="Rectangle 2"/>
          <p:cNvSpPr>
            <a:spLocks noGrp="1" noChangeArrowheads="1"/>
          </p:cNvSpPr>
          <p:nvPr>
            <p:ph type="hdr" sz="quarter"/>
          </p:nvPr>
        </p:nvSpPr>
        <p:spPr bwMode="auto">
          <a:xfrm>
            <a:off x="0" y="0"/>
            <a:ext cx="3027363" cy="461963"/>
          </a:xfrm>
          <a:prstGeom prst="rect">
            <a:avLst/>
          </a:prstGeom>
          <a:noFill/>
          <a:ln w="9525">
            <a:noFill/>
            <a:miter lim="800000"/>
            <a:headEnd/>
            <a:tailEnd/>
          </a:ln>
        </p:spPr>
        <p:txBody>
          <a:bodyPr vert="horz" wrap="square" lIns="91311" tIns="45657" rIns="91311" bIns="45657" numCol="1" anchor="t" anchorCtr="0" compatLnSpc="1">
            <a:prstTxWarp prst="textNoShape">
              <a:avLst/>
            </a:prstTxWarp>
          </a:bodyPr>
          <a:lstStyle>
            <a:lvl1pPr defTabSz="912813" eaLnBrk="0" hangingPunct="0">
              <a:spcBef>
                <a:spcPct val="50000"/>
              </a:spcBef>
              <a:buFontTx/>
              <a:buChar char="•"/>
              <a:defRPr sz="1100" b="0">
                <a:solidFill>
                  <a:schemeClr val="tx1"/>
                </a:solidFill>
                <a:latin typeface="Arial" charset="0"/>
                <a:cs typeface="Arial" charset="0"/>
              </a:defRPr>
            </a:lvl1pPr>
          </a:lstStyle>
          <a:p>
            <a:pPr>
              <a:defRPr/>
            </a:pPr>
            <a:endParaRPr lang="en-US"/>
          </a:p>
        </p:txBody>
      </p:sp>
      <p:sp>
        <p:nvSpPr>
          <p:cNvPr id="277507" name="Rectangle 3"/>
          <p:cNvSpPr>
            <a:spLocks noGrp="1" noChangeArrowheads="1"/>
          </p:cNvSpPr>
          <p:nvPr>
            <p:ph type="dt" sz="quarter" idx="1"/>
          </p:nvPr>
        </p:nvSpPr>
        <p:spPr bwMode="auto">
          <a:xfrm>
            <a:off x="3957638" y="0"/>
            <a:ext cx="3027362" cy="461963"/>
          </a:xfrm>
          <a:prstGeom prst="rect">
            <a:avLst/>
          </a:prstGeom>
          <a:noFill/>
          <a:ln w="9525">
            <a:noFill/>
            <a:miter lim="800000"/>
            <a:headEnd/>
            <a:tailEnd/>
          </a:ln>
        </p:spPr>
        <p:txBody>
          <a:bodyPr vert="horz" wrap="square" lIns="91311" tIns="45657" rIns="91311" bIns="45657" numCol="1" anchor="t" anchorCtr="0" compatLnSpc="1">
            <a:prstTxWarp prst="textNoShape">
              <a:avLst/>
            </a:prstTxWarp>
          </a:bodyPr>
          <a:lstStyle>
            <a:lvl1pPr algn="r" defTabSz="912813" eaLnBrk="0" hangingPunct="0">
              <a:spcBef>
                <a:spcPct val="50000"/>
              </a:spcBef>
              <a:buFontTx/>
              <a:buChar char="•"/>
              <a:defRPr sz="1100" b="0">
                <a:solidFill>
                  <a:schemeClr val="tx1"/>
                </a:solidFill>
                <a:latin typeface="Arial" charset="0"/>
                <a:cs typeface="Arial" charset="0"/>
              </a:defRPr>
            </a:lvl1pPr>
          </a:lstStyle>
          <a:p>
            <a:pPr>
              <a:defRPr/>
            </a:pPr>
            <a:endParaRPr lang="en-US"/>
          </a:p>
        </p:txBody>
      </p:sp>
      <p:sp>
        <p:nvSpPr>
          <p:cNvPr id="277508" name="Rectangle 4"/>
          <p:cNvSpPr>
            <a:spLocks noGrp="1" noChangeArrowheads="1"/>
          </p:cNvSpPr>
          <p:nvPr>
            <p:ph type="ftr" sz="quarter" idx="2"/>
          </p:nvPr>
        </p:nvSpPr>
        <p:spPr bwMode="auto">
          <a:xfrm>
            <a:off x="0" y="8851900"/>
            <a:ext cx="3027363" cy="461963"/>
          </a:xfrm>
          <a:prstGeom prst="rect">
            <a:avLst/>
          </a:prstGeom>
          <a:noFill/>
          <a:ln w="9525">
            <a:noFill/>
            <a:miter lim="800000"/>
            <a:headEnd/>
            <a:tailEnd/>
          </a:ln>
        </p:spPr>
        <p:txBody>
          <a:bodyPr vert="horz" wrap="square" lIns="91311" tIns="45657" rIns="91311" bIns="45657" numCol="1" anchor="b" anchorCtr="0" compatLnSpc="1">
            <a:prstTxWarp prst="textNoShape">
              <a:avLst/>
            </a:prstTxWarp>
          </a:bodyPr>
          <a:lstStyle>
            <a:lvl1pPr defTabSz="912813" eaLnBrk="0" hangingPunct="0">
              <a:spcBef>
                <a:spcPct val="50000"/>
              </a:spcBef>
              <a:buFontTx/>
              <a:buChar char="•"/>
              <a:defRPr sz="1100" b="0">
                <a:solidFill>
                  <a:schemeClr val="tx1"/>
                </a:solidFill>
                <a:latin typeface="Arial" charset="0"/>
                <a:cs typeface="Arial" charset="0"/>
              </a:defRPr>
            </a:lvl1pPr>
          </a:lstStyle>
          <a:p>
            <a:pPr>
              <a:defRPr/>
            </a:pPr>
            <a:endParaRPr lang="en-US"/>
          </a:p>
        </p:txBody>
      </p:sp>
      <p:sp>
        <p:nvSpPr>
          <p:cNvPr id="277509" name="Rectangle 5"/>
          <p:cNvSpPr>
            <a:spLocks noGrp="1" noChangeArrowheads="1"/>
          </p:cNvSpPr>
          <p:nvPr>
            <p:ph type="sldNum" sz="quarter" idx="3"/>
          </p:nvPr>
        </p:nvSpPr>
        <p:spPr bwMode="auto">
          <a:xfrm>
            <a:off x="3957638" y="8851900"/>
            <a:ext cx="3027362" cy="461963"/>
          </a:xfrm>
          <a:prstGeom prst="rect">
            <a:avLst/>
          </a:prstGeom>
          <a:noFill/>
          <a:ln w="9525">
            <a:noFill/>
            <a:miter lim="800000"/>
            <a:headEnd/>
            <a:tailEnd/>
          </a:ln>
        </p:spPr>
        <p:txBody>
          <a:bodyPr vert="horz" wrap="square" lIns="91311" tIns="45657" rIns="91311" bIns="45657" numCol="1" anchor="b" anchorCtr="0" compatLnSpc="1">
            <a:prstTxWarp prst="textNoShape">
              <a:avLst/>
            </a:prstTxWarp>
          </a:bodyPr>
          <a:lstStyle>
            <a:lvl1pPr algn="r" defTabSz="912813" eaLnBrk="0" hangingPunct="0">
              <a:spcBef>
                <a:spcPct val="50000"/>
              </a:spcBef>
              <a:buFontTx/>
              <a:buChar char="•"/>
              <a:defRPr sz="1100" b="0" smtClean="0">
                <a:solidFill>
                  <a:schemeClr val="tx1"/>
                </a:solidFill>
              </a:defRPr>
            </a:lvl1pPr>
          </a:lstStyle>
          <a:p>
            <a:pPr>
              <a:defRPr/>
            </a:pPr>
            <a:fld id="{4120BD31-052C-4E0E-9060-F87DFD5E9091}"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3027363" cy="463550"/>
          </a:xfrm>
          <a:prstGeom prst="rect">
            <a:avLst/>
          </a:prstGeom>
          <a:noFill/>
          <a:ln w="9525">
            <a:noFill/>
            <a:miter lim="800000"/>
            <a:headEnd/>
            <a:tailEnd/>
          </a:ln>
        </p:spPr>
        <p:txBody>
          <a:bodyPr vert="horz" wrap="square" lIns="91311" tIns="45657" rIns="91311" bIns="45657" numCol="1" anchor="t" anchorCtr="0" compatLnSpc="1">
            <a:prstTxWarp prst="textNoShape">
              <a:avLst/>
            </a:prstTxWarp>
          </a:bodyPr>
          <a:lstStyle>
            <a:lvl1pPr defTabSz="912813" eaLnBrk="0" hangingPunct="0">
              <a:defRPr sz="1100" b="0">
                <a:solidFill>
                  <a:schemeClr val="tx1"/>
                </a:solidFill>
                <a:latin typeface="Times New Roman" pitchFamily="18" charset="0"/>
                <a:cs typeface="Arial" charset="0"/>
              </a:defRPr>
            </a:lvl1pPr>
          </a:lstStyle>
          <a:p>
            <a:pPr>
              <a:defRPr/>
            </a:pPr>
            <a:endParaRPr lang="en-US"/>
          </a:p>
        </p:txBody>
      </p:sp>
      <p:sp>
        <p:nvSpPr>
          <p:cNvPr id="7171" name="Rectangle 3"/>
          <p:cNvSpPr>
            <a:spLocks noGrp="1" noChangeArrowheads="1"/>
          </p:cNvSpPr>
          <p:nvPr>
            <p:ph type="dt" idx="1"/>
          </p:nvPr>
        </p:nvSpPr>
        <p:spPr bwMode="auto">
          <a:xfrm>
            <a:off x="3957638" y="0"/>
            <a:ext cx="3027362" cy="463550"/>
          </a:xfrm>
          <a:prstGeom prst="rect">
            <a:avLst/>
          </a:prstGeom>
          <a:noFill/>
          <a:ln w="9525">
            <a:noFill/>
            <a:miter lim="800000"/>
            <a:headEnd/>
            <a:tailEnd/>
          </a:ln>
        </p:spPr>
        <p:txBody>
          <a:bodyPr vert="horz" wrap="square" lIns="91311" tIns="45657" rIns="91311" bIns="45657" numCol="1" anchor="t" anchorCtr="0" compatLnSpc="1">
            <a:prstTxWarp prst="textNoShape">
              <a:avLst/>
            </a:prstTxWarp>
          </a:bodyPr>
          <a:lstStyle>
            <a:lvl1pPr algn="r" defTabSz="912813" eaLnBrk="0" hangingPunct="0">
              <a:defRPr sz="1100" b="0">
                <a:solidFill>
                  <a:schemeClr val="tx1"/>
                </a:solidFill>
                <a:latin typeface="Times New Roman" pitchFamily="18" charset="0"/>
                <a:cs typeface="Arial" charset="0"/>
              </a:defRPr>
            </a:lvl1pPr>
          </a:lstStyle>
          <a:p>
            <a:pPr>
              <a:defRPr/>
            </a:pPr>
            <a:endParaRPr lang="en-US"/>
          </a:p>
        </p:txBody>
      </p:sp>
      <p:sp>
        <p:nvSpPr>
          <p:cNvPr id="9220" name="Rectangle 4"/>
          <p:cNvSpPr>
            <a:spLocks noGrp="1" noRot="1" noChangeAspect="1" noChangeArrowheads="1" noTextEdit="1"/>
          </p:cNvSpPr>
          <p:nvPr>
            <p:ph type="sldImg" idx="2"/>
          </p:nvPr>
        </p:nvSpPr>
        <p:spPr bwMode="auto">
          <a:xfrm>
            <a:off x="1173163" y="695325"/>
            <a:ext cx="4641850" cy="34813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3" name="Rectangle 5"/>
          <p:cNvSpPr>
            <a:spLocks noGrp="1" noChangeArrowheads="1"/>
          </p:cNvSpPr>
          <p:nvPr>
            <p:ph type="body" sz="quarter" idx="3"/>
          </p:nvPr>
        </p:nvSpPr>
        <p:spPr bwMode="auto">
          <a:xfrm>
            <a:off x="933450" y="4410075"/>
            <a:ext cx="5118100" cy="4178300"/>
          </a:xfrm>
          <a:prstGeom prst="rect">
            <a:avLst/>
          </a:prstGeom>
          <a:noFill/>
          <a:ln w="9525">
            <a:noFill/>
            <a:miter lim="800000"/>
            <a:headEnd/>
            <a:tailEnd/>
          </a:ln>
        </p:spPr>
        <p:txBody>
          <a:bodyPr vert="horz" wrap="square" lIns="91311" tIns="45657" rIns="91311" bIns="4565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174" name="Rectangle 6"/>
          <p:cNvSpPr>
            <a:spLocks noGrp="1" noChangeArrowheads="1"/>
          </p:cNvSpPr>
          <p:nvPr>
            <p:ph type="ftr" sz="quarter" idx="4"/>
          </p:nvPr>
        </p:nvSpPr>
        <p:spPr bwMode="auto">
          <a:xfrm>
            <a:off x="0" y="8820150"/>
            <a:ext cx="3027363" cy="463550"/>
          </a:xfrm>
          <a:prstGeom prst="rect">
            <a:avLst/>
          </a:prstGeom>
          <a:noFill/>
          <a:ln w="9525">
            <a:noFill/>
            <a:miter lim="800000"/>
            <a:headEnd/>
            <a:tailEnd/>
          </a:ln>
        </p:spPr>
        <p:txBody>
          <a:bodyPr vert="horz" wrap="square" lIns="91311" tIns="45657" rIns="91311" bIns="45657" numCol="1" anchor="b" anchorCtr="0" compatLnSpc="1">
            <a:prstTxWarp prst="textNoShape">
              <a:avLst/>
            </a:prstTxWarp>
          </a:bodyPr>
          <a:lstStyle>
            <a:lvl1pPr defTabSz="912813" eaLnBrk="0" hangingPunct="0">
              <a:defRPr sz="1100" b="0">
                <a:solidFill>
                  <a:schemeClr val="tx1"/>
                </a:solidFill>
                <a:latin typeface="Times New Roman" pitchFamily="18" charset="0"/>
                <a:cs typeface="Arial" charset="0"/>
              </a:defRPr>
            </a:lvl1pPr>
          </a:lstStyle>
          <a:p>
            <a:pPr>
              <a:defRPr/>
            </a:pPr>
            <a:endParaRPr lang="en-US"/>
          </a:p>
        </p:txBody>
      </p:sp>
      <p:sp>
        <p:nvSpPr>
          <p:cNvPr id="7175" name="Rectangle 7"/>
          <p:cNvSpPr>
            <a:spLocks noGrp="1" noChangeArrowheads="1"/>
          </p:cNvSpPr>
          <p:nvPr>
            <p:ph type="sldNum" sz="quarter" idx="5"/>
          </p:nvPr>
        </p:nvSpPr>
        <p:spPr bwMode="auto">
          <a:xfrm>
            <a:off x="3957638" y="8820150"/>
            <a:ext cx="3027362" cy="463550"/>
          </a:xfrm>
          <a:prstGeom prst="rect">
            <a:avLst/>
          </a:prstGeom>
          <a:noFill/>
          <a:ln w="9525">
            <a:noFill/>
            <a:miter lim="800000"/>
            <a:headEnd/>
            <a:tailEnd/>
          </a:ln>
        </p:spPr>
        <p:txBody>
          <a:bodyPr vert="horz" wrap="square" lIns="91311" tIns="45657" rIns="91311" bIns="45657" numCol="1" anchor="b" anchorCtr="0" compatLnSpc="1">
            <a:prstTxWarp prst="textNoShape">
              <a:avLst/>
            </a:prstTxWarp>
          </a:bodyPr>
          <a:lstStyle>
            <a:lvl1pPr algn="r" defTabSz="912813" eaLnBrk="0" hangingPunct="0">
              <a:defRPr sz="1100" b="0" smtClean="0">
                <a:solidFill>
                  <a:schemeClr val="tx1"/>
                </a:solidFill>
                <a:latin typeface="Times New Roman" panose="02020603050405020304" pitchFamily="18" charset="0"/>
              </a:defRPr>
            </a:lvl1pPr>
          </a:lstStyle>
          <a:p>
            <a:pPr>
              <a:defRPr/>
            </a:pPr>
            <a:fld id="{48C2DBE3-97D6-4F10-8386-2F83060BA73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spect="1" noChangeArrowheads="1" noTextEdit="1"/>
          </p:cNvSpPr>
          <p:nvPr>
            <p:ph type="sldImg"/>
          </p:nvPr>
        </p:nvSpPr>
        <p:spPr>
          <a:xfrm>
            <a:off x="1171575" y="695325"/>
            <a:ext cx="4641850" cy="3481388"/>
          </a:xfrm>
          <a:ln/>
        </p:spPr>
      </p:sp>
      <p:sp>
        <p:nvSpPr>
          <p:cNvPr id="13315"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260302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087166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3545573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1275341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4215309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7355210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17505069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13645952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1265066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9636998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18306842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33566261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6724650" y="6199188"/>
            <a:ext cx="2419350" cy="457200"/>
          </a:xfrm>
        </p:spPr>
        <p:txBody>
          <a:bodyPr/>
          <a:lstStyle>
            <a:lvl1pPr>
              <a:defRPr sz="1200">
                <a:solidFill>
                  <a:schemeClr val="bg2"/>
                </a:solidFill>
              </a:defRPr>
            </a:lvl1pPr>
          </a:lstStyle>
          <a:p>
            <a:pPr>
              <a:defRPr/>
            </a:pPr>
            <a:endParaRPr lang="en-US"/>
          </a:p>
          <a:p>
            <a:pPr>
              <a:defRPr/>
            </a:pPr>
            <a:r>
              <a:rPr lang="en-US"/>
              <a:t>EPI 743, 01/29/2008</a:t>
            </a:r>
          </a:p>
          <a:p>
            <a:pPr>
              <a:defRPr/>
            </a:pPr>
            <a:endParaRPr lang="en-US"/>
          </a:p>
        </p:txBody>
      </p:sp>
    </p:spTree>
    <p:extLst>
      <p:ext uri="{BB962C8B-B14F-4D97-AF65-F5344CB8AC3E}">
        <p14:creationId xmlns:p14="http://schemas.microsoft.com/office/powerpoint/2010/main" val="699557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900883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1169645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3936146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279241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4281354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1730928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p:cNvSpPr>
            <a:spLocks noGrp="1" noChangeArrowheads="1"/>
          </p:cNvSpPr>
          <p:nvPr>
            <p:ph type="ftr" sz="quarter" idx="3"/>
          </p:nvPr>
        </p:nvSpPr>
        <p:spPr bwMode="auto">
          <a:xfrm>
            <a:off x="7042150" y="6343650"/>
            <a:ext cx="241935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sz="1300">
                <a:solidFill>
                  <a:schemeClr val="tx1"/>
                </a:solidFill>
                <a:latin typeface="Arial" charset="0"/>
                <a:cs typeface="Arial" charset="0"/>
              </a:defRPr>
            </a:lvl1pPr>
          </a:lstStyle>
          <a:p>
            <a:pPr>
              <a:defRPr/>
            </a:pPr>
            <a:endParaRPr lang="en-US" sz="1200"/>
          </a:p>
          <a:p>
            <a:pPr>
              <a:defRPr/>
            </a:pPr>
            <a:r>
              <a:rPr lang="en-US"/>
              <a:t>EPI 743, 01/29/2008</a:t>
            </a:r>
          </a:p>
          <a:p>
            <a:pPr>
              <a:defRPr/>
            </a:pPr>
            <a:endParaRPr lang="en-US"/>
          </a:p>
        </p:txBody>
      </p:sp>
    </p:spTree>
  </p:cSld>
  <p:clrMap bg1="dk2" tx1="lt1" bg2="dk1"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Lst>
  <p:hf sldNum="0" hdr="0" dt="0"/>
  <p:txStyles>
    <p:titleStyle>
      <a:lvl1pPr algn="ctr" rtl="0" eaLnBrk="0" fontAlgn="base" hangingPunct="0">
        <a:spcBef>
          <a:spcPct val="0"/>
        </a:spcBef>
        <a:spcAft>
          <a:spcPct val="0"/>
        </a:spcAft>
        <a:defRPr sz="4400">
          <a:solidFill>
            <a:schemeClr val="bg2"/>
          </a:solidFill>
          <a:latin typeface="+mj-lt"/>
          <a:ea typeface="+mj-ea"/>
          <a:cs typeface="+mj-cs"/>
        </a:defRPr>
      </a:lvl1pPr>
      <a:lvl2pPr algn="ctr" rtl="0" eaLnBrk="0" fontAlgn="base" hangingPunct="0">
        <a:spcBef>
          <a:spcPct val="0"/>
        </a:spcBef>
        <a:spcAft>
          <a:spcPct val="0"/>
        </a:spcAft>
        <a:defRPr sz="4400">
          <a:solidFill>
            <a:schemeClr val="bg2"/>
          </a:solidFill>
          <a:latin typeface="Times New Roman" pitchFamily="18" charset="0"/>
        </a:defRPr>
      </a:lvl2pPr>
      <a:lvl3pPr algn="ctr" rtl="0" eaLnBrk="0" fontAlgn="base" hangingPunct="0">
        <a:spcBef>
          <a:spcPct val="0"/>
        </a:spcBef>
        <a:spcAft>
          <a:spcPct val="0"/>
        </a:spcAft>
        <a:defRPr sz="4400">
          <a:solidFill>
            <a:schemeClr val="bg2"/>
          </a:solidFill>
          <a:latin typeface="Times New Roman" pitchFamily="18" charset="0"/>
        </a:defRPr>
      </a:lvl3pPr>
      <a:lvl4pPr algn="ctr" rtl="0" eaLnBrk="0" fontAlgn="base" hangingPunct="0">
        <a:spcBef>
          <a:spcPct val="0"/>
        </a:spcBef>
        <a:spcAft>
          <a:spcPct val="0"/>
        </a:spcAft>
        <a:defRPr sz="4400">
          <a:solidFill>
            <a:schemeClr val="bg2"/>
          </a:solidFill>
          <a:latin typeface="Times New Roman" pitchFamily="18" charset="0"/>
        </a:defRPr>
      </a:lvl4pPr>
      <a:lvl5pPr algn="ctr" rtl="0" eaLnBrk="0" fontAlgn="base" hangingPunct="0">
        <a:spcBef>
          <a:spcPct val="0"/>
        </a:spcBef>
        <a:spcAft>
          <a:spcPct val="0"/>
        </a:spcAft>
        <a:defRPr sz="4400">
          <a:solidFill>
            <a:schemeClr val="bg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accent2"/>
        </a:buClr>
        <a:buChar char="•"/>
        <a:defRPr sz="3200">
          <a:solidFill>
            <a:srgbClr val="006600"/>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rgbClr val="006600"/>
          </a:solidFill>
          <a:latin typeface="+mn-lt"/>
        </a:defRPr>
      </a:lvl2pPr>
      <a:lvl3pPr marL="1143000" indent="-228600" algn="l" rtl="0" eaLnBrk="0" fontAlgn="base" hangingPunct="0">
        <a:spcBef>
          <a:spcPct val="20000"/>
        </a:spcBef>
        <a:spcAft>
          <a:spcPct val="0"/>
        </a:spcAft>
        <a:buClr>
          <a:schemeClr val="accent2"/>
        </a:buClr>
        <a:buChar char="•"/>
        <a:defRPr sz="2400">
          <a:solidFill>
            <a:srgbClr val="006600"/>
          </a:solidFill>
          <a:latin typeface="+mn-lt"/>
        </a:defRPr>
      </a:lvl3pPr>
      <a:lvl4pPr marL="1600200" indent="-228600" algn="l" rtl="0" eaLnBrk="0" fontAlgn="base" hangingPunct="0">
        <a:spcBef>
          <a:spcPct val="20000"/>
        </a:spcBef>
        <a:spcAft>
          <a:spcPct val="0"/>
        </a:spcAft>
        <a:buClr>
          <a:schemeClr val="accent2"/>
        </a:buClr>
        <a:buChar char="•"/>
        <a:defRPr sz="2000">
          <a:solidFill>
            <a:srgbClr val="006600"/>
          </a:solidFill>
          <a:latin typeface="+mn-lt"/>
        </a:defRPr>
      </a:lvl4pPr>
      <a:lvl5pPr marL="2057400" indent="-228600" algn="l" rtl="0" eaLnBrk="0" fontAlgn="base" hangingPunct="0">
        <a:spcBef>
          <a:spcPct val="20000"/>
        </a:spcBef>
        <a:spcAft>
          <a:spcPct val="0"/>
        </a:spcAft>
        <a:buClr>
          <a:schemeClr val="accent2"/>
        </a:buClr>
        <a:buChar char="•"/>
        <a:defRPr sz="2000">
          <a:solidFill>
            <a:srgbClr val="006600"/>
          </a:solidFill>
          <a:latin typeface="+mn-lt"/>
        </a:defRPr>
      </a:lvl5pPr>
      <a:lvl6pPr marL="2514600" indent="-228600" algn="l" rtl="0" eaLnBrk="0" fontAlgn="base" hangingPunct="0">
        <a:spcBef>
          <a:spcPct val="20000"/>
        </a:spcBef>
        <a:spcAft>
          <a:spcPct val="0"/>
        </a:spcAft>
        <a:buClr>
          <a:schemeClr val="accent2"/>
        </a:buClr>
        <a:buChar char="•"/>
        <a:defRPr sz="2000">
          <a:solidFill>
            <a:schemeClr val="tx1"/>
          </a:solidFill>
          <a:latin typeface="+mn-lt"/>
        </a:defRPr>
      </a:lvl6pPr>
      <a:lvl7pPr marL="2971800" indent="-228600" algn="l" rtl="0" eaLnBrk="0" fontAlgn="base" hangingPunct="0">
        <a:spcBef>
          <a:spcPct val="20000"/>
        </a:spcBef>
        <a:spcAft>
          <a:spcPct val="0"/>
        </a:spcAft>
        <a:buClr>
          <a:schemeClr val="accent2"/>
        </a:buClr>
        <a:buChar char="•"/>
        <a:defRPr sz="2000">
          <a:solidFill>
            <a:schemeClr val="tx1"/>
          </a:solidFill>
          <a:latin typeface="+mn-lt"/>
        </a:defRPr>
      </a:lvl7pPr>
      <a:lvl8pPr marL="3429000" indent="-228600" algn="l" rtl="0" eaLnBrk="0" fontAlgn="base" hangingPunct="0">
        <a:spcBef>
          <a:spcPct val="20000"/>
        </a:spcBef>
        <a:spcAft>
          <a:spcPct val="0"/>
        </a:spcAft>
        <a:buClr>
          <a:schemeClr val="accent2"/>
        </a:buClr>
        <a:buChar char="•"/>
        <a:defRPr sz="2000">
          <a:solidFill>
            <a:schemeClr val="tx1"/>
          </a:solidFill>
          <a:latin typeface="+mn-lt"/>
        </a:defRPr>
      </a:lvl8pPr>
      <a:lvl9pPr marL="3886200" indent="-228600" algn="l" rtl="0" eaLnBrk="0" fontAlgn="base" hangingPunct="0">
        <a:spcBef>
          <a:spcPct val="20000"/>
        </a:spcBef>
        <a:spcAft>
          <a:spcPct val="0"/>
        </a:spcAft>
        <a:buClr>
          <a:schemeClr val="accent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ctrTitle" idx="4294967295"/>
          </p:nvPr>
        </p:nvSpPr>
        <p:spPr>
          <a:xfrm>
            <a:off x="822325" y="114300"/>
            <a:ext cx="7788275" cy="1596934"/>
          </a:xfrm>
        </p:spPr>
        <p:txBody>
          <a:bodyPr/>
          <a:lstStyle/>
          <a:p>
            <a:r>
              <a:rPr lang="en-US" altLang="en-US" sz="5400" b="1" dirty="0">
                <a:latin typeface="Comic Sans MS" panose="030F0702030302020204" pitchFamily="66" charset="0"/>
              </a:rPr>
              <a:t>Statistical </a:t>
            </a:r>
            <a:r>
              <a:rPr lang="en-US" altLang="en-US" sz="5400" b="1" dirty="0" smtClean="0">
                <a:latin typeface="Comic Sans MS" panose="030F0702030302020204" pitchFamily="66" charset="0"/>
              </a:rPr>
              <a:t>Genetics</a:t>
            </a:r>
            <a:endParaRPr lang="en-US" altLang="en-US" sz="3600" b="1" dirty="0">
              <a:latin typeface="Comic Sans MS" panose="030F0702030302020204" pitchFamily="66" charset="0"/>
            </a:endParaRPr>
          </a:p>
        </p:txBody>
      </p:sp>
      <p:sp>
        <p:nvSpPr>
          <p:cNvPr id="11267" name="Rectangle 3"/>
          <p:cNvSpPr>
            <a:spLocks noChangeArrowheads="1"/>
          </p:cNvSpPr>
          <p:nvPr/>
        </p:nvSpPr>
        <p:spPr bwMode="auto">
          <a:xfrm>
            <a:off x="2554288" y="19764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268" name="Rectangle 4"/>
          <p:cNvSpPr>
            <a:spLocks noChangeArrowheads="1"/>
          </p:cNvSpPr>
          <p:nvPr/>
        </p:nvSpPr>
        <p:spPr bwMode="auto">
          <a:xfrm>
            <a:off x="690563" y="2074863"/>
            <a:ext cx="8021637" cy="2019300"/>
          </a:xfrm>
          <a:prstGeom prst="rect">
            <a:avLst/>
          </a:prstGeom>
          <a:noFill/>
          <a:ln w="25400">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269" name="Text Box 5"/>
          <p:cNvSpPr txBox="1">
            <a:spLocks noChangeArrowheads="1"/>
          </p:cNvSpPr>
          <p:nvPr/>
        </p:nvSpPr>
        <p:spPr bwMode="auto">
          <a:xfrm>
            <a:off x="1147763" y="2463800"/>
            <a:ext cx="7056437" cy="26407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gn="ctr">
              <a:lnSpc>
                <a:spcPct val="80000"/>
              </a:lnSpc>
              <a:spcBef>
                <a:spcPct val="20000"/>
              </a:spcBef>
              <a:spcAft>
                <a:spcPct val="20000"/>
              </a:spcAft>
            </a:pPr>
            <a:r>
              <a:rPr lang="en-US" altLang="en-US" sz="3600" dirty="0" smtClean="0"/>
              <a:t>Lecture </a:t>
            </a:r>
            <a:r>
              <a:rPr lang="en-US" altLang="en-US" sz="3600" dirty="0"/>
              <a:t>4</a:t>
            </a:r>
          </a:p>
          <a:p>
            <a:pPr algn="ctr">
              <a:lnSpc>
                <a:spcPct val="90000"/>
              </a:lnSpc>
            </a:pPr>
            <a:r>
              <a:rPr lang="en-US" altLang="en-US" sz="3600" dirty="0" smtClean="0"/>
              <a:t>Genome-Wide </a:t>
            </a:r>
            <a:r>
              <a:rPr lang="en-US" altLang="en-US" sz="3600" dirty="0"/>
              <a:t>Association Studies (GWAS)</a:t>
            </a:r>
          </a:p>
          <a:p>
            <a:pPr algn="ctr">
              <a:lnSpc>
                <a:spcPct val="90000"/>
              </a:lnSpc>
            </a:pPr>
            <a:endParaRPr lang="en-US" altLang="en-US" sz="3600" dirty="0"/>
          </a:p>
          <a:p>
            <a:pPr algn="ctr">
              <a:lnSpc>
                <a:spcPct val="90000"/>
              </a:lnSpc>
            </a:pPr>
            <a:endParaRPr lang="en-US" altLang="en-US" sz="36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p:cNvSpPr>
            <a:spLocks noGrp="1" noChangeArrowheads="1"/>
          </p:cNvSpPr>
          <p:nvPr>
            <p:ph type="body" idx="4294967295"/>
          </p:nvPr>
        </p:nvSpPr>
        <p:spPr>
          <a:xfrm>
            <a:off x="685800" y="1600200"/>
            <a:ext cx="7983538" cy="4114800"/>
          </a:xfrm>
        </p:spPr>
        <p:txBody>
          <a:bodyPr/>
          <a:lstStyle/>
          <a:p>
            <a:pPr>
              <a:spcBef>
                <a:spcPct val="40000"/>
              </a:spcBef>
              <a:spcAft>
                <a:spcPct val="40000"/>
              </a:spcAft>
              <a:defRPr/>
            </a:pPr>
            <a:r>
              <a:rPr lang="en-US" altLang="en-US" sz="2400" b="1" dirty="0">
                <a:solidFill>
                  <a:schemeClr val="bg2"/>
                </a:solidFill>
                <a:latin typeface="Arial" panose="020B0604020202020204" pitchFamily="34" charset="0"/>
              </a:rPr>
              <a:t>Ziegler, A. </a:t>
            </a:r>
            <a:r>
              <a:rPr lang="en-US" altLang="en-US" sz="2400" b="1" dirty="0" smtClean="0">
                <a:solidFill>
                  <a:schemeClr val="bg2"/>
                </a:solidFill>
                <a:latin typeface="Arial" panose="020B0604020202020204" pitchFamily="34" charset="0"/>
              </a:rPr>
              <a:t>and </a:t>
            </a:r>
            <a:r>
              <a:rPr lang="en-US" altLang="en-US" sz="2400" b="1" dirty="0" err="1" smtClean="0">
                <a:solidFill>
                  <a:schemeClr val="bg2"/>
                </a:solidFill>
                <a:latin typeface="Arial" panose="020B0604020202020204" pitchFamily="34" charset="0"/>
              </a:rPr>
              <a:t>Konig</a:t>
            </a:r>
            <a:r>
              <a:rPr lang="en-US" altLang="en-US" sz="2400" b="1" dirty="0" smtClean="0">
                <a:solidFill>
                  <a:schemeClr val="bg2"/>
                </a:solidFill>
                <a:latin typeface="Arial" panose="020B0604020202020204" pitchFamily="34" charset="0"/>
              </a:rPr>
              <a:t> I. R. (2010</a:t>
            </a:r>
            <a:r>
              <a:rPr lang="en-US" altLang="en-US" sz="2400" b="1" dirty="0">
                <a:solidFill>
                  <a:schemeClr val="bg2"/>
                </a:solidFill>
                <a:latin typeface="Arial" panose="020B0604020202020204" pitchFamily="34" charset="0"/>
              </a:rPr>
              <a:t>). A Statistical Approach to Genetics Epidemiology: Chapter 14</a:t>
            </a:r>
          </a:p>
        </p:txBody>
      </p:sp>
      <p:sp>
        <p:nvSpPr>
          <p:cNvPr id="12291" name="Rectangle 3"/>
          <p:cNvSpPr>
            <a:spLocks noGrp="1" noChangeArrowheads="1"/>
          </p:cNvSpPr>
          <p:nvPr>
            <p:ph type="title" idx="4294967295"/>
          </p:nvPr>
        </p:nvSpPr>
        <p:spPr>
          <a:xfrm>
            <a:off x="685800" y="0"/>
            <a:ext cx="7772400" cy="1143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3600" b="1" dirty="0">
                <a:latin typeface="Comic Sans MS" panose="030F0702030302020204" pitchFamily="66" charset="0"/>
              </a:rPr>
              <a:t> </a:t>
            </a:r>
            <a:r>
              <a:rPr lang="en-US" altLang="en-US" sz="3600" b="1" dirty="0" smtClean="0">
                <a:latin typeface="Comic Sans MS" panose="030F0702030302020204" pitchFamily="66" charset="0"/>
              </a:rPr>
              <a:t>Lecture 4 Readings</a:t>
            </a:r>
            <a:endParaRPr lang="en-US" altLang="en-US" sz="3600" b="1" dirty="0">
              <a:latin typeface="Comic Sans MS" panose="030F0702030302020204" pitchFamily="66" charset="0"/>
            </a:endParaRPr>
          </a:p>
        </p:txBody>
      </p:sp>
      <p:sp>
        <p:nvSpPr>
          <p:cNvPr id="12292" name="Line 4"/>
          <p:cNvSpPr>
            <a:spLocks noChangeShapeType="1"/>
          </p:cNvSpPr>
          <p:nvPr/>
        </p:nvSpPr>
        <p:spPr bwMode="auto">
          <a:xfrm>
            <a:off x="271463" y="1219200"/>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96122" y="57733"/>
            <a:ext cx="7741478"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Genome-wide Association </a:t>
            </a:r>
            <a:r>
              <a:rPr lang="en-US" altLang="en-US" sz="3600" dirty="0" smtClean="0">
                <a:latin typeface="Comic Sans MS" panose="030F0702030302020204" pitchFamily="66" charset="0"/>
                <a:cs typeface="Times New Roman" panose="02020603050405020304" pitchFamily="18" charset="0"/>
              </a:rPr>
              <a:t>Studies</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437322" y="998920"/>
            <a:ext cx="8300278" cy="5627159"/>
          </a:xfrm>
        </p:spPr>
        <p:txBody>
          <a:bodyPr/>
          <a:lstStyle/>
          <a:p>
            <a:r>
              <a:rPr lang="en-ZA" sz="1800" b="1" dirty="0">
                <a:solidFill>
                  <a:srgbClr val="231F20"/>
                </a:solidFill>
                <a:latin typeface="Arial" panose="020B0604020202020204" pitchFamily="34" charset="0"/>
                <a:cs typeface="Arial" panose="020B0604020202020204" pitchFamily="34" charset="0"/>
              </a:rPr>
              <a:t>G</a:t>
            </a:r>
            <a:r>
              <a:rPr lang="en-ZA" sz="1800" b="1" i="1" dirty="0" smtClean="0">
                <a:solidFill>
                  <a:srgbClr val="231F20"/>
                </a:solidFill>
                <a:effectLst/>
                <a:latin typeface="Arial" panose="020B0604020202020204" pitchFamily="34" charset="0"/>
                <a:cs typeface="Arial" panose="020B0604020202020204" pitchFamily="34" charset="0"/>
              </a:rPr>
              <a:t>enome-wide </a:t>
            </a:r>
            <a:r>
              <a:rPr lang="en-ZA" sz="1800" b="1" i="1" dirty="0">
                <a:solidFill>
                  <a:srgbClr val="231F20"/>
                </a:solidFill>
                <a:effectLst/>
                <a:latin typeface="Arial" panose="020B0604020202020204" pitchFamily="34" charset="0"/>
                <a:cs typeface="Arial" panose="020B0604020202020204" pitchFamily="34" charset="0"/>
              </a:rPr>
              <a:t>association </a:t>
            </a:r>
            <a:r>
              <a:rPr lang="en-ZA" sz="1800" b="1" i="1" dirty="0" smtClean="0">
                <a:solidFill>
                  <a:srgbClr val="231F20"/>
                </a:solidFill>
                <a:latin typeface="Arial" panose="020B0604020202020204" pitchFamily="34" charset="0"/>
                <a:cs typeface="Arial" panose="020B0604020202020204" pitchFamily="34" charset="0"/>
              </a:rPr>
              <a:t>studies (GWAS)</a:t>
            </a:r>
            <a:r>
              <a:rPr lang="en-ZA" sz="1800" b="1" i="1" dirty="0" smtClean="0">
                <a:solidFill>
                  <a:srgbClr val="231F20"/>
                </a:solidFill>
                <a:effectLst/>
                <a:latin typeface="Arial" panose="020B0604020202020204" pitchFamily="34" charset="0"/>
                <a:cs typeface="Arial" panose="020B0604020202020204" pitchFamily="34" charset="0"/>
              </a:rPr>
              <a:t> </a:t>
            </a:r>
            <a:r>
              <a:rPr lang="en-ZA" sz="1800" b="1" dirty="0" smtClean="0">
                <a:solidFill>
                  <a:srgbClr val="231F20"/>
                </a:solidFill>
                <a:latin typeface="Arial" panose="020B0604020202020204" pitchFamily="34" charset="0"/>
                <a:cs typeface="Arial" panose="020B0604020202020204" pitchFamily="34" charset="0"/>
              </a:rPr>
              <a:t>are studies</a:t>
            </a:r>
            <a:r>
              <a:rPr lang="en-ZA" sz="1800" b="1" i="0" dirty="0" smtClean="0">
                <a:solidFill>
                  <a:srgbClr val="231F20"/>
                </a:solidFill>
                <a:effectLst/>
                <a:latin typeface="Arial" panose="020B0604020202020204" pitchFamily="34" charset="0"/>
                <a:cs typeface="Arial" panose="020B0604020202020204" pitchFamily="34" charset="0"/>
              </a:rPr>
              <a:t> </a:t>
            </a:r>
            <a:r>
              <a:rPr lang="en-ZA" sz="1800" b="1" i="0" dirty="0">
                <a:solidFill>
                  <a:srgbClr val="231F20"/>
                </a:solidFill>
                <a:effectLst/>
                <a:latin typeface="Arial" panose="020B0604020202020204" pitchFamily="34" charset="0"/>
                <a:cs typeface="Arial" panose="020B0604020202020204" pitchFamily="34" charset="0"/>
              </a:rPr>
              <a:t>of common genetic variation across the entire human genome designed to identify genetic associations with observable traits</a:t>
            </a:r>
            <a:r>
              <a:rPr lang="en-ZA" sz="1800" b="1" i="0" dirty="0" smtClean="0">
                <a:solidFill>
                  <a:srgbClr val="231F20"/>
                </a:solidFill>
                <a:effectLst/>
                <a:latin typeface="Arial" panose="020B0604020202020204" pitchFamily="34" charset="0"/>
                <a:cs typeface="Arial" panose="020B0604020202020204" pitchFamily="34" charset="0"/>
              </a:rPr>
              <a:t>.</a:t>
            </a:r>
            <a:endParaRPr lang="en-ZA" sz="1800" b="1" dirty="0">
              <a:solidFill>
                <a:srgbClr val="231F20"/>
              </a:solidFill>
              <a:latin typeface="Arial" panose="020B0604020202020204" pitchFamily="34" charset="0"/>
              <a:cs typeface="Arial" panose="020B0604020202020204" pitchFamily="34" charset="0"/>
            </a:endParaRPr>
          </a:p>
          <a:p>
            <a:r>
              <a:rPr lang="en-ZA" sz="1800" b="1" dirty="0" smtClean="0">
                <a:solidFill>
                  <a:srgbClr val="231F20"/>
                </a:solidFill>
                <a:latin typeface="Arial" panose="020B0604020202020204" pitchFamily="34" charset="0"/>
                <a:cs typeface="Arial" panose="020B0604020202020204" pitchFamily="34" charset="0"/>
              </a:rPr>
              <a:t>In  GWAS studies</a:t>
            </a:r>
            <a:r>
              <a:rPr lang="en-ZA" sz="1800" b="1" dirty="0">
                <a:solidFill>
                  <a:srgbClr val="231F20"/>
                </a:solidFill>
                <a:latin typeface="Arial" panose="020B0604020202020204" pitchFamily="34" charset="0"/>
                <a:cs typeface="Arial" panose="020B0604020202020204" pitchFamily="34" charset="0"/>
              </a:rPr>
              <a:t>,</a:t>
            </a:r>
            <a:r>
              <a:rPr lang="en-ZA" sz="1800" b="1" dirty="0" smtClean="0">
                <a:solidFill>
                  <a:srgbClr val="231F20"/>
                </a:solidFill>
                <a:latin typeface="Arial" panose="020B0604020202020204" pitchFamily="34" charset="0"/>
                <a:cs typeface="Arial" panose="020B0604020202020204" pitchFamily="34" charset="0"/>
              </a:rPr>
              <a:t> </a:t>
            </a:r>
            <a:r>
              <a:rPr lang="en-ZA" sz="1800" b="1" dirty="0">
                <a:solidFill>
                  <a:srgbClr val="231F20"/>
                </a:solidFill>
                <a:latin typeface="Arial" panose="020B0604020202020204" pitchFamily="34" charset="0"/>
                <a:cs typeface="Arial" panose="020B0604020202020204" pitchFamily="34" charset="0"/>
              </a:rPr>
              <a:t>more than 1,000,000 SNPs are possibly genotyped and compared in usually thousands of probands.</a:t>
            </a:r>
          </a:p>
          <a:p>
            <a:r>
              <a:rPr lang="en-ZA" sz="1800" b="1" dirty="0">
                <a:solidFill>
                  <a:srgbClr val="231F20"/>
                </a:solidFill>
                <a:latin typeface="Arial" panose="020B0604020202020204" pitchFamily="34" charset="0"/>
                <a:cs typeface="Arial" panose="020B0604020202020204" pitchFamily="34" charset="0"/>
              </a:rPr>
              <a:t>The typical workflow of a </a:t>
            </a:r>
            <a:r>
              <a:rPr lang="en-ZA" sz="1800" b="1" dirty="0" smtClean="0">
                <a:solidFill>
                  <a:srgbClr val="231F20"/>
                </a:solidFill>
                <a:latin typeface="Arial" panose="020B0604020202020204" pitchFamily="34" charset="0"/>
                <a:cs typeface="Arial" panose="020B0604020202020204" pitchFamily="34" charset="0"/>
              </a:rPr>
              <a:t>GWAS </a:t>
            </a:r>
            <a:r>
              <a:rPr lang="en-ZA" sz="1800" b="1" dirty="0">
                <a:solidFill>
                  <a:srgbClr val="231F20"/>
                </a:solidFill>
                <a:latin typeface="Arial" panose="020B0604020202020204" pitchFamily="34" charset="0"/>
                <a:cs typeface="Arial" panose="020B0604020202020204" pitchFamily="34" charset="0"/>
              </a:rPr>
              <a:t>is </a:t>
            </a:r>
            <a:r>
              <a:rPr lang="en-ZA" sz="1800" b="1" dirty="0" smtClean="0">
                <a:solidFill>
                  <a:srgbClr val="231F20"/>
                </a:solidFill>
                <a:latin typeface="Arial" panose="020B0604020202020204" pitchFamily="34" charset="0"/>
                <a:cs typeface="Arial" panose="020B0604020202020204" pitchFamily="34" charset="0"/>
              </a:rPr>
              <a:t>shown below:</a:t>
            </a:r>
            <a:endParaRPr lang="en-ZA" sz="1800" b="1" dirty="0">
              <a:solidFill>
                <a:srgbClr val="231F20"/>
              </a:solidFill>
              <a:latin typeface="Arial" panose="020B0604020202020204" pitchFamily="34" charset="0"/>
              <a:cs typeface="Arial" panose="020B0604020202020204" pitchFamily="34" charset="0"/>
            </a:endParaRPr>
          </a:p>
          <a:p>
            <a:pPr marL="0" indent="0">
              <a:buNone/>
            </a:pPr>
            <a:endParaRPr lang="en-ZA" sz="1800" dirty="0">
              <a:solidFill>
                <a:srgbClr val="231F20"/>
              </a:solidFill>
              <a:latin typeface="Arial" panose="020B0604020202020204" pitchFamily="34" charset="0"/>
              <a:cs typeface="Arial" panose="020B0604020202020204" pitchFamily="34" charset="0"/>
            </a:endParaRPr>
          </a:p>
          <a:p>
            <a:endParaRPr lang="en-ZA" sz="1800" dirty="0">
              <a:solidFill>
                <a:schemeClr val="bg2"/>
              </a:solidFill>
            </a:endParaRPr>
          </a:p>
        </p:txBody>
      </p:sp>
      <p:pic>
        <p:nvPicPr>
          <p:cNvPr id="5" name="Picture 4">
            <a:extLst>
              <a:ext uri="{FF2B5EF4-FFF2-40B4-BE49-F238E27FC236}">
                <a16:creationId xmlns:a16="http://schemas.microsoft.com/office/drawing/2014/main" id="{ECB3B509-0B5E-4DFC-ADFA-05569519CEDA}"/>
              </a:ext>
            </a:extLst>
          </p:cNvPr>
          <p:cNvPicPr>
            <a:picLocks noChangeAspect="1"/>
          </p:cNvPicPr>
          <p:nvPr/>
        </p:nvPicPr>
        <p:blipFill>
          <a:blip r:embed="rId3"/>
          <a:stretch>
            <a:fillRect/>
          </a:stretch>
        </p:blipFill>
        <p:spPr>
          <a:xfrm>
            <a:off x="893762" y="2926081"/>
            <a:ext cx="7153275" cy="3295402"/>
          </a:xfrm>
          <a:prstGeom prst="rect">
            <a:avLst/>
          </a:prstGeom>
        </p:spPr>
      </p:pic>
      <p:sp>
        <p:nvSpPr>
          <p:cNvPr id="10" name="TextBox 9">
            <a:extLst>
              <a:ext uri="{FF2B5EF4-FFF2-40B4-BE49-F238E27FC236}">
                <a16:creationId xmlns:a16="http://schemas.microsoft.com/office/drawing/2014/main" id="{0BC11321-604A-4700-BF49-DB6A9A522BE5}"/>
              </a:ext>
            </a:extLst>
          </p:cNvPr>
          <p:cNvSpPr txBox="1"/>
          <p:nvPr/>
        </p:nvSpPr>
        <p:spPr>
          <a:xfrm>
            <a:off x="1534319" y="6197024"/>
            <a:ext cx="5555594" cy="307777"/>
          </a:xfrm>
          <a:prstGeom prst="rect">
            <a:avLst/>
          </a:prstGeom>
          <a:noFill/>
        </p:spPr>
        <p:txBody>
          <a:bodyPr wrap="square">
            <a:spAutoFit/>
          </a:bodyPr>
          <a:lstStyle/>
          <a:p>
            <a:r>
              <a:rPr lang="en-ZA" sz="1400" i="0" dirty="0">
                <a:solidFill>
                  <a:srgbClr val="231F20"/>
                </a:solidFill>
                <a:effectLst/>
                <a:latin typeface="Times-Roman"/>
              </a:rPr>
              <a:t>Typical workflow of a genome-wide association </a:t>
            </a:r>
            <a:r>
              <a:rPr lang="en-ZA" sz="1400" dirty="0" smtClean="0">
                <a:solidFill>
                  <a:srgbClr val="231F20"/>
                </a:solidFill>
                <a:latin typeface="Times-Roman"/>
              </a:rPr>
              <a:t>study</a:t>
            </a:r>
            <a:r>
              <a:rPr lang="en-ZA" sz="1400" i="0" dirty="0" smtClean="0">
                <a:solidFill>
                  <a:srgbClr val="231F20"/>
                </a:solidFill>
                <a:effectLst/>
                <a:latin typeface="Times-Roman"/>
              </a:rPr>
              <a:t>.</a:t>
            </a:r>
            <a:endParaRPr lang="en-ZA" sz="1400" dirty="0"/>
          </a:p>
        </p:txBody>
      </p:sp>
    </p:spTree>
    <p:extLst>
      <p:ext uri="{BB962C8B-B14F-4D97-AF65-F5344CB8AC3E}">
        <p14:creationId xmlns:p14="http://schemas.microsoft.com/office/powerpoint/2010/main" val="41770783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96122" y="57733"/>
            <a:ext cx="7741478"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Genome-wide Association </a:t>
            </a:r>
            <a:r>
              <a:rPr lang="en-US" altLang="en-US" sz="3600" dirty="0" smtClean="0">
                <a:latin typeface="Comic Sans MS" panose="030F0702030302020204" pitchFamily="66" charset="0"/>
                <a:cs typeface="Times New Roman" panose="02020603050405020304" pitchFamily="18" charset="0"/>
              </a:rPr>
              <a:t>Studies</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437322" y="998920"/>
            <a:ext cx="8300278" cy="5627159"/>
          </a:xfrm>
        </p:spPr>
        <p:txBody>
          <a:bodyPr/>
          <a:lstStyle/>
          <a:p>
            <a:r>
              <a:rPr lang="en-US" sz="2400" b="1" dirty="0">
                <a:solidFill>
                  <a:schemeClr val="bg2"/>
                </a:solidFill>
                <a:latin typeface="Arial" panose="020B0604020202020204" pitchFamily="34" charset="0"/>
                <a:cs typeface="Arial" panose="020B0604020202020204" pitchFamily="34" charset="0"/>
              </a:rPr>
              <a:t>Case-control approaches have become </a:t>
            </a:r>
            <a:r>
              <a:rPr lang="en-US" sz="2400" b="1" dirty="0" smtClean="0">
                <a:solidFill>
                  <a:schemeClr val="bg2"/>
                </a:solidFill>
                <a:latin typeface="Arial" panose="020B0604020202020204" pitchFamily="34" charset="0"/>
                <a:cs typeface="Arial" panose="020B0604020202020204" pitchFamily="34" charset="0"/>
              </a:rPr>
              <a:t>popular</a:t>
            </a:r>
            <a:r>
              <a:rPr lang="en-US" sz="2400" b="1" dirty="0" smtClean="0">
                <a:solidFill>
                  <a:schemeClr val="bg2"/>
                </a:solidFill>
                <a:latin typeface="Arial" panose="020B0604020202020204" pitchFamily="34" charset="0"/>
                <a:cs typeface="Arial" panose="020B0604020202020204" pitchFamily="34" charset="0"/>
              </a:rPr>
              <a:t> </a:t>
            </a:r>
            <a:r>
              <a:rPr lang="en-US" sz="2400" b="1" dirty="0">
                <a:solidFill>
                  <a:schemeClr val="bg2"/>
                </a:solidFill>
                <a:latin typeface="Arial" panose="020B0604020202020204" pitchFamily="34" charset="0"/>
                <a:cs typeface="Arial" panose="020B0604020202020204" pitchFamily="34" charset="0"/>
              </a:rPr>
              <a:t>partly because </a:t>
            </a:r>
            <a:r>
              <a:rPr lang="en-US" sz="2400" i="1" dirty="0">
                <a:solidFill>
                  <a:schemeClr val="bg2"/>
                </a:solidFill>
                <a:latin typeface="Arial" panose="020B0604020202020204" pitchFamily="34" charset="0"/>
                <a:cs typeface="Arial" panose="020B0604020202020204" pitchFamily="34" charset="0"/>
              </a:rPr>
              <a:t>population stratification  </a:t>
            </a:r>
            <a:r>
              <a:rPr lang="en-US" sz="2400" b="1" dirty="0">
                <a:solidFill>
                  <a:schemeClr val="bg2"/>
                </a:solidFill>
                <a:latin typeface="Arial" panose="020B0604020202020204" pitchFamily="34" charset="0"/>
                <a:cs typeface="Arial" panose="020B0604020202020204" pitchFamily="34" charset="0"/>
              </a:rPr>
              <a:t>may be estimated from and controlled for using the </a:t>
            </a:r>
            <a:r>
              <a:rPr lang="en-US" sz="2400" b="1" dirty="0" smtClean="0">
                <a:solidFill>
                  <a:schemeClr val="bg2"/>
                </a:solidFill>
                <a:latin typeface="Arial" panose="020B0604020202020204" pitchFamily="34" charset="0"/>
                <a:cs typeface="Arial" panose="020B0604020202020204" pitchFamily="34" charset="0"/>
              </a:rPr>
              <a:t>genetic </a:t>
            </a:r>
            <a:r>
              <a:rPr lang="en-US" sz="2400" b="1" dirty="0">
                <a:solidFill>
                  <a:schemeClr val="bg2"/>
                </a:solidFill>
                <a:latin typeface="Arial" panose="020B0604020202020204" pitchFamily="34" charset="0"/>
                <a:cs typeface="Arial" panose="020B0604020202020204" pitchFamily="34" charset="0"/>
              </a:rPr>
              <a:t>data</a:t>
            </a:r>
          </a:p>
          <a:p>
            <a:r>
              <a:rPr lang="en-US" sz="2400" b="1" dirty="0">
                <a:solidFill>
                  <a:schemeClr val="bg2"/>
                </a:solidFill>
                <a:latin typeface="Arial" panose="020B0604020202020204" pitchFamily="34" charset="0"/>
                <a:cs typeface="Arial" panose="020B0604020202020204" pitchFamily="34" charset="0"/>
              </a:rPr>
              <a:t>With data from an entire genome scan, we may be  able to effectively control for such stratification.</a:t>
            </a:r>
          </a:p>
          <a:p>
            <a:r>
              <a:rPr lang="en-US" sz="2400" b="1" dirty="0">
                <a:solidFill>
                  <a:schemeClr val="bg2"/>
                </a:solidFill>
                <a:latin typeface="Arial" panose="020B0604020202020204" pitchFamily="34" charset="0"/>
                <a:cs typeface="Arial" panose="020B0604020202020204" pitchFamily="34" charset="0"/>
              </a:rPr>
              <a:t>For example, a popular principal component-based  technique provides values that may be used as  covariates in logistic regression.</a:t>
            </a:r>
          </a:p>
          <a:p>
            <a:r>
              <a:rPr lang="en-US" sz="2400" b="1" dirty="0">
                <a:solidFill>
                  <a:schemeClr val="bg2"/>
                </a:solidFill>
                <a:latin typeface="Arial" panose="020B0604020202020204" pitchFamily="34" charset="0"/>
                <a:cs typeface="Arial" panose="020B0604020202020204" pitchFamily="34" charset="0"/>
              </a:rPr>
              <a:t>A GWAS requires enough markers so that there is  a good chance that a causal locus will be highly  correlated with at least one marker.</a:t>
            </a:r>
          </a:p>
          <a:p>
            <a:endParaRPr lang="en-ZA" sz="1800" dirty="0">
              <a:solidFill>
                <a:schemeClr val="bg2"/>
              </a:solidFill>
            </a:endParaRPr>
          </a:p>
        </p:txBody>
      </p:sp>
    </p:spTree>
    <p:extLst>
      <p:ext uri="{BB962C8B-B14F-4D97-AF65-F5344CB8AC3E}">
        <p14:creationId xmlns:p14="http://schemas.microsoft.com/office/powerpoint/2010/main" val="26037858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96122" y="57733"/>
            <a:ext cx="7741478"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gn="ctr">
              <a:lnSpc>
                <a:spcPct val="90000"/>
              </a:lnSpc>
              <a:spcBef>
                <a:spcPct val="55000"/>
              </a:spcBef>
              <a:spcAft>
                <a:spcPct val="45000"/>
              </a:spcAft>
            </a:pPr>
            <a:r>
              <a:rPr lang="en-US" altLang="en-US" sz="3600" dirty="0" smtClean="0">
                <a:latin typeface="Comic Sans MS" panose="030F0702030302020204" pitchFamily="66" charset="0"/>
                <a:cs typeface="Times New Roman" panose="02020603050405020304" pitchFamily="18" charset="0"/>
              </a:rPr>
              <a:t>Design Considerations</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437322" y="998920"/>
            <a:ext cx="8300278" cy="5627159"/>
          </a:xfrm>
        </p:spPr>
        <p:txBody>
          <a:bodyPr/>
          <a:lstStyle/>
          <a:p>
            <a:pPr>
              <a:buFont typeface="Arial" panose="020B0604020202020204" pitchFamily="34" charset="0"/>
              <a:buChar char="•"/>
            </a:pPr>
            <a:r>
              <a:rPr lang="en-ZA" sz="2000" b="1" dirty="0" smtClean="0">
                <a:solidFill>
                  <a:srgbClr val="231F20"/>
                </a:solidFill>
                <a:latin typeface="Arial" panose="020B0604020202020204" pitchFamily="34" charset="0"/>
                <a:cs typeface="Arial" panose="020B0604020202020204" pitchFamily="34" charset="0"/>
              </a:rPr>
              <a:t>Most </a:t>
            </a:r>
            <a:r>
              <a:rPr lang="en-ZA" sz="2000" b="1" dirty="0">
                <a:solidFill>
                  <a:srgbClr val="231F20"/>
                </a:solidFill>
                <a:latin typeface="Arial" panose="020B0604020202020204" pitchFamily="34" charset="0"/>
                <a:cs typeface="Arial" panose="020B0604020202020204" pitchFamily="34" charset="0"/>
              </a:rPr>
              <a:t>of the published studies have used a classical case-control </a:t>
            </a:r>
            <a:r>
              <a:rPr lang="en-ZA" sz="2000" b="1" dirty="0" smtClean="0">
                <a:solidFill>
                  <a:srgbClr val="231F20"/>
                </a:solidFill>
                <a:latin typeface="Arial" panose="020B0604020202020204" pitchFamily="34" charset="0"/>
                <a:cs typeface="Arial" panose="020B0604020202020204" pitchFamily="34" charset="0"/>
              </a:rPr>
              <a:t>design</a:t>
            </a:r>
            <a:endParaRPr lang="en-ZA" sz="2000" b="1" dirty="0">
              <a:solidFill>
                <a:srgbClr val="231F20"/>
              </a:solidFill>
              <a:latin typeface="Arial" panose="020B0604020202020204" pitchFamily="34" charset="0"/>
              <a:cs typeface="Arial" panose="020B0604020202020204" pitchFamily="34" charset="0"/>
            </a:endParaRPr>
          </a:p>
          <a:p>
            <a:r>
              <a:rPr lang="en-ZA" sz="2000" b="1" dirty="0">
                <a:solidFill>
                  <a:srgbClr val="231F20"/>
                </a:solidFill>
                <a:latin typeface="Arial" panose="020B0604020202020204" pitchFamily="34" charset="0"/>
                <a:cs typeface="Arial" panose="020B0604020202020204" pitchFamily="34" charset="0"/>
              </a:rPr>
              <a:t>S</a:t>
            </a:r>
            <a:r>
              <a:rPr lang="en-ZA" sz="2000" b="1" dirty="0" smtClean="0">
                <a:solidFill>
                  <a:srgbClr val="231F20"/>
                </a:solidFill>
                <a:latin typeface="Arial" panose="020B0604020202020204" pitchFamily="34" charset="0"/>
                <a:cs typeface="Arial" panose="020B0604020202020204" pitchFamily="34" charset="0"/>
              </a:rPr>
              <a:t>election of the DNA chip: commercial chips preferred, due to cost-effectiveness and potential for a combination across studies</a:t>
            </a:r>
            <a:endParaRPr lang="en-ZA" sz="2000" b="1" dirty="0">
              <a:solidFill>
                <a:srgbClr val="231F20"/>
              </a:solidFill>
              <a:latin typeface="Arial" panose="020B0604020202020204" pitchFamily="34" charset="0"/>
              <a:cs typeface="Arial" panose="020B0604020202020204" pitchFamily="34" charset="0"/>
            </a:endParaRPr>
          </a:p>
          <a:p>
            <a:r>
              <a:rPr lang="en-ZA" sz="2000" b="1" dirty="0" smtClean="0">
                <a:solidFill>
                  <a:srgbClr val="231F20"/>
                </a:solidFill>
                <a:latin typeface="Arial" panose="020B0604020202020204" pitchFamily="34" charset="0"/>
                <a:cs typeface="Arial" panose="020B0604020202020204" pitchFamily="34" charset="0"/>
              </a:rPr>
              <a:t>Examples: </a:t>
            </a:r>
            <a:r>
              <a:rPr lang="en-US" sz="2000" b="1" dirty="0">
                <a:solidFill>
                  <a:srgbClr val="231F20"/>
                </a:solidFill>
                <a:latin typeface="Arial" panose="020B0604020202020204" pitchFamily="34" charset="0"/>
                <a:cs typeface="Arial" panose="020B0604020202020204" pitchFamily="34" charset="0"/>
              </a:rPr>
              <a:t>HumanHap550 (Illumina) and the Genome-Wide Human SNP Array 6.0 (</a:t>
            </a:r>
            <a:r>
              <a:rPr lang="en-US" sz="2000" b="1" dirty="0" err="1">
                <a:solidFill>
                  <a:srgbClr val="231F20"/>
                </a:solidFill>
                <a:latin typeface="Arial" panose="020B0604020202020204" pitchFamily="34" charset="0"/>
                <a:cs typeface="Arial" panose="020B0604020202020204" pitchFamily="34" charset="0"/>
              </a:rPr>
              <a:t>Affymetrix</a:t>
            </a:r>
            <a:r>
              <a:rPr lang="en-US" sz="2000" b="1" dirty="0">
                <a:solidFill>
                  <a:srgbClr val="231F20"/>
                </a:solidFill>
                <a:latin typeface="Arial" panose="020B0604020202020204" pitchFamily="34" charset="0"/>
                <a:cs typeface="Arial" panose="020B0604020202020204" pitchFamily="34" charset="0"/>
              </a:rPr>
              <a:t>) </a:t>
            </a:r>
            <a:endParaRPr lang="en-US" sz="2000" b="1" dirty="0" smtClean="0">
              <a:solidFill>
                <a:srgbClr val="231F20"/>
              </a:solidFill>
              <a:latin typeface="Arial" panose="020B0604020202020204" pitchFamily="34" charset="0"/>
              <a:cs typeface="Arial" panose="020B0604020202020204" pitchFamily="34" charset="0"/>
            </a:endParaRPr>
          </a:p>
          <a:p>
            <a:r>
              <a:rPr lang="en-US" sz="2000" b="1" dirty="0" smtClean="0">
                <a:solidFill>
                  <a:srgbClr val="231F20"/>
                </a:solidFill>
                <a:latin typeface="Arial" panose="020B0604020202020204" pitchFamily="34" charset="0"/>
                <a:cs typeface="Arial" panose="020B0604020202020204" pitchFamily="34" charset="0"/>
              </a:rPr>
              <a:t>The </a:t>
            </a:r>
            <a:r>
              <a:rPr lang="en-US" sz="2000" b="1" dirty="0">
                <a:solidFill>
                  <a:srgbClr val="231F20"/>
                </a:solidFill>
                <a:latin typeface="Arial" panose="020B0604020202020204" pitchFamily="34" charset="0"/>
                <a:cs typeface="Arial" panose="020B0604020202020204" pitchFamily="34" charset="0"/>
              </a:rPr>
              <a:t>number of SNPs on a chip or the coverage of the genome it </a:t>
            </a:r>
            <a:r>
              <a:rPr lang="en-US" sz="2000" b="1" dirty="0" smtClean="0">
                <a:solidFill>
                  <a:srgbClr val="231F20"/>
                </a:solidFill>
                <a:latin typeface="Arial" panose="020B0604020202020204" pitchFamily="34" charset="0"/>
                <a:cs typeface="Arial" panose="020B0604020202020204" pitchFamily="34" charset="0"/>
              </a:rPr>
              <a:t>represents, is also </a:t>
            </a:r>
            <a:r>
              <a:rPr lang="en-US" sz="2000" b="1" dirty="0" smtClean="0">
                <a:solidFill>
                  <a:srgbClr val="231F20"/>
                </a:solidFill>
                <a:latin typeface="Arial" panose="020B0604020202020204" pitchFamily="34" charset="0"/>
                <a:cs typeface="Arial" panose="020B0604020202020204" pitchFamily="34" charset="0"/>
              </a:rPr>
              <a:t>important</a:t>
            </a:r>
            <a:r>
              <a:rPr lang="en-US" sz="2000" b="1" dirty="0" smtClean="0">
                <a:solidFill>
                  <a:srgbClr val="231F20"/>
                </a:solidFill>
                <a:latin typeface="Arial" panose="020B0604020202020204" pitchFamily="34" charset="0"/>
                <a:cs typeface="Arial" panose="020B0604020202020204" pitchFamily="34" charset="0"/>
              </a:rPr>
              <a:t>.</a:t>
            </a:r>
            <a:endParaRPr lang="en-US" sz="2000" b="1" dirty="0">
              <a:solidFill>
                <a:srgbClr val="231F20"/>
              </a:solidFill>
              <a:latin typeface="Arial" panose="020B0604020202020204" pitchFamily="34" charset="0"/>
              <a:cs typeface="Arial" panose="020B0604020202020204" pitchFamily="34" charset="0"/>
            </a:endParaRPr>
          </a:p>
          <a:p>
            <a:r>
              <a:rPr lang="en-US" sz="2000" b="1" dirty="0">
                <a:solidFill>
                  <a:srgbClr val="231F20"/>
                </a:solidFill>
                <a:latin typeface="Arial" panose="020B0604020202020204" pitchFamily="34" charset="0"/>
                <a:cs typeface="Arial" panose="020B0604020202020204" pitchFamily="34" charset="0"/>
              </a:rPr>
              <a:t>G</a:t>
            </a:r>
            <a:r>
              <a:rPr lang="en-US" sz="2000" b="1" dirty="0" smtClean="0">
                <a:solidFill>
                  <a:srgbClr val="231F20"/>
                </a:solidFill>
                <a:latin typeface="Arial" panose="020B0604020202020204" pitchFamily="34" charset="0"/>
                <a:cs typeface="Arial" panose="020B0604020202020204" pitchFamily="34" charset="0"/>
              </a:rPr>
              <a:t>enomic </a:t>
            </a:r>
            <a:r>
              <a:rPr lang="en-US" sz="2000" b="1" dirty="0">
                <a:solidFill>
                  <a:srgbClr val="231F20"/>
                </a:solidFill>
                <a:latin typeface="Arial" panose="020B0604020202020204" pitchFamily="34" charset="0"/>
                <a:cs typeface="Arial" panose="020B0604020202020204" pitchFamily="34" charset="0"/>
              </a:rPr>
              <a:t>coverage is estimated by the percentage of common SNPs being in high LD, say 𝑟^2≥0.8, with at least one SNP on the platform.</a:t>
            </a:r>
          </a:p>
          <a:p>
            <a:r>
              <a:rPr lang="en-US" sz="2000" b="1" dirty="0">
                <a:solidFill>
                  <a:srgbClr val="231F20"/>
                </a:solidFill>
                <a:latin typeface="Arial" panose="020B0604020202020204" pitchFamily="34" charset="0"/>
                <a:cs typeface="Arial" panose="020B0604020202020204" pitchFamily="34" charset="0"/>
              </a:rPr>
              <a:t>For Caucasian populations, the Human1M (Illumina) has the greatest coverage of 93%, followed by the HumanHap550 (Illumina) and the Genome-Wide Human SNP Array 6.0 (</a:t>
            </a:r>
            <a:r>
              <a:rPr lang="en-US" sz="2000" b="1" dirty="0" err="1">
                <a:solidFill>
                  <a:srgbClr val="231F20"/>
                </a:solidFill>
                <a:latin typeface="Arial" panose="020B0604020202020204" pitchFamily="34" charset="0"/>
                <a:cs typeface="Arial" panose="020B0604020202020204" pitchFamily="34" charset="0"/>
              </a:rPr>
              <a:t>Affymetrix</a:t>
            </a:r>
            <a:r>
              <a:rPr lang="en-US" sz="2000" b="1" dirty="0">
                <a:solidFill>
                  <a:srgbClr val="231F20"/>
                </a:solidFill>
                <a:latin typeface="Arial" panose="020B0604020202020204" pitchFamily="34" charset="0"/>
                <a:cs typeface="Arial" panose="020B0604020202020204" pitchFamily="34" charset="0"/>
              </a:rPr>
              <a:t>) with 87% and 83%, respectively.</a:t>
            </a:r>
          </a:p>
          <a:p>
            <a:endParaRPr lang="en-ZA" sz="1800" dirty="0">
              <a:solidFill>
                <a:srgbClr val="231F20"/>
              </a:solidFill>
              <a:latin typeface="Arial" panose="020B0604020202020204" pitchFamily="34" charset="0"/>
              <a:cs typeface="Arial" panose="020B0604020202020204" pitchFamily="34" charset="0"/>
            </a:endParaRPr>
          </a:p>
          <a:p>
            <a:endParaRPr lang="en-ZA" sz="1800" dirty="0">
              <a:solidFill>
                <a:schemeClr val="bg2"/>
              </a:solidFill>
            </a:endParaRPr>
          </a:p>
        </p:txBody>
      </p:sp>
    </p:spTree>
    <p:extLst>
      <p:ext uri="{BB962C8B-B14F-4D97-AF65-F5344CB8AC3E}">
        <p14:creationId xmlns:p14="http://schemas.microsoft.com/office/powerpoint/2010/main" val="21289834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96122" y="57733"/>
            <a:ext cx="7741478"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Genome-wide Association </a:t>
            </a:r>
            <a:r>
              <a:rPr lang="en-US" altLang="en-US" sz="3600" dirty="0" smtClean="0">
                <a:latin typeface="Comic Sans MS" panose="030F0702030302020204" pitchFamily="66" charset="0"/>
                <a:cs typeface="Times New Roman" panose="02020603050405020304" pitchFamily="18" charset="0"/>
              </a:rPr>
              <a:t>Studies</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437322" y="998920"/>
            <a:ext cx="8300278" cy="5627159"/>
          </a:xfrm>
        </p:spPr>
        <p:txBody>
          <a:bodyPr/>
          <a:lstStyle/>
          <a:p>
            <a:r>
              <a:rPr lang="en-US" sz="2000" b="1" dirty="0" smtClean="0">
                <a:solidFill>
                  <a:schemeClr val="bg2"/>
                </a:solidFill>
                <a:latin typeface="Arial" panose="020B0604020202020204" pitchFamily="34" charset="0"/>
                <a:cs typeface="Arial" panose="020B0604020202020204" pitchFamily="34" charset="0"/>
              </a:rPr>
              <a:t>Thus, </a:t>
            </a:r>
            <a:r>
              <a:rPr lang="en-US" sz="2000" b="1" dirty="0">
                <a:solidFill>
                  <a:schemeClr val="bg2"/>
                </a:solidFill>
                <a:latin typeface="Arial" panose="020B0604020202020204" pitchFamily="34" charset="0"/>
                <a:cs typeface="Arial" panose="020B0604020202020204" pitchFamily="34" charset="0"/>
              </a:rPr>
              <a:t>current </a:t>
            </a:r>
            <a:r>
              <a:rPr lang="en-US" sz="2000" b="1" dirty="0" smtClean="0">
                <a:solidFill>
                  <a:schemeClr val="bg2"/>
                </a:solidFill>
                <a:latin typeface="Arial" panose="020B0604020202020204" pitchFamily="34" charset="0"/>
                <a:cs typeface="Arial" panose="020B0604020202020204" pitchFamily="34" charset="0"/>
              </a:rPr>
              <a:t>GWAS </a:t>
            </a:r>
            <a:r>
              <a:rPr lang="en-US" sz="2000" b="1" dirty="0">
                <a:solidFill>
                  <a:schemeClr val="bg2"/>
                </a:solidFill>
                <a:latin typeface="Arial" panose="020B0604020202020204" pitchFamily="34" charset="0"/>
                <a:cs typeface="Arial" panose="020B0604020202020204" pitchFamily="34" charset="0"/>
              </a:rPr>
              <a:t>use very high-density SNP arrays  (500K to 1 million markers).</a:t>
            </a:r>
          </a:p>
          <a:p>
            <a:r>
              <a:rPr lang="en-US" sz="2000" b="1" dirty="0">
                <a:solidFill>
                  <a:schemeClr val="bg2"/>
                </a:solidFill>
                <a:latin typeface="Arial" panose="020B0604020202020204" pitchFamily="34" charset="0"/>
                <a:cs typeface="Arial" panose="020B0604020202020204" pitchFamily="34" charset="0"/>
              </a:rPr>
              <a:t>One basic analysis technique is to obtain SNP-specific test  statistics for each SNP, and then control for multiple-  testing error.</a:t>
            </a:r>
          </a:p>
          <a:p>
            <a:r>
              <a:rPr lang="en-US" sz="2000" b="1" dirty="0">
                <a:solidFill>
                  <a:schemeClr val="bg2"/>
                </a:solidFill>
                <a:latin typeface="Arial" panose="020B0604020202020204" pitchFamily="34" charset="0"/>
                <a:cs typeface="Arial" panose="020B0604020202020204" pitchFamily="34" charset="0"/>
              </a:rPr>
              <a:t>Unfortunately, the required multiple-comparison penalty is </a:t>
            </a:r>
            <a:r>
              <a:rPr lang="en-US" sz="2000" b="1" dirty="0" smtClean="0">
                <a:solidFill>
                  <a:schemeClr val="bg2"/>
                </a:solidFill>
                <a:latin typeface="Arial" panose="020B0604020202020204" pitchFamily="34" charset="0"/>
                <a:cs typeface="Arial" panose="020B0604020202020204" pitchFamily="34" charset="0"/>
              </a:rPr>
              <a:t>nearly </a:t>
            </a:r>
            <a:r>
              <a:rPr lang="en-US" sz="2000" b="1" dirty="0">
                <a:solidFill>
                  <a:schemeClr val="bg2"/>
                </a:solidFill>
                <a:latin typeface="Arial" panose="020B0604020202020204" pitchFamily="34" charset="0"/>
                <a:cs typeface="Arial" panose="020B0604020202020204" pitchFamily="34" charset="0"/>
              </a:rPr>
              <a:t>that of the </a:t>
            </a:r>
            <a:r>
              <a:rPr lang="en-US" sz="2000" b="1" dirty="0" err="1">
                <a:solidFill>
                  <a:schemeClr val="bg2"/>
                </a:solidFill>
                <a:latin typeface="Arial" panose="020B0604020202020204" pitchFamily="34" charset="0"/>
                <a:cs typeface="Arial" panose="020B0604020202020204" pitchFamily="34" charset="0"/>
              </a:rPr>
              <a:t>Bonferroni</a:t>
            </a:r>
            <a:r>
              <a:rPr lang="en-US" sz="2000" b="1" dirty="0">
                <a:solidFill>
                  <a:schemeClr val="bg2"/>
                </a:solidFill>
                <a:latin typeface="Arial" panose="020B0604020202020204" pitchFamily="34" charset="0"/>
                <a:cs typeface="Arial" panose="020B0604020202020204" pitchFamily="34" charset="0"/>
              </a:rPr>
              <a:t> </a:t>
            </a:r>
            <a:r>
              <a:rPr lang="en-US" sz="2000" b="1" dirty="0" smtClean="0">
                <a:solidFill>
                  <a:schemeClr val="bg2"/>
                </a:solidFill>
                <a:latin typeface="Arial" panose="020B0604020202020204" pitchFamily="34" charset="0"/>
                <a:cs typeface="Arial" panose="020B0604020202020204" pitchFamily="34" charset="0"/>
              </a:rPr>
              <a:t>adjustment.</a:t>
            </a:r>
            <a:endParaRPr lang="en-US" sz="2000" b="1" dirty="0">
              <a:solidFill>
                <a:schemeClr val="bg2"/>
              </a:solidFill>
              <a:latin typeface="Arial" panose="020B0604020202020204" pitchFamily="34" charset="0"/>
              <a:cs typeface="Arial" panose="020B0604020202020204" pitchFamily="34" charset="0"/>
            </a:endParaRPr>
          </a:p>
          <a:p>
            <a:r>
              <a:rPr lang="en-US" sz="2000" b="1" dirty="0">
                <a:solidFill>
                  <a:schemeClr val="bg2"/>
                </a:solidFill>
                <a:latin typeface="Arial" panose="020B0604020202020204" pitchFamily="34" charset="0"/>
                <a:cs typeface="Arial" panose="020B0604020202020204" pitchFamily="34" charset="0"/>
              </a:rPr>
              <a:t>For example, if we have 500,000 markers, then the  appropriate significance threshold is nearly  </a:t>
            </a:r>
            <a:r>
              <a:rPr lang="en-US" sz="2000" b="1" dirty="0" smtClean="0">
                <a:solidFill>
                  <a:schemeClr val="bg2"/>
                </a:solidFill>
                <a:latin typeface="Arial" panose="020B0604020202020204" pitchFamily="34" charset="0"/>
                <a:cs typeface="Arial" panose="020B0604020202020204" pitchFamily="34" charset="0"/>
              </a:rPr>
              <a:t>0.05/500,000 = 1X10-7</a:t>
            </a:r>
            <a:r>
              <a:rPr lang="en-US" sz="2000" b="1" dirty="0">
                <a:solidFill>
                  <a:schemeClr val="bg2"/>
                </a:solidFill>
                <a:latin typeface="Arial" panose="020B0604020202020204" pitchFamily="34" charset="0"/>
                <a:cs typeface="Arial" panose="020B0604020202020204" pitchFamily="34" charset="0"/>
              </a:rPr>
              <a:t>.</a:t>
            </a:r>
          </a:p>
          <a:p>
            <a:r>
              <a:rPr lang="en-US" sz="2000" b="1" dirty="0">
                <a:solidFill>
                  <a:schemeClr val="bg2"/>
                </a:solidFill>
                <a:latin typeface="Arial" panose="020B0604020202020204" pitchFamily="34" charset="0"/>
                <a:cs typeface="Arial" panose="020B0604020202020204" pitchFamily="34" charset="0"/>
              </a:rPr>
              <a:t>“Suggestive” association corresponds </a:t>
            </a:r>
            <a:r>
              <a:rPr lang="en-US" sz="2000" b="1" dirty="0" smtClean="0">
                <a:solidFill>
                  <a:schemeClr val="bg2"/>
                </a:solidFill>
                <a:latin typeface="Arial" panose="020B0604020202020204" pitchFamily="34" charset="0"/>
                <a:cs typeface="Arial" panose="020B0604020202020204" pitchFamily="34" charset="0"/>
              </a:rPr>
              <a:t>to (about) </a:t>
            </a:r>
            <a:r>
              <a:rPr lang="en-US" sz="2000" b="1" dirty="0">
                <a:solidFill>
                  <a:schemeClr val="bg2"/>
                </a:solidFill>
                <a:latin typeface="Arial" panose="020B0604020202020204" pitchFamily="34" charset="0"/>
                <a:cs typeface="Arial" panose="020B0604020202020204" pitchFamily="34" charset="0"/>
              </a:rPr>
              <a:t>one  significant finding per genome scan, or 1/(# markers)</a:t>
            </a:r>
          </a:p>
          <a:p>
            <a:r>
              <a:rPr lang="en-US" sz="2000" b="1" dirty="0">
                <a:solidFill>
                  <a:schemeClr val="bg2"/>
                </a:solidFill>
                <a:latin typeface="Arial" panose="020B0604020202020204" pitchFamily="34" charset="0"/>
                <a:cs typeface="Arial" panose="020B0604020202020204" pitchFamily="34" charset="0"/>
              </a:rPr>
              <a:t>P-value plots for all SNPs provide evidence that </a:t>
            </a:r>
            <a:r>
              <a:rPr lang="en-US" sz="2000" b="1" dirty="0" smtClean="0">
                <a:solidFill>
                  <a:schemeClr val="bg2"/>
                </a:solidFill>
                <a:latin typeface="Arial" panose="020B0604020202020204" pitchFamily="34" charset="0"/>
                <a:cs typeface="Arial" panose="020B0604020202020204" pitchFamily="34" charset="0"/>
              </a:rPr>
              <a:t>population stratification </a:t>
            </a:r>
            <a:r>
              <a:rPr lang="en-US" sz="2000" b="1" dirty="0">
                <a:solidFill>
                  <a:schemeClr val="bg2"/>
                </a:solidFill>
                <a:latin typeface="Arial" panose="020B0604020202020204" pitchFamily="34" charset="0"/>
                <a:cs typeface="Arial" panose="020B0604020202020204" pitchFamily="34" charset="0"/>
              </a:rPr>
              <a:t>has been controlled</a:t>
            </a:r>
          </a:p>
          <a:p>
            <a:endParaRPr lang="en-ZA" sz="1800" dirty="0">
              <a:solidFill>
                <a:schemeClr val="bg2"/>
              </a:solidFill>
            </a:endParaRPr>
          </a:p>
        </p:txBody>
      </p:sp>
    </p:spTree>
    <p:extLst>
      <p:ext uri="{BB962C8B-B14F-4D97-AF65-F5344CB8AC3E}">
        <p14:creationId xmlns:p14="http://schemas.microsoft.com/office/powerpoint/2010/main" val="14919351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96122" y="57733"/>
            <a:ext cx="7741478"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Genome-wide Association </a:t>
            </a:r>
            <a:r>
              <a:rPr lang="en-US" altLang="en-US" sz="3600" dirty="0" smtClean="0">
                <a:latin typeface="Comic Sans MS" panose="030F0702030302020204" pitchFamily="66" charset="0"/>
                <a:cs typeface="Times New Roman" panose="02020603050405020304" pitchFamily="18" charset="0"/>
              </a:rPr>
              <a:t>Studies</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437322" y="998920"/>
            <a:ext cx="8300278" cy="5627159"/>
          </a:xfrm>
        </p:spPr>
        <p:txBody>
          <a:bodyPr/>
          <a:lstStyle/>
          <a:p>
            <a:r>
              <a:rPr lang="en-US" sz="1800" b="1" dirty="0">
                <a:solidFill>
                  <a:schemeClr val="bg2"/>
                </a:solidFill>
                <a:latin typeface="Arial" panose="020B0604020202020204" pitchFamily="34" charset="0"/>
                <a:cs typeface="Arial" panose="020B0604020202020204" pitchFamily="34" charset="0"/>
              </a:rPr>
              <a:t>Typically regression models are used in GWAS analysis, initially </a:t>
            </a:r>
            <a:r>
              <a:rPr lang="en-US" sz="1800" b="1" dirty="0" smtClean="0">
                <a:solidFill>
                  <a:schemeClr val="bg2"/>
                </a:solidFill>
                <a:latin typeface="Arial" panose="020B0604020202020204" pitchFamily="34" charset="0"/>
                <a:cs typeface="Arial" panose="020B0604020202020204" pitchFamily="34" charset="0"/>
              </a:rPr>
              <a:t>one </a:t>
            </a:r>
            <a:r>
              <a:rPr lang="en-US" sz="1800" b="1" dirty="0">
                <a:solidFill>
                  <a:schemeClr val="bg2"/>
                </a:solidFill>
                <a:latin typeface="Arial" panose="020B0604020202020204" pitchFamily="34" charset="0"/>
                <a:cs typeface="Arial" panose="020B0604020202020204" pitchFamily="34" charset="0"/>
              </a:rPr>
              <a:t>SNP at a time. </a:t>
            </a:r>
            <a:endParaRPr lang="en-US" sz="1800" b="1" dirty="0" smtClean="0">
              <a:solidFill>
                <a:schemeClr val="bg2"/>
              </a:solidFill>
              <a:latin typeface="Arial" panose="020B0604020202020204" pitchFamily="34" charset="0"/>
              <a:cs typeface="Arial" panose="020B0604020202020204" pitchFamily="34" charset="0"/>
            </a:endParaRPr>
          </a:p>
          <a:p>
            <a:r>
              <a:rPr lang="en-US" sz="1800" b="1" dirty="0" smtClean="0">
                <a:solidFill>
                  <a:schemeClr val="bg2"/>
                </a:solidFill>
                <a:latin typeface="Arial" panose="020B0604020202020204" pitchFamily="34" charset="0"/>
                <a:cs typeface="Arial" panose="020B0604020202020204" pitchFamily="34" charset="0"/>
              </a:rPr>
              <a:t>Let </a:t>
            </a:r>
            <a:r>
              <a:rPr lang="en-US" sz="1800" b="1" dirty="0">
                <a:solidFill>
                  <a:schemeClr val="bg2"/>
                </a:solidFill>
                <a:latin typeface="Arial" panose="020B0604020202020204" pitchFamily="34" charset="0"/>
                <a:cs typeface="Arial" panose="020B0604020202020204" pitchFamily="34" charset="0"/>
              </a:rPr>
              <a:t>g be the genotype at a SNP coded as (say)  the number of “minor” alleles at a SNP. This is an arbitrary coding.  Also, let x be a covariate (age, sex, or an ancestry-representing  covariate</a:t>
            </a:r>
            <a:r>
              <a:rPr lang="en-US" sz="1800" b="1" dirty="0" smtClean="0">
                <a:solidFill>
                  <a:schemeClr val="bg2"/>
                </a:solidFill>
                <a:latin typeface="Arial" panose="020B0604020202020204" pitchFamily="34" charset="0"/>
                <a:cs typeface="Arial" panose="020B0604020202020204" pitchFamily="34" charset="0"/>
              </a:rPr>
              <a:t>).</a:t>
            </a:r>
          </a:p>
          <a:p>
            <a:r>
              <a:rPr lang="en-US" sz="1800" b="1" dirty="0" smtClean="0">
                <a:solidFill>
                  <a:schemeClr val="bg2"/>
                </a:solidFill>
                <a:latin typeface="Arial" panose="020B0604020202020204" pitchFamily="34" charset="0"/>
                <a:cs typeface="Arial" panose="020B0604020202020204" pitchFamily="34" charset="0"/>
              </a:rPr>
              <a:t>Case-control analyses usually use the logistic regression model:</a:t>
            </a:r>
          </a:p>
          <a:p>
            <a:endParaRPr lang="en-US" sz="1800" b="1" dirty="0">
              <a:solidFill>
                <a:schemeClr val="bg2"/>
              </a:solidFill>
              <a:latin typeface="Arial" panose="020B0604020202020204" pitchFamily="34" charset="0"/>
              <a:cs typeface="Arial" panose="020B0604020202020204" pitchFamily="34" charset="0"/>
            </a:endParaRPr>
          </a:p>
          <a:p>
            <a:endParaRPr lang="en-US" sz="1800" b="1" dirty="0" smtClean="0">
              <a:solidFill>
                <a:schemeClr val="bg2"/>
              </a:solidFill>
              <a:latin typeface="Arial" panose="020B0604020202020204" pitchFamily="34" charset="0"/>
              <a:cs typeface="Arial" panose="020B0604020202020204" pitchFamily="34" charset="0"/>
            </a:endParaRPr>
          </a:p>
          <a:p>
            <a:endParaRPr lang="en-US" sz="1800" b="1" dirty="0">
              <a:solidFill>
                <a:schemeClr val="bg2"/>
              </a:solidFill>
              <a:latin typeface="Arial" panose="020B0604020202020204" pitchFamily="34" charset="0"/>
              <a:cs typeface="Arial" panose="020B0604020202020204" pitchFamily="34" charset="0"/>
            </a:endParaRPr>
          </a:p>
          <a:p>
            <a:endParaRPr lang="en-US" sz="1800" b="1" dirty="0" smtClean="0">
              <a:solidFill>
                <a:schemeClr val="bg2"/>
              </a:solidFill>
              <a:latin typeface="Arial" panose="020B0604020202020204" pitchFamily="34" charset="0"/>
              <a:cs typeface="Arial" panose="020B0604020202020204" pitchFamily="34" charset="0"/>
            </a:endParaRPr>
          </a:p>
          <a:p>
            <a:endParaRPr lang="en-US" sz="1800" b="1" dirty="0">
              <a:solidFill>
                <a:schemeClr val="bg2"/>
              </a:solidFill>
              <a:latin typeface="Arial" panose="020B0604020202020204" pitchFamily="34" charset="0"/>
              <a:cs typeface="Arial" panose="020B0604020202020204" pitchFamily="34" charset="0"/>
            </a:endParaRPr>
          </a:p>
          <a:p>
            <a:r>
              <a:rPr lang="en-US" sz="1800" b="1" dirty="0" smtClean="0">
                <a:solidFill>
                  <a:schemeClr val="bg2"/>
                </a:solidFill>
                <a:latin typeface="Arial" panose="020B0604020202020204" pitchFamily="34" charset="0"/>
                <a:cs typeface="Arial" panose="020B0604020202020204" pitchFamily="34" charset="0"/>
              </a:rPr>
              <a:t>This model is fit for each SNP and p-values for the genotype is recorded and examined.</a:t>
            </a:r>
          </a:p>
          <a:p>
            <a:pPr marL="0" indent="0">
              <a:buNone/>
            </a:pPr>
            <a:r>
              <a:rPr lang="en-US" sz="1800" b="1" dirty="0">
                <a:solidFill>
                  <a:schemeClr val="bg2"/>
                </a:solidFill>
                <a:latin typeface="Arial" panose="020B0604020202020204" pitchFamily="34" charset="0"/>
                <a:cs typeface="Arial" panose="020B0604020202020204" pitchFamily="34" charset="0"/>
              </a:rPr>
              <a:t> </a:t>
            </a:r>
          </a:p>
          <a:p>
            <a:pPr marL="0" indent="0">
              <a:buNone/>
            </a:pPr>
            <a:endParaRPr lang="en-ZA" sz="1800" b="1" dirty="0">
              <a:solidFill>
                <a:schemeClr val="bg2"/>
              </a:solidFill>
              <a:latin typeface="Arial" panose="020B0604020202020204" pitchFamily="34" charset="0"/>
              <a:cs typeface="Arial" panose="020B0604020202020204" pitchFamily="34" charset="0"/>
            </a:endParaRPr>
          </a:p>
        </p:txBody>
      </p:sp>
      <p:sp>
        <p:nvSpPr>
          <p:cNvPr id="14" name="object 5"/>
          <p:cNvSpPr/>
          <p:nvPr/>
        </p:nvSpPr>
        <p:spPr>
          <a:xfrm>
            <a:off x="2703576" y="3264408"/>
            <a:ext cx="1842770" cy="0"/>
          </a:xfrm>
          <a:custGeom>
            <a:avLst/>
            <a:gdLst/>
            <a:ahLst/>
            <a:cxnLst/>
            <a:rect l="l" t="t" r="r" b="b"/>
            <a:pathLst>
              <a:path w="1842770">
                <a:moveTo>
                  <a:pt x="0" y="0"/>
                </a:moveTo>
                <a:lnTo>
                  <a:pt x="1842516" y="0"/>
                </a:lnTo>
              </a:path>
            </a:pathLst>
          </a:custGeom>
          <a:ln w="12344">
            <a:solidFill>
              <a:srgbClr val="000000"/>
            </a:solidFill>
          </a:ln>
        </p:spPr>
        <p:txBody>
          <a:bodyPr wrap="square" lIns="0" tIns="0" rIns="0" bIns="0" rtlCol="0"/>
          <a:lstStyle/>
          <a:p>
            <a:endParaRPr/>
          </a:p>
        </p:txBody>
      </p:sp>
      <p:sp>
        <p:nvSpPr>
          <p:cNvPr id="15" name="object 6"/>
          <p:cNvSpPr txBox="1"/>
          <p:nvPr/>
        </p:nvSpPr>
        <p:spPr>
          <a:xfrm>
            <a:off x="5167395" y="3226627"/>
            <a:ext cx="112395" cy="233045"/>
          </a:xfrm>
          <a:prstGeom prst="rect">
            <a:avLst/>
          </a:prstGeom>
        </p:spPr>
        <p:txBody>
          <a:bodyPr vert="horz" wrap="square" lIns="0" tIns="13970" rIns="0" bIns="0" rtlCol="0">
            <a:spAutoFit/>
          </a:bodyPr>
          <a:lstStyle/>
          <a:p>
            <a:pPr marL="12700">
              <a:lnSpc>
                <a:spcPct val="100000"/>
              </a:lnSpc>
              <a:spcBef>
                <a:spcPts val="110"/>
              </a:spcBef>
            </a:pPr>
            <a:r>
              <a:rPr sz="1350" spc="5" dirty="0">
                <a:latin typeface="Times New Roman"/>
                <a:cs typeface="Times New Roman"/>
              </a:rPr>
              <a:t>0</a:t>
            </a:r>
            <a:endParaRPr sz="1350">
              <a:latin typeface="Times New Roman"/>
              <a:cs typeface="Times New Roman"/>
            </a:endParaRPr>
          </a:p>
        </p:txBody>
      </p:sp>
      <p:sp>
        <p:nvSpPr>
          <p:cNvPr id="16" name="object 7"/>
          <p:cNvSpPr txBox="1"/>
          <p:nvPr/>
        </p:nvSpPr>
        <p:spPr>
          <a:xfrm>
            <a:off x="2159666" y="3029307"/>
            <a:ext cx="404495" cy="381635"/>
          </a:xfrm>
          <a:prstGeom prst="rect">
            <a:avLst/>
          </a:prstGeom>
        </p:spPr>
        <p:txBody>
          <a:bodyPr vert="horz" wrap="square" lIns="0" tIns="17145" rIns="0" bIns="0" rtlCol="0">
            <a:spAutoFit/>
          </a:bodyPr>
          <a:lstStyle/>
          <a:p>
            <a:pPr marL="12700">
              <a:lnSpc>
                <a:spcPct val="100000"/>
              </a:lnSpc>
              <a:spcBef>
                <a:spcPts val="135"/>
              </a:spcBef>
            </a:pPr>
            <a:r>
              <a:rPr sz="2300" spc="10" dirty="0">
                <a:latin typeface="Times New Roman"/>
                <a:cs typeface="Times New Roman"/>
              </a:rPr>
              <a:t>log</a:t>
            </a:r>
            <a:endParaRPr sz="2300">
              <a:latin typeface="Times New Roman"/>
              <a:cs typeface="Times New Roman"/>
            </a:endParaRPr>
          </a:p>
        </p:txBody>
      </p:sp>
      <p:sp>
        <p:nvSpPr>
          <p:cNvPr id="17" name="object 8"/>
          <p:cNvSpPr txBox="1"/>
          <p:nvPr/>
        </p:nvSpPr>
        <p:spPr>
          <a:xfrm>
            <a:off x="4541478" y="3016200"/>
            <a:ext cx="2215515" cy="690245"/>
          </a:xfrm>
          <a:prstGeom prst="rect">
            <a:avLst/>
          </a:prstGeom>
        </p:spPr>
        <p:txBody>
          <a:bodyPr vert="horz" wrap="square" lIns="0" tIns="14604" rIns="0" bIns="0" rtlCol="0">
            <a:spAutoFit/>
          </a:bodyPr>
          <a:lstStyle/>
          <a:p>
            <a:pPr marL="38100">
              <a:lnSpc>
                <a:spcPts val="2695"/>
              </a:lnSpc>
              <a:spcBef>
                <a:spcPts val="114"/>
              </a:spcBef>
              <a:tabLst>
                <a:tab pos="804545" algn="l"/>
              </a:tabLst>
            </a:pPr>
            <a:r>
              <a:rPr sz="2300" b="1" spc="10" dirty="0">
                <a:latin typeface="Symbol"/>
                <a:cs typeface="Symbol"/>
              </a:rPr>
              <a:t></a:t>
            </a:r>
            <a:r>
              <a:rPr sz="2300" spc="-20" dirty="0">
                <a:latin typeface="Times New Roman"/>
                <a:cs typeface="Times New Roman"/>
              </a:rPr>
              <a:t> </a:t>
            </a:r>
            <a:r>
              <a:rPr sz="3450" spc="22" baseline="1207" dirty="0">
                <a:latin typeface="Symbol"/>
                <a:cs typeface="Symbol"/>
              </a:rPr>
              <a:t></a:t>
            </a:r>
            <a:r>
              <a:rPr sz="3450" spc="60" baseline="1207" dirty="0">
                <a:latin typeface="Times New Roman"/>
                <a:cs typeface="Times New Roman"/>
              </a:rPr>
              <a:t> </a:t>
            </a:r>
            <a:r>
              <a:rPr sz="3675" i="1" spc="-97" baseline="1133" dirty="0">
                <a:latin typeface="Symbol"/>
                <a:cs typeface="Symbol"/>
              </a:rPr>
              <a:t></a:t>
            </a:r>
            <a:r>
              <a:rPr sz="3675" baseline="1133" dirty="0">
                <a:latin typeface="Times New Roman"/>
                <a:cs typeface="Times New Roman"/>
              </a:rPr>
              <a:t>	</a:t>
            </a:r>
            <a:r>
              <a:rPr sz="3450" spc="22" baseline="1207" dirty="0">
                <a:latin typeface="Symbol"/>
                <a:cs typeface="Symbol"/>
              </a:rPr>
              <a:t></a:t>
            </a:r>
            <a:r>
              <a:rPr sz="3450" spc="-97" baseline="1207" dirty="0">
                <a:latin typeface="Times New Roman"/>
                <a:cs typeface="Times New Roman"/>
              </a:rPr>
              <a:t> </a:t>
            </a:r>
            <a:r>
              <a:rPr sz="3675" i="1" spc="-104" baseline="1133" dirty="0">
                <a:latin typeface="Symbol"/>
                <a:cs typeface="Symbol"/>
              </a:rPr>
              <a:t></a:t>
            </a:r>
            <a:r>
              <a:rPr sz="2025" spc="135" baseline="-22633" dirty="0">
                <a:latin typeface="Times New Roman"/>
                <a:cs typeface="Times New Roman"/>
              </a:rPr>
              <a:t>1</a:t>
            </a:r>
            <a:r>
              <a:rPr sz="3450" i="1" spc="22" baseline="1207" dirty="0">
                <a:latin typeface="Times New Roman"/>
                <a:cs typeface="Times New Roman"/>
              </a:rPr>
              <a:t>g</a:t>
            </a:r>
            <a:r>
              <a:rPr sz="3450" i="1" spc="-7" baseline="1207" dirty="0">
                <a:latin typeface="Times New Roman"/>
                <a:cs typeface="Times New Roman"/>
              </a:rPr>
              <a:t> </a:t>
            </a:r>
            <a:r>
              <a:rPr sz="3450" spc="22" baseline="1207" dirty="0">
                <a:latin typeface="Symbol"/>
                <a:cs typeface="Symbol"/>
              </a:rPr>
              <a:t></a:t>
            </a:r>
            <a:r>
              <a:rPr sz="3450" spc="-89" baseline="1207" dirty="0">
                <a:latin typeface="Times New Roman"/>
                <a:cs typeface="Times New Roman"/>
              </a:rPr>
              <a:t> </a:t>
            </a:r>
            <a:r>
              <a:rPr sz="3675" i="1" spc="75" baseline="1133" dirty="0">
                <a:latin typeface="Symbol"/>
                <a:cs typeface="Symbol"/>
              </a:rPr>
              <a:t></a:t>
            </a:r>
            <a:r>
              <a:rPr sz="2025" spc="7" baseline="-22633" dirty="0">
                <a:latin typeface="Times New Roman"/>
                <a:cs typeface="Times New Roman"/>
              </a:rPr>
              <a:t>2</a:t>
            </a:r>
            <a:r>
              <a:rPr sz="2025" spc="-187" baseline="-22633" dirty="0">
                <a:latin typeface="Times New Roman"/>
                <a:cs typeface="Times New Roman"/>
              </a:rPr>
              <a:t> </a:t>
            </a:r>
            <a:r>
              <a:rPr sz="3450" i="1" spc="22" baseline="1207" dirty="0">
                <a:latin typeface="Times New Roman"/>
                <a:cs typeface="Times New Roman"/>
              </a:rPr>
              <a:t>x</a:t>
            </a:r>
            <a:endParaRPr sz="3450" baseline="1207" dirty="0">
              <a:latin typeface="Times New Roman"/>
              <a:cs typeface="Times New Roman"/>
            </a:endParaRPr>
          </a:p>
          <a:p>
            <a:pPr marL="38100">
              <a:lnSpc>
                <a:spcPts val="2515"/>
              </a:lnSpc>
            </a:pPr>
            <a:r>
              <a:rPr sz="2300" spc="10" dirty="0">
                <a:latin typeface="Symbol"/>
                <a:cs typeface="Symbol"/>
              </a:rPr>
              <a:t></a:t>
            </a:r>
            <a:endParaRPr sz="2300" dirty="0">
              <a:latin typeface="Symbol"/>
              <a:cs typeface="Symbol"/>
            </a:endParaRPr>
          </a:p>
        </p:txBody>
      </p:sp>
      <p:sp>
        <p:nvSpPr>
          <p:cNvPr id="18" name="object 9"/>
          <p:cNvSpPr txBox="1"/>
          <p:nvPr/>
        </p:nvSpPr>
        <p:spPr>
          <a:xfrm>
            <a:off x="2538490" y="3033353"/>
            <a:ext cx="139700" cy="381635"/>
          </a:xfrm>
          <a:prstGeom prst="rect">
            <a:avLst/>
          </a:prstGeom>
        </p:spPr>
        <p:txBody>
          <a:bodyPr vert="horz" wrap="square" lIns="0" tIns="17145" rIns="0" bIns="0" rtlCol="0">
            <a:spAutoFit/>
          </a:bodyPr>
          <a:lstStyle/>
          <a:p>
            <a:pPr marL="12700">
              <a:lnSpc>
                <a:spcPct val="100000"/>
              </a:lnSpc>
              <a:spcBef>
                <a:spcPts val="135"/>
              </a:spcBef>
            </a:pPr>
            <a:r>
              <a:rPr sz="2300" b="1" spc="10" dirty="0">
                <a:latin typeface="Symbol"/>
                <a:cs typeface="Symbol"/>
              </a:rPr>
              <a:t></a:t>
            </a:r>
            <a:endParaRPr sz="2300">
              <a:latin typeface="Symbol"/>
              <a:cs typeface="Symbol"/>
            </a:endParaRPr>
          </a:p>
        </p:txBody>
      </p:sp>
      <p:sp>
        <p:nvSpPr>
          <p:cNvPr id="19" name="object 10"/>
          <p:cNvSpPr txBox="1"/>
          <p:nvPr/>
        </p:nvSpPr>
        <p:spPr>
          <a:xfrm>
            <a:off x="2538490" y="3325325"/>
            <a:ext cx="139700" cy="381635"/>
          </a:xfrm>
          <a:prstGeom prst="rect">
            <a:avLst/>
          </a:prstGeom>
        </p:spPr>
        <p:txBody>
          <a:bodyPr vert="horz" wrap="square" lIns="0" tIns="17145" rIns="0" bIns="0" rtlCol="0">
            <a:spAutoFit/>
          </a:bodyPr>
          <a:lstStyle/>
          <a:p>
            <a:pPr marL="12700">
              <a:lnSpc>
                <a:spcPct val="100000"/>
              </a:lnSpc>
              <a:spcBef>
                <a:spcPts val="135"/>
              </a:spcBef>
            </a:pPr>
            <a:r>
              <a:rPr sz="2300" spc="10" dirty="0">
                <a:latin typeface="Symbol"/>
                <a:cs typeface="Symbol"/>
              </a:rPr>
              <a:t></a:t>
            </a:r>
            <a:endParaRPr sz="2300">
              <a:latin typeface="Symbol"/>
              <a:cs typeface="Symbol"/>
            </a:endParaRPr>
          </a:p>
        </p:txBody>
      </p:sp>
      <p:sp>
        <p:nvSpPr>
          <p:cNvPr id="20" name="object 11"/>
          <p:cNvSpPr txBox="1"/>
          <p:nvPr/>
        </p:nvSpPr>
        <p:spPr>
          <a:xfrm>
            <a:off x="2682548" y="3259817"/>
            <a:ext cx="1861820" cy="381635"/>
          </a:xfrm>
          <a:prstGeom prst="rect">
            <a:avLst/>
          </a:prstGeom>
        </p:spPr>
        <p:txBody>
          <a:bodyPr vert="horz" wrap="square" lIns="0" tIns="17145" rIns="0" bIns="0" rtlCol="0">
            <a:spAutoFit/>
          </a:bodyPr>
          <a:lstStyle/>
          <a:p>
            <a:pPr marL="12700">
              <a:lnSpc>
                <a:spcPct val="100000"/>
              </a:lnSpc>
              <a:spcBef>
                <a:spcPts val="135"/>
              </a:spcBef>
            </a:pPr>
            <a:r>
              <a:rPr sz="2300" spc="15" dirty="0">
                <a:latin typeface="Times New Roman"/>
                <a:cs typeface="Times New Roman"/>
              </a:rPr>
              <a:t>1</a:t>
            </a:r>
            <a:r>
              <a:rPr sz="2300" spc="-325" dirty="0">
                <a:latin typeface="Times New Roman"/>
                <a:cs typeface="Times New Roman"/>
              </a:rPr>
              <a:t> </a:t>
            </a:r>
            <a:r>
              <a:rPr sz="2300" spc="15" dirty="0">
                <a:latin typeface="Symbol"/>
                <a:cs typeface="Symbol"/>
              </a:rPr>
              <a:t></a:t>
            </a:r>
            <a:r>
              <a:rPr sz="2300" spc="-50" dirty="0">
                <a:latin typeface="Times New Roman"/>
                <a:cs typeface="Times New Roman"/>
              </a:rPr>
              <a:t> </a:t>
            </a:r>
            <a:r>
              <a:rPr sz="2300" i="1" spc="85" dirty="0">
                <a:latin typeface="Times New Roman"/>
                <a:cs typeface="Times New Roman"/>
              </a:rPr>
              <a:t>P</a:t>
            </a:r>
            <a:r>
              <a:rPr sz="2300" spc="-60" dirty="0">
                <a:latin typeface="Times New Roman"/>
                <a:cs typeface="Times New Roman"/>
              </a:rPr>
              <a:t>(</a:t>
            </a:r>
            <a:r>
              <a:rPr sz="2300" i="1" spc="15" dirty="0">
                <a:latin typeface="Times New Roman"/>
                <a:cs typeface="Times New Roman"/>
              </a:rPr>
              <a:t>Y</a:t>
            </a:r>
            <a:r>
              <a:rPr sz="2300" i="1" dirty="0">
                <a:latin typeface="Times New Roman"/>
                <a:cs typeface="Times New Roman"/>
              </a:rPr>
              <a:t> </a:t>
            </a:r>
            <a:r>
              <a:rPr sz="2300" i="1" spc="-245" dirty="0">
                <a:latin typeface="Times New Roman"/>
                <a:cs typeface="Times New Roman"/>
              </a:rPr>
              <a:t> </a:t>
            </a:r>
            <a:r>
              <a:rPr sz="2300" spc="15" dirty="0">
                <a:latin typeface="Symbol"/>
                <a:cs typeface="Symbol"/>
              </a:rPr>
              <a:t></a:t>
            </a:r>
            <a:r>
              <a:rPr sz="2300" spc="-20" dirty="0">
                <a:latin typeface="Times New Roman"/>
                <a:cs typeface="Times New Roman"/>
              </a:rPr>
              <a:t> </a:t>
            </a:r>
            <a:r>
              <a:rPr sz="2300" i="1" spc="15" dirty="0">
                <a:latin typeface="Times New Roman"/>
                <a:cs typeface="Times New Roman"/>
              </a:rPr>
              <a:t>cas</a:t>
            </a:r>
            <a:r>
              <a:rPr sz="2300" i="1" spc="70" dirty="0">
                <a:latin typeface="Times New Roman"/>
                <a:cs typeface="Times New Roman"/>
              </a:rPr>
              <a:t>e</a:t>
            </a:r>
            <a:r>
              <a:rPr sz="2300" spc="10" dirty="0">
                <a:latin typeface="Times New Roman"/>
                <a:cs typeface="Times New Roman"/>
              </a:rPr>
              <a:t>)</a:t>
            </a:r>
            <a:endParaRPr sz="2300">
              <a:latin typeface="Times New Roman"/>
              <a:cs typeface="Times New Roman"/>
            </a:endParaRPr>
          </a:p>
        </p:txBody>
      </p:sp>
      <p:sp>
        <p:nvSpPr>
          <p:cNvPr id="21" name="object 12"/>
          <p:cNvSpPr txBox="1"/>
          <p:nvPr/>
        </p:nvSpPr>
        <p:spPr>
          <a:xfrm>
            <a:off x="2538490" y="2844535"/>
            <a:ext cx="2167890" cy="381635"/>
          </a:xfrm>
          <a:prstGeom prst="rect">
            <a:avLst/>
          </a:prstGeom>
        </p:spPr>
        <p:txBody>
          <a:bodyPr vert="horz" wrap="square" lIns="0" tIns="17145" rIns="0" bIns="0" rtlCol="0">
            <a:spAutoFit/>
          </a:bodyPr>
          <a:lstStyle/>
          <a:p>
            <a:pPr marL="12700">
              <a:lnSpc>
                <a:spcPct val="100000"/>
              </a:lnSpc>
              <a:spcBef>
                <a:spcPts val="135"/>
              </a:spcBef>
              <a:tabLst>
                <a:tab pos="379730" algn="l"/>
                <a:tab pos="2040889" algn="l"/>
              </a:tabLst>
            </a:pPr>
            <a:r>
              <a:rPr sz="2300" spc="10" dirty="0">
                <a:latin typeface="Symbol"/>
                <a:cs typeface="Symbol"/>
              </a:rPr>
              <a:t></a:t>
            </a:r>
            <a:r>
              <a:rPr sz="2300" spc="10" dirty="0">
                <a:latin typeface="Times New Roman"/>
                <a:cs typeface="Times New Roman"/>
              </a:rPr>
              <a:t>	</a:t>
            </a:r>
            <a:r>
              <a:rPr sz="2300" i="1" spc="85" dirty="0">
                <a:latin typeface="Times New Roman"/>
                <a:cs typeface="Times New Roman"/>
              </a:rPr>
              <a:t>P</a:t>
            </a:r>
            <a:r>
              <a:rPr sz="2300" spc="-65" dirty="0">
                <a:latin typeface="Times New Roman"/>
                <a:cs typeface="Times New Roman"/>
              </a:rPr>
              <a:t>(</a:t>
            </a:r>
            <a:r>
              <a:rPr sz="2300" i="1" spc="15" dirty="0">
                <a:latin typeface="Times New Roman"/>
                <a:cs typeface="Times New Roman"/>
              </a:rPr>
              <a:t>Y</a:t>
            </a:r>
            <a:r>
              <a:rPr sz="2300" i="1" dirty="0">
                <a:latin typeface="Times New Roman"/>
                <a:cs typeface="Times New Roman"/>
              </a:rPr>
              <a:t> </a:t>
            </a:r>
            <a:r>
              <a:rPr sz="2300" i="1" spc="-240" dirty="0">
                <a:latin typeface="Times New Roman"/>
                <a:cs typeface="Times New Roman"/>
              </a:rPr>
              <a:t> </a:t>
            </a:r>
            <a:r>
              <a:rPr sz="2300" spc="15" dirty="0">
                <a:latin typeface="Symbol"/>
                <a:cs typeface="Symbol"/>
              </a:rPr>
              <a:t></a:t>
            </a:r>
            <a:r>
              <a:rPr sz="2300" spc="-20" dirty="0">
                <a:latin typeface="Times New Roman"/>
                <a:cs typeface="Times New Roman"/>
              </a:rPr>
              <a:t> </a:t>
            </a:r>
            <a:r>
              <a:rPr sz="2300" i="1" spc="15" dirty="0">
                <a:latin typeface="Times New Roman"/>
                <a:cs typeface="Times New Roman"/>
              </a:rPr>
              <a:t>cas</a:t>
            </a:r>
            <a:r>
              <a:rPr sz="2300" i="1" spc="70" dirty="0">
                <a:latin typeface="Times New Roman"/>
                <a:cs typeface="Times New Roman"/>
              </a:rPr>
              <a:t>e</a:t>
            </a:r>
            <a:r>
              <a:rPr sz="2300" spc="10" dirty="0">
                <a:latin typeface="Times New Roman"/>
                <a:cs typeface="Times New Roman"/>
              </a:rPr>
              <a:t>)</a:t>
            </a:r>
            <a:r>
              <a:rPr sz="2300" dirty="0">
                <a:latin typeface="Times New Roman"/>
                <a:cs typeface="Times New Roman"/>
              </a:rPr>
              <a:t>	</a:t>
            </a:r>
            <a:r>
              <a:rPr sz="3450" spc="15" baseline="1207" dirty="0">
                <a:latin typeface="Symbol"/>
                <a:cs typeface="Symbol"/>
              </a:rPr>
              <a:t></a:t>
            </a:r>
            <a:endParaRPr sz="3450" baseline="1207">
              <a:latin typeface="Symbol"/>
              <a:cs typeface="Symbol"/>
            </a:endParaRPr>
          </a:p>
        </p:txBody>
      </p:sp>
      <p:sp>
        <p:nvSpPr>
          <p:cNvPr id="22" name="object 13"/>
          <p:cNvSpPr/>
          <p:nvPr/>
        </p:nvSpPr>
        <p:spPr>
          <a:xfrm>
            <a:off x="6781800" y="3352800"/>
            <a:ext cx="384810" cy="253365"/>
          </a:xfrm>
          <a:custGeom>
            <a:avLst/>
            <a:gdLst/>
            <a:ahLst/>
            <a:cxnLst/>
            <a:rect l="l" t="t" r="r" b="b"/>
            <a:pathLst>
              <a:path w="384809" h="253364">
                <a:moveTo>
                  <a:pt x="105155" y="15240"/>
                </a:moveTo>
                <a:lnTo>
                  <a:pt x="105155" y="8382"/>
                </a:lnTo>
                <a:lnTo>
                  <a:pt x="102869" y="5334"/>
                </a:lnTo>
                <a:lnTo>
                  <a:pt x="99059" y="5334"/>
                </a:lnTo>
                <a:lnTo>
                  <a:pt x="0" y="0"/>
                </a:lnTo>
                <a:lnTo>
                  <a:pt x="7619" y="15110"/>
                </a:lnTo>
                <a:lnTo>
                  <a:pt x="7619" y="12192"/>
                </a:lnTo>
                <a:lnTo>
                  <a:pt x="14477" y="1524"/>
                </a:lnTo>
                <a:lnTo>
                  <a:pt x="34830" y="14757"/>
                </a:lnTo>
                <a:lnTo>
                  <a:pt x="99059" y="17526"/>
                </a:lnTo>
                <a:lnTo>
                  <a:pt x="102107" y="18288"/>
                </a:lnTo>
                <a:lnTo>
                  <a:pt x="105155" y="15240"/>
                </a:lnTo>
                <a:close/>
              </a:path>
              <a:path w="384809" h="253364">
                <a:moveTo>
                  <a:pt x="34830" y="14757"/>
                </a:moveTo>
                <a:lnTo>
                  <a:pt x="14477" y="1524"/>
                </a:lnTo>
                <a:lnTo>
                  <a:pt x="7619" y="12192"/>
                </a:lnTo>
                <a:lnTo>
                  <a:pt x="10667" y="14173"/>
                </a:lnTo>
                <a:lnTo>
                  <a:pt x="10667" y="13716"/>
                </a:lnTo>
                <a:lnTo>
                  <a:pt x="16763" y="4572"/>
                </a:lnTo>
                <a:lnTo>
                  <a:pt x="21618" y="14188"/>
                </a:lnTo>
                <a:lnTo>
                  <a:pt x="34830" y="14757"/>
                </a:lnTo>
                <a:close/>
              </a:path>
              <a:path w="384809" h="253364">
                <a:moveTo>
                  <a:pt x="57911" y="86106"/>
                </a:moveTo>
                <a:lnTo>
                  <a:pt x="26959" y="24766"/>
                </a:lnTo>
                <a:lnTo>
                  <a:pt x="7619" y="12192"/>
                </a:lnTo>
                <a:lnTo>
                  <a:pt x="7619" y="15110"/>
                </a:lnTo>
                <a:lnTo>
                  <a:pt x="46481" y="92202"/>
                </a:lnTo>
                <a:lnTo>
                  <a:pt x="50291" y="92964"/>
                </a:lnTo>
                <a:lnTo>
                  <a:pt x="56387" y="89916"/>
                </a:lnTo>
                <a:lnTo>
                  <a:pt x="57911" y="86106"/>
                </a:lnTo>
                <a:close/>
              </a:path>
              <a:path w="384809" h="253364">
                <a:moveTo>
                  <a:pt x="21618" y="14188"/>
                </a:moveTo>
                <a:lnTo>
                  <a:pt x="16763" y="4572"/>
                </a:lnTo>
                <a:lnTo>
                  <a:pt x="10667" y="13716"/>
                </a:lnTo>
                <a:lnTo>
                  <a:pt x="21618" y="14188"/>
                </a:lnTo>
                <a:close/>
              </a:path>
              <a:path w="384809" h="253364">
                <a:moveTo>
                  <a:pt x="26959" y="24766"/>
                </a:moveTo>
                <a:lnTo>
                  <a:pt x="21618" y="14188"/>
                </a:lnTo>
                <a:lnTo>
                  <a:pt x="10667" y="13716"/>
                </a:lnTo>
                <a:lnTo>
                  <a:pt x="10667" y="14173"/>
                </a:lnTo>
                <a:lnTo>
                  <a:pt x="26959" y="24766"/>
                </a:lnTo>
                <a:close/>
              </a:path>
              <a:path w="384809" h="253364">
                <a:moveTo>
                  <a:pt x="384809" y="242316"/>
                </a:moveTo>
                <a:lnTo>
                  <a:pt x="34830" y="14757"/>
                </a:lnTo>
                <a:lnTo>
                  <a:pt x="21618" y="14188"/>
                </a:lnTo>
                <a:lnTo>
                  <a:pt x="26959" y="24766"/>
                </a:lnTo>
                <a:lnTo>
                  <a:pt x="377951" y="252984"/>
                </a:lnTo>
                <a:lnTo>
                  <a:pt x="384809" y="242316"/>
                </a:lnTo>
                <a:close/>
              </a:path>
            </a:pathLst>
          </a:custGeom>
          <a:solidFill>
            <a:srgbClr val="000000"/>
          </a:solidFill>
        </p:spPr>
        <p:txBody>
          <a:bodyPr wrap="square" lIns="0" tIns="0" rIns="0" bIns="0" rtlCol="0"/>
          <a:lstStyle/>
          <a:p>
            <a:endParaRPr/>
          </a:p>
        </p:txBody>
      </p:sp>
      <p:sp>
        <p:nvSpPr>
          <p:cNvPr id="23" name="object 14"/>
          <p:cNvSpPr txBox="1"/>
          <p:nvPr/>
        </p:nvSpPr>
        <p:spPr>
          <a:xfrm>
            <a:off x="7241540" y="3302000"/>
            <a:ext cx="1344930" cy="574040"/>
          </a:xfrm>
          <a:prstGeom prst="rect">
            <a:avLst/>
          </a:prstGeom>
        </p:spPr>
        <p:txBody>
          <a:bodyPr vert="horz" wrap="square" lIns="0" tIns="12700" rIns="0" bIns="0" rtlCol="0">
            <a:spAutoFit/>
          </a:bodyPr>
          <a:lstStyle/>
          <a:p>
            <a:pPr marL="12700" marR="5080">
              <a:lnSpc>
                <a:spcPct val="100000"/>
              </a:lnSpc>
              <a:spcBef>
                <a:spcPts val="100"/>
              </a:spcBef>
            </a:pPr>
            <a:r>
              <a:rPr sz="1800" spc="-5" dirty="0">
                <a:latin typeface="Times New Roman"/>
                <a:cs typeface="Times New Roman"/>
              </a:rPr>
              <a:t>More</a:t>
            </a:r>
            <a:r>
              <a:rPr sz="1800" spc="-40" dirty="0">
                <a:latin typeface="Times New Roman"/>
                <a:cs typeface="Times New Roman"/>
              </a:rPr>
              <a:t> </a:t>
            </a:r>
            <a:r>
              <a:rPr sz="1800" spc="-5" dirty="0">
                <a:latin typeface="Times New Roman"/>
                <a:cs typeface="Times New Roman"/>
              </a:rPr>
              <a:t>or</a:t>
            </a:r>
            <a:r>
              <a:rPr sz="1800" spc="-35" dirty="0">
                <a:latin typeface="Times New Roman"/>
                <a:cs typeface="Times New Roman"/>
              </a:rPr>
              <a:t> </a:t>
            </a:r>
            <a:r>
              <a:rPr sz="1800" spc="-10" dirty="0">
                <a:latin typeface="Times New Roman"/>
                <a:cs typeface="Times New Roman"/>
              </a:rPr>
              <a:t>fewer </a:t>
            </a:r>
            <a:r>
              <a:rPr sz="1800" spc="-434" dirty="0">
                <a:latin typeface="Times New Roman"/>
                <a:cs typeface="Times New Roman"/>
              </a:rPr>
              <a:t> </a:t>
            </a:r>
            <a:r>
              <a:rPr sz="1800" spc="-10" dirty="0">
                <a:latin typeface="Times New Roman"/>
                <a:cs typeface="Times New Roman"/>
              </a:rPr>
              <a:t>covariates</a:t>
            </a:r>
            <a:endParaRPr sz="1800">
              <a:latin typeface="Times New Roman"/>
              <a:cs typeface="Times New Roman"/>
            </a:endParaRPr>
          </a:p>
        </p:txBody>
      </p:sp>
    </p:spTree>
    <p:extLst>
      <p:ext uri="{BB962C8B-B14F-4D97-AF65-F5344CB8AC3E}">
        <p14:creationId xmlns:p14="http://schemas.microsoft.com/office/powerpoint/2010/main" val="17844384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96122" y="57733"/>
            <a:ext cx="7741478"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Genome-wide Association </a:t>
            </a:r>
            <a:r>
              <a:rPr lang="en-US" altLang="en-US" sz="3600" dirty="0" smtClean="0">
                <a:latin typeface="Comic Sans MS" panose="030F0702030302020204" pitchFamily="66" charset="0"/>
                <a:cs typeface="Times New Roman" panose="02020603050405020304" pitchFamily="18" charset="0"/>
              </a:rPr>
              <a:t>Studies</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437322" y="998920"/>
            <a:ext cx="8300278" cy="5627159"/>
          </a:xfrm>
        </p:spPr>
        <p:txBody>
          <a:bodyPr/>
          <a:lstStyle/>
          <a:p>
            <a:r>
              <a:rPr lang="en-US" sz="1800" b="1" dirty="0">
                <a:solidFill>
                  <a:schemeClr val="bg2"/>
                </a:solidFill>
                <a:latin typeface="Arial" panose="020B0604020202020204" pitchFamily="34" charset="0"/>
                <a:cs typeface="Arial" panose="020B0604020202020204" pitchFamily="34" charset="0"/>
              </a:rPr>
              <a:t>Although the additive model described here is most common,  one may also fit the </a:t>
            </a:r>
            <a:r>
              <a:rPr lang="en-US" sz="1800" b="1" dirty="0" smtClean="0">
                <a:solidFill>
                  <a:schemeClr val="bg2"/>
                </a:solidFill>
                <a:latin typeface="Arial" panose="020B0604020202020204" pitchFamily="34" charset="0"/>
                <a:cs typeface="Arial" panose="020B0604020202020204" pitchFamily="34" charset="0"/>
              </a:rPr>
              <a:t>model</a:t>
            </a:r>
          </a:p>
          <a:p>
            <a:endParaRPr lang="en-US" sz="1800" b="1" dirty="0" smtClean="0">
              <a:solidFill>
                <a:schemeClr val="bg2"/>
              </a:solidFill>
              <a:latin typeface="Arial" panose="020B0604020202020204" pitchFamily="34" charset="0"/>
              <a:cs typeface="Arial" panose="020B0604020202020204" pitchFamily="34" charset="0"/>
            </a:endParaRPr>
          </a:p>
          <a:p>
            <a:endParaRPr lang="en-US" sz="1800" b="1" dirty="0">
              <a:solidFill>
                <a:schemeClr val="bg2"/>
              </a:solidFill>
              <a:latin typeface="Arial" panose="020B0604020202020204" pitchFamily="34" charset="0"/>
              <a:cs typeface="Arial" panose="020B0604020202020204" pitchFamily="34" charset="0"/>
            </a:endParaRPr>
          </a:p>
          <a:p>
            <a:endParaRPr lang="en-US" sz="1800" b="1" dirty="0" smtClean="0">
              <a:solidFill>
                <a:schemeClr val="bg2"/>
              </a:solidFill>
              <a:latin typeface="Arial" panose="020B0604020202020204" pitchFamily="34" charset="0"/>
              <a:cs typeface="Arial" panose="020B0604020202020204" pitchFamily="34" charset="0"/>
            </a:endParaRPr>
          </a:p>
          <a:p>
            <a:endParaRPr lang="en-US" sz="1800" b="1" dirty="0">
              <a:solidFill>
                <a:schemeClr val="bg2"/>
              </a:solidFill>
              <a:latin typeface="Arial" panose="020B0604020202020204" pitchFamily="34" charset="0"/>
              <a:cs typeface="Arial" panose="020B0604020202020204" pitchFamily="34" charset="0"/>
            </a:endParaRPr>
          </a:p>
          <a:p>
            <a:endParaRPr lang="en-US" sz="1800" b="1" dirty="0" smtClean="0">
              <a:solidFill>
                <a:schemeClr val="bg2"/>
              </a:solidFill>
              <a:latin typeface="Arial" panose="020B0604020202020204" pitchFamily="34" charset="0"/>
              <a:cs typeface="Arial" panose="020B0604020202020204" pitchFamily="34" charset="0"/>
            </a:endParaRPr>
          </a:p>
          <a:p>
            <a:endParaRPr lang="en-US" sz="1800" b="1" dirty="0" smtClean="0">
              <a:solidFill>
                <a:schemeClr val="bg2"/>
              </a:solidFill>
              <a:latin typeface="Arial" panose="020B0604020202020204" pitchFamily="34" charset="0"/>
              <a:cs typeface="Arial" panose="020B0604020202020204" pitchFamily="34" charset="0"/>
            </a:endParaRPr>
          </a:p>
          <a:p>
            <a:endParaRPr lang="en-US" sz="1800" b="1" dirty="0">
              <a:solidFill>
                <a:schemeClr val="bg2"/>
              </a:solidFill>
              <a:latin typeface="Arial" panose="020B0604020202020204" pitchFamily="34" charset="0"/>
              <a:cs typeface="Arial" panose="020B0604020202020204" pitchFamily="34" charset="0"/>
            </a:endParaRPr>
          </a:p>
          <a:p>
            <a:pPr marL="0" indent="0">
              <a:buNone/>
            </a:pPr>
            <a:r>
              <a:rPr lang="en-US" sz="1800" b="1" dirty="0">
                <a:solidFill>
                  <a:schemeClr val="bg2"/>
                </a:solidFill>
                <a:latin typeface="Arial" panose="020B0604020202020204" pitchFamily="34" charset="0"/>
                <a:cs typeface="Arial" panose="020B0604020202020204" pitchFamily="34" charset="0"/>
              </a:rPr>
              <a:t> </a:t>
            </a:r>
            <a:r>
              <a:rPr lang="en-US" sz="1800" b="1" dirty="0" smtClean="0">
                <a:solidFill>
                  <a:schemeClr val="bg2"/>
                </a:solidFill>
                <a:latin typeface="Arial" panose="020B0604020202020204" pitchFamily="34" charset="0"/>
                <a:cs typeface="Arial" panose="020B0604020202020204" pitchFamily="34" charset="0"/>
              </a:rPr>
              <a:t>    which enables the testing of dominant effects.</a:t>
            </a:r>
          </a:p>
          <a:p>
            <a:pPr marL="0" indent="0">
              <a:buNone/>
            </a:pPr>
            <a:endParaRPr lang="en-US" sz="1800" b="1" dirty="0">
              <a:solidFill>
                <a:schemeClr val="bg2"/>
              </a:solidFill>
              <a:latin typeface="Arial" panose="020B0604020202020204" pitchFamily="34" charset="0"/>
              <a:cs typeface="Arial" panose="020B0604020202020204" pitchFamily="34" charset="0"/>
            </a:endParaRPr>
          </a:p>
          <a:p>
            <a:pPr>
              <a:buFont typeface="Arial" panose="020B0604020202020204" pitchFamily="34" charset="0"/>
              <a:buChar char="•"/>
            </a:pPr>
            <a:r>
              <a:rPr lang="en-US" sz="1800" b="1" dirty="0">
                <a:solidFill>
                  <a:schemeClr val="bg2"/>
                </a:solidFill>
                <a:latin typeface="Arial" panose="020B0604020202020204" pitchFamily="34" charset="0"/>
                <a:cs typeface="Arial" panose="020B0604020202020204" pitchFamily="34" charset="0"/>
              </a:rPr>
              <a:t>Quantitative traits are often fit using the linear regression  </a:t>
            </a:r>
            <a:r>
              <a:rPr lang="en-US" sz="1800" b="1" dirty="0" smtClean="0">
                <a:solidFill>
                  <a:schemeClr val="bg2"/>
                </a:solidFill>
                <a:latin typeface="Arial" panose="020B0604020202020204" pitchFamily="34" charset="0"/>
                <a:cs typeface="Arial" panose="020B0604020202020204" pitchFamily="34" charset="0"/>
              </a:rPr>
              <a:t>model</a:t>
            </a:r>
          </a:p>
          <a:p>
            <a:pPr marL="0" indent="0" algn="ctr">
              <a:buNone/>
            </a:pPr>
            <a:endParaRPr lang="en-US" sz="1800" b="1" dirty="0" smtClean="0">
              <a:solidFill>
                <a:schemeClr val="bg2"/>
              </a:solidFill>
              <a:latin typeface="Arial" panose="020B0604020202020204" pitchFamily="34" charset="0"/>
              <a:cs typeface="Arial" panose="020B0604020202020204" pitchFamily="34" charset="0"/>
            </a:endParaRPr>
          </a:p>
          <a:p>
            <a:pPr marL="0" indent="0" algn="ctr">
              <a:buNone/>
            </a:pPr>
            <a:r>
              <a:rPr lang="en-US" sz="2400" b="1" i="1" spc="15" dirty="0" smtClean="0">
                <a:solidFill>
                  <a:schemeClr val="bg2"/>
                </a:solidFill>
                <a:cs typeface="Times New Roman"/>
              </a:rPr>
              <a:t>Y</a:t>
            </a:r>
            <a:r>
              <a:rPr lang="en-US" sz="2400" b="1" i="1" spc="80" dirty="0" smtClean="0">
                <a:solidFill>
                  <a:schemeClr val="bg2"/>
                </a:solidFill>
                <a:cs typeface="Times New Roman"/>
              </a:rPr>
              <a:t> </a:t>
            </a:r>
            <a:r>
              <a:rPr lang="en-US" sz="2400" b="1" spc="15" dirty="0">
                <a:solidFill>
                  <a:schemeClr val="bg2"/>
                </a:solidFill>
                <a:latin typeface="Symbol"/>
                <a:cs typeface="Symbol"/>
              </a:rPr>
              <a:t></a:t>
            </a:r>
            <a:r>
              <a:rPr lang="en-US" sz="2400" b="1" spc="30" dirty="0">
                <a:solidFill>
                  <a:schemeClr val="bg2"/>
                </a:solidFill>
                <a:cs typeface="Times New Roman"/>
              </a:rPr>
              <a:t> </a:t>
            </a:r>
            <a:r>
              <a:rPr lang="en-US" sz="2400" b="1" i="1" spc="30" dirty="0">
                <a:solidFill>
                  <a:schemeClr val="bg2"/>
                </a:solidFill>
                <a:latin typeface="Symbol"/>
                <a:cs typeface="Symbol"/>
              </a:rPr>
              <a:t></a:t>
            </a:r>
            <a:r>
              <a:rPr lang="en-US" sz="2400" b="1" spc="7" baseline="-24691" dirty="0">
                <a:solidFill>
                  <a:schemeClr val="bg2"/>
                </a:solidFill>
                <a:cs typeface="Times New Roman"/>
              </a:rPr>
              <a:t>0</a:t>
            </a:r>
            <a:r>
              <a:rPr lang="en-US" sz="2400" b="1" baseline="-24691" dirty="0">
                <a:solidFill>
                  <a:schemeClr val="bg2"/>
                </a:solidFill>
                <a:cs typeface="Times New Roman"/>
              </a:rPr>
              <a:t> </a:t>
            </a:r>
            <a:r>
              <a:rPr lang="en-US" sz="2400" b="1" spc="-75" baseline="-24691" dirty="0">
                <a:solidFill>
                  <a:schemeClr val="bg2"/>
                </a:solidFill>
                <a:cs typeface="Times New Roman"/>
              </a:rPr>
              <a:t> </a:t>
            </a:r>
            <a:r>
              <a:rPr lang="en-US" sz="2400" b="1" spc="15" dirty="0">
                <a:solidFill>
                  <a:schemeClr val="bg2"/>
                </a:solidFill>
                <a:latin typeface="Symbol"/>
                <a:cs typeface="Symbol"/>
              </a:rPr>
              <a:t></a:t>
            </a:r>
            <a:r>
              <a:rPr lang="en-US" sz="2400" b="1" spc="-65" dirty="0">
                <a:solidFill>
                  <a:schemeClr val="bg2"/>
                </a:solidFill>
                <a:cs typeface="Times New Roman"/>
              </a:rPr>
              <a:t> </a:t>
            </a:r>
            <a:r>
              <a:rPr lang="en-US" sz="2400" b="1" i="1" spc="-70" dirty="0">
                <a:solidFill>
                  <a:schemeClr val="bg2"/>
                </a:solidFill>
                <a:latin typeface="Symbol"/>
                <a:cs typeface="Symbol"/>
              </a:rPr>
              <a:t></a:t>
            </a:r>
            <a:r>
              <a:rPr lang="en-US" sz="2400" b="1" spc="135" baseline="-24691" dirty="0">
                <a:solidFill>
                  <a:schemeClr val="bg2"/>
                </a:solidFill>
                <a:cs typeface="Times New Roman"/>
              </a:rPr>
              <a:t>1</a:t>
            </a:r>
            <a:r>
              <a:rPr lang="en-US" sz="2400" b="1" i="1" spc="15" dirty="0">
                <a:solidFill>
                  <a:schemeClr val="bg2"/>
                </a:solidFill>
                <a:cs typeface="Times New Roman"/>
              </a:rPr>
              <a:t>g</a:t>
            </a:r>
            <a:r>
              <a:rPr lang="en-US" sz="2400" b="1" i="1" spc="-5" dirty="0">
                <a:solidFill>
                  <a:schemeClr val="bg2"/>
                </a:solidFill>
                <a:cs typeface="Times New Roman"/>
              </a:rPr>
              <a:t> </a:t>
            </a:r>
            <a:r>
              <a:rPr lang="en-US" sz="2400" b="1" spc="15" dirty="0">
                <a:solidFill>
                  <a:schemeClr val="bg2"/>
                </a:solidFill>
                <a:latin typeface="Symbol"/>
                <a:cs typeface="Symbol"/>
              </a:rPr>
              <a:t></a:t>
            </a:r>
            <a:r>
              <a:rPr lang="en-US" sz="2400" b="1" spc="-60" dirty="0">
                <a:solidFill>
                  <a:schemeClr val="bg2"/>
                </a:solidFill>
                <a:cs typeface="Times New Roman"/>
              </a:rPr>
              <a:t> </a:t>
            </a:r>
            <a:r>
              <a:rPr lang="en-US" sz="2400" b="1" i="1" spc="40" dirty="0">
                <a:solidFill>
                  <a:schemeClr val="bg2"/>
                </a:solidFill>
                <a:latin typeface="Symbol"/>
                <a:cs typeface="Symbol"/>
              </a:rPr>
              <a:t></a:t>
            </a:r>
            <a:r>
              <a:rPr lang="en-US" sz="2400" b="1" spc="7" baseline="-24691" dirty="0">
                <a:solidFill>
                  <a:schemeClr val="bg2"/>
                </a:solidFill>
                <a:cs typeface="Times New Roman"/>
              </a:rPr>
              <a:t>2</a:t>
            </a:r>
            <a:r>
              <a:rPr lang="en-US" sz="2400" b="1" spc="-187" baseline="-24691" dirty="0">
                <a:solidFill>
                  <a:schemeClr val="bg2"/>
                </a:solidFill>
                <a:cs typeface="Times New Roman"/>
              </a:rPr>
              <a:t> </a:t>
            </a:r>
            <a:r>
              <a:rPr lang="en-US" sz="2400" b="1" i="1" spc="15" dirty="0">
                <a:solidFill>
                  <a:schemeClr val="bg2"/>
                </a:solidFill>
                <a:cs typeface="Times New Roman"/>
              </a:rPr>
              <a:t>x</a:t>
            </a:r>
            <a:r>
              <a:rPr lang="en-US" sz="2400" b="1" i="1" spc="-80" dirty="0">
                <a:solidFill>
                  <a:schemeClr val="bg2"/>
                </a:solidFill>
                <a:cs typeface="Times New Roman"/>
              </a:rPr>
              <a:t> </a:t>
            </a:r>
            <a:r>
              <a:rPr lang="en-US" sz="2400" b="1" spc="15" dirty="0">
                <a:solidFill>
                  <a:schemeClr val="bg2"/>
                </a:solidFill>
                <a:latin typeface="Symbol"/>
                <a:cs typeface="Symbol"/>
              </a:rPr>
              <a:t></a:t>
            </a:r>
            <a:r>
              <a:rPr lang="en-US" sz="2400" b="1" spc="-204" dirty="0">
                <a:solidFill>
                  <a:schemeClr val="bg2"/>
                </a:solidFill>
                <a:cs typeface="Times New Roman"/>
              </a:rPr>
              <a:t> </a:t>
            </a:r>
            <a:r>
              <a:rPr lang="en-US" sz="2400" b="1" i="1" spc="-50" dirty="0" smtClean="0">
                <a:solidFill>
                  <a:schemeClr val="bg2"/>
                </a:solidFill>
                <a:latin typeface="Symbol"/>
                <a:cs typeface="Symbol"/>
              </a:rPr>
              <a:t></a:t>
            </a:r>
          </a:p>
          <a:p>
            <a:pPr marL="0" indent="0">
              <a:buNone/>
            </a:pPr>
            <a:r>
              <a:rPr lang="en-US" sz="2400" b="1" dirty="0" smtClean="0">
                <a:solidFill>
                  <a:schemeClr val="bg2"/>
                </a:solidFill>
                <a:latin typeface="Symbol"/>
                <a:cs typeface="Symbol"/>
              </a:rPr>
              <a:t>   </a:t>
            </a:r>
            <a:r>
              <a:rPr lang="en-US" sz="2400" b="1" dirty="0">
                <a:solidFill>
                  <a:schemeClr val="bg2"/>
                </a:solidFill>
                <a:latin typeface="Arial" panose="020B0604020202020204" pitchFamily="34" charset="0"/>
                <a:cs typeface="Arial" panose="020B0604020202020204" pitchFamily="34" charset="0"/>
              </a:rPr>
              <a:t> </a:t>
            </a:r>
            <a:r>
              <a:rPr lang="en-US" sz="2400" b="1" dirty="0" smtClean="0">
                <a:solidFill>
                  <a:schemeClr val="bg2"/>
                </a:solidFill>
                <a:latin typeface="Arial" panose="020B0604020202020204" pitchFamily="34" charset="0"/>
                <a:cs typeface="Arial" panose="020B0604020202020204" pitchFamily="34" charset="0"/>
              </a:rPr>
              <a:t> </a:t>
            </a:r>
          </a:p>
          <a:p>
            <a:pPr marL="0" indent="0">
              <a:buNone/>
            </a:pPr>
            <a:r>
              <a:rPr lang="en-US" sz="1800" b="1" dirty="0">
                <a:solidFill>
                  <a:schemeClr val="bg2"/>
                </a:solidFill>
                <a:latin typeface="Arial" panose="020B0604020202020204" pitchFamily="34" charset="0"/>
                <a:cs typeface="Arial" panose="020B0604020202020204" pitchFamily="34" charset="0"/>
              </a:rPr>
              <a:t> </a:t>
            </a:r>
            <a:r>
              <a:rPr lang="en-US" sz="1800" b="1" dirty="0" smtClean="0">
                <a:solidFill>
                  <a:schemeClr val="bg2"/>
                </a:solidFill>
                <a:latin typeface="Arial" panose="020B0604020202020204" pitchFamily="34" charset="0"/>
                <a:cs typeface="Arial" panose="020B0604020202020204" pitchFamily="34" charset="0"/>
              </a:rPr>
              <a:t>   but otherwise interpreted in the same manner.</a:t>
            </a:r>
            <a:endParaRPr lang="en-US" sz="1800" b="1" dirty="0">
              <a:solidFill>
                <a:schemeClr val="bg2"/>
              </a:solidFill>
              <a:latin typeface="Symbol"/>
              <a:cs typeface="Symbol"/>
            </a:endParaRPr>
          </a:p>
          <a:p>
            <a:pPr marL="0" indent="0" algn="ctr">
              <a:buNone/>
            </a:pPr>
            <a:endParaRPr lang="en-US" sz="1800" b="1" dirty="0">
              <a:solidFill>
                <a:schemeClr val="bg2"/>
              </a:solidFill>
              <a:latin typeface="Arial" panose="020B0604020202020204" pitchFamily="34" charset="0"/>
              <a:cs typeface="Arial" panose="020B0604020202020204" pitchFamily="34" charset="0"/>
            </a:endParaRPr>
          </a:p>
          <a:p>
            <a:pPr marL="0" indent="0">
              <a:buNone/>
            </a:pPr>
            <a:endParaRPr lang="en-US" sz="1800" b="1" dirty="0" smtClean="0">
              <a:solidFill>
                <a:schemeClr val="bg2"/>
              </a:solidFill>
              <a:latin typeface="Arial" panose="020B0604020202020204" pitchFamily="34" charset="0"/>
              <a:cs typeface="Arial" panose="020B0604020202020204" pitchFamily="34" charset="0"/>
            </a:endParaRPr>
          </a:p>
          <a:p>
            <a:pPr marL="0" indent="0" algn="ctr">
              <a:buNone/>
            </a:pPr>
            <a:endParaRPr lang="en-US" sz="1800" b="1" dirty="0">
              <a:solidFill>
                <a:schemeClr val="bg2"/>
              </a:solidFill>
              <a:latin typeface="Arial" panose="020B0604020202020204" pitchFamily="34" charset="0"/>
              <a:cs typeface="Arial" panose="020B0604020202020204" pitchFamily="34" charset="0"/>
            </a:endParaRPr>
          </a:p>
          <a:p>
            <a:pPr marL="0" indent="0">
              <a:buNone/>
            </a:pPr>
            <a:endParaRPr lang="en-US" sz="1800" b="1" dirty="0" smtClean="0">
              <a:solidFill>
                <a:schemeClr val="bg2"/>
              </a:solidFill>
              <a:latin typeface="Arial" panose="020B0604020202020204" pitchFamily="34" charset="0"/>
              <a:cs typeface="Arial" panose="020B0604020202020204" pitchFamily="34" charset="0"/>
            </a:endParaRPr>
          </a:p>
          <a:p>
            <a:endParaRPr lang="en-US" sz="1800" b="1" dirty="0">
              <a:solidFill>
                <a:schemeClr val="bg2"/>
              </a:solidFill>
              <a:latin typeface="Arial" panose="020B0604020202020204" pitchFamily="34" charset="0"/>
              <a:cs typeface="Arial" panose="020B0604020202020204" pitchFamily="34" charset="0"/>
            </a:endParaRPr>
          </a:p>
          <a:p>
            <a:endParaRPr lang="en-US" sz="1800" b="1" dirty="0" smtClean="0">
              <a:solidFill>
                <a:schemeClr val="bg2"/>
              </a:solidFill>
              <a:latin typeface="Arial" panose="020B0604020202020204" pitchFamily="34" charset="0"/>
              <a:cs typeface="Arial" panose="020B0604020202020204" pitchFamily="34" charset="0"/>
            </a:endParaRPr>
          </a:p>
          <a:p>
            <a:endParaRPr lang="en-US" sz="1800" b="1" dirty="0">
              <a:solidFill>
                <a:schemeClr val="bg2"/>
              </a:solidFill>
              <a:latin typeface="Arial" panose="020B0604020202020204" pitchFamily="34" charset="0"/>
              <a:cs typeface="Arial" panose="020B0604020202020204" pitchFamily="34" charset="0"/>
            </a:endParaRPr>
          </a:p>
          <a:p>
            <a:pPr marL="0" indent="0">
              <a:buNone/>
            </a:pPr>
            <a:endParaRPr lang="en-ZA" sz="1800" b="1" dirty="0">
              <a:solidFill>
                <a:schemeClr val="bg2"/>
              </a:solidFill>
              <a:latin typeface="Arial" panose="020B0604020202020204" pitchFamily="34" charset="0"/>
              <a:cs typeface="Arial" panose="020B0604020202020204" pitchFamily="34" charset="0"/>
            </a:endParaRPr>
          </a:p>
        </p:txBody>
      </p:sp>
      <p:sp>
        <p:nvSpPr>
          <p:cNvPr id="45" name="object 4"/>
          <p:cNvSpPr/>
          <p:nvPr/>
        </p:nvSpPr>
        <p:spPr>
          <a:xfrm>
            <a:off x="1837073" y="2926970"/>
            <a:ext cx="1842770" cy="102303"/>
          </a:xfrm>
          <a:custGeom>
            <a:avLst/>
            <a:gdLst/>
            <a:ahLst/>
            <a:cxnLst/>
            <a:rect l="l" t="t" r="r" b="b"/>
            <a:pathLst>
              <a:path w="1842770">
                <a:moveTo>
                  <a:pt x="0" y="0"/>
                </a:moveTo>
                <a:lnTo>
                  <a:pt x="1842516" y="0"/>
                </a:lnTo>
              </a:path>
            </a:pathLst>
          </a:custGeom>
          <a:ln w="12344">
            <a:solidFill>
              <a:srgbClr val="000000"/>
            </a:solidFill>
          </a:ln>
        </p:spPr>
        <p:txBody>
          <a:bodyPr wrap="square" lIns="0" tIns="0" rIns="0" bIns="0" rtlCol="0"/>
          <a:lstStyle/>
          <a:p>
            <a:endParaRPr/>
          </a:p>
        </p:txBody>
      </p:sp>
      <p:sp>
        <p:nvSpPr>
          <p:cNvPr id="46" name="object 5"/>
          <p:cNvSpPr txBox="1"/>
          <p:nvPr/>
        </p:nvSpPr>
        <p:spPr>
          <a:xfrm>
            <a:off x="4300906" y="2945775"/>
            <a:ext cx="2911475" cy="233045"/>
          </a:xfrm>
          <a:prstGeom prst="rect">
            <a:avLst/>
          </a:prstGeom>
        </p:spPr>
        <p:txBody>
          <a:bodyPr vert="horz" wrap="square" lIns="0" tIns="13970" rIns="0" bIns="0" rtlCol="0">
            <a:spAutoFit/>
          </a:bodyPr>
          <a:lstStyle/>
          <a:p>
            <a:pPr marL="12700">
              <a:lnSpc>
                <a:spcPct val="100000"/>
              </a:lnSpc>
              <a:spcBef>
                <a:spcPts val="110"/>
              </a:spcBef>
              <a:tabLst>
                <a:tab pos="568325" algn="l"/>
                <a:tab pos="1293495" algn="l"/>
                <a:tab pos="2811780" algn="l"/>
              </a:tabLst>
            </a:pPr>
            <a:r>
              <a:rPr sz="1350" spc="5" dirty="0">
                <a:latin typeface="Times New Roman"/>
                <a:cs typeface="Times New Roman"/>
              </a:rPr>
              <a:t>0	1	2	3</a:t>
            </a:r>
            <a:endParaRPr sz="1350">
              <a:latin typeface="Times New Roman"/>
              <a:cs typeface="Times New Roman"/>
            </a:endParaRPr>
          </a:p>
        </p:txBody>
      </p:sp>
      <p:sp>
        <p:nvSpPr>
          <p:cNvPr id="47" name="object 6"/>
          <p:cNvSpPr txBox="1"/>
          <p:nvPr/>
        </p:nvSpPr>
        <p:spPr>
          <a:xfrm>
            <a:off x="3662423" y="2731227"/>
            <a:ext cx="3726179" cy="401955"/>
          </a:xfrm>
          <a:prstGeom prst="rect">
            <a:avLst/>
          </a:prstGeom>
        </p:spPr>
        <p:txBody>
          <a:bodyPr vert="horz" wrap="square" lIns="0" tIns="14604" rIns="0" bIns="0" rtlCol="0">
            <a:spAutoFit/>
          </a:bodyPr>
          <a:lstStyle/>
          <a:p>
            <a:pPr marL="50800">
              <a:lnSpc>
                <a:spcPct val="100000"/>
              </a:lnSpc>
              <a:spcBef>
                <a:spcPts val="114"/>
              </a:spcBef>
              <a:tabLst>
                <a:tab pos="816610" algn="l"/>
              </a:tabLst>
            </a:pPr>
            <a:r>
              <a:rPr sz="3450" spc="15" baseline="36231" dirty="0">
                <a:latin typeface="Symbol"/>
                <a:cs typeface="Symbol"/>
              </a:rPr>
              <a:t></a:t>
            </a:r>
            <a:r>
              <a:rPr sz="3450" spc="-37" baseline="36231" dirty="0">
                <a:latin typeface="Times New Roman"/>
                <a:cs typeface="Times New Roman"/>
              </a:rPr>
              <a:t> </a:t>
            </a:r>
            <a:r>
              <a:rPr sz="2300" spc="15" dirty="0">
                <a:latin typeface="Symbol"/>
                <a:cs typeface="Symbol"/>
              </a:rPr>
              <a:t></a:t>
            </a:r>
            <a:r>
              <a:rPr sz="2300" spc="35" dirty="0">
                <a:latin typeface="Times New Roman"/>
                <a:cs typeface="Times New Roman"/>
              </a:rPr>
              <a:t> </a:t>
            </a:r>
            <a:r>
              <a:rPr sz="2450" i="1" spc="-65" dirty="0">
                <a:latin typeface="Symbol"/>
                <a:cs typeface="Symbol"/>
              </a:rPr>
              <a:t></a:t>
            </a:r>
            <a:r>
              <a:rPr sz="2450" dirty="0">
                <a:latin typeface="Times New Roman"/>
                <a:cs typeface="Times New Roman"/>
              </a:rPr>
              <a:t>	</a:t>
            </a:r>
            <a:r>
              <a:rPr sz="2300" spc="15" dirty="0">
                <a:latin typeface="Symbol"/>
                <a:cs typeface="Symbol"/>
              </a:rPr>
              <a:t></a:t>
            </a:r>
            <a:r>
              <a:rPr sz="2300" spc="-60" dirty="0">
                <a:latin typeface="Times New Roman"/>
                <a:cs typeface="Times New Roman"/>
              </a:rPr>
              <a:t> </a:t>
            </a:r>
            <a:r>
              <a:rPr sz="2450" i="1" spc="-65" dirty="0">
                <a:latin typeface="Symbol"/>
                <a:cs typeface="Symbol"/>
              </a:rPr>
              <a:t></a:t>
            </a:r>
            <a:r>
              <a:rPr sz="2450" spc="145" dirty="0">
                <a:latin typeface="Times New Roman"/>
                <a:cs typeface="Times New Roman"/>
              </a:rPr>
              <a:t> </a:t>
            </a:r>
            <a:r>
              <a:rPr sz="2300" i="1" spc="15" dirty="0">
                <a:latin typeface="Times New Roman"/>
                <a:cs typeface="Times New Roman"/>
              </a:rPr>
              <a:t>g</a:t>
            </a:r>
            <a:r>
              <a:rPr sz="2300" i="1" spc="-5" dirty="0">
                <a:latin typeface="Times New Roman"/>
                <a:cs typeface="Times New Roman"/>
              </a:rPr>
              <a:t> </a:t>
            </a:r>
            <a:r>
              <a:rPr sz="2300" spc="15" dirty="0">
                <a:latin typeface="Symbol"/>
                <a:cs typeface="Symbol"/>
              </a:rPr>
              <a:t></a:t>
            </a:r>
            <a:r>
              <a:rPr sz="2300" spc="-60" dirty="0">
                <a:latin typeface="Times New Roman"/>
                <a:cs typeface="Times New Roman"/>
              </a:rPr>
              <a:t> </a:t>
            </a:r>
            <a:r>
              <a:rPr sz="2450" i="1" spc="-65" dirty="0">
                <a:latin typeface="Symbol"/>
                <a:cs typeface="Symbol"/>
              </a:rPr>
              <a:t></a:t>
            </a:r>
            <a:r>
              <a:rPr sz="2450" dirty="0">
                <a:latin typeface="Times New Roman"/>
                <a:cs typeface="Times New Roman"/>
              </a:rPr>
              <a:t> </a:t>
            </a:r>
            <a:r>
              <a:rPr sz="2450" spc="-240" dirty="0">
                <a:latin typeface="Times New Roman"/>
                <a:cs typeface="Times New Roman"/>
              </a:rPr>
              <a:t> </a:t>
            </a:r>
            <a:r>
              <a:rPr sz="2300" i="1" spc="195" dirty="0">
                <a:latin typeface="Times New Roman"/>
                <a:cs typeface="Times New Roman"/>
              </a:rPr>
              <a:t>I</a:t>
            </a:r>
            <a:r>
              <a:rPr sz="2300" spc="175" dirty="0">
                <a:latin typeface="Times New Roman"/>
                <a:cs typeface="Times New Roman"/>
              </a:rPr>
              <a:t>[</a:t>
            </a:r>
            <a:r>
              <a:rPr sz="2300" i="1" spc="15" dirty="0">
                <a:latin typeface="Times New Roman"/>
                <a:cs typeface="Times New Roman"/>
              </a:rPr>
              <a:t>g</a:t>
            </a:r>
            <a:r>
              <a:rPr sz="2300" i="1" spc="120" dirty="0">
                <a:latin typeface="Times New Roman"/>
                <a:cs typeface="Times New Roman"/>
              </a:rPr>
              <a:t> </a:t>
            </a:r>
            <a:r>
              <a:rPr sz="2300" spc="15" dirty="0">
                <a:latin typeface="Symbol"/>
                <a:cs typeface="Symbol"/>
              </a:rPr>
              <a:t></a:t>
            </a:r>
            <a:r>
              <a:rPr sz="2300" spc="-20" dirty="0">
                <a:latin typeface="Times New Roman"/>
                <a:cs typeface="Times New Roman"/>
              </a:rPr>
              <a:t> </a:t>
            </a:r>
            <a:r>
              <a:rPr sz="2300" spc="45" dirty="0">
                <a:latin typeface="Times New Roman"/>
                <a:cs typeface="Times New Roman"/>
              </a:rPr>
              <a:t>2</a:t>
            </a:r>
            <a:r>
              <a:rPr sz="2300" spc="10" dirty="0">
                <a:latin typeface="Times New Roman"/>
                <a:cs typeface="Times New Roman"/>
              </a:rPr>
              <a:t>]</a:t>
            </a:r>
            <a:r>
              <a:rPr sz="2300" spc="-254" dirty="0">
                <a:latin typeface="Times New Roman"/>
                <a:cs typeface="Times New Roman"/>
              </a:rPr>
              <a:t> </a:t>
            </a:r>
            <a:r>
              <a:rPr sz="2300" spc="15" dirty="0">
                <a:latin typeface="Symbol"/>
                <a:cs typeface="Symbol"/>
              </a:rPr>
              <a:t></a:t>
            </a:r>
            <a:r>
              <a:rPr sz="2300" spc="-60" dirty="0">
                <a:latin typeface="Times New Roman"/>
                <a:cs typeface="Times New Roman"/>
              </a:rPr>
              <a:t> </a:t>
            </a:r>
            <a:r>
              <a:rPr sz="2450" i="1" spc="-65" dirty="0">
                <a:latin typeface="Symbol"/>
                <a:cs typeface="Symbol"/>
              </a:rPr>
              <a:t></a:t>
            </a:r>
            <a:r>
              <a:rPr sz="2450" dirty="0">
                <a:latin typeface="Times New Roman"/>
                <a:cs typeface="Times New Roman"/>
              </a:rPr>
              <a:t> </a:t>
            </a:r>
            <a:r>
              <a:rPr sz="2450" spc="-300" dirty="0">
                <a:latin typeface="Times New Roman"/>
                <a:cs typeface="Times New Roman"/>
              </a:rPr>
              <a:t> </a:t>
            </a:r>
            <a:r>
              <a:rPr sz="2300" i="1" spc="15" dirty="0">
                <a:latin typeface="Times New Roman"/>
                <a:cs typeface="Times New Roman"/>
              </a:rPr>
              <a:t>x</a:t>
            </a:r>
            <a:endParaRPr sz="2300">
              <a:latin typeface="Times New Roman"/>
              <a:cs typeface="Times New Roman"/>
            </a:endParaRPr>
          </a:p>
        </p:txBody>
      </p:sp>
      <p:sp>
        <p:nvSpPr>
          <p:cNvPr id="48" name="object 7"/>
          <p:cNvSpPr txBox="1"/>
          <p:nvPr/>
        </p:nvSpPr>
        <p:spPr>
          <a:xfrm>
            <a:off x="1672185" y="3043583"/>
            <a:ext cx="2167890" cy="381635"/>
          </a:xfrm>
          <a:prstGeom prst="rect">
            <a:avLst/>
          </a:prstGeom>
        </p:spPr>
        <p:txBody>
          <a:bodyPr vert="horz" wrap="square" lIns="0" tIns="17145" rIns="0" bIns="0" rtlCol="0">
            <a:spAutoFit/>
          </a:bodyPr>
          <a:lstStyle/>
          <a:p>
            <a:pPr marL="12700">
              <a:lnSpc>
                <a:spcPct val="100000"/>
              </a:lnSpc>
              <a:spcBef>
                <a:spcPts val="135"/>
              </a:spcBef>
              <a:tabLst>
                <a:tab pos="2040889" algn="l"/>
              </a:tabLst>
            </a:pPr>
            <a:r>
              <a:rPr sz="2300" spc="10" dirty="0">
                <a:latin typeface="Symbol"/>
                <a:cs typeface="Symbol"/>
              </a:rPr>
              <a:t></a:t>
            </a:r>
            <a:r>
              <a:rPr sz="2300" spc="10" dirty="0">
                <a:latin typeface="Times New Roman"/>
                <a:cs typeface="Times New Roman"/>
              </a:rPr>
              <a:t>	</a:t>
            </a:r>
            <a:r>
              <a:rPr sz="2300" spc="10" dirty="0">
                <a:latin typeface="Symbol"/>
                <a:cs typeface="Symbol"/>
              </a:rPr>
              <a:t></a:t>
            </a:r>
            <a:endParaRPr sz="2300">
              <a:latin typeface="Symbol"/>
              <a:cs typeface="Symbol"/>
            </a:endParaRPr>
          </a:p>
        </p:txBody>
      </p:sp>
      <p:sp>
        <p:nvSpPr>
          <p:cNvPr id="49" name="object 8"/>
          <p:cNvSpPr txBox="1"/>
          <p:nvPr/>
        </p:nvSpPr>
        <p:spPr>
          <a:xfrm>
            <a:off x="1267667" y="2748099"/>
            <a:ext cx="569595" cy="381635"/>
          </a:xfrm>
          <a:prstGeom prst="rect">
            <a:avLst/>
          </a:prstGeom>
        </p:spPr>
        <p:txBody>
          <a:bodyPr vert="horz" wrap="square" lIns="0" tIns="17145" rIns="0" bIns="0" rtlCol="0">
            <a:spAutoFit/>
          </a:bodyPr>
          <a:lstStyle/>
          <a:p>
            <a:pPr marL="38100">
              <a:lnSpc>
                <a:spcPct val="100000"/>
              </a:lnSpc>
              <a:spcBef>
                <a:spcPts val="135"/>
              </a:spcBef>
            </a:pPr>
            <a:r>
              <a:rPr sz="2300" spc="10" dirty="0">
                <a:latin typeface="Times New Roman"/>
                <a:cs typeface="Times New Roman"/>
              </a:rPr>
              <a:t>log</a:t>
            </a:r>
            <a:r>
              <a:rPr sz="3450" spc="15" baseline="36231" dirty="0">
                <a:latin typeface="Symbol"/>
                <a:cs typeface="Symbol"/>
              </a:rPr>
              <a:t></a:t>
            </a:r>
            <a:endParaRPr sz="3450" baseline="36231">
              <a:latin typeface="Symbol"/>
              <a:cs typeface="Symbol"/>
            </a:endParaRPr>
          </a:p>
        </p:txBody>
      </p:sp>
      <p:sp>
        <p:nvSpPr>
          <p:cNvPr id="50" name="object 9"/>
          <p:cNvSpPr txBox="1"/>
          <p:nvPr/>
        </p:nvSpPr>
        <p:spPr>
          <a:xfrm>
            <a:off x="1672185" y="2751659"/>
            <a:ext cx="2167890" cy="608330"/>
          </a:xfrm>
          <a:prstGeom prst="rect">
            <a:avLst/>
          </a:prstGeom>
        </p:spPr>
        <p:txBody>
          <a:bodyPr vert="horz" wrap="square" lIns="0" tIns="17145" rIns="0" bIns="0" rtlCol="0">
            <a:spAutoFit/>
          </a:bodyPr>
          <a:lstStyle/>
          <a:p>
            <a:pPr marL="12700">
              <a:lnSpc>
                <a:spcPts val="2270"/>
              </a:lnSpc>
              <a:spcBef>
                <a:spcPts val="135"/>
              </a:spcBef>
              <a:tabLst>
                <a:tab pos="2040889" algn="l"/>
              </a:tabLst>
            </a:pPr>
            <a:r>
              <a:rPr sz="2300" b="1" spc="10" dirty="0">
                <a:latin typeface="Symbol"/>
                <a:cs typeface="Symbol"/>
              </a:rPr>
              <a:t></a:t>
            </a:r>
            <a:r>
              <a:rPr sz="2300" spc="10" dirty="0">
                <a:latin typeface="Times New Roman"/>
                <a:cs typeface="Times New Roman"/>
              </a:rPr>
              <a:t>	</a:t>
            </a:r>
            <a:r>
              <a:rPr sz="2300" b="1" spc="10" dirty="0">
                <a:latin typeface="Symbol"/>
                <a:cs typeface="Symbol"/>
              </a:rPr>
              <a:t></a:t>
            </a:r>
            <a:endParaRPr sz="2300" dirty="0">
              <a:latin typeface="Symbol"/>
              <a:cs typeface="Symbol"/>
            </a:endParaRPr>
          </a:p>
          <a:p>
            <a:pPr marL="156210">
              <a:lnSpc>
                <a:spcPts val="2270"/>
              </a:lnSpc>
            </a:pPr>
            <a:r>
              <a:rPr sz="2300" spc="15" dirty="0">
                <a:latin typeface="Times New Roman"/>
                <a:cs typeface="Times New Roman"/>
              </a:rPr>
              <a:t>1</a:t>
            </a:r>
            <a:r>
              <a:rPr sz="2300" spc="-320" dirty="0">
                <a:latin typeface="Times New Roman"/>
                <a:cs typeface="Times New Roman"/>
              </a:rPr>
              <a:t> </a:t>
            </a:r>
            <a:r>
              <a:rPr sz="2300" spc="15" dirty="0">
                <a:latin typeface="Symbol"/>
                <a:cs typeface="Symbol"/>
              </a:rPr>
              <a:t></a:t>
            </a:r>
            <a:r>
              <a:rPr sz="2300" spc="-55" dirty="0">
                <a:latin typeface="Times New Roman"/>
                <a:cs typeface="Times New Roman"/>
              </a:rPr>
              <a:t> </a:t>
            </a:r>
            <a:r>
              <a:rPr sz="2300" i="1" spc="85" dirty="0">
                <a:latin typeface="Times New Roman"/>
                <a:cs typeface="Times New Roman"/>
              </a:rPr>
              <a:t>P</a:t>
            </a:r>
            <a:r>
              <a:rPr sz="2300" spc="-60" dirty="0">
                <a:latin typeface="Times New Roman"/>
                <a:cs typeface="Times New Roman"/>
              </a:rPr>
              <a:t>(</a:t>
            </a:r>
            <a:r>
              <a:rPr sz="2300" i="1" spc="15" dirty="0">
                <a:latin typeface="Times New Roman"/>
                <a:cs typeface="Times New Roman"/>
              </a:rPr>
              <a:t>Y</a:t>
            </a:r>
            <a:r>
              <a:rPr sz="2300" i="1" dirty="0">
                <a:latin typeface="Times New Roman"/>
                <a:cs typeface="Times New Roman"/>
              </a:rPr>
              <a:t> </a:t>
            </a:r>
            <a:r>
              <a:rPr sz="2300" i="1" spc="-245" dirty="0">
                <a:latin typeface="Times New Roman"/>
                <a:cs typeface="Times New Roman"/>
              </a:rPr>
              <a:t> </a:t>
            </a:r>
            <a:r>
              <a:rPr sz="2300" spc="15" dirty="0">
                <a:latin typeface="Symbol"/>
                <a:cs typeface="Symbol"/>
              </a:rPr>
              <a:t></a:t>
            </a:r>
            <a:r>
              <a:rPr sz="2300" spc="-25" dirty="0">
                <a:latin typeface="Times New Roman"/>
                <a:cs typeface="Times New Roman"/>
              </a:rPr>
              <a:t> </a:t>
            </a:r>
            <a:r>
              <a:rPr sz="2300" i="1" spc="15" dirty="0">
                <a:latin typeface="Times New Roman"/>
                <a:cs typeface="Times New Roman"/>
              </a:rPr>
              <a:t>cas</a:t>
            </a:r>
            <a:r>
              <a:rPr sz="2300" i="1" spc="65" dirty="0">
                <a:latin typeface="Times New Roman"/>
                <a:cs typeface="Times New Roman"/>
              </a:rPr>
              <a:t>e</a:t>
            </a:r>
            <a:r>
              <a:rPr sz="2300" spc="10" dirty="0">
                <a:latin typeface="Times New Roman"/>
                <a:cs typeface="Times New Roman"/>
              </a:rPr>
              <a:t>)</a:t>
            </a:r>
            <a:endParaRPr sz="2300" dirty="0">
              <a:latin typeface="Times New Roman"/>
              <a:cs typeface="Times New Roman"/>
            </a:endParaRPr>
          </a:p>
        </p:txBody>
      </p:sp>
      <p:sp>
        <p:nvSpPr>
          <p:cNvPr id="51" name="object 10"/>
          <p:cNvSpPr txBox="1"/>
          <p:nvPr/>
        </p:nvSpPr>
        <p:spPr>
          <a:xfrm>
            <a:off x="2039392" y="2562976"/>
            <a:ext cx="1451610" cy="381635"/>
          </a:xfrm>
          <a:prstGeom prst="rect">
            <a:avLst/>
          </a:prstGeom>
        </p:spPr>
        <p:txBody>
          <a:bodyPr vert="horz" wrap="square" lIns="0" tIns="17145" rIns="0" bIns="0" rtlCol="0">
            <a:spAutoFit/>
          </a:bodyPr>
          <a:lstStyle/>
          <a:p>
            <a:pPr marL="12700">
              <a:lnSpc>
                <a:spcPct val="100000"/>
              </a:lnSpc>
              <a:spcBef>
                <a:spcPts val="135"/>
              </a:spcBef>
            </a:pPr>
            <a:r>
              <a:rPr sz="2300" i="1" spc="10" dirty="0">
                <a:latin typeface="Times New Roman"/>
                <a:cs typeface="Times New Roman"/>
              </a:rPr>
              <a:t>P</a:t>
            </a:r>
            <a:r>
              <a:rPr sz="2300" spc="10" dirty="0">
                <a:latin typeface="Times New Roman"/>
                <a:cs typeface="Times New Roman"/>
              </a:rPr>
              <a:t>(</a:t>
            </a:r>
            <a:r>
              <a:rPr sz="2300" i="1" spc="10" dirty="0">
                <a:latin typeface="Times New Roman"/>
                <a:cs typeface="Times New Roman"/>
              </a:rPr>
              <a:t>Y</a:t>
            </a:r>
            <a:r>
              <a:rPr sz="2300" i="1" spc="280" dirty="0">
                <a:latin typeface="Times New Roman"/>
                <a:cs typeface="Times New Roman"/>
              </a:rPr>
              <a:t> </a:t>
            </a:r>
            <a:r>
              <a:rPr sz="2300" spc="15" dirty="0">
                <a:latin typeface="Symbol"/>
                <a:cs typeface="Symbol"/>
              </a:rPr>
              <a:t></a:t>
            </a:r>
            <a:r>
              <a:rPr sz="2300" spc="-55" dirty="0">
                <a:latin typeface="Times New Roman"/>
                <a:cs typeface="Times New Roman"/>
              </a:rPr>
              <a:t> </a:t>
            </a:r>
            <a:r>
              <a:rPr sz="2300" i="1" spc="25" dirty="0">
                <a:latin typeface="Times New Roman"/>
                <a:cs typeface="Times New Roman"/>
              </a:rPr>
              <a:t>case</a:t>
            </a:r>
            <a:r>
              <a:rPr sz="2300" spc="25" dirty="0">
                <a:latin typeface="Times New Roman"/>
                <a:cs typeface="Times New Roman"/>
              </a:rPr>
              <a:t>)</a:t>
            </a:r>
            <a:endParaRPr sz="2300">
              <a:latin typeface="Times New Roman"/>
              <a:cs typeface="Times New Roman"/>
            </a:endParaRPr>
          </a:p>
        </p:txBody>
      </p:sp>
    </p:spTree>
    <p:extLst>
      <p:ext uri="{BB962C8B-B14F-4D97-AF65-F5344CB8AC3E}">
        <p14:creationId xmlns:p14="http://schemas.microsoft.com/office/powerpoint/2010/main" val="15538367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96122" y="57733"/>
            <a:ext cx="7741478"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smtClean="0">
                <a:latin typeface="Comic Sans MS" panose="030F0702030302020204" pitchFamily="66" charset="0"/>
                <a:cs typeface="Times New Roman" panose="02020603050405020304" pitchFamily="18" charset="0"/>
              </a:rPr>
              <a:t>Imputing Missing Genotypes</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437322" y="998920"/>
            <a:ext cx="8300278" cy="5627159"/>
          </a:xfrm>
        </p:spPr>
        <p:txBody>
          <a:bodyPr/>
          <a:lstStyle/>
          <a:p>
            <a:r>
              <a:rPr lang="en-ZA" sz="1800" b="1" dirty="0">
                <a:solidFill>
                  <a:srgbClr val="231F20"/>
                </a:solidFill>
                <a:latin typeface="Arial" panose="020B0604020202020204" pitchFamily="34" charset="0"/>
                <a:cs typeface="Arial" panose="020B0604020202020204" pitchFamily="34" charset="0"/>
              </a:rPr>
              <a:t>The imputation of missing genotype data has a number of important applications in GWA studies:</a:t>
            </a:r>
          </a:p>
          <a:p>
            <a:pPr marL="800100" lvl="1" indent="-342900">
              <a:buFont typeface="+mj-lt"/>
              <a:buAutoNum type="arabicPeriod"/>
            </a:pPr>
            <a:r>
              <a:rPr lang="en-ZA" sz="1800" b="1" dirty="0">
                <a:solidFill>
                  <a:srgbClr val="231F20"/>
                </a:solidFill>
                <a:latin typeface="Arial" panose="020B0604020202020204" pitchFamily="34" charset="0"/>
                <a:ea typeface="+mn-ea"/>
                <a:cs typeface="Arial" panose="020B0604020202020204" pitchFamily="34" charset="0"/>
              </a:rPr>
              <a:t>For any SNP, a number of probands will not have valid genotypes after quality control. These could be filled by using the information from the surrounding SNPs and the individuals who were successfully genotyped at the respective SNP.</a:t>
            </a:r>
          </a:p>
          <a:p>
            <a:pPr marL="800100" lvl="1" indent="-342900">
              <a:buFont typeface="+mj-lt"/>
              <a:buAutoNum type="arabicPeriod"/>
            </a:pPr>
            <a:r>
              <a:rPr lang="en-ZA" sz="1800" b="1" dirty="0">
                <a:solidFill>
                  <a:srgbClr val="231F20"/>
                </a:solidFill>
                <a:latin typeface="Arial" panose="020B0604020202020204" pitchFamily="34" charset="0"/>
                <a:ea typeface="+mn-ea"/>
                <a:cs typeface="Arial" panose="020B0604020202020204" pitchFamily="34" charset="0"/>
              </a:rPr>
              <a:t>Although being represented on the platform, a number of SNPs fail the quality control altogether. In this case, these can be imputed.</a:t>
            </a:r>
          </a:p>
          <a:p>
            <a:pPr marL="800100" lvl="1" indent="-342900">
              <a:buFont typeface="+mj-lt"/>
              <a:buAutoNum type="arabicPeriod"/>
            </a:pPr>
            <a:r>
              <a:rPr lang="en-ZA" sz="1800" b="1" dirty="0">
                <a:solidFill>
                  <a:srgbClr val="231F20"/>
                </a:solidFill>
                <a:latin typeface="Arial" panose="020B0604020202020204" pitchFamily="34" charset="0"/>
                <a:ea typeface="+mn-ea"/>
                <a:cs typeface="Arial" panose="020B0604020202020204" pitchFamily="34" charset="0"/>
              </a:rPr>
              <a:t>When comparing results from studies that have used different platforms, one might impute genotypes at SNPs that were not on the respective platform. This is especially useful if a meta-analysis is to be conducted.</a:t>
            </a:r>
          </a:p>
          <a:p>
            <a:r>
              <a:rPr lang="en-ZA" sz="1800" b="1" dirty="0">
                <a:solidFill>
                  <a:srgbClr val="231F20"/>
                </a:solidFill>
                <a:latin typeface="Arial" panose="020B0604020202020204" pitchFamily="34" charset="0"/>
                <a:cs typeface="Arial" panose="020B0604020202020204" pitchFamily="34" charset="0"/>
              </a:rPr>
              <a:t>The imputation of missing genotypes explicitly or implicitly relies on the accuracy of the haplotype estimates.</a:t>
            </a:r>
          </a:p>
          <a:p>
            <a:r>
              <a:rPr lang="en-ZA" sz="1800" b="1" dirty="0">
                <a:solidFill>
                  <a:srgbClr val="231F20"/>
                </a:solidFill>
                <a:latin typeface="Arial" panose="020B0604020202020204" pitchFamily="34" charset="0"/>
                <a:cs typeface="Arial" panose="020B0604020202020204" pitchFamily="34" charset="0"/>
              </a:rPr>
              <a:t>If the estimated imputation quality is low, the imputed data should be discarded altogether.</a:t>
            </a:r>
          </a:p>
          <a:p>
            <a:r>
              <a:rPr lang="en-ZA" sz="1800" b="1" dirty="0">
                <a:solidFill>
                  <a:srgbClr val="231F20"/>
                </a:solidFill>
                <a:latin typeface="Arial" panose="020B0604020202020204" pitchFamily="34" charset="0"/>
                <a:cs typeface="Arial" panose="020B0604020202020204" pitchFamily="34" charset="0"/>
              </a:rPr>
              <a:t>As a measure for imputation quality, the ratio of the empirically observed variance of allele dosage to the theoretically expected variance is used.</a:t>
            </a:r>
          </a:p>
        </p:txBody>
      </p:sp>
    </p:spTree>
    <p:extLst>
      <p:ext uri="{BB962C8B-B14F-4D97-AF65-F5344CB8AC3E}">
        <p14:creationId xmlns:p14="http://schemas.microsoft.com/office/powerpoint/2010/main" val="4298378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203200" y="57733"/>
            <a:ext cx="8940800"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gn="ctr">
              <a:lnSpc>
                <a:spcPct val="90000"/>
              </a:lnSpc>
              <a:spcBef>
                <a:spcPct val="55000"/>
              </a:spcBef>
              <a:spcAft>
                <a:spcPct val="45000"/>
              </a:spcAft>
            </a:pPr>
            <a:r>
              <a:rPr lang="en-US" altLang="en-US" sz="3600" dirty="0" smtClean="0">
                <a:latin typeface="Comic Sans MS" panose="030F0702030302020204" pitchFamily="66" charset="0"/>
                <a:cs typeface="Times New Roman" panose="02020603050405020304" pitchFamily="18" charset="0"/>
              </a:rPr>
              <a:t>Correction for </a:t>
            </a:r>
            <a:r>
              <a:rPr lang="en-US" altLang="en-US" sz="3600" dirty="0">
                <a:latin typeface="Comic Sans MS" panose="030F0702030302020204" pitchFamily="66" charset="0"/>
                <a:cs typeface="Times New Roman" panose="02020603050405020304" pitchFamily="18" charset="0"/>
              </a:rPr>
              <a:t>A</a:t>
            </a:r>
            <a:r>
              <a:rPr lang="en-US" altLang="en-US" sz="3600" dirty="0" smtClean="0">
                <a:latin typeface="Comic Sans MS" panose="030F0702030302020204" pitchFamily="66" charset="0"/>
                <a:cs typeface="Times New Roman" panose="02020603050405020304" pitchFamily="18" charset="0"/>
              </a:rPr>
              <a:t>ncestry in GWAS</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437322" y="998920"/>
            <a:ext cx="8300278" cy="5627159"/>
          </a:xfrm>
        </p:spPr>
        <p:txBody>
          <a:bodyPr/>
          <a:lstStyle/>
          <a:p>
            <a:r>
              <a:rPr lang="en-US" sz="1800" b="1" dirty="0">
                <a:solidFill>
                  <a:srgbClr val="231F20"/>
                </a:solidFill>
                <a:latin typeface="Arial" panose="020B0604020202020204" pitchFamily="34" charset="0"/>
                <a:cs typeface="Arial" panose="020B0604020202020204" pitchFamily="34" charset="0"/>
              </a:rPr>
              <a:t>T</a:t>
            </a:r>
            <a:r>
              <a:rPr lang="en-US" sz="1800" b="1" dirty="0" smtClean="0">
                <a:solidFill>
                  <a:srgbClr val="231F20"/>
                </a:solidFill>
                <a:latin typeface="Arial" panose="020B0604020202020204" pitchFamily="34" charset="0"/>
                <a:cs typeface="Arial" panose="020B0604020202020204" pitchFamily="34" charset="0"/>
              </a:rPr>
              <a:t>he </a:t>
            </a:r>
            <a:r>
              <a:rPr lang="en-US" sz="1800" b="1" dirty="0">
                <a:solidFill>
                  <a:srgbClr val="231F20"/>
                </a:solidFill>
                <a:latin typeface="Arial" panose="020B0604020202020204" pitchFamily="34" charset="0"/>
                <a:cs typeface="Arial" panose="020B0604020202020204" pitchFamily="34" charset="0"/>
              </a:rPr>
              <a:t>presence of population </a:t>
            </a:r>
            <a:r>
              <a:rPr lang="en-US" sz="1800" b="1" dirty="0" smtClean="0">
                <a:solidFill>
                  <a:srgbClr val="231F20"/>
                </a:solidFill>
                <a:latin typeface="Arial" panose="020B0604020202020204" pitchFamily="34" charset="0"/>
                <a:cs typeface="Arial" panose="020B0604020202020204" pitchFamily="34" charset="0"/>
              </a:rPr>
              <a:t>stratification </a:t>
            </a:r>
            <a:r>
              <a:rPr lang="en-US" sz="1800" b="1" dirty="0">
                <a:solidFill>
                  <a:srgbClr val="231F20"/>
                </a:solidFill>
                <a:latin typeface="Arial" panose="020B0604020202020204" pitchFamily="34" charset="0"/>
                <a:cs typeface="Arial" panose="020B0604020202020204" pitchFamily="34" charset="0"/>
              </a:rPr>
              <a:t>can increase false positives if ancestry is related to  disease </a:t>
            </a:r>
            <a:r>
              <a:rPr lang="en-US" sz="1800" b="1" dirty="0" smtClean="0">
                <a:solidFill>
                  <a:srgbClr val="231F20"/>
                </a:solidFill>
                <a:latin typeface="Arial" panose="020B0604020202020204" pitchFamily="34" charset="0"/>
                <a:cs typeface="Arial" panose="020B0604020202020204" pitchFamily="34" charset="0"/>
              </a:rPr>
              <a:t>risk.</a:t>
            </a:r>
          </a:p>
          <a:p>
            <a:r>
              <a:rPr lang="en-US" sz="1800" b="1" i="1" dirty="0" smtClean="0">
                <a:solidFill>
                  <a:schemeClr val="bg2"/>
                </a:solidFill>
                <a:latin typeface="Arial" panose="020B0604020202020204" pitchFamily="34" charset="0"/>
                <a:cs typeface="Arial" panose="020B0604020202020204" pitchFamily="34" charset="0"/>
              </a:rPr>
              <a:t>Known</a:t>
            </a:r>
            <a:r>
              <a:rPr lang="en-US" sz="1800" b="1" i="1" spc="-40" dirty="0" smtClean="0">
                <a:solidFill>
                  <a:schemeClr val="bg2"/>
                </a:solidFill>
                <a:latin typeface="Arial" panose="020B0604020202020204" pitchFamily="34" charset="0"/>
                <a:cs typeface="Arial" panose="020B0604020202020204" pitchFamily="34" charset="0"/>
              </a:rPr>
              <a:t> </a:t>
            </a:r>
            <a:r>
              <a:rPr lang="en-US" sz="1800" b="1" i="1" dirty="0" smtClean="0">
                <a:solidFill>
                  <a:schemeClr val="bg2"/>
                </a:solidFill>
                <a:latin typeface="Arial" panose="020B0604020202020204" pitchFamily="34" charset="0"/>
                <a:cs typeface="Arial" panose="020B0604020202020204" pitchFamily="34" charset="0"/>
              </a:rPr>
              <a:t>covariate: </a:t>
            </a:r>
            <a:r>
              <a:rPr lang="en-US" sz="1800" b="1" dirty="0" smtClean="0">
                <a:solidFill>
                  <a:schemeClr val="bg2"/>
                </a:solidFill>
                <a:latin typeface="Arial" panose="020B0604020202020204" pitchFamily="34" charset="0"/>
                <a:cs typeface="Arial" panose="020B0604020202020204" pitchFamily="34" charset="0"/>
              </a:rPr>
              <a:t>Include</a:t>
            </a:r>
            <a:r>
              <a:rPr lang="en-US" sz="1800" b="1" spc="-20" dirty="0" smtClean="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known/presumed/reported</a:t>
            </a:r>
            <a:r>
              <a:rPr lang="en-US" sz="1800" b="1" spc="-40" dirty="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ancestry</a:t>
            </a:r>
            <a:r>
              <a:rPr lang="en-US" sz="1800" b="1" spc="-25" dirty="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as</a:t>
            </a:r>
            <a:r>
              <a:rPr lang="en-US" sz="1800" b="1" spc="-25" dirty="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a </a:t>
            </a:r>
            <a:r>
              <a:rPr lang="en-US" sz="1800" b="1" spc="-535" dirty="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covariate</a:t>
            </a:r>
            <a:r>
              <a:rPr lang="en-US" sz="1800" b="1" spc="-20" dirty="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in a regression</a:t>
            </a:r>
            <a:r>
              <a:rPr lang="en-US" sz="1800" b="1" spc="-20" dirty="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model.	</a:t>
            </a:r>
            <a:endParaRPr lang="en-US" sz="1800" b="1" dirty="0" smtClean="0">
              <a:solidFill>
                <a:schemeClr val="bg2"/>
              </a:solidFill>
              <a:latin typeface="Arial" panose="020B0604020202020204" pitchFamily="34" charset="0"/>
              <a:cs typeface="Arial" panose="020B0604020202020204" pitchFamily="34" charset="0"/>
            </a:endParaRPr>
          </a:p>
          <a:p>
            <a:r>
              <a:rPr lang="en-US" sz="1800" b="1" dirty="0" smtClean="0">
                <a:solidFill>
                  <a:schemeClr val="bg2"/>
                </a:solidFill>
                <a:latin typeface="Arial" panose="020B0604020202020204" pitchFamily="34" charset="0"/>
                <a:cs typeface="Arial" panose="020B0604020202020204" pitchFamily="34" charset="0"/>
              </a:rPr>
              <a:t>For </a:t>
            </a:r>
            <a:r>
              <a:rPr lang="en-US" sz="1800" b="1" dirty="0">
                <a:solidFill>
                  <a:schemeClr val="bg2"/>
                </a:solidFill>
                <a:latin typeface="Arial" panose="020B0604020202020204" pitchFamily="34" charset="0"/>
                <a:cs typeface="Arial" panose="020B0604020202020204" pitchFamily="34" charset="0"/>
              </a:rPr>
              <a:t>example, in a logistic </a:t>
            </a:r>
            <a:r>
              <a:rPr lang="en-US" sz="1800" b="1" spc="5" dirty="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regression model, where case/control status is the response, and </a:t>
            </a:r>
            <a:r>
              <a:rPr lang="en-US" sz="1800" b="1" spc="5" dirty="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genotype for the current SNP is a </a:t>
            </a:r>
            <a:r>
              <a:rPr lang="en-US" sz="1800" b="1" spc="-10" dirty="0">
                <a:solidFill>
                  <a:schemeClr val="bg2"/>
                </a:solidFill>
                <a:latin typeface="Arial" panose="020B0604020202020204" pitchFamily="34" charset="0"/>
                <a:cs typeface="Arial" panose="020B0604020202020204" pitchFamily="34" charset="0"/>
              </a:rPr>
              <a:t>predictor, </a:t>
            </a:r>
            <a:r>
              <a:rPr lang="en-US" sz="1800" b="1" dirty="0">
                <a:solidFill>
                  <a:schemeClr val="bg2"/>
                </a:solidFill>
                <a:latin typeface="Arial" panose="020B0604020202020204" pitchFamily="34" charset="0"/>
                <a:cs typeface="Arial" panose="020B0604020202020204" pitchFamily="34" charset="0"/>
              </a:rPr>
              <a:t>along with ancestry </a:t>
            </a:r>
            <a:r>
              <a:rPr lang="en-US" sz="1800" b="1" spc="5" dirty="0">
                <a:solidFill>
                  <a:schemeClr val="bg2"/>
                </a:solidFill>
                <a:latin typeface="Arial" panose="020B0604020202020204" pitchFamily="34" charset="0"/>
                <a:cs typeface="Arial" panose="020B0604020202020204" pitchFamily="34" charset="0"/>
              </a:rPr>
              <a:t> </a:t>
            </a:r>
            <a:r>
              <a:rPr lang="en-US" sz="1800" b="1" dirty="0" smtClean="0">
                <a:solidFill>
                  <a:schemeClr val="bg2"/>
                </a:solidFill>
                <a:latin typeface="Arial" panose="020B0604020202020204" pitchFamily="34" charset="0"/>
                <a:cs typeface="Arial" panose="020B0604020202020204" pitchFamily="34" charset="0"/>
              </a:rPr>
              <a:t>covariate.</a:t>
            </a:r>
          </a:p>
          <a:p>
            <a:r>
              <a:rPr lang="en-US" sz="1800" b="1" i="1" dirty="0" smtClean="0">
                <a:solidFill>
                  <a:schemeClr val="bg2"/>
                </a:solidFill>
                <a:latin typeface="Arial" panose="020B0604020202020204" pitchFamily="34" charset="0"/>
                <a:cs typeface="Arial" panose="020B0604020202020204" pitchFamily="34" charset="0"/>
              </a:rPr>
              <a:t>Genomic </a:t>
            </a:r>
            <a:r>
              <a:rPr lang="en-US" sz="1800" b="1" i="1" spc="-10" dirty="0" smtClean="0">
                <a:solidFill>
                  <a:schemeClr val="bg2"/>
                </a:solidFill>
                <a:latin typeface="Arial" panose="020B0604020202020204" pitchFamily="34" charset="0"/>
                <a:cs typeface="Arial" panose="020B0604020202020204" pitchFamily="34" charset="0"/>
              </a:rPr>
              <a:t>control:  </a:t>
            </a:r>
            <a:r>
              <a:rPr lang="en-US" sz="1800" b="1" dirty="0">
                <a:solidFill>
                  <a:schemeClr val="bg2"/>
                </a:solidFill>
                <a:latin typeface="Arial" panose="020B0604020202020204" pitchFamily="34" charset="0"/>
                <a:cs typeface="Arial" panose="020B0604020202020204" pitchFamily="34" charset="0"/>
              </a:rPr>
              <a:t>Looking overall at the set of statistics, we </a:t>
            </a:r>
            <a:r>
              <a:rPr lang="en-US" sz="1800" b="1" spc="5" dirty="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“deflate”</a:t>
            </a:r>
            <a:r>
              <a:rPr lang="en-US" sz="1800" b="1" spc="-15" dirty="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them to account</a:t>
            </a:r>
            <a:r>
              <a:rPr lang="en-US" sz="1800" b="1" spc="-20" dirty="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for</a:t>
            </a:r>
            <a:r>
              <a:rPr lang="en-US" sz="1800" b="1" spc="10" dirty="0">
                <a:solidFill>
                  <a:schemeClr val="bg2"/>
                </a:solidFill>
                <a:latin typeface="Arial" panose="020B0604020202020204" pitchFamily="34" charset="0"/>
                <a:cs typeface="Arial" panose="020B0604020202020204" pitchFamily="34" charset="0"/>
              </a:rPr>
              <a:t> </a:t>
            </a:r>
            <a:r>
              <a:rPr lang="en-US" sz="1800" b="1" dirty="0" smtClean="0">
                <a:solidFill>
                  <a:schemeClr val="bg2"/>
                </a:solidFill>
                <a:latin typeface="Arial" panose="020B0604020202020204" pitchFamily="34" charset="0"/>
                <a:cs typeface="Arial" panose="020B0604020202020204" pitchFamily="34" charset="0"/>
              </a:rPr>
              <a:t>inflation. </a:t>
            </a:r>
          </a:p>
          <a:p>
            <a:r>
              <a:rPr lang="en-US" sz="1800" b="1" dirty="0" smtClean="0">
                <a:solidFill>
                  <a:schemeClr val="bg2"/>
                </a:solidFill>
                <a:latin typeface="Arial" panose="020B0604020202020204" pitchFamily="34" charset="0"/>
                <a:cs typeface="Arial" panose="020B0604020202020204" pitchFamily="34" charset="0"/>
              </a:rPr>
              <a:t>For </a:t>
            </a:r>
            <a:r>
              <a:rPr lang="en-US" sz="1800" b="1" dirty="0">
                <a:solidFill>
                  <a:schemeClr val="bg2"/>
                </a:solidFill>
                <a:latin typeface="Arial" panose="020B0604020202020204" pitchFamily="34" charset="0"/>
                <a:cs typeface="Arial" panose="020B0604020202020204" pitchFamily="34" charset="0"/>
              </a:rPr>
              <a:t>example, the mean of a </a:t>
            </a:r>
            <a:r>
              <a:rPr lang="en-US" sz="1800" b="1" spc="5" dirty="0">
                <a:solidFill>
                  <a:schemeClr val="bg2"/>
                </a:solidFill>
                <a:latin typeface="Arial" panose="020B0604020202020204" pitchFamily="34" charset="0"/>
                <a:cs typeface="Arial" panose="020B0604020202020204" pitchFamily="34" charset="0"/>
              </a:rPr>
              <a:t> </a:t>
            </a:r>
            <a:r>
              <a:rPr lang="en-US" sz="1800" b="1" dirty="0" smtClean="0">
                <a:solidFill>
                  <a:schemeClr val="bg2"/>
                </a:solidFill>
                <a:latin typeface="Arial" panose="020B0604020202020204" pitchFamily="34" charset="0"/>
                <a:cs typeface="Arial" panose="020B0604020202020204" pitchFamily="34" charset="0"/>
              </a:rPr>
              <a:t>chi-squared</a:t>
            </a:r>
            <a:r>
              <a:rPr lang="en-US" sz="1800" b="1" spc="-30" dirty="0" smtClean="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statistic</a:t>
            </a:r>
            <a:r>
              <a:rPr lang="en-US" sz="1800" b="1" spc="-5" dirty="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with</a:t>
            </a:r>
            <a:r>
              <a:rPr lang="en-US" sz="1800" b="1" spc="-5" dirty="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1</a:t>
            </a:r>
            <a:r>
              <a:rPr lang="en-US" sz="1800" b="1" spc="-5" dirty="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degree</a:t>
            </a:r>
            <a:r>
              <a:rPr lang="en-US" sz="1800" b="1" spc="-5" dirty="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of</a:t>
            </a:r>
            <a:r>
              <a:rPr lang="en-US" sz="1800" b="1" spc="5" dirty="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freedom</a:t>
            </a:r>
            <a:r>
              <a:rPr lang="en-US" sz="1800" b="1" spc="5" dirty="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is</a:t>
            </a:r>
            <a:r>
              <a:rPr lang="en-US" sz="1800" b="1" spc="-5" dirty="0">
                <a:solidFill>
                  <a:schemeClr val="bg2"/>
                </a:solidFill>
                <a:latin typeface="Arial" panose="020B0604020202020204" pitchFamily="34" charset="0"/>
                <a:cs typeface="Arial" panose="020B0604020202020204" pitchFamily="34" charset="0"/>
              </a:rPr>
              <a:t> </a:t>
            </a:r>
            <a:r>
              <a:rPr lang="en-US" sz="1800" b="1" dirty="0" smtClean="0">
                <a:solidFill>
                  <a:schemeClr val="bg2"/>
                </a:solidFill>
                <a:latin typeface="Arial" panose="020B0604020202020204" pitchFamily="34" charset="0"/>
                <a:cs typeface="Arial" panose="020B0604020202020204" pitchFamily="34" charset="0"/>
              </a:rPr>
              <a:t>1.0. So</a:t>
            </a:r>
            <a:r>
              <a:rPr lang="en-US" sz="1800" b="1" spc="-55" dirty="0" smtClean="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we</a:t>
            </a:r>
            <a:r>
              <a:rPr lang="en-US" sz="1800" b="1" spc="-55" dirty="0">
                <a:solidFill>
                  <a:schemeClr val="bg2"/>
                </a:solidFill>
                <a:latin typeface="Arial" panose="020B0604020202020204" pitchFamily="34" charset="0"/>
                <a:cs typeface="Arial" panose="020B0604020202020204" pitchFamily="34" charset="0"/>
              </a:rPr>
              <a:t> </a:t>
            </a:r>
            <a:r>
              <a:rPr lang="en-US" sz="1800" b="1" dirty="0">
                <a:solidFill>
                  <a:schemeClr val="bg2"/>
                </a:solidFill>
                <a:latin typeface="Arial" panose="020B0604020202020204" pitchFamily="34" charset="0"/>
                <a:cs typeface="Arial" panose="020B0604020202020204" pitchFamily="34" charset="0"/>
              </a:rPr>
              <a:t>compute</a:t>
            </a:r>
          </a:p>
          <a:p>
            <a:endParaRPr lang="en-US" sz="1800" dirty="0" smtClean="0">
              <a:solidFill>
                <a:schemeClr val="bg2"/>
              </a:solidFill>
              <a:latin typeface="Arial" panose="020B0604020202020204" pitchFamily="34" charset="0"/>
              <a:cs typeface="Arial" panose="020B0604020202020204" pitchFamily="34" charset="0"/>
            </a:endParaRPr>
          </a:p>
          <a:p>
            <a:pPr marL="0" indent="0">
              <a:buNone/>
            </a:pPr>
            <a:r>
              <a:rPr lang="en-US" sz="2000" i="1" spc="-65" dirty="0" smtClean="0">
                <a:latin typeface="Symbol"/>
                <a:cs typeface="Symbol"/>
              </a:rPr>
              <a:t>                                  </a:t>
            </a:r>
            <a:r>
              <a:rPr lang="en-US" sz="2000" b="1" i="1" spc="-65" dirty="0" smtClean="0">
                <a:solidFill>
                  <a:schemeClr val="bg2"/>
                </a:solidFill>
                <a:latin typeface="Symbol"/>
                <a:cs typeface="Symbol"/>
              </a:rPr>
              <a:t></a:t>
            </a:r>
            <a:r>
              <a:rPr lang="en-US" sz="2000" b="1" i="1" spc="75" dirty="0" smtClean="0">
                <a:solidFill>
                  <a:schemeClr val="bg2"/>
                </a:solidFill>
                <a:cs typeface="Times New Roman"/>
              </a:rPr>
              <a:t> </a:t>
            </a:r>
            <a:r>
              <a:rPr lang="en-US" sz="1800" b="1" spc="15" dirty="0">
                <a:solidFill>
                  <a:schemeClr val="bg2"/>
                </a:solidFill>
                <a:latin typeface="Symbol"/>
                <a:cs typeface="Symbol"/>
              </a:rPr>
              <a:t></a:t>
            </a:r>
            <a:r>
              <a:rPr lang="en-US" sz="1800" b="1" spc="-60" dirty="0">
                <a:solidFill>
                  <a:schemeClr val="bg2"/>
                </a:solidFill>
                <a:cs typeface="Times New Roman"/>
              </a:rPr>
              <a:t> </a:t>
            </a:r>
            <a:r>
              <a:rPr lang="en-US" sz="1800" b="1" i="1" spc="30" dirty="0">
                <a:solidFill>
                  <a:schemeClr val="bg2"/>
                </a:solidFill>
                <a:cs typeface="Times New Roman"/>
              </a:rPr>
              <a:t>mean</a:t>
            </a:r>
            <a:r>
              <a:rPr lang="en-US" sz="1800" b="1" spc="30" dirty="0">
                <a:solidFill>
                  <a:schemeClr val="bg2"/>
                </a:solidFill>
                <a:cs typeface="Times New Roman"/>
              </a:rPr>
              <a:t>(</a:t>
            </a:r>
            <a:r>
              <a:rPr lang="en-US" sz="1800" b="1" i="1" spc="30" dirty="0">
                <a:solidFill>
                  <a:schemeClr val="bg2"/>
                </a:solidFill>
                <a:cs typeface="Times New Roman"/>
              </a:rPr>
              <a:t>statistics</a:t>
            </a:r>
            <a:r>
              <a:rPr lang="en-US" sz="1800" b="1" spc="30" dirty="0">
                <a:solidFill>
                  <a:schemeClr val="bg2"/>
                </a:solidFill>
                <a:cs typeface="Times New Roman"/>
              </a:rPr>
              <a:t>)</a:t>
            </a:r>
            <a:endParaRPr lang="en-US" sz="1800" b="1" dirty="0">
              <a:solidFill>
                <a:schemeClr val="bg2"/>
              </a:solidFill>
              <a:cs typeface="Times New Roman"/>
            </a:endParaRPr>
          </a:p>
          <a:p>
            <a:endParaRPr lang="en-US" sz="1800" dirty="0" smtClean="0">
              <a:solidFill>
                <a:schemeClr val="bg2"/>
              </a:solidFill>
              <a:latin typeface="Arial" panose="020B0604020202020204" pitchFamily="34" charset="0"/>
              <a:cs typeface="Arial" panose="020B0604020202020204" pitchFamily="34" charset="0"/>
            </a:endParaRPr>
          </a:p>
          <a:p>
            <a:pPr marL="0" indent="0">
              <a:buNone/>
            </a:pPr>
            <a:r>
              <a:rPr lang="en-US" sz="1800" dirty="0" smtClean="0">
                <a:solidFill>
                  <a:schemeClr val="bg2"/>
                </a:solidFill>
                <a:latin typeface="Arial" panose="020B0604020202020204" pitchFamily="34" charset="0"/>
                <a:cs typeface="Arial" panose="020B0604020202020204" pitchFamily="34" charset="0"/>
              </a:rPr>
              <a:t>     </a:t>
            </a:r>
            <a:r>
              <a:rPr lang="en-US" sz="1800" b="1" dirty="0" smtClean="0">
                <a:solidFill>
                  <a:schemeClr val="bg2"/>
                </a:solidFill>
                <a:latin typeface="Arial" panose="020B0604020202020204" pitchFamily="34" charset="0"/>
                <a:cs typeface="Arial" panose="020B0604020202020204" pitchFamily="34" charset="0"/>
              </a:rPr>
              <a:t>and </a:t>
            </a:r>
            <a:r>
              <a:rPr lang="en-US" sz="1800" b="1" dirty="0">
                <a:solidFill>
                  <a:schemeClr val="bg2"/>
                </a:solidFill>
                <a:latin typeface="Arial" panose="020B0604020202020204" pitchFamily="34" charset="0"/>
                <a:cs typeface="Arial" panose="020B0604020202020204" pitchFamily="34" charset="0"/>
              </a:rPr>
              <a:t>divide each statistic by this single value to obtain corrected  </a:t>
            </a:r>
            <a:endParaRPr lang="en-US" sz="1800" b="1" dirty="0" smtClean="0">
              <a:solidFill>
                <a:schemeClr val="bg2"/>
              </a:solidFill>
              <a:latin typeface="Arial" panose="020B0604020202020204" pitchFamily="34" charset="0"/>
              <a:cs typeface="Arial" panose="020B0604020202020204" pitchFamily="34" charset="0"/>
            </a:endParaRPr>
          </a:p>
          <a:p>
            <a:pPr marL="0" indent="0">
              <a:buNone/>
            </a:pPr>
            <a:r>
              <a:rPr lang="en-US" sz="1800" b="1" dirty="0">
                <a:solidFill>
                  <a:schemeClr val="bg2"/>
                </a:solidFill>
                <a:latin typeface="Arial" panose="020B0604020202020204" pitchFamily="34" charset="0"/>
                <a:cs typeface="Arial" panose="020B0604020202020204" pitchFamily="34" charset="0"/>
              </a:rPr>
              <a:t> </a:t>
            </a:r>
            <a:r>
              <a:rPr lang="en-US" sz="1800" b="1" dirty="0" smtClean="0">
                <a:solidFill>
                  <a:schemeClr val="bg2"/>
                </a:solidFill>
                <a:latin typeface="Arial" panose="020B0604020202020204" pitchFamily="34" charset="0"/>
                <a:cs typeface="Arial" panose="020B0604020202020204" pitchFamily="34" charset="0"/>
              </a:rPr>
              <a:t>    statistics</a:t>
            </a:r>
            <a:r>
              <a:rPr lang="en-US" sz="1800" b="1" dirty="0">
                <a:solidFill>
                  <a:schemeClr val="bg2"/>
                </a:solidFill>
                <a:latin typeface="Arial" panose="020B0604020202020204" pitchFamily="34" charset="0"/>
                <a:cs typeface="Arial" panose="020B0604020202020204" pitchFamily="34" charset="0"/>
              </a:rPr>
              <a:t>.</a:t>
            </a:r>
          </a:p>
          <a:p>
            <a:endParaRPr lang="en-US" sz="1800" dirty="0">
              <a:solidFill>
                <a:schemeClr val="bg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063899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716722" y="58165"/>
            <a:ext cx="7741478"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smtClean="0">
                <a:latin typeface="Comic Sans MS" panose="030F0702030302020204" pitchFamily="66" charset="0"/>
                <a:cs typeface="Times New Roman" panose="02020603050405020304" pitchFamily="18" charset="0"/>
              </a:rPr>
              <a:t>Correction for Ancestry in GWAS</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437322" y="998920"/>
            <a:ext cx="8300278" cy="5627159"/>
          </a:xfrm>
        </p:spPr>
        <p:txBody>
          <a:bodyPr/>
          <a:lstStyle/>
          <a:p>
            <a:r>
              <a:rPr lang="en-US" sz="2000" b="1" i="1" dirty="0">
                <a:solidFill>
                  <a:srgbClr val="231F20"/>
                </a:solidFill>
                <a:latin typeface="Arial" panose="020B0604020202020204" pitchFamily="34" charset="0"/>
                <a:cs typeface="Arial" panose="020B0604020202020204" pitchFamily="34" charset="0"/>
              </a:rPr>
              <a:t>Bayesian ancestry inference </a:t>
            </a:r>
            <a:r>
              <a:rPr lang="en-US" sz="2000" b="1" dirty="0">
                <a:solidFill>
                  <a:srgbClr val="231F20"/>
                </a:solidFill>
                <a:latin typeface="Arial" panose="020B0604020202020204" pitchFamily="34" charset="0"/>
                <a:cs typeface="Arial" panose="020B0604020202020204" pitchFamily="34" charset="0"/>
              </a:rPr>
              <a:t>– Tries to find underlying population  substructure using many SNPs, then assigns a value or probability to  each individual according to proportion of ancestry from each  </a:t>
            </a:r>
            <a:r>
              <a:rPr lang="en-US" sz="2000" b="1" dirty="0" smtClean="0">
                <a:solidFill>
                  <a:srgbClr val="231F20"/>
                </a:solidFill>
                <a:latin typeface="Arial" panose="020B0604020202020204" pitchFamily="34" charset="0"/>
                <a:cs typeface="Arial" panose="020B0604020202020204" pitchFamily="34" charset="0"/>
              </a:rPr>
              <a:t>subpopulation. Requires </a:t>
            </a:r>
            <a:r>
              <a:rPr lang="en-US" sz="2000" b="1" dirty="0">
                <a:solidFill>
                  <a:srgbClr val="231F20"/>
                </a:solidFill>
                <a:latin typeface="Arial" panose="020B0604020202020204" pitchFamily="34" charset="0"/>
                <a:cs typeface="Arial" panose="020B0604020202020204" pitchFamily="34" charset="0"/>
              </a:rPr>
              <a:t>specialized software.</a:t>
            </a:r>
          </a:p>
          <a:p>
            <a:r>
              <a:rPr lang="en-US" sz="2000" b="1" i="1" dirty="0">
                <a:solidFill>
                  <a:srgbClr val="231F20"/>
                </a:solidFill>
                <a:latin typeface="Arial" panose="020B0604020202020204" pitchFamily="34" charset="0"/>
                <a:cs typeface="Arial" panose="020B0604020202020204" pitchFamily="34" charset="0"/>
              </a:rPr>
              <a:t>Principal </a:t>
            </a:r>
            <a:r>
              <a:rPr lang="en-US" sz="2000" b="1" i="1" dirty="0" smtClean="0">
                <a:solidFill>
                  <a:srgbClr val="231F20"/>
                </a:solidFill>
                <a:latin typeface="Arial" panose="020B0604020202020204" pitchFamily="34" charset="0"/>
                <a:cs typeface="Arial" panose="020B0604020202020204" pitchFamily="34" charset="0"/>
              </a:rPr>
              <a:t>components </a:t>
            </a:r>
            <a:r>
              <a:rPr lang="en-US" sz="2000" b="1" dirty="0" smtClean="0">
                <a:solidFill>
                  <a:srgbClr val="231F20"/>
                </a:solidFill>
                <a:latin typeface="Arial" panose="020B0604020202020204" pitchFamily="34" charset="0"/>
                <a:cs typeface="Arial" panose="020B0604020202020204" pitchFamily="34" charset="0"/>
              </a:rPr>
              <a:t>- </a:t>
            </a:r>
            <a:r>
              <a:rPr lang="en-US" sz="2000" b="1" dirty="0">
                <a:solidFill>
                  <a:srgbClr val="231F20"/>
                </a:solidFill>
                <a:latin typeface="Arial" panose="020B0604020202020204" pitchFamily="34" charset="0"/>
                <a:cs typeface="Arial" panose="020B0604020202020204" pitchFamily="34" charset="0"/>
              </a:rPr>
              <a:t>takes the matrix of genotypes and recodes  them as 0, 1, 2 (e.g. number of minor alleles</a:t>
            </a:r>
            <a:r>
              <a:rPr lang="en-US" sz="2000" b="1" dirty="0" smtClean="0">
                <a:solidFill>
                  <a:srgbClr val="231F20"/>
                </a:solidFill>
                <a:latin typeface="Arial" panose="020B0604020202020204" pitchFamily="34" charset="0"/>
                <a:cs typeface="Arial" panose="020B0604020202020204" pitchFamily="34" charset="0"/>
              </a:rPr>
              <a:t>). Then </a:t>
            </a:r>
            <a:r>
              <a:rPr lang="en-US" sz="2000" b="1" dirty="0">
                <a:solidFill>
                  <a:srgbClr val="231F20"/>
                </a:solidFill>
                <a:latin typeface="Arial" panose="020B0604020202020204" pitchFamily="34" charset="0"/>
                <a:cs typeface="Arial" panose="020B0604020202020204" pitchFamily="34" charset="0"/>
              </a:rPr>
              <a:t>re-centers and  variance standardizes the data and computes principal components.  The first few principal components usually correspond to ancestry,  and may even take care of some technical artifacts.	The PCs are </a:t>
            </a:r>
            <a:r>
              <a:rPr lang="en-US" sz="2000" b="1" dirty="0" smtClean="0">
                <a:solidFill>
                  <a:srgbClr val="231F20"/>
                </a:solidFill>
                <a:latin typeface="Arial" panose="020B0604020202020204" pitchFamily="34" charset="0"/>
                <a:cs typeface="Arial" panose="020B0604020202020204" pitchFamily="34" charset="0"/>
              </a:rPr>
              <a:t>used </a:t>
            </a:r>
            <a:r>
              <a:rPr lang="en-US" sz="2000" b="1" dirty="0">
                <a:solidFill>
                  <a:srgbClr val="231F20"/>
                </a:solidFill>
                <a:latin typeface="Arial" panose="020B0604020202020204" pitchFamily="34" charset="0"/>
                <a:cs typeface="Arial" panose="020B0604020202020204" pitchFamily="34" charset="0"/>
              </a:rPr>
              <a:t>as covariates in regression</a:t>
            </a:r>
            <a:r>
              <a:rPr lang="en-US" sz="2000" b="1" dirty="0" smtClean="0">
                <a:solidFill>
                  <a:srgbClr val="231F20"/>
                </a:solidFill>
                <a:latin typeface="Arial" panose="020B0604020202020204" pitchFamily="34" charset="0"/>
                <a:cs typeface="Arial" panose="020B0604020202020204" pitchFamily="34" charset="0"/>
              </a:rPr>
              <a:t>.</a:t>
            </a:r>
            <a:endParaRPr lang="en-US" sz="2000" b="1" dirty="0">
              <a:solidFill>
                <a:srgbClr val="231F20"/>
              </a:solidFill>
              <a:latin typeface="Arial" panose="020B0604020202020204" pitchFamily="34" charset="0"/>
              <a:cs typeface="Arial" panose="020B0604020202020204" pitchFamily="34" charset="0"/>
            </a:endParaRPr>
          </a:p>
          <a:p>
            <a:r>
              <a:rPr lang="en-US" sz="2000" b="1" dirty="0">
                <a:solidFill>
                  <a:srgbClr val="231F20"/>
                </a:solidFill>
                <a:latin typeface="Arial" panose="020B0604020202020204" pitchFamily="34" charset="0"/>
                <a:cs typeface="Arial" panose="020B0604020202020204" pitchFamily="34" charset="0"/>
              </a:rPr>
              <a:t>Nowadays, the principal component approach is preferred.</a:t>
            </a:r>
          </a:p>
          <a:p>
            <a:endParaRPr lang="en-ZA" sz="2000" b="1" dirty="0">
              <a:solidFill>
                <a:schemeClr val="bg2"/>
              </a:solidFill>
            </a:endParaRPr>
          </a:p>
        </p:txBody>
      </p:sp>
    </p:spTree>
    <p:extLst>
      <p:ext uri="{BB962C8B-B14F-4D97-AF65-F5344CB8AC3E}">
        <p14:creationId xmlns:p14="http://schemas.microsoft.com/office/powerpoint/2010/main" val="4539321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96122" y="57733"/>
            <a:ext cx="7741478"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smtClean="0">
                <a:latin typeface="Comic Sans MS" panose="030F0702030302020204" pitchFamily="66" charset="0"/>
                <a:cs typeface="Times New Roman" panose="02020603050405020304" pitchFamily="18" charset="0"/>
              </a:rPr>
              <a:t>Correction for Ancestry in GWAS</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437322" y="998921"/>
            <a:ext cx="8300278" cy="4014404"/>
          </a:xfrm>
        </p:spPr>
        <p:txBody>
          <a:bodyPr/>
          <a:lstStyle/>
          <a:p>
            <a:pPr marL="0" indent="0">
              <a:buNone/>
            </a:pPr>
            <a:endParaRPr lang="en-ZA" sz="1800" dirty="0">
              <a:solidFill>
                <a:srgbClr val="231F20"/>
              </a:solidFill>
              <a:latin typeface="Arial" panose="020B0604020202020204" pitchFamily="34" charset="0"/>
              <a:cs typeface="Arial" panose="020B0604020202020204" pitchFamily="34" charset="0"/>
            </a:endParaRPr>
          </a:p>
          <a:p>
            <a:endParaRPr lang="en-ZA" sz="1800" dirty="0">
              <a:solidFill>
                <a:schemeClr val="bg2"/>
              </a:solidFill>
            </a:endParaRPr>
          </a:p>
        </p:txBody>
      </p:sp>
      <p:pic>
        <p:nvPicPr>
          <p:cNvPr id="8" name="object 3"/>
          <p:cNvPicPr/>
          <p:nvPr/>
        </p:nvPicPr>
        <p:blipFill>
          <a:blip r:embed="rId3" cstate="print"/>
          <a:stretch>
            <a:fillRect/>
          </a:stretch>
        </p:blipFill>
        <p:spPr>
          <a:xfrm>
            <a:off x="828675" y="676275"/>
            <a:ext cx="7283450" cy="3962400"/>
          </a:xfrm>
          <a:prstGeom prst="rect">
            <a:avLst/>
          </a:prstGeom>
        </p:spPr>
      </p:pic>
      <p:sp>
        <p:nvSpPr>
          <p:cNvPr id="9" name="TextBox 8"/>
          <p:cNvSpPr txBox="1"/>
          <p:nvPr/>
        </p:nvSpPr>
        <p:spPr>
          <a:xfrm>
            <a:off x="3960971" y="5852159"/>
            <a:ext cx="5237844" cy="276999"/>
          </a:xfrm>
          <a:prstGeom prst="rect">
            <a:avLst/>
          </a:prstGeom>
          <a:noFill/>
        </p:spPr>
        <p:txBody>
          <a:bodyPr wrap="none" rtlCol="0">
            <a:spAutoFit/>
          </a:bodyPr>
          <a:lstStyle/>
          <a:p>
            <a:pPr marL="12700">
              <a:lnSpc>
                <a:spcPct val="100000"/>
              </a:lnSpc>
              <a:spcBef>
                <a:spcPts val="95"/>
              </a:spcBef>
              <a:tabLst>
                <a:tab pos="3035935" algn="l"/>
              </a:tabLst>
            </a:pPr>
            <a:r>
              <a:rPr lang="en-US" sz="1200" spc="-5" dirty="0"/>
              <a:t>Need</a:t>
            </a:r>
            <a:r>
              <a:rPr lang="en-US" sz="1200" spc="15" dirty="0"/>
              <a:t> </a:t>
            </a:r>
            <a:r>
              <a:rPr lang="en-US" sz="1200" i="1" spc="-5" dirty="0"/>
              <a:t>et</a:t>
            </a:r>
            <a:r>
              <a:rPr lang="en-US" sz="1200" i="1" spc="20" dirty="0"/>
              <a:t> </a:t>
            </a:r>
            <a:r>
              <a:rPr lang="en-US" sz="1200" i="1" spc="-5" dirty="0"/>
              <a:t>al.</a:t>
            </a:r>
            <a:r>
              <a:rPr lang="en-US" sz="1200" i="1" spc="5" dirty="0"/>
              <a:t> </a:t>
            </a:r>
            <a:r>
              <a:rPr lang="en-US" sz="1200" i="1" spc="-5" dirty="0"/>
              <a:t>Genome</a:t>
            </a:r>
            <a:r>
              <a:rPr lang="en-US" sz="1200" i="1" spc="35" dirty="0"/>
              <a:t> </a:t>
            </a:r>
            <a:r>
              <a:rPr lang="en-US" sz="1200" i="1" spc="-5" dirty="0"/>
              <a:t>Biology </a:t>
            </a:r>
            <a:r>
              <a:rPr lang="en-US" sz="1200" spc="-5" dirty="0"/>
              <a:t>2009</a:t>
            </a:r>
            <a:r>
              <a:rPr lang="en-US" sz="1200" spc="5" dirty="0"/>
              <a:t> </a:t>
            </a:r>
            <a:r>
              <a:rPr lang="en-US" sz="1200" spc="-5" dirty="0"/>
              <a:t>10:R7	doi:10.1186/gb-2009-10-1-r7</a:t>
            </a:r>
            <a:endParaRPr lang="en-US" sz="1200" dirty="0"/>
          </a:p>
        </p:txBody>
      </p:sp>
      <p:sp>
        <p:nvSpPr>
          <p:cNvPr id="10" name="TextBox 9"/>
          <p:cNvSpPr txBox="1"/>
          <p:nvPr/>
        </p:nvSpPr>
        <p:spPr>
          <a:xfrm>
            <a:off x="258397" y="1397725"/>
            <a:ext cx="433132" cy="246221"/>
          </a:xfrm>
          <a:prstGeom prst="rect">
            <a:avLst/>
          </a:prstGeom>
          <a:noFill/>
        </p:spPr>
        <p:txBody>
          <a:bodyPr wrap="none" rtlCol="0">
            <a:spAutoFit/>
          </a:bodyPr>
          <a:lstStyle/>
          <a:p>
            <a:r>
              <a:rPr lang="en-US" dirty="0" smtClean="0"/>
              <a:t>PC2</a:t>
            </a:r>
            <a:endParaRPr lang="en-US" dirty="0"/>
          </a:p>
        </p:txBody>
      </p:sp>
      <p:sp>
        <p:nvSpPr>
          <p:cNvPr id="11" name="TextBox 10"/>
          <p:cNvSpPr txBox="1"/>
          <p:nvPr/>
        </p:nvSpPr>
        <p:spPr>
          <a:xfrm>
            <a:off x="3527839" y="4807653"/>
            <a:ext cx="433132" cy="246221"/>
          </a:xfrm>
          <a:prstGeom prst="rect">
            <a:avLst/>
          </a:prstGeom>
          <a:noFill/>
        </p:spPr>
        <p:txBody>
          <a:bodyPr wrap="none" rtlCol="0">
            <a:spAutoFit/>
          </a:bodyPr>
          <a:lstStyle/>
          <a:p>
            <a:r>
              <a:rPr lang="en-US" dirty="0" smtClean="0"/>
              <a:t>PC1</a:t>
            </a:r>
            <a:endParaRPr lang="en-US" dirty="0"/>
          </a:p>
        </p:txBody>
      </p:sp>
    </p:spTree>
    <p:extLst>
      <p:ext uri="{BB962C8B-B14F-4D97-AF65-F5344CB8AC3E}">
        <p14:creationId xmlns:p14="http://schemas.microsoft.com/office/powerpoint/2010/main" val="72472579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96122" y="57733"/>
            <a:ext cx="7741478" cy="4801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2800" dirty="0" smtClean="0">
                <a:latin typeface="Comic Sans MS" panose="030F0702030302020204" pitchFamily="66" charset="0"/>
                <a:cs typeface="Times New Roman" panose="02020603050405020304" pitchFamily="18" charset="0"/>
              </a:rPr>
              <a:t>Example: A GWAS for Schizophrenia</a:t>
            </a:r>
            <a:endParaRPr lang="en-US" altLang="en-US" sz="28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437322" y="998920"/>
            <a:ext cx="8300278" cy="5627159"/>
          </a:xfrm>
        </p:spPr>
        <p:txBody>
          <a:bodyPr/>
          <a:lstStyle/>
          <a:p>
            <a:pPr marL="0" indent="0">
              <a:buNone/>
            </a:pPr>
            <a:endParaRPr lang="en-ZA" sz="1800" dirty="0">
              <a:solidFill>
                <a:srgbClr val="231F20"/>
              </a:solidFill>
              <a:latin typeface="Arial" panose="020B0604020202020204" pitchFamily="34" charset="0"/>
              <a:cs typeface="Arial" panose="020B0604020202020204" pitchFamily="34" charset="0"/>
            </a:endParaRPr>
          </a:p>
          <a:p>
            <a:endParaRPr lang="en-ZA" sz="1800" dirty="0">
              <a:solidFill>
                <a:schemeClr val="bg2"/>
              </a:solidFill>
            </a:endParaRPr>
          </a:p>
        </p:txBody>
      </p:sp>
      <p:pic>
        <p:nvPicPr>
          <p:cNvPr id="5" name="object 2"/>
          <p:cNvPicPr/>
          <p:nvPr/>
        </p:nvPicPr>
        <p:blipFill>
          <a:blip r:embed="rId3" cstate="print"/>
          <a:stretch>
            <a:fillRect/>
          </a:stretch>
        </p:blipFill>
        <p:spPr>
          <a:xfrm>
            <a:off x="368934" y="998920"/>
            <a:ext cx="8034528" cy="3860463"/>
          </a:xfrm>
          <a:prstGeom prst="rect">
            <a:avLst/>
          </a:prstGeom>
        </p:spPr>
      </p:pic>
      <p:sp>
        <p:nvSpPr>
          <p:cNvPr id="3" name="TextBox 2"/>
          <p:cNvSpPr txBox="1"/>
          <p:nvPr/>
        </p:nvSpPr>
        <p:spPr>
          <a:xfrm>
            <a:off x="3408256" y="6087291"/>
            <a:ext cx="5329344" cy="307777"/>
          </a:xfrm>
          <a:prstGeom prst="rect">
            <a:avLst/>
          </a:prstGeom>
          <a:noFill/>
        </p:spPr>
        <p:txBody>
          <a:bodyPr wrap="none" rtlCol="0">
            <a:spAutoFit/>
          </a:bodyPr>
          <a:lstStyle/>
          <a:p>
            <a:r>
              <a:rPr lang="nl-NL" sz="1400" spc="-5" dirty="0"/>
              <a:t>Sulliva</a:t>
            </a:r>
            <a:r>
              <a:rPr lang="nl-NL" sz="1400" dirty="0"/>
              <a:t>n</a:t>
            </a:r>
            <a:r>
              <a:rPr lang="nl-NL" sz="1400" spc="-15" dirty="0"/>
              <a:t> </a:t>
            </a:r>
            <a:r>
              <a:rPr lang="nl-NL" sz="1400" spc="-5" dirty="0"/>
              <a:t>e</a:t>
            </a:r>
            <a:r>
              <a:rPr lang="nl-NL" sz="1400" dirty="0"/>
              <a:t>t</a:t>
            </a:r>
            <a:r>
              <a:rPr lang="nl-NL" sz="1400" spc="-15" dirty="0"/>
              <a:t> </a:t>
            </a:r>
            <a:r>
              <a:rPr lang="nl-NL" sz="1400" spc="-5" dirty="0"/>
              <a:t>al.</a:t>
            </a:r>
            <a:r>
              <a:rPr lang="nl-NL" sz="1400" dirty="0"/>
              <a:t>, </a:t>
            </a:r>
            <a:r>
              <a:rPr lang="nl-NL" sz="1400" spc="-5" dirty="0"/>
              <a:t>2008,  Molecular</a:t>
            </a:r>
            <a:r>
              <a:rPr lang="nl-NL" sz="1400" spc="-25" dirty="0"/>
              <a:t> </a:t>
            </a:r>
            <a:r>
              <a:rPr lang="nl-NL" sz="1400" spc="-5" dirty="0"/>
              <a:t>Psychiatry</a:t>
            </a:r>
            <a:r>
              <a:rPr lang="nl-NL" sz="1400" spc="-20" dirty="0"/>
              <a:t> </a:t>
            </a:r>
            <a:r>
              <a:rPr lang="nl-NL" sz="1400" spc="-5" dirty="0"/>
              <a:t>(2008)</a:t>
            </a:r>
            <a:r>
              <a:rPr lang="nl-NL" sz="1400" dirty="0"/>
              <a:t> </a:t>
            </a:r>
            <a:r>
              <a:rPr lang="nl-NL" sz="1400" spc="-5" dirty="0"/>
              <a:t>13, 570–584</a:t>
            </a:r>
            <a:endParaRPr lang="en-US" sz="1400" dirty="0"/>
          </a:p>
        </p:txBody>
      </p:sp>
    </p:spTree>
    <p:extLst>
      <p:ext uri="{BB962C8B-B14F-4D97-AF65-F5344CB8AC3E}">
        <p14:creationId xmlns:p14="http://schemas.microsoft.com/office/powerpoint/2010/main" val="2465368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996122" y="57733"/>
            <a:ext cx="7741478"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smtClean="0">
                <a:latin typeface="Comic Sans MS" panose="030F0702030302020204" pitchFamily="66" charset="0"/>
                <a:cs typeface="Times New Roman" panose="02020603050405020304" pitchFamily="18" charset="0"/>
              </a:rPr>
              <a:t>Correction for Ancestry in GWAS</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D601D4B6-05B5-4A43-AF65-67CB3A7A16D2}"/>
              </a:ext>
            </a:extLst>
          </p:cNvPr>
          <p:cNvSpPr>
            <a:spLocks noGrp="1"/>
          </p:cNvSpPr>
          <p:nvPr>
            <p:ph idx="1"/>
          </p:nvPr>
        </p:nvSpPr>
        <p:spPr>
          <a:xfrm>
            <a:off x="437322" y="994453"/>
            <a:ext cx="8300278" cy="5627159"/>
          </a:xfrm>
        </p:spPr>
        <p:txBody>
          <a:bodyPr/>
          <a:lstStyle/>
          <a:p>
            <a:pPr marL="0" indent="0">
              <a:buNone/>
            </a:pPr>
            <a:endParaRPr lang="en-ZA" sz="1800" dirty="0">
              <a:solidFill>
                <a:srgbClr val="231F20"/>
              </a:solidFill>
              <a:latin typeface="Arial" panose="020B0604020202020204" pitchFamily="34" charset="0"/>
              <a:cs typeface="Arial" panose="020B0604020202020204" pitchFamily="34" charset="0"/>
            </a:endParaRPr>
          </a:p>
          <a:p>
            <a:endParaRPr lang="en-ZA" sz="1800" dirty="0">
              <a:solidFill>
                <a:schemeClr val="bg2"/>
              </a:solidFill>
            </a:endParaRPr>
          </a:p>
        </p:txBody>
      </p:sp>
      <p:grpSp>
        <p:nvGrpSpPr>
          <p:cNvPr id="5" name="object 3"/>
          <p:cNvGrpSpPr/>
          <p:nvPr/>
        </p:nvGrpSpPr>
        <p:grpSpPr>
          <a:xfrm>
            <a:off x="2211227" y="978176"/>
            <a:ext cx="2952750" cy="2547257"/>
            <a:chOff x="2224290" y="527681"/>
            <a:chExt cx="2952750" cy="2301240"/>
          </a:xfrm>
        </p:grpSpPr>
        <p:sp>
          <p:nvSpPr>
            <p:cNvPr id="6" name="object 4"/>
            <p:cNvSpPr/>
            <p:nvPr/>
          </p:nvSpPr>
          <p:spPr>
            <a:xfrm>
              <a:off x="2229688" y="2618227"/>
              <a:ext cx="65405" cy="0"/>
            </a:xfrm>
            <a:custGeom>
              <a:avLst/>
              <a:gdLst/>
              <a:ahLst/>
              <a:cxnLst/>
              <a:rect l="l" t="t" r="r" b="b"/>
              <a:pathLst>
                <a:path w="65405">
                  <a:moveTo>
                    <a:pt x="64777" y="0"/>
                  </a:moveTo>
                  <a:lnTo>
                    <a:pt x="0" y="0"/>
                  </a:lnTo>
                </a:path>
              </a:pathLst>
            </a:custGeom>
            <a:ln w="10800">
              <a:solidFill>
                <a:srgbClr val="000000"/>
              </a:solidFill>
            </a:ln>
          </p:spPr>
          <p:txBody>
            <a:bodyPr wrap="square" lIns="0" tIns="0" rIns="0" bIns="0" rtlCol="0"/>
            <a:lstStyle/>
            <a:p>
              <a:endParaRPr/>
            </a:p>
          </p:txBody>
        </p:sp>
        <p:sp>
          <p:nvSpPr>
            <p:cNvPr id="7" name="object 5"/>
            <p:cNvSpPr/>
            <p:nvPr/>
          </p:nvSpPr>
          <p:spPr>
            <a:xfrm>
              <a:off x="2261701" y="2574797"/>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8" name="object 6"/>
            <p:cNvSpPr/>
            <p:nvPr/>
          </p:nvSpPr>
          <p:spPr>
            <a:xfrm>
              <a:off x="2261701" y="2542789"/>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9" name="object 7"/>
            <p:cNvSpPr/>
            <p:nvPr/>
          </p:nvSpPr>
          <p:spPr>
            <a:xfrm>
              <a:off x="2261701" y="2499359"/>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10" name="object 8"/>
            <p:cNvSpPr/>
            <p:nvPr/>
          </p:nvSpPr>
          <p:spPr>
            <a:xfrm>
              <a:off x="2261701" y="2466589"/>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11" name="object 9"/>
            <p:cNvSpPr/>
            <p:nvPr/>
          </p:nvSpPr>
          <p:spPr>
            <a:xfrm>
              <a:off x="2229688" y="2423920"/>
              <a:ext cx="65405" cy="0"/>
            </a:xfrm>
            <a:custGeom>
              <a:avLst/>
              <a:gdLst/>
              <a:ahLst/>
              <a:cxnLst/>
              <a:rect l="l" t="t" r="r" b="b"/>
              <a:pathLst>
                <a:path w="65405">
                  <a:moveTo>
                    <a:pt x="64777" y="0"/>
                  </a:moveTo>
                  <a:lnTo>
                    <a:pt x="0" y="0"/>
                  </a:lnTo>
                </a:path>
              </a:pathLst>
            </a:custGeom>
            <a:ln w="10800">
              <a:solidFill>
                <a:srgbClr val="000000"/>
              </a:solidFill>
            </a:ln>
          </p:spPr>
          <p:txBody>
            <a:bodyPr wrap="square" lIns="0" tIns="0" rIns="0" bIns="0" rtlCol="0"/>
            <a:lstStyle/>
            <a:p>
              <a:endParaRPr/>
            </a:p>
          </p:txBody>
        </p:sp>
        <p:sp>
          <p:nvSpPr>
            <p:cNvPr id="12" name="object 10"/>
            <p:cNvSpPr/>
            <p:nvPr/>
          </p:nvSpPr>
          <p:spPr>
            <a:xfrm>
              <a:off x="2261701" y="2380490"/>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13" name="object 11"/>
            <p:cNvSpPr/>
            <p:nvPr/>
          </p:nvSpPr>
          <p:spPr>
            <a:xfrm>
              <a:off x="2261701" y="2348482"/>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14" name="object 12"/>
            <p:cNvSpPr/>
            <p:nvPr/>
          </p:nvSpPr>
          <p:spPr>
            <a:xfrm>
              <a:off x="2261701" y="2305052"/>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15" name="object 13"/>
            <p:cNvSpPr/>
            <p:nvPr/>
          </p:nvSpPr>
          <p:spPr>
            <a:xfrm>
              <a:off x="2261701" y="2272282"/>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16" name="object 14"/>
            <p:cNvSpPr/>
            <p:nvPr/>
          </p:nvSpPr>
          <p:spPr>
            <a:xfrm>
              <a:off x="2229688" y="2229614"/>
              <a:ext cx="65405" cy="0"/>
            </a:xfrm>
            <a:custGeom>
              <a:avLst/>
              <a:gdLst/>
              <a:ahLst/>
              <a:cxnLst/>
              <a:rect l="l" t="t" r="r" b="b"/>
              <a:pathLst>
                <a:path w="65405">
                  <a:moveTo>
                    <a:pt x="64777" y="0"/>
                  </a:moveTo>
                  <a:lnTo>
                    <a:pt x="0" y="0"/>
                  </a:lnTo>
                </a:path>
              </a:pathLst>
            </a:custGeom>
            <a:ln w="10800">
              <a:solidFill>
                <a:srgbClr val="000000"/>
              </a:solidFill>
            </a:ln>
          </p:spPr>
          <p:txBody>
            <a:bodyPr wrap="square" lIns="0" tIns="0" rIns="0" bIns="0" rtlCol="0"/>
            <a:lstStyle/>
            <a:p>
              <a:endParaRPr/>
            </a:p>
          </p:txBody>
        </p:sp>
        <p:sp>
          <p:nvSpPr>
            <p:cNvPr id="17" name="object 15"/>
            <p:cNvSpPr/>
            <p:nvPr/>
          </p:nvSpPr>
          <p:spPr>
            <a:xfrm>
              <a:off x="2261701" y="2186170"/>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18" name="object 16"/>
            <p:cNvSpPr/>
            <p:nvPr/>
          </p:nvSpPr>
          <p:spPr>
            <a:xfrm>
              <a:off x="2261701" y="2153401"/>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19" name="object 17"/>
            <p:cNvSpPr/>
            <p:nvPr/>
          </p:nvSpPr>
          <p:spPr>
            <a:xfrm>
              <a:off x="2261701" y="2110732"/>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20" name="object 18"/>
            <p:cNvSpPr/>
            <p:nvPr/>
          </p:nvSpPr>
          <p:spPr>
            <a:xfrm>
              <a:off x="2261701" y="2077963"/>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21" name="object 19"/>
            <p:cNvSpPr/>
            <p:nvPr/>
          </p:nvSpPr>
          <p:spPr>
            <a:xfrm>
              <a:off x="2229688" y="2034533"/>
              <a:ext cx="65405" cy="0"/>
            </a:xfrm>
            <a:custGeom>
              <a:avLst/>
              <a:gdLst/>
              <a:ahLst/>
              <a:cxnLst/>
              <a:rect l="l" t="t" r="r" b="b"/>
              <a:pathLst>
                <a:path w="65405">
                  <a:moveTo>
                    <a:pt x="64777" y="0"/>
                  </a:moveTo>
                  <a:lnTo>
                    <a:pt x="0" y="0"/>
                  </a:lnTo>
                </a:path>
              </a:pathLst>
            </a:custGeom>
            <a:ln w="10800">
              <a:solidFill>
                <a:srgbClr val="000000"/>
              </a:solidFill>
            </a:ln>
          </p:spPr>
          <p:txBody>
            <a:bodyPr wrap="square" lIns="0" tIns="0" rIns="0" bIns="0" rtlCol="0"/>
            <a:lstStyle/>
            <a:p>
              <a:endParaRPr/>
            </a:p>
          </p:txBody>
        </p:sp>
        <p:sp>
          <p:nvSpPr>
            <p:cNvPr id="22" name="object 20"/>
            <p:cNvSpPr/>
            <p:nvPr/>
          </p:nvSpPr>
          <p:spPr>
            <a:xfrm>
              <a:off x="2261701" y="1991864"/>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23" name="object 21"/>
            <p:cNvSpPr/>
            <p:nvPr/>
          </p:nvSpPr>
          <p:spPr>
            <a:xfrm>
              <a:off x="2261701" y="1959094"/>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24" name="object 22"/>
            <p:cNvSpPr/>
            <p:nvPr/>
          </p:nvSpPr>
          <p:spPr>
            <a:xfrm>
              <a:off x="2261701" y="1915664"/>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25" name="object 23"/>
            <p:cNvSpPr/>
            <p:nvPr/>
          </p:nvSpPr>
          <p:spPr>
            <a:xfrm>
              <a:off x="2261701" y="1883656"/>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26" name="object 24"/>
            <p:cNvSpPr/>
            <p:nvPr/>
          </p:nvSpPr>
          <p:spPr>
            <a:xfrm>
              <a:off x="2229688" y="1840226"/>
              <a:ext cx="65405" cy="0"/>
            </a:xfrm>
            <a:custGeom>
              <a:avLst/>
              <a:gdLst/>
              <a:ahLst/>
              <a:cxnLst/>
              <a:rect l="l" t="t" r="r" b="b"/>
              <a:pathLst>
                <a:path w="65405">
                  <a:moveTo>
                    <a:pt x="64777" y="0"/>
                  </a:moveTo>
                  <a:lnTo>
                    <a:pt x="0" y="0"/>
                  </a:lnTo>
                </a:path>
              </a:pathLst>
            </a:custGeom>
            <a:ln w="10800">
              <a:solidFill>
                <a:srgbClr val="000000"/>
              </a:solidFill>
            </a:ln>
          </p:spPr>
          <p:txBody>
            <a:bodyPr wrap="square" lIns="0" tIns="0" rIns="0" bIns="0" rtlCol="0"/>
            <a:lstStyle/>
            <a:p>
              <a:endParaRPr/>
            </a:p>
          </p:txBody>
        </p:sp>
        <p:sp>
          <p:nvSpPr>
            <p:cNvPr id="27" name="object 25"/>
            <p:cNvSpPr/>
            <p:nvPr/>
          </p:nvSpPr>
          <p:spPr>
            <a:xfrm>
              <a:off x="2261701" y="1797557"/>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28" name="object 26"/>
            <p:cNvSpPr/>
            <p:nvPr/>
          </p:nvSpPr>
          <p:spPr>
            <a:xfrm>
              <a:off x="2261701" y="1764788"/>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29" name="object 27"/>
            <p:cNvSpPr/>
            <p:nvPr/>
          </p:nvSpPr>
          <p:spPr>
            <a:xfrm>
              <a:off x="2261701" y="1721357"/>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30" name="object 28"/>
            <p:cNvSpPr/>
            <p:nvPr/>
          </p:nvSpPr>
          <p:spPr>
            <a:xfrm>
              <a:off x="2261701" y="1689349"/>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31" name="object 29"/>
            <p:cNvSpPr/>
            <p:nvPr/>
          </p:nvSpPr>
          <p:spPr>
            <a:xfrm>
              <a:off x="2229688" y="1645919"/>
              <a:ext cx="65405" cy="0"/>
            </a:xfrm>
            <a:custGeom>
              <a:avLst/>
              <a:gdLst/>
              <a:ahLst/>
              <a:cxnLst/>
              <a:rect l="l" t="t" r="r" b="b"/>
              <a:pathLst>
                <a:path w="65405">
                  <a:moveTo>
                    <a:pt x="64777" y="0"/>
                  </a:moveTo>
                  <a:lnTo>
                    <a:pt x="0" y="0"/>
                  </a:lnTo>
                </a:path>
              </a:pathLst>
            </a:custGeom>
            <a:ln w="10800">
              <a:solidFill>
                <a:srgbClr val="000000"/>
              </a:solidFill>
            </a:ln>
          </p:spPr>
          <p:txBody>
            <a:bodyPr wrap="square" lIns="0" tIns="0" rIns="0" bIns="0" rtlCol="0"/>
            <a:lstStyle/>
            <a:p>
              <a:endParaRPr/>
            </a:p>
          </p:txBody>
        </p:sp>
        <p:sp>
          <p:nvSpPr>
            <p:cNvPr id="32" name="object 30"/>
            <p:cNvSpPr/>
            <p:nvPr/>
          </p:nvSpPr>
          <p:spPr>
            <a:xfrm>
              <a:off x="2261701" y="1602489"/>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33" name="object 31"/>
            <p:cNvSpPr/>
            <p:nvPr/>
          </p:nvSpPr>
          <p:spPr>
            <a:xfrm>
              <a:off x="2261701" y="1570481"/>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34" name="object 32"/>
            <p:cNvSpPr/>
            <p:nvPr/>
          </p:nvSpPr>
          <p:spPr>
            <a:xfrm>
              <a:off x="2261701" y="1527051"/>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35" name="object 33"/>
            <p:cNvSpPr/>
            <p:nvPr/>
          </p:nvSpPr>
          <p:spPr>
            <a:xfrm>
              <a:off x="2261701" y="1495043"/>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36" name="object 34"/>
            <p:cNvSpPr/>
            <p:nvPr/>
          </p:nvSpPr>
          <p:spPr>
            <a:xfrm>
              <a:off x="2229688" y="1451612"/>
              <a:ext cx="65405" cy="0"/>
            </a:xfrm>
            <a:custGeom>
              <a:avLst/>
              <a:gdLst/>
              <a:ahLst/>
              <a:cxnLst/>
              <a:rect l="l" t="t" r="r" b="b"/>
              <a:pathLst>
                <a:path w="65405">
                  <a:moveTo>
                    <a:pt x="64777" y="0"/>
                  </a:moveTo>
                  <a:lnTo>
                    <a:pt x="0" y="0"/>
                  </a:lnTo>
                </a:path>
              </a:pathLst>
            </a:custGeom>
            <a:ln w="10800">
              <a:solidFill>
                <a:srgbClr val="000000"/>
              </a:solidFill>
            </a:ln>
          </p:spPr>
          <p:txBody>
            <a:bodyPr wrap="square" lIns="0" tIns="0" rIns="0" bIns="0" rtlCol="0"/>
            <a:lstStyle/>
            <a:p>
              <a:endParaRPr/>
            </a:p>
          </p:txBody>
        </p:sp>
        <p:sp>
          <p:nvSpPr>
            <p:cNvPr id="37" name="object 35"/>
            <p:cNvSpPr/>
            <p:nvPr/>
          </p:nvSpPr>
          <p:spPr>
            <a:xfrm>
              <a:off x="2261701" y="1408170"/>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38" name="object 36"/>
            <p:cNvSpPr/>
            <p:nvPr/>
          </p:nvSpPr>
          <p:spPr>
            <a:xfrm>
              <a:off x="2261701" y="1376161"/>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39" name="object 37"/>
            <p:cNvSpPr/>
            <p:nvPr/>
          </p:nvSpPr>
          <p:spPr>
            <a:xfrm>
              <a:off x="2261701" y="1332731"/>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40" name="object 38"/>
            <p:cNvSpPr/>
            <p:nvPr/>
          </p:nvSpPr>
          <p:spPr>
            <a:xfrm>
              <a:off x="2261701" y="1299962"/>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41" name="object 39"/>
            <p:cNvSpPr/>
            <p:nvPr/>
          </p:nvSpPr>
          <p:spPr>
            <a:xfrm>
              <a:off x="2229688" y="1257293"/>
              <a:ext cx="65405" cy="0"/>
            </a:xfrm>
            <a:custGeom>
              <a:avLst/>
              <a:gdLst/>
              <a:ahLst/>
              <a:cxnLst/>
              <a:rect l="l" t="t" r="r" b="b"/>
              <a:pathLst>
                <a:path w="65405">
                  <a:moveTo>
                    <a:pt x="64777" y="0"/>
                  </a:moveTo>
                  <a:lnTo>
                    <a:pt x="0" y="0"/>
                  </a:lnTo>
                </a:path>
              </a:pathLst>
            </a:custGeom>
            <a:ln w="10800">
              <a:solidFill>
                <a:srgbClr val="000000"/>
              </a:solidFill>
            </a:ln>
          </p:spPr>
          <p:txBody>
            <a:bodyPr wrap="square" lIns="0" tIns="0" rIns="0" bIns="0" rtlCol="0"/>
            <a:lstStyle/>
            <a:p>
              <a:endParaRPr/>
            </a:p>
          </p:txBody>
        </p:sp>
        <p:sp>
          <p:nvSpPr>
            <p:cNvPr id="42" name="object 40"/>
            <p:cNvSpPr/>
            <p:nvPr/>
          </p:nvSpPr>
          <p:spPr>
            <a:xfrm>
              <a:off x="2261701" y="1213863"/>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43" name="object 41"/>
            <p:cNvSpPr/>
            <p:nvPr/>
          </p:nvSpPr>
          <p:spPr>
            <a:xfrm>
              <a:off x="2261701" y="1181855"/>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44" name="object 42"/>
            <p:cNvSpPr/>
            <p:nvPr/>
          </p:nvSpPr>
          <p:spPr>
            <a:xfrm>
              <a:off x="2261701" y="1138425"/>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45" name="object 43"/>
            <p:cNvSpPr/>
            <p:nvPr/>
          </p:nvSpPr>
          <p:spPr>
            <a:xfrm>
              <a:off x="2261701" y="1105655"/>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46" name="object 44"/>
            <p:cNvSpPr/>
            <p:nvPr/>
          </p:nvSpPr>
          <p:spPr>
            <a:xfrm>
              <a:off x="2229688" y="1062986"/>
              <a:ext cx="65405" cy="0"/>
            </a:xfrm>
            <a:custGeom>
              <a:avLst/>
              <a:gdLst/>
              <a:ahLst/>
              <a:cxnLst/>
              <a:rect l="l" t="t" r="r" b="b"/>
              <a:pathLst>
                <a:path w="65405">
                  <a:moveTo>
                    <a:pt x="64777" y="0"/>
                  </a:moveTo>
                  <a:lnTo>
                    <a:pt x="0" y="0"/>
                  </a:lnTo>
                </a:path>
              </a:pathLst>
            </a:custGeom>
            <a:ln w="10800">
              <a:solidFill>
                <a:srgbClr val="000000"/>
              </a:solidFill>
            </a:ln>
          </p:spPr>
          <p:txBody>
            <a:bodyPr wrap="square" lIns="0" tIns="0" rIns="0" bIns="0" rtlCol="0"/>
            <a:lstStyle/>
            <a:p>
              <a:endParaRPr/>
            </a:p>
          </p:txBody>
        </p:sp>
        <p:sp>
          <p:nvSpPr>
            <p:cNvPr id="47" name="object 45"/>
            <p:cNvSpPr/>
            <p:nvPr/>
          </p:nvSpPr>
          <p:spPr>
            <a:xfrm>
              <a:off x="2261701" y="1019556"/>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48" name="object 46"/>
            <p:cNvSpPr/>
            <p:nvPr/>
          </p:nvSpPr>
          <p:spPr>
            <a:xfrm>
              <a:off x="2261701" y="986787"/>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49" name="object 47"/>
            <p:cNvSpPr/>
            <p:nvPr/>
          </p:nvSpPr>
          <p:spPr>
            <a:xfrm>
              <a:off x="2261701" y="944118"/>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50" name="object 48"/>
            <p:cNvSpPr/>
            <p:nvPr/>
          </p:nvSpPr>
          <p:spPr>
            <a:xfrm>
              <a:off x="2261701" y="911348"/>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51" name="object 49"/>
            <p:cNvSpPr/>
            <p:nvPr/>
          </p:nvSpPr>
          <p:spPr>
            <a:xfrm>
              <a:off x="2229688" y="867918"/>
              <a:ext cx="65405" cy="0"/>
            </a:xfrm>
            <a:custGeom>
              <a:avLst/>
              <a:gdLst/>
              <a:ahLst/>
              <a:cxnLst/>
              <a:rect l="l" t="t" r="r" b="b"/>
              <a:pathLst>
                <a:path w="65405">
                  <a:moveTo>
                    <a:pt x="64777" y="0"/>
                  </a:moveTo>
                  <a:lnTo>
                    <a:pt x="0" y="0"/>
                  </a:lnTo>
                </a:path>
              </a:pathLst>
            </a:custGeom>
            <a:ln w="10800">
              <a:solidFill>
                <a:srgbClr val="000000"/>
              </a:solidFill>
            </a:ln>
          </p:spPr>
          <p:txBody>
            <a:bodyPr wrap="square" lIns="0" tIns="0" rIns="0" bIns="0" rtlCol="0"/>
            <a:lstStyle/>
            <a:p>
              <a:endParaRPr/>
            </a:p>
          </p:txBody>
        </p:sp>
        <p:sp>
          <p:nvSpPr>
            <p:cNvPr id="52" name="object 50"/>
            <p:cNvSpPr/>
            <p:nvPr/>
          </p:nvSpPr>
          <p:spPr>
            <a:xfrm>
              <a:off x="2261701" y="825249"/>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53" name="object 51"/>
            <p:cNvSpPr/>
            <p:nvPr/>
          </p:nvSpPr>
          <p:spPr>
            <a:xfrm>
              <a:off x="2261701" y="792480"/>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54" name="object 52"/>
            <p:cNvSpPr/>
            <p:nvPr/>
          </p:nvSpPr>
          <p:spPr>
            <a:xfrm>
              <a:off x="2261701" y="749811"/>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55" name="object 53"/>
            <p:cNvSpPr/>
            <p:nvPr/>
          </p:nvSpPr>
          <p:spPr>
            <a:xfrm>
              <a:off x="2261701" y="717042"/>
              <a:ext cx="33020" cy="0"/>
            </a:xfrm>
            <a:custGeom>
              <a:avLst/>
              <a:gdLst/>
              <a:ahLst/>
              <a:cxnLst/>
              <a:rect l="l" t="t" r="r" b="b"/>
              <a:pathLst>
                <a:path w="33019">
                  <a:moveTo>
                    <a:pt x="32763" y="0"/>
                  </a:moveTo>
                  <a:lnTo>
                    <a:pt x="0" y="0"/>
                  </a:lnTo>
                </a:path>
              </a:pathLst>
            </a:custGeom>
            <a:ln w="10800">
              <a:solidFill>
                <a:srgbClr val="000000"/>
              </a:solidFill>
            </a:ln>
          </p:spPr>
          <p:txBody>
            <a:bodyPr wrap="square" lIns="0" tIns="0" rIns="0" bIns="0" rtlCol="0"/>
            <a:lstStyle/>
            <a:p>
              <a:endParaRPr/>
            </a:p>
          </p:txBody>
        </p:sp>
        <p:sp>
          <p:nvSpPr>
            <p:cNvPr id="56" name="object 54"/>
            <p:cNvSpPr/>
            <p:nvPr/>
          </p:nvSpPr>
          <p:spPr>
            <a:xfrm>
              <a:off x="2229688" y="673611"/>
              <a:ext cx="65405" cy="0"/>
            </a:xfrm>
            <a:custGeom>
              <a:avLst/>
              <a:gdLst/>
              <a:ahLst/>
              <a:cxnLst/>
              <a:rect l="l" t="t" r="r" b="b"/>
              <a:pathLst>
                <a:path w="65405">
                  <a:moveTo>
                    <a:pt x="64777" y="0"/>
                  </a:moveTo>
                  <a:lnTo>
                    <a:pt x="0" y="0"/>
                  </a:lnTo>
                </a:path>
              </a:pathLst>
            </a:custGeom>
            <a:ln w="10800">
              <a:solidFill>
                <a:srgbClr val="000000"/>
              </a:solidFill>
            </a:ln>
          </p:spPr>
          <p:txBody>
            <a:bodyPr wrap="square" lIns="0" tIns="0" rIns="0" bIns="0" rtlCol="0"/>
            <a:lstStyle/>
            <a:p>
              <a:endParaRPr/>
            </a:p>
          </p:txBody>
        </p:sp>
        <p:sp>
          <p:nvSpPr>
            <p:cNvPr id="57" name="object 55"/>
            <p:cNvSpPr/>
            <p:nvPr/>
          </p:nvSpPr>
          <p:spPr>
            <a:xfrm>
              <a:off x="2294459" y="533396"/>
              <a:ext cx="2877185" cy="0"/>
            </a:xfrm>
            <a:custGeom>
              <a:avLst/>
              <a:gdLst/>
              <a:ahLst/>
              <a:cxnLst/>
              <a:rect l="l" t="t" r="r" b="b"/>
              <a:pathLst>
                <a:path w="2877185">
                  <a:moveTo>
                    <a:pt x="2876637" y="0"/>
                  </a:moveTo>
                  <a:lnTo>
                    <a:pt x="0" y="0"/>
                  </a:lnTo>
                </a:path>
              </a:pathLst>
            </a:custGeom>
            <a:ln w="10800">
              <a:solidFill>
                <a:srgbClr val="000000"/>
              </a:solidFill>
            </a:ln>
          </p:spPr>
          <p:txBody>
            <a:bodyPr wrap="square" lIns="0" tIns="0" rIns="0" bIns="0" rtlCol="0"/>
            <a:lstStyle/>
            <a:p>
              <a:endParaRPr/>
            </a:p>
          </p:txBody>
        </p:sp>
        <p:sp>
          <p:nvSpPr>
            <p:cNvPr id="58" name="object 56"/>
            <p:cNvSpPr/>
            <p:nvPr/>
          </p:nvSpPr>
          <p:spPr>
            <a:xfrm>
              <a:off x="2294465" y="2758443"/>
              <a:ext cx="2877185" cy="0"/>
            </a:xfrm>
            <a:custGeom>
              <a:avLst/>
              <a:gdLst/>
              <a:ahLst/>
              <a:cxnLst/>
              <a:rect l="l" t="t" r="r" b="b"/>
              <a:pathLst>
                <a:path w="2877185">
                  <a:moveTo>
                    <a:pt x="0" y="0"/>
                  </a:moveTo>
                  <a:lnTo>
                    <a:pt x="2874619" y="0"/>
                  </a:lnTo>
                </a:path>
              </a:pathLst>
            </a:custGeom>
            <a:ln w="10800">
              <a:solidFill>
                <a:srgbClr val="000000"/>
              </a:solidFill>
            </a:ln>
          </p:spPr>
          <p:txBody>
            <a:bodyPr wrap="square" lIns="0" tIns="0" rIns="0" bIns="0" rtlCol="0"/>
            <a:lstStyle/>
            <a:p>
              <a:endParaRPr/>
            </a:p>
          </p:txBody>
        </p:sp>
        <p:sp>
          <p:nvSpPr>
            <p:cNvPr id="59" name="object 57"/>
            <p:cNvSpPr/>
            <p:nvPr/>
          </p:nvSpPr>
          <p:spPr>
            <a:xfrm>
              <a:off x="2294465" y="533396"/>
              <a:ext cx="0" cy="2225040"/>
            </a:xfrm>
            <a:custGeom>
              <a:avLst/>
              <a:gdLst/>
              <a:ahLst/>
              <a:cxnLst/>
              <a:rect l="l" t="t" r="r" b="b"/>
              <a:pathLst>
                <a:path h="2225040">
                  <a:moveTo>
                    <a:pt x="0" y="0"/>
                  </a:moveTo>
                  <a:lnTo>
                    <a:pt x="0" y="2226525"/>
                  </a:lnTo>
                </a:path>
              </a:pathLst>
            </a:custGeom>
            <a:ln w="10815">
              <a:solidFill>
                <a:srgbClr val="000000"/>
              </a:solidFill>
            </a:ln>
          </p:spPr>
          <p:txBody>
            <a:bodyPr wrap="square" lIns="0" tIns="0" rIns="0" bIns="0" rtlCol="0"/>
            <a:lstStyle/>
            <a:p>
              <a:endParaRPr/>
            </a:p>
          </p:txBody>
        </p:sp>
        <p:sp>
          <p:nvSpPr>
            <p:cNvPr id="60" name="object 58"/>
            <p:cNvSpPr/>
            <p:nvPr/>
          </p:nvSpPr>
          <p:spPr>
            <a:xfrm>
              <a:off x="5171097" y="533412"/>
              <a:ext cx="0" cy="2225040"/>
            </a:xfrm>
            <a:custGeom>
              <a:avLst/>
              <a:gdLst/>
              <a:ahLst/>
              <a:cxnLst/>
              <a:rect l="l" t="t" r="r" b="b"/>
              <a:pathLst>
                <a:path h="2225040">
                  <a:moveTo>
                    <a:pt x="0" y="2225031"/>
                  </a:moveTo>
                  <a:lnTo>
                    <a:pt x="0" y="0"/>
                  </a:lnTo>
                </a:path>
              </a:pathLst>
            </a:custGeom>
            <a:ln w="10815">
              <a:solidFill>
                <a:srgbClr val="000000"/>
              </a:solidFill>
            </a:ln>
          </p:spPr>
          <p:txBody>
            <a:bodyPr wrap="square" lIns="0" tIns="0" rIns="0" bIns="0" rtlCol="0"/>
            <a:lstStyle/>
            <a:p>
              <a:endParaRPr/>
            </a:p>
          </p:txBody>
        </p:sp>
        <p:sp>
          <p:nvSpPr>
            <p:cNvPr id="61" name="object 59"/>
            <p:cNvSpPr/>
            <p:nvPr/>
          </p:nvSpPr>
          <p:spPr>
            <a:xfrm>
              <a:off x="2434682" y="2758443"/>
              <a:ext cx="0" cy="64769"/>
            </a:xfrm>
            <a:custGeom>
              <a:avLst/>
              <a:gdLst/>
              <a:ahLst/>
              <a:cxnLst/>
              <a:rect l="l" t="t" r="r" b="b"/>
              <a:pathLst>
                <a:path h="64769">
                  <a:moveTo>
                    <a:pt x="0" y="0"/>
                  </a:moveTo>
                  <a:lnTo>
                    <a:pt x="0" y="64808"/>
                  </a:lnTo>
                </a:path>
              </a:pathLst>
            </a:custGeom>
            <a:ln w="10815">
              <a:solidFill>
                <a:srgbClr val="000000"/>
              </a:solidFill>
            </a:ln>
          </p:spPr>
          <p:txBody>
            <a:bodyPr wrap="square" lIns="0" tIns="0" rIns="0" bIns="0" rtlCol="0"/>
            <a:lstStyle/>
            <a:p>
              <a:endParaRPr/>
            </a:p>
          </p:txBody>
        </p:sp>
        <p:pic>
          <p:nvPicPr>
            <p:cNvPr id="62" name="object 60"/>
            <p:cNvPicPr/>
            <p:nvPr/>
          </p:nvPicPr>
          <p:blipFill>
            <a:blip r:embed="rId3" cstate="print"/>
            <a:stretch>
              <a:fillRect/>
            </a:stretch>
          </p:blipFill>
          <p:spPr>
            <a:xfrm>
              <a:off x="2434590" y="878859"/>
              <a:ext cx="2271487" cy="1750040"/>
            </a:xfrm>
            <a:prstGeom prst="rect">
              <a:avLst/>
            </a:prstGeom>
          </p:spPr>
        </p:pic>
        <p:sp>
          <p:nvSpPr>
            <p:cNvPr id="63" name="object 61"/>
            <p:cNvSpPr/>
            <p:nvPr/>
          </p:nvSpPr>
          <p:spPr>
            <a:xfrm>
              <a:off x="2434682" y="2618240"/>
              <a:ext cx="2595880" cy="0"/>
            </a:xfrm>
            <a:custGeom>
              <a:avLst/>
              <a:gdLst/>
              <a:ahLst/>
              <a:cxnLst/>
              <a:rect l="l" t="t" r="r" b="b"/>
              <a:pathLst>
                <a:path w="2595879">
                  <a:moveTo>
                    <a:pt x="0" y="0"/>
                  </a:moveTo>
                  <a:lnTo>
                    <a:pt x="2593632" y="0"/>
                  </a:lnTo>
                </a:path>
              </a:pathLst>
            </a:custGeom>
            <a:ln w="10800">
              <a:solidFill>
                <a:srgbClr val="000000"/>
              </a:solidFill>
            </a:ln>
          </p:spPr>
          <p:txBody>
            <a:bodyPr wrap="square" lIns="0" tIns="0" rIns="0" bIns="0" rtlCol="0"/>
            <a:lstStyle/>
            <a:p>
              <a:endParaRPr/>
            </a:p>
          </p:txBody>
        </p:sp>
        <p:sp>
          <p:nvSpPr>
            <p:cNvPr id="64" name="object 62"/>
            <p:cNvSpPr/>
            <p:nvPr/>
          </p:nvSpPr>
          <p:spPr>
            <a:xfrm>
              <a:off x="2434677" y="673611"/>
              <a:ext cx="2595880" cy="0"/>
            </a:xfrm>
            <a:custGeom>
              <a:avLst/>
              <a:gdLst/>
              <a:ahLst/>
              <a:cxnLst/>
              <a:rect l="l" t="t" r="r" b="b"/>
              <a:pathLst>
                <a:path w="2595879">
                  <a:moveTo>
                    <a:pt x="2595452" y="0"/>
                  </a:moveTo>
                  <a:lnTo>
                    <a:pt x="0" y="0"/>
                  </a:lnTo>
                </a:path>
              </a:pathLst>
            </a:custGeom>
            <a:ln w="10800">
              <a:solidFill>
                <a:srgbClr val="000000"/>
              </a:solidFill>
            </a:ln>
          </p:spPr>
          <p:txBody>
            <a:bodyPr wrap="square" lIns="0" tIns="0" rIns="0" bIns="0" rtlCol="0"/>
            <a:lstStyle/>
            <a:p>
              <a:endParaRPr/>
            </a:p>
          </p:txBody>
        </p:sp>
        <p:sp>
          <p:nvSpPr>
            <p:cNvPr id="65" name="object 63"/>
            <p:cNvSpPr/>
            <p:nvPr/>
          </p:nvSpPr>
          <p:spPr>
            <a:xfrm>
              <a:off x="2434682" y="673611"/>
              <a:ext cx="0" cy="1945005"/>
            </a:xfrm>
            <a:custGeom>
              <a:avLst/>
              <a:gdLst/>
              <a:ahLst/>
              <a:cxnLst/>
              <a:rect l="l" t="t" r="r" b="b"/>
              <a:pathLst>
                <a:path h="1945005">
                  <a:moveTo>
                    <a:pt x="0" y="0"/>
                  </a:moveTo>
                  <a:lnTo>
                    <a:pt x="0" y="1945932"/>
                  </a:lnTo>
                </a:path>
              </a:pathLst>
            </a:custGeom>
            <a:ln w="10815">
              <a:solidFill>
                <a:srgbClr val="000000"/>
              </a:solidFill>
            </a:ln>
          </p:spPr>
          <p:txBody>
            <a:bodyPr wrap="square" lIns="0" tIns="0" rIns="0" bIns="0" rtlCol="0"/>
            <a:lstStyle/>
            <a:p>
              <a:endParaRPr/>
            </a:p>
          </p:txBody>
        </p:sp>
        <p:sp>
          <p:nvSpPr>
            <p:cNvPr id="66" name="object 64"/>
            <p:cNvSpPr/>
            <p:nvPr/>
          </p:nvSpPr>
          <p:spPr>
            <a:xfrm>
              <a:off x="5030130" y="673614"/>
              <a:ext cx="0" cy="1945005"/>
            </a:xfrm>
            <a:custGeom>
              <a:avLst/>
              <a:gdLst/>
              <a:ahLst/>
              <a:cxnLst/>
              <a:rect l="l" t="t" r="r" b="b"/>
              <a:pathLst>
                <a:path h="1945005">
                  <a:moveTo>
                    <a:pt x="0" y="1944625"/>
                  </a:moveTo>
                  <a:lnTo>
                    <a:pt x="0" y="0"/>
                  </a:lnTo>
                </a:path>
              </a:pathLst>
            </a:custGeom>
            <a:ln w="10815">
              <a:solidFill>
                <a:srgbClr val="000000"/>
              </a:solidFill>
            </a:ln>
          </p:spPr>
          <p:txBody>
            <a:bodyPr wrap="square" lIns="0" tIns="0" rIns="0" bIns="0" rtlCol="0"/>
            <a:lstStyle/>
            <a:p>
              <a:endParaRPr/>
            </a:p>
          </p:txBody>
        </p:sp>
      </p:grpSp>
      <p:pic>
        <p:nvPicPr>
          <p:cNvPr id="67" name="object 2"/>
          <p:cNvPicPr/>
          <p:nvPr/>
        </p:nvPicPr>
        <p:blipFill>
          <a:blip r:embed="rId4" cstate="print"/>
          <a:stretch>
            <a:fillRect/>
          </a:stretch>
        </p:blipFill>
        <p:spPr>
          <a:xfrm>
            <a:off x="1700254" y="3734193"/>
            <a:ext cx="4038600" cy="2887419"/>
          </a:xfrm>
          <a:prstGeom prst="rect">
            <a:avLst/>
          </a:prstGeom>
        </p:spPr>
      </p:pic>
      <p:sp>
        <p:nvSpPr>
          <p:cNvPr id="2" name="TextBox 1"/>
          <p:cNvSpPr txBox="1"/>
          <p:nvPr/>
        </p:nvSpPr>
        <p:spPr>
          <a:xfrm>
            <a:off x="6061167" y="1775284"/>
            <a:ext cx="2377440" cy="646331"/>
          </a:xfrm>
          <a:prstGeom prst="rect">
            <a:avLst/>
          </a:prstGeom>
          <a:noFill/>
        </p:spPr>
        <p:txBody>
          <a:bodyPr wrap="square" rtlCol="0">
            <a:spAutoFit/>
          </a:bodyPr>
          <a:lstStyle/>
          <a:p>
            <a:r>
              <a:rPr lang="en-US" sz="1800" dirty="0" smtClean="0"/>
              <a:t>P-values before ancestry correction</a:t>
            </a:r>
            <a:endParaRPr lang="en-US" sz="1800" dirty="0"/>
          </a:p>
        </p:txBody>
      </p:sp>
      <p:sp>
        <p:nvSpPr>
          <p:cNvPr id="3" name="TextBox 2"/>
          <p:cNvSpPr txBox="1"/>
          <p:nvPr/>
        </p:nvSpPr>
        <p:spPr>
          <a:xfrm>
            <a:off x="6061167" y="5094514"/>
            <a:ext cx="2676433" cy="646331"/>
          </a:xfrm>
          <a:prstGeom prst="rect">
            <a:avLst/>
          </a:prstGeom>
          <a:noFill/>
        </p:spPr>
        <p:txBody>
          <a:bodyPr wrap="square" rtlCol="0">
            <a:spAutoFit/>
          </a:bodyPr>
          <a:lstStyle/>
          <a:p>
            <a:r>
              <a:rPr lang="en-US" sz="1800" dirty="0" smtClean="0"/>
              <a:t>After ancestry </a:t>
            </a:r>
          </a:p>
          <a:p>
            <a:r>
              <a:rPr lang="en-US" sz="1800" dirty="0" smtClean="0"/>
              <a:t>correction</a:t>
            </a:r>
            <a:endParaRPr lang="en-US" sz="1800" dirty="0"/>
          </a:p>
        </p:txBody>
      </p:sp>
      <p:sp>
        <p:nvSpPr>
          <p:cNvPr id="68" name="TextBox 67"/>
          <p:cNvSpPr txBox="1"/>
          <p:nvPr/>
        </p:nvSpPr>
        <p:spPr>
          <a:xfrm>
            <a:off x="6635931" y="965937"/>
            <a:ext cx="2019809" cy="646331"/>
          </a:xfrm>
          <a:prstGeom prst="rect">
            <a:avLst/>
          </a:prstGeom>
          <a:noFill/>
        </p:spPr>
        <p:txBody>
          <a:bodyPr wrap="square" rtlCol="0">
            <a:spAutoFit/>
          </a:bodyPr>
          <a:lstStyle/>
          <a:p>
            <a:r>
              <a:rPr lang="en-US" sz="1200" dirty="0" smtClean="0"/>
              <a:t>Expected 95% prediction </a:t>
            </a:r>
          </a:p>
          <a:p>
            <a:r>
              <a:rPr lang="en-US" sz="1200" dirty="0" smtClean="0"/>
              <a:t>limits for ordered p-values</a:t>
            </a:r>
            <a:endParaRPr lang="en-US" sz="1200" dirty="0"/>
          </a:p>
        </p:txBody>
      </p:sp>
      <p:cxnSp>
        <p:nvCxnSpPr>
          <p:cNvPr id="70" name="Straight Arrow Connector 69"/>
          <p:cNvCxnSpPr/>
          <p:nvPr/>
        </p:nvCxnSpPr>
        <p:spPr bwMode="auto">
          <a:xfrm flipH="1">
            <a:off x="4693015" y="1139707"/>
            <a:ext cx="1942916" cy="646081"/>
          </a:xfrm>
          <a:prstGeom prst="straightConnector1">
            <a:avLst/>
          </a:prstGeom>
          <a:noFill/>
          <a:ln w="25400" cap="flat" cmpd="sng" algn="ctr">
            <a:solidFill>
              <a:schemeClr val="accent2"/>
            </a:solidFill>
            <a:prstDash val="solid"/>
            <a:round/>
            <a:headEnd type="none" w="med" len="med"/>
            <a:tailEnd type="triangle"/>
          </a:ln>
          <a:effectLst/>
        </p:spPr>
      </p:cxnSp>
      <p:cxnSp>
        <p:nvCxnSpPr>
          <p:cNvPr id="73" name="Straight Arrow Connector 72"/>
          <p:cNvCxnSpPr>
            <a:stCxn id="68" idx="1"/>
          </p:cNvCxnSpPr>
          <p:nvPr/>
        </p:nvCxnSpPr>
        <p:spPr bwMode="auto">
          <a:xfrm flipH="1">
            <a:off x="4693014" y="1289103"/>
            <a:ext cx="1942917" cy="926858"/>
          </a:xfrm>
          <a:prstGeom prst="straightConnector1">
            <a:avLst/>
          </a:prstGeom>
          <a:noFill/>
          <a:ln w="25400" cap="flat" cmpd="sng" algn="ctr">
            <a:solidFill>
              <a:schemeClr val="accent2"/>
            </a:solidFill>
            <a:prstDash val="solid"/>
            <a:round/>
            <a:headEnd type="none" w="med" len="med"/>
            <a:tailEnd type="triangle"/>
          </a:ln>
          <a:effectLst/>
        </p:spPr>
      </p:cxnSp>
    </p:spTree>
    <p:extLst>
      <p:ext uri="{BB962C8B-B14F-4D97-AF65-F5344CB8AC3E}">
        <p14:creationId xmlns:p14="http://schemas.microsoft.com/office/powerpoint/2010/main" val="1401560989"/>
      </p:ext>
    </p:extLst>
  </p:cSld>
  <p:clrMapOvr>
    <a:masterClrMapping/>
  </p:clrMapOvr>
  <p:timing>
    <p:tnLst>
      <p:par>
        <p:cTn id="1" dur="indefinite" restart="never" nodeType="tmRoot"/>
      </p:par>
    </p:tnLst>
  </p:timing>
</p:sld>
</file>

<file path=ppt/theme/theme1.xml><?xml version="1.0" encoding="utf-8"?>
<a:theme xmlns:a="http://schemas.openxmlformats.org/drawingml/2006/main" name="Blank Presentation">
  <a:themeElements>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5400" cap="flat" cmpd="sng" algn="ctr">
          <a:solidFill>
            <a:schemeClr val="accent2"/>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50000"/>
          </a:lnSpc>
          <a:spcBef>
            <a:spcPct val="50000"/>
          </a:spcBef>
          <a:spcAft>
            <a:spcPts val="600"/>
          </a:spcAft>
          <a:buClrTx/>
          <a:buSzTx/>
          <a:buFontTx/>
          <a:buNone/>
          <a:tabLst/>
          <a:defRPr kumimoji="0" lang="en-US" sz="1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25400" cap="flat" cmpd="sng" algn="ctr">
          <a:solidFill>
            <a:schemeClr val="accent2"/>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50000"/>
          </a:lnSpc>
          <a:spcBef>
            <a:spcPct val="50000"/>
          </a:spcBef>
          <a:spcAft>
            <a:spcPts val="600"/>
          </a:spcAft>
          <a:buClrTx/>
          <a:buSzTx/>
          <a:buFontTx/>
          <a:buNone/>
          <a:tabLst/>
          <a:defRPr kumimoji="0" lang="en-US" sz="1000" b="1"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61529</TotalTime>
  <Words>1981</Words>
  <Application>Microsoft Office PowerPoint</Application>
  <PresentationFormat>On-screen Show (4:3)</PresentationFormat>
  <Paragraphs>149</Paragraphs>
  <Slides>14</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Comic Sans MS</vt:lpstr>
      <vt:lpstr>Symbol</vt:lpstr>
      <vt:lpstr>Times New Roman</vt:lpstr>
      <vt:lpstr>Times-Roman</vt:lpstr>
      <vt:lpstr>Blank Presentation</vt:lpstr>
      <vt:lpstr>Statistical Genetics</vt:lpstr>
      <vt:lpstr> Lecture 4 Readings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SFBR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omolo, bernard</dc:creator>
  <cp:lastModifiedBy>OMOLO, BERNARD</cp:lastModifiedBy>
  <cp:revision>1667</cp:revision>
  <cp:lastPrinted>2002-03-25T19:52:15Z</cp:lastPrinted>
  <dcterms:created xsi:type="dcterms:W3CDTF">1999-10-20T21:41:02Z</dcterms:created>
  <dcterms:modified xsi:type="dcterms:W3CDTF">2021-02-26T06:44:47Z</dcterms:modified>
</cp:coreProperties>
</file>